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3" autoAdjust="0"/>
    <p:restoredTop sz="94610"/>
  </p:normalViewPr>
  <p:slideViewPr>
    <p:cSldViewPr snapToGrid="0" snapToObjects="1">
      <p:cViewPr>
        <p:scale>
          <a:sx n="153" d="100"/>
          <a:sy n="153" d="100"/>
        </p:scale>
        <p:origin x="168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570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17373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2976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5778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1381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548640" y="822960"/>
            <a:ext cx="8046720" cy="347472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548640" y="822960"/>
            <a:ext cx="228600" cy="3474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05840" y="960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141732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Ospedale Digitale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1005840" y="26060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dell'Infrastruttura Sanitaria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degli asset · Threat Modeling · Baseline Comportamentale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Sfeir Christian  ·  Chiappini Mario  ·  Marzo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dell'Infrastruttura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657600" cy="3566160"/>
          </a:xfrm>
          <a:prstGeom prst="rect">
            <a:avLst/>
          </a:prstGeom>
          <a:solidFill>
            <a:srgbClr val="1A2D4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64592" cy="356616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Reali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Continuità del servizio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dei pazienti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legacy presenti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Manutenzione remota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Identificati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2286000" cy="658368"/>
          </a:xfrm>
          <a:prstGeom prst="rect">
            <a:avLst/>
          </a:prstGeom>
          <a:solidFill>
            <a:srgbClr val="1A2D4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343400" y="1508760"/>
            <a:ext cx="164592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99432" y="15453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/ Cartelle Cliniche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99432" y="1856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Criticità: Alta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508760"/>
            <a:ext cx="2286000" cy="658368"/>
          </a:xfrm>
          <a:prstGeom prst="rect">
            <a:avLst/>
          </a:prstGeom>
          <a:solidFill>
            <a:srgbClr val="1A2D4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766560" y="1508760"/>
            <a:ext cx="164592" cy="658368"/>
          </a:xfrm>
          <a:prstGeom prst="rect">
            <a:avLst/>
          </a:prstGeom>
          <a:solidFill>
            <a:srgbClr val="4DFF91"/>
          </a:solidFill>
          <a:ln w="12700">
            <a:solidFill>
              <a:srgbClr val="4DFF9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022592" y="15453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Ospiti / Pazienti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22592" y="1856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D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Criticità: Bassa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2313432"/>
            <a:ext cx="2286000" cy="658368"/>
          </a:xfrm>
          <a:prstGeom prst="rect">
            <a:avLst/>
          </a:prstGeom>
          <a:solidFill>
            <a:srgbClr val="1A2D4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343400" y="2313432"/>
            <a:ext cx="164592" cy="65836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99432" y="23500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Dispositivi Medici IoT/OT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9432" y="26609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Criticità: Estrema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2313432"/>
            <a:ext cx="2286000" cy="658368"/>
          </a:xfrm>
          <a:prstGeom prst="rect">
            <a:avLst/>
          </a:prstGeom>
          <a:solidFill>
            <a:srgbClr val="1A2D4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6766560" y="2313432"/>
            <a:ext cx="164592" cy="6583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022592" y="23500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 (Cloud)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22592" y="26609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Criticità: Media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3400" y="3118104"/>
            <a:ext cx="2286000" cy="658368"/>
          </a:xfrm>
          <a:prstGeom prst="rect">
            <a:avLst/>
          </a:prstGeom>
          <a:solidFill>
            <a:srgbClr val="1A2D4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343400" y="3118104"/>
            <a:ext cx="164592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599432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Medici Remoti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99432" y="34655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Criticità: Alta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66560" y="3118104"/>
            <a:ext cx="2286000" cy="658368"/>
          </a:xfrm>
          <a:prstGeom prst="rect">
            <a:avLst/>
          </a:prstGeom>
          <a:solidFill>
            <a:srgbClr val="1A2D4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766560" y="3118104"/>
            <a:ext cx="164592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022592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22592" y="34655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Criticità: Alta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43400" y="3922776"/>
            <a:ext cx="2286000" cy="658368"/>
          </a:xfrm>
          <a:prstGeom prst="rect">
            <a:avLst/>
          </a:prstGeom>
          <a:solidFill>
            <a:srgbClr val="1A2D4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343400" y="3922776"/>
            <a:ext cx="164592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599432" y="39593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99432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Criticità: Alta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657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8FF"/>
                          </a:solidFill>
                        </a:rPr>
                        <a:t>Asset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8FF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8FF"/>
                          </a:solidFill>
                        </a:rPr>
                        <a:t>Criticità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8FF"/>
                          </a:solidFill>
                        </a:rPr>
                        <a:t>Dipendenze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EHR / Cartelle Cliniche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Server + DB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B347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LAN interna, Storage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Wi-Fi Ospiti/Pazienti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Access Point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DFF91"/>
                          </a:solidFill>
                        </a:rPr>
                        <a:t>Bassa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ISP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Dispositivi Medici IoT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Endpoints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4D4D"/>
                          </a:solidFill>
                        </a:rPr>
                        <a:t>Estrema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Rete interna, Legacy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Prenotazioni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Cloud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8FF"/>
                          </a:solidFill>
                        </a:rPr>
                        <a:t>Media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Internet, DB anagrafico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VPN Medici Remoti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Gateway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B347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ISP, Firewall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PACS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Storage/App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B347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DB centrale, Macchinari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LIS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Applicativo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B347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</a:rPr>
                        <a:t>DB centrale, Macchinari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&amp;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Osservabile &amp; Inferenza Attacco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7490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</a:rPr>
                        <a:t>Asset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</a:rPr>
                        <a:t>Osservabile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</a:rPr>
                        <a:t>Inferenza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</a:rPr>
                        <a:t>Attacco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EHR / DB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Traffico elevato, query DB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Consultazione continua dati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4D4D"/>
                          </a:solidFill>
                        </a:rPr>
                        <a:t>Ransomware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Wi-Fi Ospiti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MAC address eterogenei (BYOD)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Dispositivi personali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</a:rPr>
                        <a:t>Lateral Movement / MITM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IoT Medici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Traffico periodico, protocolli in chiaro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Monitoraggio parametri vitali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4D4D"/>
                          </a:solidFill>
                        </a:rPr>
                        <a:t>Data Tampering / DoS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Prenotazioni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Chiamate API verso l'esterno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Sincronizzazione agende cloud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</a:rPr>
                        <a:t>API Abuse / DoS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VPN Medici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Traffico IPsec/TLS in entrata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Accessi per telelavoro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</a:rPr>
                        <a:t>Credential Stuffing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PACS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Picchi di traffico TCP pesanti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Trasferimento immagini DICOM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4D4D"/>
                          </a:solidFill>
                        </a:rPr>
                        <a:t>Esfiltrazione dati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LIS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Traffico HL7 verso il DB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Refertazione analisi lab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4D4D"/>
                          </a:solidFill>
                        </a:rPr>
                        <a:t>Esfiltrazione / Manipolazione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dell'Infrastruttura — Baseline Topologica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931920" y="2103120"/>
            <a:ext cx="1280160" cy="640080"/>
          </a:xfrm>
          <a:prstGeom prst="rect">
            <a:avLst/>
          </a:prstGeom>
          <a:solidFill>
            <a:srgbClr val="1A3A6E">
              <a:alpha val="80000"/>
            </a:srgbClr>
          </a:solidFill>
          <a:ln w="25400">
            <a:solidFill>
              <a:srgbClr val="1A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931920" y="21214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/ DB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0" y="243230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371600" y="1554480"/>
            <a:ext cx="1280160" cy="640080"/>
          </a:xfrm>
          <a:prstGeom prst="rect">
            <a:avLst/>
          </a:prstGeom>
          <a:solidFill>
            <a:srgbClr val="1A5C3A">
              <a:alpha val="80000"/>
            </a:srgbClr>
          </a:solidFill>
          <a:ln w="25400">
            <a:solidFill>
              <a:srgbClr val="1A5C3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8836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0" y="3200400"/>
            <a:ext cx="1280160" cy="640080"/>
          </a:xfrm>
          <a:prstGeom prst="rect">
            <a:avLst/>
          </a:prstGeom>
          <a:solidFill>
            <a:srgbClr val="6E1A1A">
              <a:alpha val="80000"/>
            </a:srgbClr>
          </a:solidFill>
          <a:ln w="25400">
            <a:solidFill>
              <a:srgbClr val="6E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371600" y="32186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Medici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352958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280160" cy="640080"/>
          </a:xfrm>
          <a:prstGeom prst="rect">
            <a:avLst/>
          </a:prstGeom>
          <a:solidFill>
            <a:srgbClr val="4A2E7A">
              <a:alpha val="80000"/>
            </a:srgbClr>
          </a:solidFill>
          <a:ln w="25400">
            <a:solidFill>
              <a:srgbClr val="4A2E7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92240" y="13898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40" y="170078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492240" y="2926080"/>
            <a:ext cx="1280160" cy="640080"/>
          </a:xfrm>
          <a:prstGeom prst="rect">
            <a:avLst/>
          </a:prstGeom>
          <a:solidFill>
            <a:srgbClr val="2E5A7A">
              <a:alpha val="80000"/>
            </a:srgbClr>
          </a:solidFill>
          <a:ln w="25400">
            <a:solidFill>
              <a:srgbClr val="2E5A7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92240" y="29443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2552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931920" y="4206240"/>
            <a:ext cx="1280160" cy="640080"/>
          </a:xfrm>
          <a:prstGeom prst="rect">
            <a:avLst/>
          </a:prstGeom>
          <a:solidFill>
            <a:srgbClr val="2E7A5A">
              <a:alpha val="80000"/>
            </a:srgbClr>
          </a:solidFill>
          <a:ln w="25400">
            <a:solidFill>
              <a:srgbClr val="2E7A5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931920" y="42245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45354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1280160" cy="640080"/>
          </a:xfrm>
          <a:prstGeom prst="rect">
            <a:avLst/>
          </a:prstGeom>
          <a:solidFill>
            <a:srgbClr val="3A3A3A">
              <a:alpha val="80000"/>
            </a:srgbClr>
          </a:solidFill>
          <a:ln w="25400">
            <a:solidFill>
              <a:srgbClr val="3A3A3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57200" y="42245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Ospiti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5354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651760" y="1993392"/>
            <a:ext cx="1280160" cy="27432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  <a:tailEnd type="arrow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743200" y="17830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IPsec/TLS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 flipV="1">
            <a:off x="2651760" y="2761488"/>
            <a:ext cx="1280155" cy="54864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  <a:tailEnd type="arrow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743200" y="311747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HL7/Telem.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 flipV="1">
            <a:off x="5212080" y="1773936"/>
            <a:ext cx="1280160" cy="438912"/>
          </a:xfrm>
          <a:prstGeom prst="line">
            <a:avLst/>
          </a:prstGeom>
          <a:noFill/>
          <a:ln w="19050">
            <a:solidFill>
              <a:srgbClr val="9B59B6"/>
            </a:solidFill>
            <a:prstDash val="solid"/>
            <a:tailEnd type="arrow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394960" y="18745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212080" y="2542032"/>
            <a:ext cx="1280160" cy="36576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  <a:tailEnd type="arrow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5577840" y="27432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2761488"/>
            <a:ext cx="0" cy="1444752"/>
          </a:xfrm>
          <a:prstGeom prst="line">
            <a:avLst/>
          </a:prstGeom>
          <a:noFill/>
          <a:ln w="19050">
            <a:solidFill>
              <a:srgbClr val="4DFF91"/>
            </a:solidFill>
            <a:prstDash val="solid"/>
            <a:tailEnd type="arrow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617720" y="33832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D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737360" y="4480560"/>
            <a:ext cx="2194560" cy="0"/>
          </a:xfrm>
          <a:prstGeom prst="line">
            <a:avLst/>
          </a:prstGeom>
          <a:noFill/>
          <a:ln w="12700">
            <a:solidFill>
              <a:srgbClr val="60708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Isolato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Protocolli: DICOM · HL7 · IPsec/TLS · HTTPS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&amp; Vettori di Attacco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463040" cy="1005840"/>
          </a:xfrm>
          <a:prstGeom prst="rect">
            <a:avLst/>
          </a:prstGeom>
          <a:solidFill>
            <a:srgbClr val="FF4D4D">
              <a:alpha val="75000"/>
            </a:srgbClr>
          </a:solidFill>
          <a:ln w="254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1965960"/>
            <a:ext cx="1280160" cy="0"/>
          </a:xfrm>
          <a:prstGeom prst="line">
            <a:avLst/>
          </a:prstGeom>
          <a:noFill/>
          <a:ln w="25400">
            <a:solidFill>
              <a:srgbClr val="FF4D4D"/>
            </a:solidFill>
            <a:prstDash val="solid"/>
            <a:tailEnd type="arrow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2743200" y="1463040"/>
            <a:ext cx="1463040" cy="1005840"/>
          </a:xfrm>
          <a:prstGeom prst="rect">
            <a:avLst/>
          </a:prstGeom>
          <a:solidFill>
            <a:srgbClr val="FFB347">
              <a:alpha val="75000"/>
            </a:srgbClr>
          </a:solidFill>
          <a:ln w="254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743200" y="15361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1965960"/>
            <a:ext cx="1280160" cy="0"/>
          </a:xfrm>
          <a:prstGeom prst="line">
            <a:avLst/>
          </a:prstGeom>
          <a:noFill/>
          <a:ln w="25400">
            <a:solidFill>
              <a:srgbClr val="FF4D4D"/>
            </a:solidFill>
            <a:prstDash val="solid"/>
            <a:tailEnd type="arrow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1463040" cy="1005840"/>
          </a:xfrm>
          <a:prstGeom prst="rect">
            <a:avLst/>
          </a:prstGeom>
          <a:solidFill>
            <a:srgbClr val="1A3A6E">
              <a:alpha val="75000"/>
            </a:srgbClr>
          </a:solidFill>
          <a:ln w="254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29200" y="15361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/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Asset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1965960"/>
            <a:ext cx="1280160" cy="0"/>
          </a:xfrm>
          <a:prstGeom prst="line">
            <a:avLst/>
          </a:prstGeom>
          <a:noFill/>
          <a:ln w="25400">
            <a:solidFill>
              <a:srgbClr val="FF4D4D"/>
            </a:solidFill>
            <a:prstDash val="solid"/>
            <a:tailEnd type="arrow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7315200" y="1463040"/>
            <a:ext cx="1463040" cy="1005840"/>
          </a:xfrm>
          <a:prstGeom prst="rect">
            <a:avLst/>
          </a:prstGeom>
          <a:solidFill>
            <a:srgbClr val="FF4D4D">
              <a:alpha val="75000"/>
            </a:srgbClr>
          </a:solidFill>
          <a:ln w="254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315200" y="15361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2011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Impact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1508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Credential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94760" y="1508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Pivot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80760" y="1508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DoS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2011680" cy="1828800"/>
          </a:xfrm>
          <a:prstGeom prst="rect">
            <a:avLst/>
          </a:prstGeom>
          <a:solidFill>
            <a:srgbClr val="1A2D42"/>
          </a:solidFill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2011680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11480" y="28803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10896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Attaccante utilizza credenziali compromesse per accedere alla VPN. Bypass del perimetro esterno.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14600" y="2880360"/>
            <a:ext cx="2011680" cy="1828800"/>
          </a:xfrm>
          <a:prstGeom prst="rect">
            <a:avLst/>
          </a:prstGeom>
          <a:solidFill>
            <a:srgbClr val="1A2D42"/>
          </a:solidFill>
          <a:ln w="190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2514600" y="2880360"/>
            <a:ext cx="2011680" cy="20116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560320" y="28803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06040" y="310896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VPN, l'attaccante si muove nella rete interna verso EHR e DB, sfruttando la mancanza di segmentazione.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880360"/>
            <a:ext cx="2011680" cy="1828800"/>
          </a:xfrm>
          <a:prstGeom prst="rect">
            <a:avLst/>
          </a:prstGeom>
          <a:solidFill>
            <a:srgbClr val="1A2D42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4663440" y="2880360"/>
            <a:ext cx="2011680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09160" y="28803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Access Point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310896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ospiti usato come vettore secondario per MITM o escalation verso la rete clinica.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12280" y="2880360"/>
            <a:ext cx="2011680" cy="1828800"/>
          </a:xfrm>
          <a:prstGeom prst="rect">
            <a:avLst/>
          </a:prstGeom>
          <a:solidFill>
            <a:srgbClr val="1A2D42"/>
          </a:solidFill>
          <a:ln w="190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6812280" y="2880360"/>
            <a:ext cx="2011680" cy="20116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858000" y="28803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/ Ransomware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03720" y="310896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finale: blocco dei dispositivi IoT medici o cifratura dei dati clinici. Impatto diretto sulla safety.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DFF91"/>
          </a:solidFill>
          <a:ln w="12700">
            <a:solidFill>
              <a:srgbClr val="4DFF9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D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Segmentazione di Rete — Mitigazione by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3657600"/>
          </a:xfrm>
          <a:prstGeom prst="rect">
            <a:avLst/>
          </a:prstGeom>
          <a:solidFill>
            <a:srgbClr val="3A3A3A">
              <a:alpha val="40000"/>
            </a:srgbClr>
          </a:solidFill>
          <a:ln w="254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51760" cy="411480"/>
          </a:xfrm>
          <a:prstGeom prst="rect">
            <a:avLst/>
          </a:prstGeom>
          <a:solidFill>
            <a:srgbClr val="3A3A3A">
              <a:alpha val="90000"/>
            </a:srgbClr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VLAN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pubblica isolata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286000" cy="502920"/>
          </a:xfrm>
          <a:prstGeom prst="rect">
            <a:avLst/>
          </a:prstGeom>
          <a:solidFill>
            <a:srgbClr val="1A2D4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Ospiti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3657600"/>
          </a:xfrm>
          <a:prstGeom prst="rect">
            <a:avLst/>
          </a:prstGeom>
          <a:solidFill>
            <a:srgbClr val="1A3A6E">
              <a:alpha val="40000"/>
            </a:srgbClr>
          </a:solidFill>
          <a:ln w="254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51760" cy="411480"/>
          </a:xfrm>
          <a:prstGeom prst="rect">
            <a:avLst/>
          </a:prstGeom>
          <a:solidFill>
            <a:srgbClr val="1A3A6E">
              <a:alpha val="90000"/>
            </a:srgbClr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246120" y="1024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ZONE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261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clinica protetta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83280" y="1554480"/>
            <a:ext cx="2286000" cy="5029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429000" y="15910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/ 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240280"/>
            <a:ext cx="2286000" cy="5029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429000" y="22768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OT Medici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926080"/>
            <a:ext cx="2286000" cy="5029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429000" y="29626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611880"/>
            <a:ext cx="2286000" cy="5029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429000" y="36484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1005840"/>
            <a:ext cx="2651760" cy="3657600"/>
          </a:xfrm>
          <a:prstGeom prst="rect">
            <a:avLst/>
          </a:prstGeom>
          <a:solidFill>
            <a:srgbClr val="1A5C3A">
              <a:alpha val="40000"/>
            </a:srgbClr>
          </a:solidFill>
          <a:ln w="254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6400800" y="1005840"/>
            <a:ext cx="2651760" cy="411480"/>
          </a:xfrm>
          <a:prstGeom prst="rect">
            <a:avLst/>
          </a:prstGeom>
          <a:solidFill>
            <a:srgbClr val="1A5C3A">
              <a:alpha val="90000"/>
            </a:srgbClr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446520" y="1024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1261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demilitarizzata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83680" y="1554480"/>
            <a:ext cx="2286000" cy="5029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629400" y="15910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2240280"/>
            <a:ext cx="2286000" cy="5029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629400" y="22768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 Cloud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1005840"/>
            <a:ext cx="292608" cy="3657600"/>
          </a:xfrm>
          <a:prstGeom prst="rect">
            <a:avLst/>
          </a:prstGeom>
          <a:solidFill>
            <a:srgbClr val="FF4D4D">
              <a:alpha val="70000"/>
            </a:srgbClr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2843784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35040" y="1005840"/>
            <a:ext cx="292608" cy="3657600"/>
          </a:xfrm>
          <a:prstGeom prst="rect">
            <a:avLst/>
          </a:prstGeom>
          <a:solidFill>
            <a:srgbClr val="FF4D4D">
              <a:alpha val="70000"/>
            </a:srgbClr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044184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Firewall fisici/logici impediscono il movimento laterale tra zone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Comportamentale — Operating Envelope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normalità non è un punto singolo, ma un inviluppo operativo. La classificazione distingue: Normalità · Deviazione Lieve · Deviazione Forte · Unknown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8412480" cy="31455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</a:rPr>
                        <a:t>Relazione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</a:rPr>
                        <a:t>Normale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</a:rPr>
                        <a:t>Quando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</a:rPr>
                        <a:t>Intensità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</a:rPr>
                        <a:t>Note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VPN → EHR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FF91"/>
                          </a:solidFill>
                        </a:rPr>
                        <a:t>Sì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Giorno/Notte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Accesso remoto medici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EHR → DB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FF91"/>
                          </a:solidFill>
                        </a:rPr>
                        <a:t>Sì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Sempre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Backend applicativo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IoT Medici → EHR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FF91"/>
                          </a:solidFill>
                        </a:rPr>
                        <a:t>Sì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Sempre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Media/Bassa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Telemetria Safety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PACS → EHR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FF91"/>
                          </a:solidFill>
                        </a:rPr>
                        <a:t>Sì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Giorno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Alta (picchi)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File DICOM pesanti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Guest Wi-Fi → EHR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4D4D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Mai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Nulla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Deviazione topologica!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EHR → Backup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FF91"/>
                          </a:solidFill>
                        </a:rPr>
                        <a:t>Sì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Notte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Sincronizzazione pianificata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Device1 → DB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4D4D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Mai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Nulla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</a:rPr>
                        <a:t>Pivot — percorso non previsto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88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 Osservata — Log di Telemetria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037259"/>
              </p:ext>
            </p:extLst>
          </p:nvPr>
        </p:nvGraphicFramePr>
        <p:xfrm>
          <a:off x="365760" y="771165"/>
          <a:ext cx="6126480" cy="4315968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FF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FF"/>
                          </a:solidFill>
                        </a:rPr>
                        <a:t>Source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FF"/>
                          </a:solidFill>
                        </a:rPr>
                        <a:t>Dest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FF"/>
                          </a:solidFill>
                        </a:rPr>
                        <a:t>Proto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FF"/>
                          </a:solidFill>
                        </a:rPr>
                        <a:t>Pkts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8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08:10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VPN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TLS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145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08:11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DB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TCP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240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08:12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Device1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TLS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08:13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Device2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TLS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08:14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BookingCloud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HTTPS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95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08:16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Guest WiFi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TCP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08:17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Unknown Host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TCP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4D4D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08:18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VPN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TLS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310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347"/>
                          </a:solidFill>
                        </a:rPr>
                        <a:t>retry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08:19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DB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TCP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520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08:20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Device1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DB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TCP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02:05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Backup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TCP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980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02:07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Backup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TCP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155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02:09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VPN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TLS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</a:rPr>
                        <a:t>88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02:10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EHR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Booking Cloud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HTTPS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140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02:11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DB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Unknown Host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TCP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B0B0"/>
                          </a:solidFill>
                        </a:rPr>
                        <a:t>160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DFF91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005840"/>
            <a:ext cx="3291840" cy="228600"/>
          </a:xfrm>
          <a:prstGeom prst="rect">
            <a:avLst/>
          </a:prstGeom>
          <a:solidFill>
            <a:srgbClr val="2A0D0D"/>
          </a:solidFill>
          <a:ln w="63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532120" y="1005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in rosso = eventi anomali rilevati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&amp;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Deviazioni &amp; Classificazione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078992"/>
          </a:xfrm>
          <a:prstGeom prst="rect">
            <a:avLst/>
          </a:prstGeom>
          <a:solidFill>
            <a:srgbClr val="1A2D42"/>
          </a:solidFill>
          <a:ln w="190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256032"/>
          </a:xfrm>
          <a:prstGeom prst="rect">
            <a:avLst/>
          </a:prstGeom>
          <a:solidFill>
            <a:srgbClr val="FF4D4D">
              <a:alpha val="75000"/>
            </a:srgbClr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08:16 · Guest WiFi → EHR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10698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44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Forte · Compatibile: 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Violazione segmentazione di rete. Deviazione topologica grave.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4114800" cy="1078992"/>
          </a:xfrm>
          <a:prstGeom prst="rect">
            <a:avLst/>
          </a:prstGeom>
          <a:solidFill>
            <a:srgbClr val="1A2D42"/>
          </a:solidFill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14800" cy="256032"/>
          </a:xfrm>
          <a:prstGeom prst="rect">
            <a:avLst/>
          </a:prstGeom>
          <a:solidFill>
            <a:srgbClr val="FFB347">
              <a:alpha val="75000"/>
            </a:srgbClr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11480" y="2304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08:17 · Unknown → EHR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23042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Medio · Compatibile: 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8072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Tentativo di accesso/scansione fallito dall'esterno.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4114800" cy="1078992"/>
          </a:xfrm>
          <a:prstGeom prst="rect">
            <a:avLst/>
          </a:prstGeom>
          <a:solidFill>
            <a:srgbClr val="1A2D42"/>
          </a:solidFill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320040" y="3520440"/>
            <a:ext cx="4114800" cy="256032"/>
          </a:xfrm>
          <a:prstGeom prst="rect">
            <a:avLst/>
          </a:prstGeom>
          <a:solidFill>
            <a:srgbClr val="FFB347">
              <a:alpha val="75000"/>
            </a:srgbClr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11480" y="3538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08:18 · VPN → EHR (retry)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353872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FAULT/ATT.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Medio · Compatibile: 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0416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 volumetrica e di stato. Possibile Credential Stuffing.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1051560"/>
            <a:ext cx="4114800" cy="1078992"/>
          </a:xfrm>
          <a:prstGeom prst="rect">
            <a:avLst/>
          </a:prstGeom>
          <a:solidFill>
            <a:srgbClr val="1A2D42"/>
          </a:solidFill>
          <a:ln w="190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937760" y="1051560"/>
            <a:ext cx="4114800" cy="256032"/>
          </a:xfrm>
          <a:prstGeom prst="rect">
            <a:avLst/>
          </a:prstGeom>
          <a:solidFill>
            <a:srgbClr val="FF4D4D">
              <a:alpha val="75000"/>
            </a:srgbClr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029200" y="1069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08:20 · Device1 → DB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18120" y="106984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1344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Forte · Compatibile: No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15727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aggira EHR. Lateral Movement o misconfiguration post-infezione.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286000"/>
            <a:ext cx="4114800" cy="1078992"/>
          </a:xfrm>
          <a:prstGeom prst="rect">
            <a:avLst/>
          </a:prstGeom>
          <a:solidFill>
            <a:srgbClr val="1A2D42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4937760" y="2286000"/>
            <a:ext cx="4114800" cy="256032"/>
          </a:xfrm>
          <a:prstGeom prst="rect">
            <a:avLst/>
          </a:prstGeom>
          <a:solidFill>
            <a:srgbClr val="00C8FF">
              <a:alpha val="75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029200" y="2304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02:10 · EHR → BookingCloud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18120" y="23042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2578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Lieve · Compatibile: Parz.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28072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Orario notturno insolito, ma possibile batch job. Classificare Unknown.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3520440"/>
            <a:ext cx="4114800" cy="1078992"/>
          </a:xfrm>
          <a:prstGeom prst="rect">
            <a:avLst/>
          </a:prstGeom>
          <a:solidFill>
            <a:srgbClr val="1A2D42"/>
          </a:solidFill>
          <a:ln w="190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4937760" y="3520440"/>
            <a:ext cx="4114800" cy="256032"/>
          </a:xfrm>
          <a:prstGeom prst="rect">
            <a:avLst/>
          </a:prstGeom>
          <a:solidFill>
            <a:srgbClr val="FF4D4D">
              <a:alpha val="75000"/>
            </a:srgbClr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029200" y="3538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02:11 · DB → Unknown Host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18120" y="353872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Forte · Compatibile: No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40416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DB non deve avere traffico uscente esterno. Rischio esfiltrazione.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FINALE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Consolidata Lab 1 + Lab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704088"/>
          </a:xfrm>
          <a:prstGeom prst="rect">
            <a:avLst/>
          </a:prstGeom>
          <a:solidFill>
            <a:srgbClr val="1A2D42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01168" cy="70408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1338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più critico?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13385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IoT/OT Medici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447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Compromissione = impatto diretto sulla safety dei pazienti.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69948"/>
            <a:ext cx="8503920" cy="704088"/>
          </a:xfrm>
          <a:prstGeom prst="rect">
            <a:avLst/>
          </a:prstGeom>
          <a:solidFill>
            <a:srgbClr val="1A2D42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0040" y="1869948"/>
            <a:ext cx="201168" cy="70408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0080" y="19065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Deviazione più grave?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90652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02:11 DB → Unknown Host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174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DB non deve esporre traffico esterno. Probabile Data Exfiltration.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42616"/>
            <a:ext cx="8503920" cy="704088"/>
          </a:xfrm>
          <a:prstGeom prst="rect">
            <a:avLst/>
          </a:prstGeom>
          <a:solidFill>
            <a:srgbClr val="1A2D42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20040" y="2642616"/>
            <a:ext cx="201168" cy="70408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40080" y="2679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Deviazione più ambigua?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6791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08:18 VPN → EHR (retry)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9900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Potrebbe essere fault di connessione o Credential Stuffing. Serve log auth.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415284"/>
            <a:ext cx="8503920" cy="704088"/>
          </a:xfrm>
          <a:prstGeom prst="rect">
            <a:avLst/>
          </a:prstGeom>
          <a:solidFill>
            <a:srgbClr val="1A2D42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20040" y="3415284"/>
            <a:ext cx="201168" cy="7040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40080" y="34518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rispondere Unknown?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4518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02:10 EHR → BookingCloud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6275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notturno: lecito o sospetto? Verificare baseline dei processi schedulati.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187952"/>
            <a:ext cx="8503920" cy="704088"/>
          </a:xfrm>
          <a:prstGeom prst="rect">
            <a:avLst/>
          </a:prstGeom>
          <a:solidFill>
            <a:srgbClr val="1A2D42"/>
          </a:solidFill>
          <a:ln w="12700">
            <a:solidFill>
              <a:srgbClr val="4DFF9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320040" y="4187952"/>
            <a:ext cx="201168" cy="704088"/>
          </a:xfrm>
          <a:prstGeom prst="rect">
            <a:avLst/>
          </a:prstGeom>
          <a:solidFill>
            <a:srgbClr val="4DFF91"/>
          </a:solidFill>
          <a:ln w="12700">
            <a:solidFill>
              <a:srgbClr val="4DFF9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40080" y="4224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by design prioritario?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422452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53542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Separare IT, IoMT e Guest con firewall fisici/logici per bloccare movimenti laterali.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31520" y="7315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0" dirty="0">
                <a:solidFill>
                  <a:srgbClr val="00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2000" dirty="0"/>
          </a:p>
        </p:txBody>
      </p:sp>
      <p:sp>
        <p:nvSpPr>
          <p:cNvPr id="12" name="Text 10"/>
          <p:cNvSpPr/>
          <p:nvPr/>
        </p:nvSpPr>
        <p:spPr>
          <a:xfrm>
            <a:off x="1097280" y="137160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non significa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indovinare attacchi.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ridurre l'incertezza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 a una decisione difendibile.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Sfeir Christian  ·  Chiappini Mario  ·  Marzo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Ospedale Digitale — Sicurezza dell'Infrastruttura Sanitaria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1005</Words>
  <Application>Microsoft Office PowerPoint</Application>
  <PresentationFormat>Presentazione su schermo (16:9)</PresentationFormat>
  <Paragraphs>364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Ospedale Digitale</dc:title>
  <dc:subject>PptxGenJS Presentation</dc:subject>
  <dc:creator>Sfeir Christian - Chiappini Mario</dc:creator>
  <cp:lastModifiedBy>Mario Chiappini</cp:lastModifiedBy>
  <cp:revision>2</cp:revision>
  <dcterms:created xsi:type="dcterms:W3CDTF">2026-03-26T09:01:58Z</dcterms:created>
  <dcterms:modified xsi:type="dcterms:W3CDTF">2026-03-26T15:09:16Z</dcterms:modified>
</cp:coreProperties>
</file>