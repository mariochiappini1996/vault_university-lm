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entation.xml" ContentType="application/vnd.openxmlformats-officedocument.presentationml.presentation.main+xml"/>
  <Override PartName="/ppt/slides/slide64.xml" ContentType="application/vnd.openxmlformats-officedocument.presentationml.slide+xml"/>
  <Override PartName="/ppt/slides/slide63.xml" ContentType="application/vnd.openxmlformats-officedocument.presentationml.slide+xml"/>
  <Override PartName="/ppt/notesSlides/notesSlide38.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29.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30.xml" ContentType="application/vnd.openxmlformats-officedocument.presentationml.notesSlid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61" r:id="rId2"/>
  </p:sldMasterIdLst>
  <p:notesMasterIdLst>
    <p:notesMasterId r:id="rId67"/>
  </p:notesMasterIdLst>
  <p:handoutMasterIdLst>
    <p:handoutMasterId r:id="rId68"/>
  </p:handoutMasterIdLst>
  <p:sldIdLst>
    <p:sldId id="359" r:id="rId3"/>
    <p:sldId id="351" r:id="rId4"/>
    <p:sldId id="381" r:id="rId5"/>
    <p:sldId id="385" r:id="rId6"/>
    <p:sldId id="368" r:id="rId7"/>
    <p:sldId id="383" r:id="rId8"/>
    <p:sldId id="387" r:id="rId9"/>
    <p:sldId id="369" r:id="rId10"/>
    <p:sldId id="388" r:id="rId11"/>
    <p:sldId id="386" r:id="rId12"/>
    <p:sldId id="389" r:id="rId13"/>
    <p:sldId id="372" r:id="rId14"/>
    <p:sldId id="390" r:id="rId15"/>
    <p:sldId id="374" r:id="rId16"/>
    <p:sldId id="375" r:id="rId17"/>
    <p:sldId id="376" r:id="rId18"/>
    <p:sldId id="362" r:id="rId19"/>
    <p:sldId id="391" r:id="rId20"/>
    <p:sldId id="392" r:id="rId21"/>
    <p:sldId id="393" r:id="rId22"/>
    <p:sldId id="394" r:id="rId23"/>
    <p:sldId id="395" r:id="rId24"/>
    <p:sldId id="396" r:id="rId25"/>
    <p:sldId id="425" r:id="rId26"/>
    <p:sldId id="397" r:id="rId27"/>
    <p:sldId id="398" r:id="rId28"/>
    <p:sldId id="426" r:id="rId29"/>
    <p:sldId id="400" r:id="rId30"/>
    <p:sldId id="401" r:id="rId31"/>
    <p:sldId id="436" r:id="rId32"/>
    <p:sldId id="417" r:id="rId33"/>
    <p:sldId id="418" r:id="rId34"/>
    <p:sldId id="407" r:id="rId35"/>
    <p:sldId id="408" r:id="rId36"/>
    <p:sldId id="409" r:id="rId37"/>
    <p:sldId id="410" r:id="rId38"/>
    <p:sldId id="411" r:id="rId39"/>
    <p:sldId id="412" r:id="rId40"/>
    <p:sldId id="455" r:id="rId41"/>
    <p:sldId id="413" r:id="rId42"/>
    <p:sldId id="414" r:id="rId43"/>
    <p:sldId id="419" r:id="rId44"/>
    <p:sldId id="415" r:id="rId45"/>
    <p:sldId id="420" r:id="rId46"/>
    <p:sldId id="421" r:id="rId47"/>
    <p:sldId id="428" r:id="rId48"/>
    <p:sldId id="429" r:id="rId49"/>
    <p:sldId id="430" r:id="rId50"/>
    <p:sldId id="456" r:id="rId51"/>
    <p:sldId id="431" r:id="rId52"/>
    <p:sldId id="432" r:id="rId53"/>
    <p:sldId id="461" r:id="rId54"/>
    <p:sldId id="446" r:id="rId55"/>
    <p:sldId id="457" r:id="rId56"/>
    <p:sldId id="447" r:id="rId57"/>
    <p:sldId id="448" r:id="rId58"/>
    <p:sldId id="449" r:id="rId59"/>
    <p:sldId id="462" r:id="rId60"/>
    <p:sldId id="422" r:id="rId61"/>
    <p:sldId id="460" r:id="rId62"/>
    <p:sldId id="464" r:id="rId63"/>
    <p:sldId id="423" r:id="rId64"/>
    <p:sldId id="424" r:id="rId65"/>
    <p:sldId id="463" r:id="rId66"/>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kern="1200">
        <a:solidFill>
          <a:schemeClr val="tx1"/>
        </a:solidFill>
        <a:latin typeface="Helvetica" charset="0"/>
        <a:ea typeface="+mn-ea"/>
        <a:cs typeface="+mn-cs"/>
      </a:defRPr>
    </a:lvl1pPr>
    <a:lvl2pPr marL="457200" algn="l" rtl="0" eaLnBrk="0" fontAlgn="base" hangingPunct="0">
      <a:spcBef>
        <a:spcPct val="0"/>
      </a:spcBef>
      <a:spcAft>
        <a:spcPct val="0"/>
      </a:spcAft>
      <a:defRPr kern="1200">
        <a:solidFill>
          <a:schemeClr val="tx1"/>
        </a:solidFill>
        <a:latin typeface="Helvetica" charset="0"/>
        <a:ea typeface="+mn-ea"/>
        <a:cs typeface="+mn-cs"/>
      </a:defRPr>
    </a:lvl2pPr>
    <a:lvl3pPr marL="914400" algn="l" rtl="0" eaLnBrk="0" fontAlgn="base" hangingPunct="0">
      <a:spcBef>
        <a:spcPct val="0"/>
      </a:spcBef>
      <a:spcAft>
        <a:spcPct val="0"/>
      </a:spcAft>
      <a:defRPr kern="1200">
        <a:solidFill>
          <a:schemeClr val="tx1"/>
        </a:solidFill>
        <a:latin typeface="Helvetica" charset="0"/>
        <a:ea typeface="+mn-ea"/>
        <a:cs typeface="+mn-cs"/>
      </a:defRPr>
    </a:lvl3pPr>
    <a:lvl4pPr marL="1371600" algn="l" rtl="0" eaLnBrk="0" fontAlgn="base" hangingPunct="0">
      <a:spcBef>
        <a:spcPct val="0"/>
      </a:spcBef>
      <a:spcAft>
        <a:spcPct val="0"/>
      </a:spcAft>
      <a:defRPr kern="1200">
        <a:solidFill>
          <a:schemeClr val="tx1"/>
        </a:solidFill>
        <a:latin typeface="Helvetica" charset="0"/>
        <a:ea typeface="+mn-ea"/>
        <a:cs typeface="+mn-cs"/>
      </a:defRPr>
    </a:lvl4pPr>
    <a:lvl5pPr marL="1828800" algn="l" rtl="0" eaLnBrk="0" fontAlgn="base" hangingPunct="0">
      <a:spcBef>
        <a:spcPct val="0"/>
      </a:spcBef>
      <a:spcAft>
        <a:spcPct val="0"/>
      </a:spcAft>
      <a:defRPr kern="1200">
        <a:solidFill>
          <a:schemeClr val="tx1"/>
        </a:solidFill>
        <a:latin typeface="Helvetica" charset="0"/>
        <a:ea typeface="+mn-ea"/>
        <a:cs typeface="+mn-cs"/>
      </a:defRPr>
    </a:lvl5pPr>
    <a:lvl6pPr marL="2286000" algn="l" defTabSz="914400" rtl="0" eaLnBrk="1" latinLnBrk="0" hangingPunct="1">
      <a:defRPr kern="1200">
        <a:solidFill>
          <a:schemeClr val="tx1"/>
        </a:solidFill>
        <a:latin typeface="Helvetica" charset="0"/>
        <a:ea typeface="+mn-ea"/>
        <a:cs typeface="+mn-cs"/>
      </a:defRPr>
    </a:lvl6pPr>
    <a:lvl7pPr marL="2743200" algn="l" defTabSz="914400" rtl="0" eaLnBrk="1" latinLnBrk="0" hangingPunct="1">
      <a:defRPr kern="1200">
        <a:solidFill>
          <a:schemeClr val="tx1"/>
        </a:solidFill>
        <a:latin typeface="Helvetica" charset="0"/>
        <a:ea typeface="+mn-ea"/>
        <a:cs typeface="+mn-cs"/>
      </a:defRPr>
    </a:lvl7pPr>
    <a:lvl8pPr marL="3200400" algn="l" defTabSz="914400" rtl="0" eaLnBrk="1" latinLnBrk="0" hangingPunct="1">
      <a:defRPr kern="1200">
        <a:solidFill>
          <a:schemeClr val="tx1"/>
        </a:solidFill>
        <a:latin typeface="Helvetica" charset="0"/>
        <a:ea typeface="+mn-ea"/>
        <a:cs typeface="+mn-cs"/>
      </a:defRPr>
    </a:lvl8pPr>
    <a:lvl9pPr marL="3657600" algn="l" defTabSz="914400" rtl="0" eaLnBrk="1" latinLnBrk="0" hangingPunct="1">
      <a:defRPr kern="1200">
        <a:solidFill>
          <a:schemeClr val="tx1"/>
        </a:solidFill>
        <a:latin typeface="Helvetica"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FCFEB9"/>
    <a:srgbClr val="C1CEFF"/>
    <a:srgbClr val="008000"/>
    <a:srgbClr val="A50021"/>
    <a:srgbClr val="FFC5CF"/>
    <a:srgbClr val="003300"/>
    <a:srgbClr val="006600"/>
    <a:srgbClr val="CC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31"/>
    <p:restoredTop sz="66739"/>
  </p:normalViewPr>
  <p:slideViewPr>
    <p:cSldViewPr>
      <p:cViewPr varScale="1">
        <p:scale>
          <a:sx n="73" d="100"/>
          <a:sy n="73" d="100"/>
        </p:scale>
        <p:origin x="2536" y="192"/>
      </p:cViewPr>
      <p:guideLst>
        <p:guide orient="horz" pos="2160"/>
        <p:guide pos="2880"/>
      </p:guideLst>
    </p:cSldViewPr>
  </p:slideViewPr>
  <p:outlineViewPr>
    <p:cViewPr>
      <p:scale>
        <a:sx n="33" d="100"/>
        <a:sy n="33" d="100"/>
      </p:scale>
      <p:origin x="0" y="-21528"/>
    </p:cViewPr>
  </p:outlineViewPr>
  <p:notesTextViewPr>
    <p:cViewPr>
      <p:scale>
        <a:sx n="140" d="100"/>
        <a:sy n="14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customXml" Target="../customXml/item2.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75"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3944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7" tIns="44450" rIns="90487" bIns="44450" numCol="1" anchor="t" anchorCtr="0" compatLnSpc="1">
            <a:prstTxWarp prst="textNoShape">
              <a:avLst/>
            </a:prstTxWarp>
          </a:bodyPr>
          <a:lstStyle/>
          <a:p>
            <a:pPr lvl="0"/>
            <a:r>
              <a:rPr lang="en-US" altLang="it-IT"/>
              <a:t>Click to edit Master text styles</a:t>
            </a:r>
          </a:p>
          <a:p>
            <a:pPr lvl="1"/>
            <a:r>
              <a:rPr lang="en-US" altLang="it-IT"/>
              <a:t>Second level</a:t>
            </a:r>
          </a:p>
          <a:p>
            <a:pPr lvl="2"/>
            <a:r>
              <a:rPr lang="en-US" altLang="it-IT"/>
              <a:t>Third level</a:t>
            </a:r>
          </a:p>
          <a:p>
            <a:pPr lvl="3"/>
            <a:r>
              <a:rPr lang="en-US" altLang="it-IT"/>
              <a:t>Fourth level</a:t>
            </a:r>
          </a:p>
          <a:p>
            <a:pPr lvl="4"/>
            <a:r>
              <a:rPr lang="en-US" altLang="it-IT"/>
              <a:t>Fifth level</a:t>
            </a:r>
          </a:p>
        </p:txBody>
      </p:sp>
      <p:sp>
        <p:nvSpPr>
          <p:cNvPr id="2051" name="Rectangle 3"/>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3218925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a:t>chapter</a:t>
            </a:r>
            <a:r>
              <a:rPr lang="en-US" baseline="0" dirty="0"/>
              <a:t> 3 PDES Fujimoto book (</a:t>
            </a:r>
            <a:r>
              <a:rPr lang="en-US" baseline="0" dirty="0" err="1"/>
              <a:t>pag</a:t>
            </a:r>
            <a:r>
              <a:rPr lang="en-US" baseline="0" dirty="0"/>
              <a:t>. 51)</a:t>
            </a:r>
            <a:endParaRPr lang="en-US" dirty="0"/>
          </a:p>
        </p:txBody>
      </p:sp>
    </p:spTree>
    <p:extLst>
      <p:ext uri="{BB962C8B-B14F-4D97-AF65-F5344CB8AC3E}">
        <p14:creationId xmlns:p14="http://schemas.microsoft.com/office/powerpoint/2010/main" val="1477500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it-IT"/>
              <a:t>Parallel Discrete Event Simulation -&gt; </a:t>
            </a:r>
            <a:r>
              <a:rPr lang="en-US" altLang="it-IT" err="1"/>
              <a:t>discuteremo</a:t>
            </a:r>
            <a:r>
              <a:rPr lang="en-US" altLang="it-IT"/>
              <a:t> </a:t>
            </a:r>
            <a:r>
              <a:rPr lang="en-US" altLang="it-IT" err="1"/>
              <a:t>l’interazione</a:t>
            </a:r>
            <a:r>
              <a:rPr lang="en-US" altLang="it-IT"/>
              <a:t> </a:t>
            </a:r>
            <a:r>
              <a:rPr lang="en-US" altLang="it-IT" err="1"/>
              <a:t>tra</a:t>
            </a:r>
            <a:r>
              <a:rPr lang="en-US" altLang="it-IT"/>
              <a:t> LP </a:t>
            </a:r>
            <a:r>
              <a:rPr lang="en-US" altLang="it-IT" err="1"/>
              <a:t>attraverso</a:t>
            </a:r>
            <a:r>
              <a:rPr lang="en-US" altLang="it-IT"/>
              <a:t> time stamped messages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it-IT" err="1"/>
              <a:t>Descrivere</a:t>
            </a:r>
            <a:r>
              <a:rPr lang="en-US" altLang="it-IT"/>
              <a:t>  I problem di </a:t>
            </a:r>
            <a:r>
              <a:rPr lang="en-US" altLang="it-IT" err="1"/>
              <a:t>sincronizzazione</a:t>
            </a:r>
            <a:r>
              <a:rPr lang="en-US" altLang="it-IT"/>
              <a:t> e Il principio di </a:t>
            </a:r>
            <a:r>
              <a:rPr lang="en-US" altLang="it-IT" err="1"/>
              <a:t>casualità</a:t>
            </a:r>
            <a:endParaRPr lang="en-US" altLang="it-IT"/>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it-IT"/>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it-IT" err="1"/>
              <a:t>Vedremo</a:t>
            </a:r>
            <a:r>
              <a:rPr lang="en-US" altLang="it-IT"/>
              <a:t> uno </a:t>
            </a:r>
            <a:r>
              <a:rPr lang="en-US" altLang="it-IT" err="1"/>
              <a:t>dei</a:t>
            </a:r>
            <a:r>
              <a:rPr lang="en-US" altLang="it-IT"/>
              <a:t> </a:t>
            </a:r>
            <a:r>
              <a:rPr lang="en-US" altLang="it-IT" err="1"/>
              <a:t>principali</a:t>
            </a:r>
            <a:r>
              <a:rPr lang="en-US" altLang="it-IT"/>
              <a:t> </a:t>
            </a:r>
            <a:r>
              <a:rPr lang="en-US" altLang="it-IT" err="1"/>
              <a:t>algoritmi</a:t>
            </a:r>
            <a:r>
              <a:rPr lang="en-US" altLang="it-IT"/>
              <a:t> </a:t>
            </a:r>
            <a:r>
              <a:rPr lang="en-US" altLang="it-IT" err="1"/>
              <a:t>denominato</a:t>
            </a:r>
            <a:r>
              <a:rPr lang="en-US" altLang="it-IT"/>
              <a:t> Chandy/</a:t>
            </a:r>
            <a:r>
              <a:rPr lang="en-US" altLang="it-IT" err="1"/>
              <a:t>Misra</a:t>
            </a:r>
            <a:r>
              <a:rPr lang="en-US" altLang="it-IT"/>
              <a:t>/Bryant</a:t>
            </a:r>
          </a:p>
          <a:p>
            <a:endParaRPr lang="en-US"/>
          </a:p>
        </p:txBody>
      </p:sp>
    </p:spTree>
    <p:extLst>
      <p:ext uri="{BB962C8B-B14F-4D97-AF65-F5344CB8AC3E}">
        <p14:creationId xmlns:p14="http://schemas.microsoft.com/office/powerpoint/2010/main" val="132568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err="1"/>
              <a:t>Ripetere</a:t>
            </a:r>
            <a:r>
              <a:rPr lang="en-US"/>
              <a:t> le word view in </a:t>
            </a:r>
            <a:r>
              <a:rPr lang="en-US" err="1"/>
              <a:t>particolare</a:t>
            </a:r>
            <a:r>
              <a:rPr lang="en-US"/>
              <a:t> EO e PO</a:t>
            </a:r>
          </a:p>
        </p:txBody>
      </p:sp>
    </p:spTree>
    <p:extLst>
      <p:ext uri="{BB962C8B-B14F-4D97-AF65-F5344CB8AC3E}">
        <p14:creationId xmlns:p14="http://schemas.microsoft.com/office/powerpoint/2010/main" val="1174812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err="1"/>
              <a:t>Ripetere</a:t>
            </a:r>
            <a:r>
              <a:rPr lang="en-US"/>
              <a:t> </a:t>
            </a:r>
            <a:r>
              <a:rPr lang="en-US" err="1"/>
              <a:t>l’esempio</a:t>
            </a:r>
            <a:r>
              <a:rPr lang="en-US"/>
              <a:t> con il </a:t>
            </a:r>
            <a:r>
              <a:rPr lang="en-US" err="1"/>
              <a:t>ciclo</a:t>
            </a:r>
            <a:r>
              <a:rPr lang="en-US"/>
              <a:t> di </a:t>
            </a:r>
            <a:r>
              <a:rPr lang="en-US" err="1"/>
              <a:t>azioni</a:t>
            </a:r>
            <a:r>
              <a:rPr lang="en-US"/>
              <a:t> </a:t>
            </a:r>
            <a:r>
              <a:rPr lang="en-US" err="1"/>
              <a:t>svolte</a:t>
            </a:r>
            <a:r>
              <a:rPr lang="en-US"/>
              <a:t> da un </a:t>
            </a:r>
            <a:r>
              <a:rPr lang="en-US" err="1"/>
              <a:t>aereo</a:t>
            </a:r>
            <a:endParaRPr lang="en-US"/>
          </a:p>
          <a:p>
            <a:endParaRPr lang="en-US"/>
          </a:p>
          <a:p>
            <a:r>
              <a:rPr lang="en-US" err="1"/>
              <a:t>Ogni</a:t>
            </a:r>
            <a:r>
              <a:rPr lang="en-US"/>
              <a:t> Logical Process LP </a:t>
            </a:r>
            <a:r>
              <a:rPr lang="en-US" err="1"/>
              <a:t>schedula</a:t>
            </a:r>
            <a:r>
              <a:rPr lang="en-US"/>
              <a:t> </a:t>
            </a:r>
            <a:r>
              <a:rPr lang="en-US" err="1"/>
              <a:t>eventi</a:t>
            </a:r>
            <a:r>
              <a:rPr lang="en-US"/>
              <a:t> </a:t>
            </a:r>
            <a:r>
              <a:rPr lang="en-US" err="1"/>
              <a:t>locali</a:t>
            </a:r>
            <a:r>
              <a:rPr lang="en-US"/>
              <a:t> ed </a:t>
            </a:r>
            <a:r>
              <a:rPr lang="en-US" err="1"/>
              <a:t>eventi</a:t>
            </a:r>
            <a:r>
              <a:rPr lang="en-US"/>
              <a:t> per </a:t>
            </a:r>
            <a:r>
              <a:rPr lang="en-US" err="1"/>
              <a:t>altri</a:t>
            </a:r>
            <a:r>
              <a:rPr lang="en-US"/>
              <a:t> LP (remote). </a:t>
            </a:r>
            <a:r>
              <a:rPr lang="en-US" err="1"/>
              <a:t>Gestiti</a:t>
            </a:r>
            <a:r>
              <a:rPr lang="en-US"/>
              <a:t> da </a:t>
            </a:r>
            <a:r>
              <a:rPr lang="en-US" err="1"/>
              <a:t>messaggi</a:t>
            </a:r>
            <a:r>
              <a:rPr lang="en-US"/>
              <a:t> </a:t>
            </a:r>
            <a:r>
              <a:rPr lang="en-US" err="1"/>
              <a:t>inviati</a:t>
            </a:r>
            <a:endParaRPr lang="en-US"/>
          </a:p>
          <a:p>
            <a:endParaRPr lang="en-US"/>
          </a:p>
          <a:p>
            <a:r>
              <a:rPr lang="en-US"/>
              <a:t>Starting from a physical system we define a simulation which is structured in various LP</a:t>
            </a:r>
          </a:p>
          <a:p>
            <a:endParaRPr lang="en-US"/>
          </a:p>
          <a:p>
            <a:r>
              <a:rPr lang="en-US" err="1"/>
              <a:t>Gli</a:t>
            </a:r>
            <a:r>
              <a:rPr lang="en-US"/>
              <a:t> LP </a:t>
            </a:r>
            <a:r>
              <a:rPr lang="en-US" err="1"/>
              <a:t>sono</a:t>
            </a:r>
            <a:r>
              <a:rPr lang="en-US"/>
              <a:t> </a:t>
            </a:r>
            <a:r>
              <a:rPr lang="en-US" err="1"/>
              <a:t>interagiscono</a:t>
            </a:r>
            <a:r>
              <a:rPr lang="en-US"/>
              <a:t> </a:t>
            </a:r>
            <a:r>
              <a:rPr lang="en-US" err="1"/>
              <a:t>attraverso</a:t>
            </a:r>
            <a:r>
              <a:rPr lang="en-US"/>
              <a:t> lo scheduling di </a:t>
            </a:r>
            <a:r>
              <a:rPr lang="en-US" err="1"/>
              <a:t>eventi</a:t>
            </a:r>
            <a:endParaRPr lang="en-US"/>
          </a:p>
          <a:p>
            <a:endParaRPr lang="en-US"/>
          </a:p>
          <a:p>
            <a:r>
              <a:rPr lang="en-US" err="1"/>
              <a:t>Ovviamente</a:t>
            </a:r>
            <a:r>
              <a:rPr lang="en-US"/>
              <a:t> </a:t>
            </a:r>
            <a:r>
              <a:rPr lang="en-US" err="1"/>
              <a:t>una</a:t>
            </a:r>
            <a:r>
              <a:rPr lang="en-US"/>
              <a:t> rete di </a:t>
            </a:r>
            <a:r>
              <a:rPr lang="en-US" err="1"/>
              <a:t>Aeroporti</a:t>
            </a:r>
            <a:r>
              <a:rPr lang="en-US"/>
              <a:t> </a:t>
            </a:r>
            <a:r>
              <a:rPr lang="en-US" err="1"/>
              <a:t>puà</a:t>
            </a:r>
            <a:r>
              <a:rPr lang="en-US"/>
              <a:t> </a:t>
            </a:r>
            <a:r>
              <a:rPr lang="en-US" err="1"/>
              <a:t>essere</a:t>
            </a:r>
            <a:r>
              <a:rPr lang="en-US"/>
              <a:t> simulate da un </a:t>
            </a:r>
            <a:r>
              <a:rPr lang="en-US" err="1"/>
              <a:t>singolo</a:t>
            </a:r>
            <a:r>
              <a:rPr lang="en-US"/>
              <a:t> host. Ma se </a:t>
            </a:r>
            <a:r>
              <a:rPr lang="en-US" err="1"/>
              <a:t>gli</a:t>
            </a:r>
            <a:r>
              <a:rPr lang="en-US"/>
              <a:t> </a:t>
            </a:r>
            <a:r>
              <a:rPr lang="en-US" err="1"/>
              <a:t>eventi</a:t>
            </a:r>
            <a:r>
              <a:rPr lang="en-US"/>
              <a:t> generate </a:t>
            </a:r>
            <a:r>
              <a:rPr lang="en-US" err="1"/>
              <a:t>sono</a:t>
            </a:r>
            <a:r>
              <a:rPr lang="en-US"/>
              <a:t> </a:t>
            </a:r>
            <a:r>
              <a:rPr lang="en-US" err="1"/>
              <a:t>troppi</a:t>
            </a:r>
            <a:r>
              <a:rPr lang="en-US"/>
              <a:t> </a:t>
            </a:r>
            <a:r>
              <a:rPr lang="en-US" err="1"/>
              <a:t>è</a:t>
            </a:r>
            <a:r>
              <a:rPr lang="en-US"/>
              <a:t> possible </a:t>
            </a:r>
            <a:r>
              <a:rPr lang="en-US" err="1"/>
              <a:t>partizionare</a:t>
            </a:r>
            <a:r>
              <a:rPr lang="en-US"/>
              <a:t> il </a:t>
            </a:r>
            <a:r>
              <a:rPr lang="en-US" err="1"/>
              <a:t>modello</a:t>
            </a:r>
            <a:r>
              <a:rPr lang="en-US"/>
              <a:t> in modo </a:t>
            </a:r>
            <a:r>
              <a:rPr lang="en-US" err="1"/>
              <a:t>che</a:t>
            </a:r>
            <a:r>
              <a:rPr lang="en-US"/>
              <a:t> </a:t>
            </a:r>
            <a:r>
              <a:rPr lang="en-US" err="1"/>
              <a:t>ogni</a:t>
            </a:r>
            <a:r>
              <a:rPr lang="en-US"/>
              <a:t> Aeroporto </a:t>
            </a:r>
            <a:r>
              <a:rPr lang="en-US" err="1"/>
              <a:t>sia</a:t>
            </a:r>
            <a:r>
              <a:rPr lang="en-US"/>
              <a:t> </a:t>
            </a:r>
            <a:r>
              <a:rPr lang="en-US" err="1"/>
              <a:t>simulato</a:t>
            </a:r>
            <a:r>
              <a:rPr lang="en-US"/>
              <a:t> da un </a:t>
            </a:r>
            <a:r>
              <a:rPr lang="en-US" err="1"/>
              <a:t>singolo</a:t>
            </a:r>
            <a:r>
              <a:rPr lang="en-US"/>
              <a:t> ed </a:t>
            </a:r>
            <a:r>
              <a:rPr lang="en-US" err="1"/>
              <a:t>indipendente</a:t>
            </a:r>
            <a:r>
              <a:rPr lang="en-US"/>
              <a:t> LP</a:t>
            </a:r>
          </a:p>
        </p:txBody>
      </p:sp>
    </p:spTree>
    <p:extLst>
      <p:ext uri="{BB962C8B-B14F-4D97-AF65-F5344CB8AC3E}">
        <p14:creationId xmlns:p14="http://schemas.microsoft.com/office/powerpoint/2010/main" val="3297926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err="1"/>
              <a:t>Descrivere</a:t>
            </a:r>
            <a:r>
              <a:rPr lang="en-US" dirty="0"/>
              <a:t> il Sistema </a:t>
            </a:r>
            <a:r>
              <a:rPr lang="en-US" dirty="0" err="1"/>
              <a:t>fisico</a:t>
            </a:r>
            <a:r>
              <a:rPr lang="en-US" dirty="0"/>
              <a:t>: </a:t>
            </a:r>
            <a:r>
              <a:rPr lang="en-US" dirty="0" err="1"/>
              <a:t>aerei</a:t>
            </a:r>
            <a:r>
              <a:rPr lang="en-US" dirty="0"/>
              <a:t> </a:t>
            </a:r>
            <a:r>
              <a:rPr lang="en-US" dirty="0" err="1"/>
              <a:t>che</a:t>
            </a:r>
            <a:r>
              <a:rPr lang="en-US" dirty="0"/>
              <a:t> </a:t>
            </a:r>
            <a:r>
              <a:rPr lang="en-US" dirty="0" err="1"/>
              <a:t>partono</a:t>
            </a:r>
            <a:r>
              <a:rPr lang="en-US" dirty="0"/>
              <a:t> da un Aeroporto e </a:t>
            </a:r>
            <a:r>
              <a:rPr lang="en-US" dirty="0" err="1"/>
              <a:t>arrivano</a:t>
            </a:r>
            <a:r>
              <a:rPr lang="en-US" dirty="0"/>
              <a:t> in un </a:t>
            </a:r>
            <a:r>
              <a:rPr lang="en-US" dirty="0" err="1"/>
              <a:t>altro</a:t>
            </a:r>
            <a:r>
              <a:rPr lang="en-US" dirty="0"/>
              <a:t>. </a:t>
            </a:r>
            <a:r>
              <a:rPr lang="en-US" dirty="0" err="1"/>
              <a:t>Processi</a:t>
            </a:r>
            <a:r>
              <a:rPr lang="en-US" dirty="0"/>
              <a:t> </a:t>
            </a:r>
            <a:r>
              <a:rPr lang="en-US" dirty="0" err="1"/>
              <a:t>fisici</a:t>
            </a:r>
            <a:r>
              <a:rPr lang="en-US" dirty="0"/>
              <a:t> </a:t>
            </a:r>
            <a:r>
              <a:rPr lang="en-US" dirty="0" err="1"/>
              <a:t>che</a:t>
            </a:r>
            <a:r>
              <a:rPr lang="en-US" dirty="0"/>
              <a:t> </a:t>
            </a:r>
            <a:r>
              <a:rPr lang="en-US" dirty="0" err="1"/>
              <a:t>gesticono</a:t>
            </a:r>
            <a:r>
              <a:rPr lang="en-US" dirty="0"/>
              <a:t> </a:t>
            </a:r>
            <a:r>
              <a:rPr lang="en-US" dirty="0" err="1"/>
              <a:t>informazioni</a:t>
            </a:r>
            <a:r>
              <a:rPr lang="en-US" dirty="0"/>
              <a:t> e </a:t>
            </a:r>
            <a:r>
              <a:rPr lang="en-US" dirty="0" err="1"/>
              <a:t>che</a:t>
            </a:r>
            <a:r>
              <a:rPr lang="en-US" dirty="0"/>
              <a:t> </a:t>
            </a:r>
            <a:r>
              <a:rPr lang="en-US" dirty="0" err="1"/>
              <a:t>interagiscono</a:t>
            </a:r>
            <a:r>
              <a:rPr lang="en-US" dirty="0"/>
              <a:t> </a:t>
            </a:r>
            <a:r>
              <a:rPr lang="en-US" dirty="0" err="1"/>
              <a:t>tra</a:t>
            </a:r>
            <a:r>
              <a:rPr lang="en-US" dirty="0"/>
              <a:t> loro </a:t>
            </a:r>
            <a:r>
              <a:rPr lang="en-US" dirty="0" err="1"/>
              <a:t>quando</a:t>
            </a:r>
            <a:r>
              <a:rPr lang="en-US" dirty="0"/>
              <a:t> un </a:t>
            </a:r>
            <a:r>
              <a:rPr lang="en-US" dirty="0" err="1"/>
              <a:t>aeroplano</a:t>
            </a:r>
            <a:r>
              <a:rPr lang="en-US" dirty="0"/>
              <a:t> </a:t>
            </a:r>
            <a:r>
              <a:rPr lang="en-US" dirty="0" err="1"/>
              <a:t>parte</a:t>
            </a:r>
            <a:r>
              <a:rPr lang="en-US" dirty="0"/>
              <a:t> o </a:t>
            </a:r>
            <a:r>
              <a:rPr lang="en-US" dirty="0" err="1"/>
              <a:t>arriva</a:t>
            </a:r>
            <a:endParaRPr lang="en-US" dirty="0"/>
          </a:p>
          <a:p>
            <a:endParaRPr lang="en-US" dirty="0"/>
          </a:p>
          <a:p>
            <a:r>
              <a:rPr lang="en-US" dirty="0"/>
              <a:t>Il </a:t>
            </a:r>
            <a:r>
              <a:rPr lang="en-US" dirty="0" err="1"/>
              <a:t>modello</a:t>
            </a:r>
            <a:r>
              <a:rPr lang="en-US" dirty="0"/>
              <a:t> </a:t>
            </a:r>
            <a:r>
              <a:rPr lang="en-US" dirty="0" err="1"/>
              <a:t>logico</a:t>
            </a:r>
            <a:r>
              <a:rPr lang="en-US" dirty="0"/>
              <a:t> </a:t>
            </a:r>
            <a:r>
              <a:rPr lang="en-US" dirty="0" err="1"/>
              <a:t>che</a:t>
            </a:r>
            <a:r>
              <a:rPr lang="en-US" dirty="0"/>
              <a:t> </a:t>
            </a:r>
            <a:r>
              <a:rPr lang="en-US" dirty="0" err="1"/>
              <a:t>introduciamo</a:t>
            </a:r>
            <a:r>
              <a:rPr lang="en-US" dirty="0"/>
              <a:t> per </a:t>
            </a:r>
            <a:r>
              <a:rPr lang="en-US" dirty="0" err="1"/>
              <a:t>rappresentare</a:t>
            </a:r>
            <a:r>
              <a:rPr lang="en-US" dirty="0"/>
              <a:t> il Sistema </a:t>
            </a:r>
            <a:r>
              <a:rPr lang="en-US" dirty="0" err="1"/>
              <a:t>fisico</a:t>
            </a:r>
            <a:r>
              <a:rPr lang="en-US" dirty="0"/>
              <a:t> </a:t>
            </a:r>
            <a:r>
              <a:rPr lang="en-US" dirty="0" err="1"/>
              <a:t>è</a:t>
            </a:r>
            <a:r>
              <a:rPr lang="en-US" dirty="0"/>
              <a:t> </a:t>
            </a:r>
            <a:r>
              <a:rPr lang="en-US" dirty="0" err="1"/>
              <a:t>mostrato</a:t>
            </a:r>
            <a:r>
              <a:rPr lang="en-US" dirty="0"/>
              <a:t> </a:t>
            </a:r>
            <a:r>
              <a:rPr lang="en-US" dirty="0" err="1"/>
              <a:t>nella</a:t>
            </a:r>
            <a:r>
              <a:rPr lang="en-US" dirty="0"/>
              <a:t> </a:t>
            </a:r>
            <a:r>
              <a:rPr lang="en-US" dirty="0" err="1"/>
              <a:t>parte</a:t>
            </a:r>
            <a:r>
              <a:rPr lang="en-US" dirty="0"/>
              <a:t> in basso </a:t>
            </a:r>
            <a:r>
              <a:rPr lang="en-US" dirty="0" err="1"/>
              <a:t>della</a:t>
            </a:r>
            <a:r>
              <a:rPr lang="en-US" dirty="0"/>
              <a:t> </a:t>
            </a:r>
            <a:r>
              <a:rPr lang="en-US" dirty="0" err="1"/>
              <a:t>figura</a:t>
            </a:r>
            <a:r>
              <a:rPr lang="en-US" dirty="0"/>
              <a:t>.</a:t>
            </a:r>
          </a:p>
          <a:p>
            <a:endParaRPr lang="en-US" dirty="0"/>
          </a:p>
          <a:p>
            <a:r>
              <a:rPr lang="en-US" dirty="0" err="1"/>
              <a:t>Relazione</a:t>
            </a:r>
            <a:r>
              <a:rPr lang="en-US" dirty="0"/>
              <a:t> 1:1 </a:t>
            </a:r>
            <a:r>
              <a:rPr lang="en-US" dirty="0" err="1"/>
              <a:t>tra</a:t>
            </a:r>
            <a:r>
              <a:rPr lang="en-US" dirty="0"/>
              <a:t> </a:t>
            </a:r>
            <a:r>
              <a:rPr lang="en-US" dirty="0" err="1"/>
              <a:t>entità</a:t>
            </a:r>
            <a:r>
              <a:rPr lang="en-US" dirty="0"/>
              <a:t> </a:t>
            </a:r>
            <a:r>
              <a:rPr lang="en-US" dirty="0" err="1"/>
              <a:t>fisiche</a:t>
            </a:r>
            <a:r>
              <a:rPr lang="en-US" dirty="0"/>
              <a:t> e quelle </a:t>
            </a:r>
            <a:r>
              <a:rPr lang="en-US" dirty="0" err="1"/>
              <a:t>logiche</a:t>
            </a:r>
            <a:endParaRPr lang="en-US" dirty="0"/>
          </a:p>
          <a:p>
            <a:endParaRPr lang="en-US" dirty="0"/>
          </a:p>
          <a:p>
            <a:r>
              <a:rPr lang="en-US" dirty="0"/>
              <a:t>La </a:t>
            </a:r>
            <a:r>
              <a:rPr lang="en-US" dirty="0" err="1"/>
              <a:t>complicazione</a:t>
            </a:r>
            <a:r>
              <a:rPr lang="en-US" dirty="0"/>
              <a:t> </a:t>
            </a:r>
            <a:r>
              <a:rPr lang="en-US" dirty="0" err="1"/>
              <a:t>è</a:t>
            </a:r>
            <a:r>
              <a:rPr lang="en-US" dirty="0"/>
              <a:t> </a:t>
            </a:r>
            <a:r>
              <a:rPr lang="en-US" dirty="0" err="1"/>
              <a:t>che</a:t>
            </a:r>
            <a:r>
              <a:rPr lang="en-US" dirty="0"/>
              <a:t> </a:t>
            </a:r>
            <a:r>
              <a:rPr lang="en-US" dirty="0" err="1"/>
              <a:t>ogni</a:t>
            </a:r>
            <a:r>
              <a:rPr lang="en-US" dirty="0"/>
              <a:t> </a:t>
            </a:r>
            <a:r>
              <a:rPr lang="en-US" dirty="0" err="1"/>
              <a:t>proccersso</a:t>
            </a:r>
            <a:r>
              <a:rPr lang="en-US" dirty="0"/>
              <a:t> non </a:t>
            </a:r>
            <a:r>
              <a:rPr lang="en-US" dirty="0" err="1"/>
              <a:t>deve</a:t>
            </a:r>
            <a:r>
              <a:rPr lang="en-US" dirty="0"/>
              <a:t> solo </a:t>
            </a:r>
            <a:r>
              <a:rPr lang="en-US" dirty="0" err="1"/>
              <a:t>gestire</a:t>
            </a:r>
            <a:r>
              <a:rPr lang="en-US" dirty="0"/>
              <a:t> I </a:t>
            </a:r>
            <a:r>
              <a:rPr lang="en-US" dirty="0" err="1"/>
              <a:t>propri</a:t>
            </a:r>
            <a:r>
              <a:rPr lang="en-US" dirty="0"/>
              <a:t> </a:t>
            </a:r>
            <a:r>
              <a:rPr lang="en-US" dirty="0" err="1"/>
              <a:t>eventi</a:t>
            </a:r>
            <a:r>
              <a:rPr lang="en-US" dirty="0"/>
              <a:t> </a:t>
            </a:r>
            <a:r>
              <a:rPr lang="en-US" dirty="0" err="1"/>
              <a:t>locali</a:t>
            </a:r>
            <a:r>
              <a:rPr lang="en-US" dirty="0"/>
              <a:t>. Nella </a:t>
            </a:r>
            <a:r>
              <a:rPr lang="en-US" dirty="0" err="1"/>
              <a:t>simulazione</a:t>
            </a:r>
            <a:r>
              <a:rPr lang="en-US" dirty="0"/>
              <a:t>, I </a:t>
            </a:r>
            <a:r>
              <a:rPr lang="en-US" dirty="0" err="1"/>
              <a:t>diversi</a:t>
            </a:r>
            <a:r>
              <a:rPr lang="en-US" dirty="0"/>
              <a:t> LP </a:t>
            </a:r>
            <a:r>
              <a:rPr lang="en-US" dirty="0" err="1"/>
              <a:t>si</a:t>
            </a:r>
            <a:r>
              <a:rPr lang="en-US" dirty="0"/>
              <a:t> </a:t>
            </a:r>
            <a:r>
              <a:rPr lang="en-US" dirty="0" err="1"/>
              <a:t>troveranno</a:t>
            </a:r>
            <a:r>
              <a:rPr lang="en-US" dirty="0"/>
              <a:t> </a:t>
            </a:r>
            <a:r>
              <a:rPr lang="en-US" dirty="0" err="1"/>
              <a:t>nella</a:t>
            </a:r>
            <a:r>
              <a:rPr lang="en-US" dirty="0"/>
              <a:t> </a:t>
            </a:r>
            <a:r>
              <a:rPr lang="en-US" dirty="0" err="1"/>
              <a:t>situazione</a:t>
            </a:r>
            <a:r>
              <a:rPr lang="en-US" dirty="0"/>
              <a:t> di </a:t>
            </a:r>
            <a:r>
              <a:rPr lang="en-US" dirty="0" err="1"/>
              <a:t>schedulare</a:t>
            </a:r>
            <a:r>
              <a:rPr lang="en-US" dirty="0"/>
              <a:t> </a:t>
            </a:r>
            <a:r>
              <a:rPr lang="en-US" dirty="0" err="1"/>
              <a:t>eventi</a:t>
            </a:r>
            <a:r>
              <a:rPr lang="en-US" dirty="0"/>
              <a:t> per </a:t>
            </a:r>
            <a:r>
              <a:rPr lang="en-US" dirty="0" err="1"/>
              <a:t>altri</a:t>
            </a:r>
            <a:r>
              <a:rPr lang="en-US" dirty="0"/>
              <a:t> LP e </a:t>
            </a:r>
            <a:r>
              <a:rPr lang="en-US" dirty="0" err="1"/>
              <a:t>analogamente</a:t>
            </a:r>
            <a:r>
              <a:rPr lang="en-US" dirty="0"/>
              <a:t> di </a:t>
            </a:r>
            <a:r>
              <a:rPr lang="en-US" dirty="0" err="1"/>
              <a:t>gestire</a:t>
            </a:r>
            <a:r>
              <a:rPr lang="en-US" dirty="0"/>
              <a:t> </a:t>
            </a:r>
            <a:r>
              <a:rPr lang="en-US" dirty="0" err="1"/>
              <a:t>eventi</a:t>
            </a:r>
            <a:r>
              <a:rPr lang="en-US" dirty="0"/>
              <a:t> </a:t>
            </a:r>
            <a:r>
              <a:rPr lang="en-US" dirty="0" err="1"/>
              <a:t>schedulati</a:t>
            </a:r>
            <a:r>
              <a:rPr lang="en-US" dirty="0"/>
              <a:t> da </a:t>
            </a:r>
            <a:r>
              <a:rPr lang="en-US" dirty="0" err="1"/>
              <a:t>altri</a:t>
            </a:r>
            <a:r>
              <a:rPr lang="en-US" dirty="0"/>
              <a:t> LP. </a:t>
            </a:r>
            <a:r>
              <a:rPr lang="en-US" dirty="0" err="1"/>
              <a:t>Ciascun</a:t>
            </a:r>
            <a:r>
              <a:rPr lang="en-US" dirty="0"/>
              <a:t> </a:t>
            </a:r>
            <a:r>
              <a:rPr lang="en-US" dirty="0" err="1"/>
              <a:t>evento</a:t>
            </a:r>
            <a:r>
              <a:rPr lang="en-US" dirty="0"/>
              <a:t> </a:t>
            </a:r>
            <a:r>
              <a:rPr lang="en-US" dirty="0" err="1"/>
              <a:t>usa</a:t>
            </a:r>
            <a:r>
              <a:rPr lang="en-US" dirty="0"/>
              <a:t> un timestamp espresso in base </a:t>
            </a:r>
            <a:r>
              <a:rPr lang="en-US" dirty="0" err="1"/>
              <a:t>alla</a:t>
            </a:r>
            <a:r>
              <a:rPr lang="en-US" dirty="0"/>
              <a:t> </a:t>
            </a:r>
            <a:r>
              <a:rPr lang="en-US" dirty="0" err="1"/>
              <a:t>logica</a:t>
            </a:r>
            <a:r>
              <a:rPr lang="en-US" dirty="0"/>
              <a:t> del LP locale e </a:t>
            </a:r>
            <a:r>
              <a:rPr lang="en-US" dirty="0" err="1"/>
              <a:t>quidi</a:t>
            </a:r>
            <a:r>
              <a:rPr lang="en-US" dirty="0"/>
              <a:t> </a:t>
            </a:r>
            <a:r>
              <a:rPr lang="en-US" dirty="0" err="1"/>
              <a:t>va</a:t>
            </a:r>
            <a:r>
              <a:rPr lang="en-US" dirty="0"/>
              <a:t> in </a:t>
            </a:r>
            <a:r>
              <a:rPr lang="en-US" dirty="0" err="1"/>
              <a:t>qualche</a:t>
            </a:r>
            <a:r>
              <a:rPr lang="en-US" dirty="0"/>
              <a:t> modo </a:t>
            </a:r>
            <a:r>
              <a:rPr lang="en-US" dirty="0" err="1"/>
              <a:t>gestito</a:t>
            </a:r>
            <a:r>
              <a:rPr lang="en-US" dirty="0"/>
              <a:t> il principio di </a:t>
            </a:r>
            <a:r>
              <a:rPr lang="en-US" dirty="0" err="1"/>
              <a:t>casualità</a:t>
            </a:r>
            <a:endParaRPr lang="en-US" dirty="0"/>
          </a:p>
          <a:p>
            <a:endParaRPr lang="en-US" dirty="0"/>
          </a:p>
          <a:p>
            <a:r>
              <a:rPr lang="en-US" dirty="0"/>
              <a:t>Si </a:t>
            </a:r>
            <a:r>
              <a:rPr lang="en-US" dirty="0" err="1"/>
              <a:t>deve</a:t>
            </a:r>
            <a:r>
              <a:rPr lang="en-US" dirty="0"/>
              <a:t> </a:t>
            </a:r>
            <a:r>
              <a:rPr lang="en-US" dirty="0" err="1"/>
              <a:t>evitare</a:t>
            </a:r>
            <a:r>
              <a:rPr lang="en-US" dirty="0"/>
              <a:t> di </a:t>
            </a:r>
            <a:r>
              <a:rPr lang="en-US" dirty="0" err="1"/>
              <a:t>schedulare</a:t>
            </a:r>
            <a:r>
              <a:rPr lang="en-US" dirty="0"/>
              <a:t> </a:t>
            </a:r>
            <a:r>
              <a:rPr lang="en-US" dirty="0" err="1"/>
              <a:t>sul</a:t>
            </a:r>
            <a:r>
              <a:rPr lang="en-US" dirty="0"/>
              <a:t> un LP un </a:t>
            </a:r>
            <a:r>
              <a:rPr lang="en-US" dirty="0" err="1"/>
              <a:t>messaggio</a:t>
            </a:r>
            <a:r>
              <a:rPr lang="en-US" dirty="0"/>
              <a:t> </a:t>
            </a:r>
            <a:r>
              <a:rPr lang="en-US" dirty="0" err="1"/>
              <a:t>che</a:t>
            </a:r>
            <a:r>
              <a:rPr lang="en-US" dirty="0"/>
              <a:t> ha un timestamp t </a:t>
            </a:r>
            <a:r>
              <a:rPr lang="en-US" dirty="0" err="1"/>
              <a:t>minore</a:t>
            </a:r>
            <a:r>
              <a:rPr lang="en-US" dirty="0"/>
              <a:t> del simulation time </a:t>
            </a:r>
            <a:r>
              <a:rPr lang="en-US" dirty="0" err="1"/>
              <a:t>corrente</a:t>
            </a:r>
            <a:r>
              <a:rPr lang="en-US" dirty="0"/>
              <a:t> di LP</a:t>
            </a:r>
          </a:p>
          <a:p>
            <a:endParaRPr lang="en-US" dirty="0"/>
          </a:p>
          <a:p>
            <a:r>
              <a:rPr lang="en-US" dirty="0"/>
              <a:t>In distributed software </a:t>
            </a:r>
            <a:r>
              <a:rPr lang="en-US" dirty="0" err="1"/>
              <a:t>si</a:t>
            </a:r>
            <a:r>
              <a:rPr lang="en-US" dirty="0"/>
              <a:t> </a:t>
            </a:r>
            <a:r>
              <a:rPr lang="en-US" dirty="0" err="1"/>
              <a:t>può</a:t>
            </a:r>
            <a:r>
              <a:rPr lang="en-US" dirty="0"/>
              <a:t> </a:t>
            </a:r>
            <a:r>
              <a:rPr lang="en-US" dirty="0" err="1"/>
              <a:t>cooperare</a:t>
            </a:r>
            <a:r>
              <a:rPr lang="en-US" dirty="0"/>
              <a:t> per shared data o message passing</a:t>
            </a:r>
          </a:p>
        </p:txBody>
      </p:sp>
    </p:spTree>
    <p:extLst>
      <p:ext uri="{BB962C8B-B14F-4D97-AF65-F5344CB8AC3E}">
        <p14:creationId xmlns:p14="http://schemas.microsoft.com/office/powerpoint/2010/main" val="1302832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In alto le </a:t>
            </a:r>
            <a:r>
              <a:rPr lang="en-US" err="1"/>
              <a:t>variabli</a:t>
            </a:r>
            <a:r>
              <a:rPr lang="en-US"/>
              <a:t> </a:t>
            </a:r>
            <a:r>
              <a:rPr lang="en-US" err="1"/>
              <a:t>della</a:t>
            </a:r>
            <a:r>
              <a:rPr lang="en-US"/>
              <a:t> sim application (sempre le </a:t>
            </a:r>
            <a:r>
              <a:rPr lang="en-US" err="1"/>
              <a:t>solite</a:t>
            </a:r>
            <a:r>
              <a:rPr lang="en-US"/>
              <a:t>)</a:t>
            </a:r>
          </a:p>
          <a:p>
            <a:r>
              <a:rPr lang="en-US" err="1"/>
              <a:t>Nei</a:t>
            </a:r>
            <a:r>
              <a:rPr lang="en-US"/>
              <a:t> </a:t>
            </a:r>
            <a:r>
              <a:rPr lang="en-US" err="1"/>
              <a:t>tre</a:t>
            </a:r>
            <a:r>
              <a:rPr lang="en-US"/>
              <a:t> </a:t>
            </a:r>
            <a:r>
              <a:rPr lang="en-US" err="1"/>
              <a:t>riquadri</a:t>
            </a:r>
            <a:r>
              <a:rPr lang="en-US"/>
              <a:t> in basso la </a:t>
            </a:r>
            <a:r>
              <a:rPr lang="en-US" err="1"/>
              <a:t>logica</a:t>
            </a:r>
            <a:r>
              <a:rPr lang="en-US"/>
              <a:t> di </a:t>
            </a:r>
            <a:r>
              <a:rPr lang="en-US" err="1"/>
              <a:t>gestione</a:t>
            </a:r>
            <a:r>
              <a:rPr lang="en-US"/>
              <a:t> </a:t>
            </a:r>
            <a:r>
              <a:rPr lang="en-US" err="1"/>
              <a:t>degli</a:t>
            </a:r>
            <a:r>
              <a:rPr lang="en-US"/>
              <a:t> </a:t>
            </a:r>
            <a:r>
              <a:rPr lang="en-US" err="1"/>
              <a:t>eventi</a:t>
            </a:r>
            <a:endParaRPr lang="en-US"/>
          </a:p>
          <a:p>
            <a:endParaRPr lang="en-US"/>
          </a:p>
          <a:p>
            <a:r>
              <a:rPr lang="en-US"/>
              <a:t>Per </a:t>
            </a:r>
            <a:r>
              <a:rPr lang="en-US" err="1"/>
              <a:t>gli</a:t>
            </a:r>
            <a:r>
              <a:rPr lang="en-US"/>
              <a:t> </a:t>
            </a:r>
            <a:r>
              <a:rPr lang="en-US" err="1"/>
              <a:t>eventi</a:t>
            </a:r>
            <a:r>
              <a:rPr lang="en-US"/>
              <a:t> di </a:t>
            </a:r>
            <a:r>
              <a:rPr lang="en-US" err="1"/>
              <a:t>partenza</a:t>
            </a:r>
            <a:r>
              <a:rPr lang="en-US"/>
              <a:t> </a:t>
            </a:r>
            <a:r>
              <a:rPr lang="en-US" err="1"/>
              <a:t>dobbiamo</a:t>
            </a:r>
            <a:r>
              <a:rPr lang="en-US"/>
              <a:t> </a:t>
            </a:r>
            <a:r>
              <a:rPr lang="en-US" err="1"/>
              <a:t>aggiungere</a:t>
            </a:r>
            <a:r>
              <a:rPr lang="en-US"/>
              <a:t> un </a:t>
            </a:r>
            <a:r>
              <a:rPr lang="en-US" err="1"/>
              <a:t>ulteriore</a:t>
            </a:r>
            <a:r>
              <a:rPr lang="en-US"/>
              <a:t> </a:t>
            </a:r>
            <a:r>
              <a:rPr lang="en-US" err="1"/>
              <a:t>dato</a:t>
            </a:r>
            <a:r>
              <a:rPr lang="en-US"/>
              <a:t>: il tempo </a:t>
            </a:r>
            <a:r>
              <a:rPr lang="en-US" err="1"/>
              <a:t>necesario</a:t>
            </a:r>
            <a:r>
              <a:rPr lang="en-US"/>
              <a:t> per </a:t>
            </a:r>
            <a:r>
              <a:rPr lang="en-US" err="1"/>
              <a:t>arrivare</a:t>
            </a:r>
            <a:r>
              <a:rPr lang="en-US"/>
              <a:t> a </a:t>
            </a:r>
            <a:r>
              <a:rPr lang="en-US" err="1"/>
              <a:t>destinazione</a:t>
            </a:r>
            <a:endParaRPr lang="en-US"/>
          </a:p>
        </p:txBody>
      </p:sp>
    </p:spTree>
    <p:extLst>
      <p:ext uri="{BB962C8B-B14F-4D97-AF65-F5344CB8AC3E}">
        <p14:creationId xmlns:p14="http://schemas.microsoft.com/office/powerpoint/2010/main" val="3538572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err="1"/>
              <a:t>Ovviamente</a:t>
            </a:r>
            <a:r>
              <a:rPr lang="en-US"/>
              <a:t> in  </a:t>
            </a:r>
            <a:r>
              <a:rPr lang="en-US" err="1"/>
              <a:t>generale</a:t>
            </a:r>
            <a:r>
              <a:rPr lang="en-US"/>
              <a:t> tutti I </a:t>
            </a:r>
            <a:r>
              <a:rPr lang="en-US" err="1"/>
              <a:t>processi</a:t>
            </a:r>
            <a:r>
              <a:rPr lang="en-US"/>
              <a:t> </a:t>
            </a:r>
            <a:r>
              <a:rPr lang="en-US" err="1"/>
              <a:t>possono</a:t>
            </a:r>
            <a:r>
              <a:rPr lang="en-US"/>
              <a:t> </a:t>
            </a:r>
            <a:r>
              <a:rPr lang="en-US" err="1"/>
              <a:t>essere</a:t>
            </a:r>
            <a:r>
              <a:rPr lang="en-US"/>
              <a:t> </a:t>
            </a:r>
            <a:r>
              <a:rPr lang="en-US" err="1"/>
              <a:t>eseguiti</a:t>
            </a:r>
            <a:r>
              <a:rPr lang="en-US"/>
              <a:t> </a:t>
            </a:r>
            <a:r>
              <a:rPr lang="en-US" err="1"/>
              <a:t>sulla</a:t>
            </a:r>
            <a:r>
              <a:rPr lang="en-US"/>
              <a:t> </a:t>
            </a:r>
            <a:r>
              <a:rPr lang="en-US" err="1"/>
              <a:t>stessa</a:t>
            </a:r>
            <a:r>
              <a:rPr lang="en-US"/>
              <a:t> </a:t>
            </a:r>
            <a:r>
              <a:rPr lang="en-US" err="1"/>
              <a:t>macchina</a:t>
            </a:r>
            <a:r>
              <a:rPr lang="en-US"/>
              <a:t> (inter-process </a:t>
            </a:r>
            <a:r>
              <a:rPr lang="en-US" err="1"/>
              <a:t>commmunication</a:t>
            </a:r>
            <a:r>
              <a:rPr lang="en-US"/>
              <a:t> protocol </a:t>
            </a:r>
            <a:r>
              <a:rPr lang="en-US" err="1"/>
              <a:t>gestito</a:t>
            </a:r>
            <a:r>
              <a:rPr lang="en-US"/>
              <a:t> dal SO)</a:t>
            </a:r>
          </a:p>
          <a:p>
            <a:r>
              <a:rPr lang="en-US" err="1"/>
              <a:t>Affrontiamo</a:t>
            </a:r>
            <a:r>
              <a:rPr lang="en-US"/>
              <a:t> </a:t>
            </a:r>
            <a:r>
              <a:rPr lang="en-US" err="1"/>
              <a:t>nello</a:t>
            </a:r>
            <a:r>
              <a:rPr lang="en-US"/>
              <a:t> </a:t>
            </a:r>
            <a:r>
              <a:rPr lang="en-US" err="1"/>
              <a:t>specifico</a:t>
            </a:r>
            <a:r>
              <a:rPr lang="en-US"/>
              <a:t> il </a:t>
            </a:r>
            <a:r>
              <a:rPr lang="en-US" err="1"/>
              <a:t>caso</a:t>
            </a:r>
            <a:r>
              <a:rPr lang="en-US"/>
              <a:t> di </a:t>
            </a:r>
            <a:r>
              <a:rPr lang="en-US" err="1"/>
              <a:t>una</a:t>
            </a:r>
            <a:r>
              <a:rPr lang="en-US"/>
              <a:t> </a:t>
            </a:r>
            <a:r>
              <a:rPr lang="en-US" err="1"/>
              <a:t>macchina</a:t>
            </a:r>
            <a:r>
              <a:rPr lang="en-US"/>
              <a:t> multiprocessor</a:t>
            </a:r>
          </a:p>
          <a:p>
            <a:endParaRPr lang="en-US"/>
          </a:p>
          <a:p>
            <a:r>
              <a:rPr lang="en-US" err="1"/>
              <a:t>Possiamo</a:t>
            </a:r>
            <a:r>
              <a:rPr lang="en-US"/>
              <a:t> </a:t>
            </a:r>
            <a:r>
              <a:rPr lang="en-US" err="1"/>
              <a:t>pensare</a:t>
            </a:r>
            <a:r>
              <a:rPr lang="en-US"/>
              <a:t> di </a:t>
            </a:r>
            <a:r>
              <a:rPr lang="en-US" err="1"/>
              <a:t>allocare</a:t>
            </a:r>
            <a:r>
              <a:rPr lang="en-US"/>
              <a:t> </a:t>
            </a:r>
            <a:r>
              <a:rPr lang="en-US" err="1"/>
              <a:t>più</a:t>
            </a:r>
            <a:r>
              <a:rPr lang="en-US"/>
              <a:t> </a:t>
            </a:r>
            <a:r>
              <a:rPr lang="en-US" err="1"/>
              <a:t>processi</a:t>
            </a:r>
            <a:r>
              <a:rPr lang="en-US"/>
              <a:t> </a:t>
            </a:r>
            <a:r>
              <a:rPr lang="en-US" err="1"/>
              <a:t>sullo</a:t>
            </a:r>
            <a:r>
              <a:rPr lang="en-US"/>
              <a:t> </a:t>
            </a:r>
            <a:r>
              <a:rPr lang="en-US" err="1"/>
              <a:t>stesso</a:t>
            </a:r>
            <a:r>
              <a:rPr lang="en-US"/>
              <a:t> </a:t>
            </a:r>
            <a:r>
              <a:rPr lang="en-US" err="1"/>
              <a:t>processore</a:t>
            </a:r>
            <a:r>
              <a:rPr lang="en-US"/>
              <a:t>, </a:t>
            </a:r>
            <a:r>
              <a:rPr lang="en-US" err="1"/>
              <a:t>dipende</a:t>
            </a:r>
            <a:r>
              <a:rPr lang="en-US"/>
              <a:t> </a:t>
            </a:r>
            <a:r>
              <a:rPr lang="en-US" err="1"/>
              <a:t>dalla</a:t>
            </a:r>
            <a:r>
              <a:rPr lang="en-US"/>
              <a:t> </a:t>
            </a:r>
            <a:r>
              <a:rPr lang="en-US" err="1"/>
              <a:t>logica</a:t>
            </a:r>
            <a:r>
              <a:rPr lang="en-US"/>
              <a:t> con cui </a:t>
            </a:r>
            <a:r>
              <a:rPr lang="en-US" err="1"/>
              <a:t>scheduliamo</a:t>
            </a:r>
            <a:r>
              <a:rPr lang="en-US"/>
              <a:t> I </a:t>
            </a:r>
            <a:r>
              <a:rPr lang="en-US" err="1"/>
              <a:t>processi</a:t>
            </a:r>
            <a:r>
              <a:rPr lang="en-US"/>
              <a:t>. Se </a:t>
            </a:r>
            <a:r>
              <a:rPr lang="en-US" err="1"/>
              <a:t>N_Processi</a:t>
            </a:r>
            <a:r>
              <a:rPr lang="en-US"/>
              <a:t> &gt; </a:t>
            </a:r>
            <a:r>
              <a:rPr lang="en-US" err="1"/>
              <a:t>N_processor</a:t>
            </a:r>
            <a:r>
              <a:rPr lang="en-US"/>
              <a:t> </a:t>
            </a:r>
            <a:r>
              <a:rPr lang="en-US" err="1"/>
              <a:t>accade</a:t>
            </a:r>
            <a:r>
              <a:rPr lang="en-US"/>
              <a:t> x forza</a:t>
            </a:r>
          </a:p>
          <a:p>
            <a:endParaRPr lang="en-US"/>
          </a:p>
          <a:p>
            <a:r>
              <a:rPr lang="en-US"/>
              <a:t>One state vector for each</a:t>
            </a:r>
            <a:r>
              <a:rPr lang="en-US" baseline="0"/>
              <a:t> LP (which contains a portion of the state corresponding to the physical process it models).</a:t>
            </a:r>
            <a:endParaRPr lang="en-US"/>
          </a:p>
        </p:txBody>
      </p:sp>
    </p:spTree>
    <p:extLst>
      <p:ext uri="{BB962C8B-B14F-4D97-AF65-F5344CB8AC3E}">
        <p14:creationId xmlns:p14="http://schemas.microsoft.com/office/powerpoint/2010/main" val="758199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err="1"/>
              <a:t>Spiegare</a:t>
            </a:r>
            <a:r>
              <a:rPr lang="en-US"/>
              <a:t> SAFE</a:t>
            </a:r>
          </a:p>
        </p:txBody>
      </p:sp>
    </p:spTree>
    <p:extLst>
      <p:ext uri="{BB962C8B-B14F-4D97-AF65-F5344CB8AC3E}">
        <p14:creationId xmlns:p14="http://schemas.microsoft.com/office/powerpoint/2010/main" val="232254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for</a:t>
            </a:r>
            <a:r>
              <a:rPr lang="en-US" baseline="0"/>
              <a:t> </a:t>
            </a:r>
            <a:r>
              <a:rPr lang="en-US"/>
              <a:t>simultaneous</a:t>
            </a:r>
            <a:r>
              <a:rPr lang="en-US" baseline="0"/>
              <a:t> events the observation holds only in case they are processed in the same order in both the sequential and parallel execution.</a:t>
            </a:r>
          </a:p>
          <a:p>
            <a:r>
              <a:rPr lang="en-US" baseline="0"/>
              <a:t>La </a:t>
            </a:r>
            <a:r>
              <a:rPr lang="en-US" baseline="0" err="1"/>
              <a:t>validazione</a:t>
            </a:r>
            <a:r>
              <a:rPr lang="en-US" baseline="0"/>
              <a:t> del </a:t>
            </a:r>
            <a:r>
              <a:rPr lang="en-US" baseline="0" err="1"/>
              <a:t>modello</a:t>
            </a:r>
            <a:r>
              <a:rPr lang="en-US" baseline="0"/>
              <a:t> di </a:t>
            </a:r>
            <a:r>
              <a:rPr lang="en-US" baseline="0" err="1"/>
              <a:t>simulazione</a:t>
            </a:r>
            <a:r>
              <a:rPr lang="en-US" baseline="0"/>
              <a:t> </a:t>
            </a:r>
            <a:r>
              <a:rPr lang="en-US" baseline="0" err="1"/>
              <a:t>è</a:t>
            </a:r>
            <a:r>
              <a:rPr lang="en-US" baseline="0"/>
              <a:t> </a:t>
            </a:r>
            <a:r>
              <a:rPr lang="en-US" baseline="0" err="1"/>
              <a:t>cosa</a:t>
            </a:r>
            <a:r>
              <a:rPr lang="en-US" baseline="0"/>
              <a:t> </a:t>
            </a:r>
            <a:r>
              <a:rPr lang="en-US" baseline="0" err="1"/>
              <a:t>differente</a:t>
            </a:r>
            <a:r>
              <a:rPr lang="en-US" baseline="0"/>
              <a:t> (il </a:t>
            </a:r>
            <a:r>
              <a:rPr lang="en-US" baseline="0" err="1"/>
              <a:t>fatto</a:t>
            </a:r>
            <a:r>
              <a:rPr lang="en-US" baseline="0"/>
              <a:t> </a:t>
            </a:r>
            <a:r>
              <a:rPr lang="en-US" baseline="0" err="1"/>
              <a:t>che</a:t>
            </a:r>
            <a:r>
              <a:rPr lang="en-US" baseline="0"/>
              <a:t> </a:t>
            </a:r>
            <a:r>
              <a:rPr lang="en-US" baseline="0" err="1"/>
              <a:t>producano</a:t>
            </a:r>
            <a:r>
              <a:rPr lang="en-US" baseline="0"/>
              <a:t> </a:t>
            </a:r>
            <a:r>
              <a:rPr lang="en-US" baseline="0" err="1"/>
              <a:t>gli</a:t>
            </a:r>
            <a:r>
              <a:rPr lang="en-US" baseline="0"/>
              <a:t> </a:t>
            </a:r>
            <a:r>
              <a:rPr lang="en-US" baseline="0" err="1"/>
              <a:t>stessi</a:t>
            </a:r>
            <a:r>
              <a:rPr lang="en-US" baseline="0"/>
              <a:t> </a:t>
            </a:r>
            <a:r>
              <a:rPr lang="en-US" baseline="0" err="1"/>
              <a:t>risultati</a:t>
            </a:r>
            <a:r>
              <a:rPr lang="en-US" baseline="0"/>
              <a:t> non </a:t>
            </a:r>
            <a:r>
              <a:rPr lang="en-US" baseline="0" err="1"/>
              <a:t>significa</a:t>
            </a:r>
            <a:r>
              <a:rPr lang="en-US" baseline="0"/>
              <a:t> </a:t>
            </a:r>
            <a:r>
              <a:rPr lang="en-US" baseline="0" err="1"/>
              <a:t>che</a:t>
            </a:r>
            <a:r>
              <a:rPr lang="en-US" baseline="0"/>
              <a:t> </a:t>
            </a:r>
            <a:r>
              <a:rPr lang="en-US" baseline="0" err="1"/>
              <a:t>tali</a:t>
            </a:r>
            <a:r>
              <a:rPr lang="en-US" baseline="0"/>
              <a:t> </a:t>
            </a:r>
            <a:r>
              <a:rPr lang="en-US" baseline="0" err="1"/>
              <a:t>risultati</a:t>
            </a:r>
            <a:r>
              <a:rPr lang="en-US" baseline="0"/>
              <a:t> </a:t>
            </a:r>
            <a:r>
              <a:rPr lang="en-US" baseline="0" err="1"/>
              <a:t>siano</a:t>
            </a:r>
            <a:r>
              <a:rPr lang="en-US" baseline="0"/>
              <a:t> </a:t>
            </a:r>
            <a:r>
              <a:rPr lang="en-US" baseline="0" err="1"/>
              <a:t>significativi</a:t>
            </a:r>
            <a:r>
              <a:rPr lang="en-US" baseline="0"/>
              <a:t> o </a:t>
            </a:r>
            <a:r>
              <a:rPr lang="en-US" baseline="0" err="1"/>
              <a:t>utili</a:t>
            </a:r>
            <a:r>
              <a:rPr lang="en-US" baseline="0"/>
              <a:t>).</a:t>
            </a:r>
          </a:p>
          <a:p>
            <a:endParaRPr lang="en-US" baseline="0"/>
          </a:p>
          <a:p>
            <a:r>
              <a:rPr lang="en-US" baseline="0"/>
              <a:t>La </a:t>
            </a:r>
            <a:r>
              <a:rPr lang="en-US" baseline="0" err="1"/>
              <a:t>validazione</a:t>
            </a:r>
            <a:r>
              <a:rPr lang="en-US" baseline="0"/>
              <a:t> di un </a:t>
            </a:r>
            <a:r>
              <a:rPr lang="en-US" baseline="0" err="1"/>
              <a:t>modello</a:t>
            </a:r>
            <a:r>
              <a:rPr lang="en-US" baseline="0"/>
              <a:t> </a:t>
            </a:r>
            <a:r>
              <a:rPr lang="en-US" baseline="0" err="1"/>
              <a:t>può</a:t>
            </a:r>
            <a:r>
              <a:rPr lang="en-US" baseline="0"/>
              <a:t> </a:t>
            </a:r>
            <a:r>
              <a:rPr lang="en-US" baseline="0" err="1"/>
              <a:t>essere</a:t>
            </a:r>
            <a:r>
              <a:rPr lang="en-US" baseline="0"/>
              <a:t> </a:t>
            </a:r>
            <a:r>
              <a:rPr lang="en-US" baseline="0" err="1"/>
              <a:t>fatta</a:t>
            </a:r>
            <a:r>
              <a:rPr lang="en-US" baseline="0"/>
              <a:t> con un </a:t>
            </a:r>
            <a:r>
              <a:rPr lang="en-US" baseline="0" err="1"/>
              <a:t>altro</a:t>
            </a:r>
            <a:r>
              <a:rPr lang="en-US" baseline="0"/>
              <a:t> </a:t>
            </a:r>
            <a:r>
              <a:rPr lang="en-US" baseline="0" err="1"/>
              <a:t>modello</a:t>
            </a:r>
            <a:r>
              <a:rPr lang="en-US" baseline="0"/>
              <a:t>, a </a:t>
            </a:r>
            <a:r>
              <a:rPr lang="en-US" baseline="0" err="1"/>
              <a:t>patto</a:t>
            </a:r>
            <a:r>
              <a:rPr lang="en-US" baseline="0"/>
              <a:t> </a:t>
            </a:r>
            <a:r>
              <a:rPr lang="en-US" baseline="0" err="1"/>
              <a:t>che</a:t>
            </a:r>
            <a:r>
              <a:rPr lang="en-US" baseline="0"/>
              <a:t> </a:t>
            </a:r>
            <a:r>
              <a:rPr lang="en-US" baseline="0" err="1"/>
              <a:t>quest’ultimo</a:t>
            </a:r>
            <a:r>
              <a:rPr lang="en-US" baseline="0"/>
              <a:t> </a:t>
            </a:r>
            <a:r>
              <a:rPr lang="en-US" baseline="0" err="1"/>
              <a:t>sia</a:t>
            </a:r>
            <a:r>
              <a:rPr lang="en-US" baseline="0"/>
              <a:t> </a:t>
            </a:r>
            <a:r>
              <a:rPr lang="en-US" baseline="0" err="1"/>
              <a:t>stato</a:t>
            </a:r>
            <a:r>
              <a:rPr lang="en-US" baseline="0"/>
              <a:t> a </a:t>
            </a:r>
            <a:r>
              <a:rPr lang="en-US" baseline="0" err="1"/>
              <a:t>sua</a:t>
            </a:r>
            <a:r>
              <a:rPr lang="en-US" baseline="0"/>
              <a:t> volta </a:t>
            </a:r>
            <a:r>
              <a:rPr lang="en-US" baseline="0" err="1"/>
              <a:t>validato</a:t>
            </a:r>
            <a:r>
              <a:rPr lang="en-US" baseline="0"/>
              <a:t> con il Sistema </a:t>
            </a:r>
            <a:r>
              <a:rPr lang="en-US" baseline="0" err="1"/>
              <a:t>reale</a:t>
            </a:r>
            <a:endParaRPr lang="en-US"/>
          </a:p>
        </p:txBody>
      </p:sp>
    </p:spTree>
    <p:extLst>
      <p:ext uri="{BB962C8B-B14F-4D97-AF65-F5344CB8AC3E}">
        <p14:creationId xmlns:p14="http://schemas.microsoft.com/office/powerpoint/2010/main" val="354773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Time stamp order: se SFO </a:t>
            </a:r>
            <a:r>
              <a:rPr lang="en-US" err="1"/>
              <a:t>manda</a:t>
            </a:r>
            <a:r>
              <a:rPr lang="en-US"/>
              <a:t> a JFK 3 </a:t>
            </a:r>
            <a:r>
              <a:rPr lang="en-US" err="1"/>
              <a:t>messaggi</a:t>
            </a:r>
            <a:r>
              <a:rPr lang="en-US"/>
              <a:t> </a:t>
            </a:r>
            <a:r>
              <a:rPr lang="en-US" err="1"/>
              <a:t>questi</a:t>
            </a:r>
            <a:r>
              <a:rPr lang="en-US"/>
              <a:t> </a:t>
            </a:r>
            <a:r>
              <a:rPr lang="en-US" err="1"/>
              <a:t>sono</a:t>
            </a:r>
            <a:r>
              <a:rPr lang="en-US"/>
              <a:t> </a:t>
            </a:r>
            <a:r>
              <a:rPr lang="en-US" err="1"/>
              <a:t>inviati</a:t>
            </a:r>
            <a:r>
              <a:rPr lang="en-US"/>
              <a:t> in </a:t>
            </a:r>
            <a:r>
              <a:rPr lang="en-US" err="1"/>
              <a:t>timestap</a:t>
            </a:r>
            <a:r>
              <a:rPr lang="en-US"/>
              <a:t> order, ad es 2, 8, 9</a:t>
            </a:r>
          </a:p>
          <a:p>
            <a:endParaRPr lang="en-US"/>
          </a:p>
          <a:p>
            <a:r>
              <a:rPr lang="en-US"/>
              <a:t>LBTS: se </a:t>
            </a:r>
            <a:r>
              <a:rPr lang="en-US" err="1"/>
              <a:t>l’ultimo</a:t>
            </a:r>
            <a:r>
              <a:rPr lang="en-US"/>
              <a:t> </a:t>
            </a:r>
            <a:r>
              <a:rPr lang="en-US" err="1"/>
              <a:t>messaggio</a:t>
            </a:r>
            <a:r>
              <a:rPr lang="en-US"/>
              <a:t> </a:t>
            </a:r>
            <a:r>
              <a:rPr lang="en-US" err="1"/>
              <a:t>è</a:t>
            </a:r>
            <a:r>
              <a:rPr lang="en-US"/>
              <a:t> 15, SFO non </a:t>
            </a:r>
            <a:r>
              <a:rPr lang="en-US" err="1"/>
              <a:t>riceverà</a:t>
            </a:r>
            <a:r>
              <a:rPr lang="en-US"/>
              <a:t> </a:t>
            </a:r>
            <a:r>
              <a:rPr lang="en-US" err="1"/>
              <a:t>messaggi</a:t>
            </a:r>
            <a:r>
              <a:rPr lang="en-US"/>
              <a:t> con timestamp </a:t>
            </a:r>
            <a:r>
              <a:rPr lang="en-US" err="1"/>
              <a:t>inferiore</a:t>
            </a:r>
            <a:r>
              <a:rPr lang="en-US"/>
              <a:t> a 15</a:t>
            </a:r>
          </a:p>
          <a:p>
            <a:endParaRPr lang="en-US"/>
          </a:p>
          <a:p>
            <a:r>
              <a:rPr lang="en-US"/>
              <a:t>In distributed simulation la rete </a:t>
            </a:r>
            <a:r>
              <a:rPr lang="en-US" err="1"/>
              <a:t>è</a:t>
            </a:r>
            <a:r>
              <a:rPr lang="en-US"/>
              <a:t> </a:t>
            </a:r>
            <a:r>
              <a:rPr lang="en-US" err="1"/>
              <a:t>tipicamente</a:t>
            </a:r>
            <a:r>
              <a:rPr lang="en-US"/>
              <a:t> internet </a:t>
            </a:r>
            <a:r>
              <a:rPr lang="en-US" err="1"/>
              <a:t>che</a:t>
            </a:r>
            <a:r>
              <a:rPr lang="en-US"/>
              <a:t> </a:t>
            </a:r>
            <a:r>
              <a:rPr lang="en-US" err="1"/>
              <a:t>è</a:t>
            </a:r>
            <a:r>
              <a:rPr lang="en-US"/>
              <a:t> non reliable e best effort </a:t>
            </a:r>
            <a:r>
              <a:rPr lang="en-US" err="1"/>
              <a:t>quindi</a:t>
            </a:r>
            <a:r>
              <a:rPr lang="en-US"/>
              <a:t> </a:t>
            </a:r>
            <a:r>
              <a:rPr lang="en-US" err="1"/>
              <a:t>l’ultima</a:t>
            </a:r>
            <a:r>
              <a:rPr lang="en-US"/>
              <a:t> </a:t>
            </a:r>
            <a:r>
              <a:rPr lang="en-US" err="1"/>
              <a:t>assunzione</a:t>
            </a:r>
            <a:r>
              <a:rPr lang="en-US"/>
              <a:t> </a:t>
            </a:r>
            <a:r>
              <a:rPr lang="en-US" err="1"/>
              <a:t>è</a:t>
            </a:r>
            <a:r>
              <a:rPr lang="en-US"/>
              <a:t> difficile da </a:t>
            </a:r>
            <a:r>
              <a:rPr lang="en-US" err="1"/>
              <a:t>avere</a:t>
            </a:r>
            <a:endParaRPr lang="en-US"/>
          </a:p>
          <a:p>
            <a:endParaRPr lang="en-US"/>
          </a:p>
          <a:p>
            <a:r>
              <a:rPr lang="en-US"/>
              <a:t>GOAL: JFK (</a:t>
            </a:r>
            <a:r>
              <a:rPr lang="en-US" err="1"/>
              <a:t>descrivere</a:t>
            </a:r>
            <a:r>
              <a:rPr lang="en-US"/>
              <a:t> le due code, </a:t>
            </a:r>
            <a:r>
              <a:rPr lang="en-US" err="1"/>
              <a:t>una</a:t>
            </a:r>
            <a:r>
              <a:rPr lang="en-US"/>
              <a:t> per </a:t>
            </a:r>
            <a:r>
              <a:rPr lang="en-US" err="1"/>
              <a:t>ciascun</a:t>
            </a:r>
            <a:r>
              <a:rPr lang="en-US"/>
              <a:t> link verso un </a:t>
            </a:r>
            <a:r>
              <a:rPr lang="en-US" err="1"/>
              <a:t>altro</a:t>
            </a:r>
            <a:r>
              <a:rPr lang="en-US"/>
              <a:t> Aeroporto) </a:t>
            </a:r>
            <a:r>
              <a:rPr lang="en-US" err="1"/>
              <a:t>può</a:t>
            </a:r>
            <a:r>
              <a:rPr lang="en-US"/>
              <a:t> </a:t>
            </a:r>
            <a:r>
              <a:rPr lang="en-US" err="1"/>
              <a:t>avanzare</a:t>
            </a:r>
            <a:r>
              <a:rPr lang="en-US"/>
              <a:t> </a:t>
            </a:r>
            <a:r>
              <a:rPr lang="en-US" err="1"/>
              <a:t>fino</a:t>
            </a:r>
            <a:r>
              <a:rPr lang="en-US"/>
              <a:t> a un timestamp 2</a:t>
            </a:r>
          </a:p>
        </p:txBody>
      </p:sp>
    </p:spTree>
    <p:extLst>
      <p:ext uri="{BB962C8B-B14F-4D97-AF65-F5344CB8AC3E}">
        <p14:creationId xmlns:p14="http://schemas.microsoft.com/office/powerpoint/2010/main" val="1372810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err="1"/>
              <a:t>Iniziamo</a:t>
            </a:r>
            <a:r>
              <a:rPr lang="en-US"/>
              <a:t> con un </a:t>
            </a:r>
            <a:r>
              <a:rPr lang="en-US" err="1"/>
              <a:t>algoritmo</a:t>
            </a:r>
            <a:r>
              <a:rPr lang="en-US"/>
              <a:t> semplice</a:t>
            </a:r>
          </a:p>
          <a:p>
            <a:endParaRPr lang="en-US"/>
          </a:p>
          <a:p>
            <a:r>
              <a:rPr lang="en-US"/>
              <a:t>Prima di </a:t>
            </a:r>
            <a:r>
              <a:rPr lang="en-US" err="1"/>
              <a:t>avanzare</a:t>
            </a:r>
            <a:r>
              <a:rPr lang="en-US"/>
              <a:t> </a:t>
            </a:r>
            <a:r>
              <a:rPr lang="en-US" err="1"/>
              <a:t>spiegare</a:t>
            </a:r>
            <a:r>
              <a:rPr lang="en-US"/>
              <a:t> </a:t>
            </a:r>
            <a:r>
              <a:rPr lang="en-US" err="1"/>
              <a:t>perché</a:t>
            </a:r>
            <a:r>
              <a:rPr lang="en-US"/>
              <a:t> devo </a:t>
            </a:r>
            <a:r>
              <a:rPr lang="en-US" err="1"/>
              <a:t>aspettare</a:t>
            </a:r>
            <a:r>
              <a:rPr lang="en-US"/>
              <a:t> </a:t>
            </a:r>
            <a:r>
              <a:rPr lang="en-US" err="1"/>
              <a:t>che</a:t>
            </a:r>
            <a:r>
              <a:rPr lang="en-US"/>
              <a:t> </a:t>
            </a:r>
            <a:r>
              <a:rPr lang="en-US" err="1"/>
              <a:t>entrambe</a:t>
            </a:r>
            <a:r>
              <a:rPr lang="en-US"/>
              <a:t> le code </a:t>
            </a:r>
            <a:r>
              <a:rPr lang="en-US" err="1"/>
              <a:t>abbiano</a:t>
            </a:r>
            <a:r>
              <a:rPr lang="en-US"/>
              <a:t> </a:t>
            </a:r>
            <a:r>
              <a:rPr lang="en-US" err="1"/>
              <a:t>messaggi</a:t>
            </a:r>
            <a:r>
              <a:rPr lang="en-US"/>
              <a:t>.</a:t>
            </a:r>
          </a:p>
          <a:p>
            <a:r>
              <a:rPr lang="en-US" err="1"/>
              <a:t>Supponiamo</a:t>
            </a:r>
            <a:r>
              <a:rPr lang="en-US"/>
              <a:t> </a:t>
            </a:r>
            <a:r>
              <a:rPr lang="en-US" err="1"/>
              <a:t>che</a:t>
            </a:r>
            <a:r>
              <a:rPr lang="en-US"/>
              <a:t> ORD non </a:t>
            </a:r>
            <a:r>
              <a:rPr lang="en-US" err="1"/>
              <a:t>abbia</a:t>
            </a:r>
            <a:r>
              <a:rPr lang="en-US"/>
              <a:t> </a:t>
            </a:r>
            <a:r>
              <a:rPr lang="en-US" err="1"/>
              <a:t>messsaggi</a:t>
            </a:r>
            <a:r>
              <a:rPr lang="en-US"/>
              <a:t>. </a:t>
            </a:r>
            <a:r>
              <a:rPr lang="en-US" err="1"/>
              <a:t>Processo</a:t>
            </a:r>
            <a:r>
              <a:rPr lang="en-US"/>
              <a:t> 2 e poi </a:t>
            </a:r>
            <a:r>
              <a:rPr lang="en-US" err="1"/>
              <a:t>magari</a:t>
            </a:r>
            <a:r>
              <a:rPr lang="en-US"/>
              <a:t> </a:t>
            </a:r>
            <a:r>
              <a:rPr lang="en-US" err="1"/>
              <a:t>arriva</a:t>
            </a:r>
            <a:r>
              <a:rPr lang="en-US"/>
              <a:t> un </a:t>
            </a:r>
            <a:r>
              <a:rPr lang="en-US" err="1"/>
              <a:t>messaggio</a:t>
            </a:r>
            <a:r>
              <a:rPr lang="en-US"/>
              <a:t> con timestamp 1 da ORD -&gt; violate la </a:t>
            </a:r>
            <a:r>
              <a:rPr lang="en-US" err="1"/>
              <a:t>cauualità</a:t>
            </a:r>
            <a:endParaRPr lang="en-US"/>
          </a:p>
        </p:txBody>
      </p:sp>
    </p:spTree>
    <p:extLst>
      <p:ext uri="{BB962C8B-B14F-4D97-AF65-F5344CB8AC3E}">
        <p14:creationId xmlns:p14="http://schemas.microsoft.com/office/powerpoint/2010/main" val="74363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In base </a:t>
            </a:r>
            <a:r>
              <a:rPr lang="en-US" err="1"/>
              <a:t>alla</a:t>
            </a:r>
            <a:r>
              <a:rPr lang="en-US"/>
              <a:t> slide </a:t>
            </a:r>
            <a:r>
              <a:rPr lang="en-US" err="1"/>
              <a:t>precedente</a:t>
            </a:r>
            <a:r>
              <a:rPr lang="en-US"/>
              <a:t> </a:t>
            </a:r>
            <a:r>
              <a:rPr lang="en-US" err="1"/>
              <a:t>siamo</a:t>
            </a:r>
            <a:r>
              <a:rPr lang="en-US"/>
              <a:t> a simulation time 5</a:t>
            </a:r>
          </a:p>
          <a:p>
            <a:r>
              <a:rPr lang="en-US"/>
              <a:t>JFK ha </a:t>
            </a:r>
            <a:r>
              <a:rPr lang="en-US" err="1"/>
              <a:t>potuto</a:t>
            </a:r>
            <a:r>
              <a:rPr lang="en-US"/>
              <a:t> </a:t>
            </a:r>
            <a:r>
              <a:rPr lang="en-US" err="1"/>
              <a:t>processare</a:t>
            </a:r>
            <a:r>
              <a:rPr lang="en-US"/>
              <a:t> il </a:t>
            </a:r>
            <a:r>
              <a:rPr lang="en-US" err="1"/>
              <a:t>messaggio</a:t>
            </a:r>
            <a:r>
              <a:rPr lang="en-US"/>
              <a:t> 5 e poi </a:t>
            </a:r>
            <a:r>
              <a:rPr lang="en-US" err="1"/>
              <a:t>si</a:t>
            </a:r>
            <a:r>
              <a:rPr lang="en-US"/>
              <a:t> </a:t>
            </a:r>
            <a:r>
              <a:rPr lang="en-US" err="1"/>
              <a:t>è</a:t>
            </a:r>
            <a:r>
              <a:rPr lang="en-US"/>
              <a:t> </a:t>
            </a:r>
            <a:r>
              <a:rPr lang="en-US" err="1"/>
              <a:t>fermato</a:t>
            </a:r>
            <a:r>
              <a:rPr lang="en-US"/>
              <a:t> </a:t>
            </a:r>
            <a:r>
              <a:rPr lang="en-US" err="1"/>
              <a:t>perché</a:t>
            </a:r>
            <a:r>
              <a:rPr lang="en-US"/>
              <a:t> non era safe </a:t>
            </a:r>
            <a:r>
              <a:rPr lang="en-US" err="1"/>
              <a:t>processare</a:t>
            </a:r>
            <a:r>
              <a:rPr lang="en-US"/>
              <a:t> il </a:t>
            </a:r>
            <a:r>
              <a:rPr lang="en-US" err="1"/>
              <a:t>messaggio</a:t>
            </a:r>
            <a:r>
              <a:rPr lang="en-US"/>
              <a:t> 8 non </a:t>
            </a:r>
            <a:r>
              <a:rPr lang="en-US" err="1"/>
              <a:t>essendoci</a:t>
            </a:r>
            <a:r>
              <a:rPr lang="en-US"/>
              <a:t> </a:t>
            </a:r>
            <a:r>
              <a:rPr lang="en-US" err="1"/>
              <a:t>messaggi</a:t>
            </a:r>
            <a:r>
              <a:rPr lang="en-US"/>
              <a:t> </a:t>
            </a:r>
            <a:r>
              <a:rPr lang="en-US" err="1"/>
              <a:t>nell’altra</a:t>
            </a:r>
            <a:r>
              <a:rPr lang="en-US"/>
              <a:t> coda</a:t>
            </a:r>
          </a:p>
          <a:p>
            <a:endParaRPr lang="en-US"/>
          </a:p>
          <a:p>
            <a:r>
              <a:rPr lang="en-US"/>
              <a:t>3 </a:t>
            </a:r>
            <a:r>
              <a:rPr lang="en-US" err="1"/>
              <a:t>approcci</a:t>
            </a:r>
            <a:r>
              <a:rPr lang="en-US"/>
              <a:t>:</a:t>
            </a:r>
          </a:p>
          <a:p>
            <a:r>
              <a:rPr lang="en-US"/>
              <a:t>1)Deadlock avoidance: </a:t>
            </a:r>
            <a:r>
              <a:rPr lang="en-US" err="1"/>
              <a:t>si</a:t>
            </a:r>
            <a:r>
              <a:rPr lang="en-US"/>
              <a:t> </a:t>
            </a:r>
            <a:r>
              <a:rPr lang="en-US" err="1"/>
              <a:t>impedisce</a:t>
            </a:r>
            <a:r>
              <a:rPr lang="en-US"/>
              <a:t> </a:t>
            </a:r>
            <a:r>
              <a:rPr lang="en-US" err="1"/>
              <a:t>che</a:t>
            </a:r>
            <a:r>
              <a:rPr lang="en-US"/>
              <a:t> il deadlock </a:t>
            </a:r>
            <a:r>
              <a:rPr lang="en-US" err="1"/>
              <a:t>accada</a:t>
            </a:r>
            <a:endParaRPr lang="en-US"/>
          </a:p>
          <a:p>
            <a:r>
              <a:rPr lang="en-US"/>
              <a:t>2)Deadlock detect and recovery: </a:t>
            </a:r>
            <a:r>
              <a:rPr lang="en-US" err="1"/>
              <a:t>si</a:t>
            </a:r>
            <a:r>
              <a:rPr lang="en-US"/>
              <a:t> </a:t>
            </a:r>
            <a:r>
              <a:rPr lang="en-US" err="1"/>
              <a:t>lascia</a:t>
            </a:r>
            <a:r>
              <a:rPr lang="en-US"/>
              <a:t> </a:t>
            </a:r>
            <a:r>
              <a:rPr lang="en-US" err="1"/>
              <a:t>che</a:t>
            </a:r>
            <a:r>
              <a:rPr lang="en-US"/>
              <a:t> il deadlock </a:t>
            </a:r>
            <a:r>
              <a:rPr lang="en-US" err="1"/>
              <a:t>accada</a:t>
            </a:r>
            <a:r>
              <a:rPr lang="en-US"/>
              <a:t> a </a:t>
            </a:r>
            <a:r>
              <a:rPr lang="en-US" err="1"/>
              <a:t>patto</a:t>
            </a:r>
            <a:r>
              <a:rPr lang="en-US"/>
              <a:t> di </a:t>
            </a:r>
            <a:r>
              <a:rPr lang="en-US" err="1"/>
              <a:t>capire</a:t>
            </a:r>
            <a:r>
              <a:rPr lang="en-US"/>
              <a:t> </a:t>
            </a:r>
            <a:r>
              <a:rPr lang="en-US" err="1"/>
              <a:t>quando</a:t>
            </a:r>
            <a:r>
              <a:rPr lang="en-US"/>
              <a:t> </a:t>
            </a:r>
            <a:r>
              <a:rPr lang="en-US" err="1"/>
              <a:t>succeede</a:t>
            </a:r>
            <a:r>
              <a:rPr lang="en-US"/>
              <a:t> e </a:t>
            </a:r>
            <a:r>
              <a:rPr lang="en-US" err="1"/>
              <a:t>attivando</a:t>
            </a:r>
            <a:r>
              <a:rPr lang="en-US"/>
              <a:t> procedure per </a:t>
            </a:r>
            <a:r>
              <a:rPr lang="en-US" err="1"/>
              <a:t>risolverlo</a:t>
            </a:r>
            <a:endParaRPr lang="en-US"/>
          </a:p>
          <a:p>
            <a:r>
              <a:rPr lang="en-US"/>
              <a:t>3)</a:t>
            </a:r>
            <a:r>
              <a:rPr lang="en-US" err="1"/>
              <a:t>Approccio</a:t>
            </a:r>
            <a:r>
              <a:rPr lang="en-US"/>
              <a:t> </a:t>
            </a:r>
            <a:r>
              <a:rPr lang="en-US" err="1"/>
              <a:t>sincrono</a:t>
            </a:r>
            <a:r>
              <a:rPr lang="en-US"/>
              <a:t> in cui </a:t>
            </a:r>
            <a:r>
              <a:rPr lang="en-US" err="1"/>
              <a:t>i</a:t>
            </a:r>
            <a:r>
              <a:rPr lang="en-US"/>
              <a:t> </a:t>
            </a:r>
            <a:r>
              <a:rPr lang="en-US" err="1"/>
              <a:t>vari</a:t>
            </a:r>
            <a:r>
              <a:rPr lang="en-US"/>
              <a:t> </a:t>
            </a:r>
            <a:r>
              <a:rPr lang="en-US" err="1"/>
              <a:t>algoritmi</a:t>
            </a:r>
            <a:r>
              <a:rPr lang="en-US"/>
              <a:t> </a:t>
            </a:r>
            <a:r>
              <a:rPr lang="en-US" err="1"/>
              <a:t>sono</a:t>
            </a:r>
            <a:r>
              <a:rPr lang="en-US"/>
              <a:t> </a:t>
            </a:r>
            <a:r>
              <a:rPr lang="en-US" err="1"/>
              <a:t>eseguiti</a:t>
            </a:r>
            <a:r>
              <a:rPr lang="en-US"/>
              <a:t> in un </a:t>
            </a:r>
            <a:r>
              <a:rPr lang="en-US" err="1"/>
              <a:t>ciclo</a:t>
            </a:r>
            <a:endParaRPr lang="en-US"/>
          </a:p>
        </p:txBody>
      </p:sp>
    </p:spTree>
    <p:extLst>
      <p:ext uri="{BB962C8B-B14F-4D97-AF65-F5344CB8AC3E}">
        <p14:creationId xmlns:p14="http://schemas.microsoft.com/office/powerpoint/2010/main" val="1456596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it-IT" noProof="0"/>
              <a:t>8 è un </a:t>
            </a:r>
            <a:r>
              <a:rPr lang="it-IT" noProof="0" err="1"/>
              <a:t>lower</a:t>
            </a:r>
            <a:r>
              <a:rPr lang="it-IT" noProof="0"/>
              <a:t> </a:t>
            </a:r>
            <a:r>
              <a:rPr lang="it-IT" noProof="0" err="1"/>
              <a:t>bound</a:t>
            </a:r>
            <a:r>
              <a:rPr lang="it-IT" noProof="0"/>
              <a:t> del time </a:t>
            </a:r>
            <a:r>
              <a:rPr lang="it-IT" noProof="0" err="1"/>
              <a:t>stamp</a:t>
            </a:r>
            <a:r>
              <a:rPr lang="it-IT" noProof="0"/>
              <a:t> di future eventi:</a:t>
            </a:r>
          </a:p>
          <a:p>
            <a:r>
              <a:rPr lang="it-IT" noProof="0"/>
              <a:t>-   </a:t>
            </a:r>
            <a:r>
              <a:rPr lang="it-IT" noProof="0" err="1"/>
              <a:t>now</a:t>
            </a:r>
            <a:r>
              <a:rPr lang="it-IT" noProof="0"/>
              <a:t>=5</a:t>
            </a:r>
          </a:p>
          <a:p>
            <a:pPr marL="171450" indent="-171450">
              <a:buFontTx/>
              <a:buChar char="-"/>
            </a:pPr>
            <a:r>
              <a:rPr lang="it-IT" noProof="0"/>
              <a:t>Assumiamo che ogni aereo impieghi almeno 3 ore per andare da un Aeroporto all’altro</a:t>
            </a:r>
          </a:p>
          <a:p>
            <a:pPr marL="171450" indent="-171450">
              <a:buFontTx/>
              <a:buChar char="-"/>
            </a:pPr>
            <a:r>
              <a:rPr lang="it-IT" noProof="0"/>
              <a:t>Siamo certi che </a:t>
            </a:r>
            <a:r>
              <a:rPr lang="it-IT" noProof="0" err="1"/>
              <a:t>jfk</a:t>
            </a:r>
            <a:r>
              <a:rPr lang="it-IT" noProof="0"/>
              <a:t> non potrà </a:t>
            </a:r>
            <a:r>
              <a:rPr lang="it-IT" noProof="0" err="1"/>
              <a:t>geneare</a:t>
            </a:r>
            <a:r>
              <a:rPr lang="it-IT" noProof="0"/>
              <a:t> eventi future prima di 5+3=8</a:t>
            </a:r>
          </a:p>
          <a:p>
            <a:pPr marL="171450" indent="-171450">
              <a:buFontTx/>
              <a:buChar char="-"/>
            </a:pPr>
            <a:endParaRPr lang="it-IT" noProof="0"/>
          </a:p>
          <a:p>
            <a:r>
              <a:rPr lang="it-IT" noProof="0"/>
              <a:t>Un NULL </a:t>
            </a:r>
            <a:r>
              <a:rPr lang="it-IT" noProof="0" err="1"/>
              <a:t>message</a:t>
            </a:r>
            <a:r>
              <a:rPr lang="it-IT" noProof="0"/>
              <a:t> non veicola nessuna informazione, nello specifico  non rappresenta nessun aereo che parte e arriva</a:t>
            </a:r>
          </a:p>
          <a:p>
            <a:endParaRPr lang="it-IT" noProof="0"/>
          </a:p>
          <a:p>
            <a:r>
              <a:rPr lang="it-IT" noProof="0"/>
              <a:t>SFO a sua volta elabora il messaggio con il </a:t>
            </a:r>
            <a:r>
              <a:rPr lang="it-IT" noProof="0" err="1"/>
              <a:t>timestamp</a:t>
            </a:r>
            <a:r>
              <a:rPr lang="it-IT" noProof="0"/>
              <a:t> minore: il NUILL </a:t>
            </a:r>
            <a:r>
              <a:rPr lang="it-IT" noProof="0" err="1"/>
              <a:t>message</a:t>
            </a:r>
            <a:r>
              <a:rPr lang="it-IT" noProof="0"/>
              <a:t> e quindi invia un altro NULL </a:t>
            </a:r>
            <a:r>
              <a:rPr lang="it-IT" noProof="0" err="1"/>
              <a:t>message</a:t>
            </a:r>
            <a:r>
              <a:rPr lang="it-IT" noProof="0"/>
              <a:t> con </a:t>
            </a:r>
            <a:r>
              <a:rPr lang="it-IT" noProof="0" err="1"/>
              <a:t>ts</a:t>
            </a:r>
            <a:r>
              <a:rPr lang="it-IT" noProof="0"/>
              <a:t> 8+3=11</a:t>
            </a:r>
          </a:p>
          <a:p>
            <a:r>
              <a:rPr lang="it-IT" noProof="0"/>
              <a:t>Il deadlock è risolto: ORD può elaborare il messaggio con </a:t>
            </a:r>
            <a:r>
              <a:rPr lang="it-IT" noProof="0" err="1"/>
              <a:t>ts</a:t>
            </a:r>
            <a:r>
              <a:rPr lang="it-IT" noProof="0"/>
              <a:t> 7 e proseguire</a:t>
            </a:r>
          </a:p>
        </p:txBody>
      </p:sp>
    </p:spTree>
    <p:extLst>
      <p:ext uri="{BB962C8B-B14F-4D97-AF65-F5344CB8AC3E}">
        <p14:creationId xmlns:p14="http://schemas.microsoft.com/office/powerpoint/2010/main" val="3258932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it-IT" noProof="0"/>
              <a:t>Usiamo quindi il principio del NULL </a:t>
            </a:r>
            <a:r>
              <a:rPr lang="it-IT" noProof="0" err="1"/>
              <a:t>message</a:t>
            </a:r>
            <a:r>
              <a:rPr lang="it-IT" noProof="0"/>
              <a:t> visto in precedenza per modificare l’algoritmo</a:t>
            </a:r>
          </a:p>
          <a:p>
            <a:endParaRPr lang="it-IT" noProof="0"/>
          </a:p>
          <a:p>
            <a:r>
              <a:rPr lang="it-IT" noProof="0" err="1"/>
              <a:t>Lookahead</a:t>
            </a:r>
            <a:r>
              <a:rPr lang="it-IT" noProof="0"/>
              <a:t> è un concetto fondamentale nella simulazione parallela e distribuita</a:t>
            </a:r>
          </a:p>
          <a:p>
            <a:endParaRPr lang="it-IT" noProof="0"/>
          </a:p>
          <a:p>
            <a:r>
              <a:rPr lang="it-IT" noProof="0"/>
              <a:t>Per determinare il </a:t>
            </a:r>
            <a:r>
              <a:rPr lang="it-IT" noProof="0" err="1"/>
              <a:t>Lookahead</a:t>
            </a:r>
            <a:r>
              <a:rPr lang="it-IT" noProof="0"/>
              <a:t> abbiamo considerato proprietà fisiche del sistema reale</a:t>
            </a:r>
          </a:p>
        </p:txBody>
      </p:sp>
    </p:spTree>
    <p:extLst>
      <p:ext uri="{BB962C8B-B14F-4D97-AF65-F5344CB8AC3E}">
        <p14:creationId xmlns:p14="http://schemas.microsoft.com/office/powerpoint/2010/main" val="3178381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267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1150938" y="692150"/>
            <a:ext cx="4556125" cy="3416300"/>
          </a:xfrm>
          <a:ln/>
        </p:spPr>
      </p:sp>
      <p:sp>
        <p:nvSpPr>
          <p:cNvPr id="195587" name="Rectangle 3"/>
          <p:cNvSpPr>
            <a:spLocks noGrp="1" noChangeArrowheads="1"/>
          </p:cNvSpPr>
          <p:nvPr>
            <p:ph type="body" idx="1"/>
          </p:nvPr>
        </p:nvSpPr>
        <p:spPr/>
        <p:txBody>
          <a:bodyPr/>
          <a:lstStyle/>
          <a:p>
            <a:endParaRPr lang="th-TH" altLang="it-IT"/>
          </a:p>
        </p:txBody>
      </p:sp>
    </p:spTree>
    <p:extLst>
      <p:ext uri="{BB962C8B-B14F-4D97-AF65-F5344CB8AC3E}">
        <p14:creationId xmlns:p14="http://schemas.microsoft.com/office/powerpoint/2010/main" val="1269414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it-IT" noProof="0"/>
              <a:t>L’istruzione aggiuntiva che abbiamo aggiunto nel loop introduce overhead.</a:t>
            </a:r>
          </a:p>
          <a:p>
            <a:r>
              <a:rPr lang="it-IT" noProof="0"/>
              <a:t>Cerchiamo di limitare la necessità di NULL </a:t>
            </a:r>
            <a:r>
              <a:rPr lang="it-IT" noProof="0" err="1"/>
              <a:t>message</a:t>
            </a:r>
            <a:r>
              <a:rPr lang="it-IT" noProof="0"/>
              <a:t>.</a:t>
            </a:r>
          </a:p>
          <a:p>
            <a:r>
              <a:rPr lang="it-IT" noProof="0"/>
              <a:t>In alcuni casi il NULL </a:t>
            </a:r>
            <a:r>
              <a:rPr lang="it-IT" noProof="0" err="1"/>
              <a:t>message</a:t>
            </a:r>
            <a:r>
              <a:rPr lang="it-IT" noProof="0"/>
              <a:t> non è necessario e il suo invio introduce solo una computazione non necessaria</a:t>
            </a:r>
          </a:p>
          <a:p>
            <a:endParaRPr lang="it-IT" noProof="0"/>
          </a:p>
          <a:p>
            <a:r>
              <a:rPr lang="it-IT" noProof="0"/>
              <a:t>VARIATION: </a:t>
            </a:r>
            <a:r>
              <a:rPr lang="it-IT" noProof="0" err="1"/>
              <a:t>Whenever</a:t>
            </a:r>
            <a:r>
              <a:rPr lang="it-IT" noProof="0"/>
              <a:t> a </a:t>
            </a:r>
            <a:r>
              <a:rPr lang="it-IT" noProof="0" err="1"/>
              <a:t>process</a:t>
            </a:r>
            <a:r>
              <a:rPr lang="it-IT" noProof="0"/>
              <a:t> </a:t>
            </a:r>
            <a:r>
              <a:rPr lang="it-IT" noProof="0" err="1"/>
              <a:t>is</a:t>
            </a:r>
            <a:r>
              <a:rPr lang="it-IT" noProof="0"/>
              <a:t> </a:t>
            </a:r>
            <a:r>
              <a:rPr lang="it-IT" noProof="0" err="1"/>
              <a:t>about</a:t>
            </a:r>
            <a:r>
              <a:rPr lang="it-IT" noProof="0"/>
              <a:t> to </a:t>
            </a:r>
            <a:r>
              <a:rPr lang="it-IT" noProof="0" err="1"/>
              <a:t>become</a:t>
            </a:r>
            <a:r>
              <a:rPr lang="it-IT" noProof="0"/>
              <a:t> </a:t>
            </a:r>
            <a:r>
              <a:rPr lang="it-IT" noProof="0" err="1"/>
              <a:t>blocked</a:t>
            </a:r>
            <a:r>
              <a:rPr lang="it-IT" noProof="0"/>
              <a:t> </a:t>
            </a:r>
            <a:r>
              <a:rPr lang="it-IT" noProof="0" err="1"/>
              <a:t>because</a:t>
            </a:r>
            <a:endParaRPr lang="it-IT" noProof="0"/>
          </a:p>
          <a:p>
            <a:r>
              <a:rPr lang="it-IT" noProof="0"/>
              <a:t>the incoming link with the </a:t>
            </a:r>
            <a:r>
              <a:rPr lang="it-IT" noProof="0" err="1"/>
              <a:t>smallest</a:t>
            </a:r>
            <a:r>
              <a:rPr lang="it-IT" noProof="0"/>
              <a:t> link clock </a:t>
            </a:r>
            <a:r>
              <a:rPr lang="it-IT" noProof="0" err="1"/>
              <a:t>value</a:t>
            </a:r>
            <a:r>
              <a:rPr lang="it-IT" noProof="0"/>
              <a:t> </a:t>
            </a:r>
            <a:r>
              <a:rPr lang="it-IT" noProof="0" err="1"/>
              <a:t>has</a:t>
            </a:r>
            <a:r>
              <a:rPr lang="it-IT" noProof="0"/>
              <a:t> no </a:t>
            </a:r>
            <a:r>
              <a:rPr lang="it-IT" noProof="0" err="1"/>
              <a:t>messages</a:t>
            </a:r>
            <a:r>
              <a:rPr lang="it-IT" noProof="0"/>
              <a:t> </a:t>
            </a:r>
            <a:r>
              <a:rPr lang="it-IT" noProof="0" err="1"/>
              <a:t>waiting</a:t>
            </a:r>
            <a:r>
              <a:rPr lang="it-IT" noProof="0"/>
              <a:t> to be </a:t>
            </a:r>
            <a:r>
              <a:rPr lang="it-IT" noProof="0" err="1"/>
              <a:t>processed</a:t>
            </a:r>
            <a:r>
              <a:rPr lang="it-IT" noProof="0"/>
              <a:t>, </a:t>
            </a:r>
            <a:r>
              <a:rPr lang="it-IT" noProof="0" err="1"/>
              <a:t>it</a:t>
            </a:r>
            <a:r>
              <a:rPr lang="it-IT" noProof="0"/>
              <a:t> </a:t>
            </a:r>
            <a:r>
              <a:rPr lang="it-IT" noProof="0" err="1"/>
              <a:t>requests</a:t>
            </a:r>
            <a:r>
              <a:rPr lang="it-IT" noProof="0"/>
              <a:t> the </a:t>
            </a:r>
            <a:r>
              <a:rPr lang="it-IT" noProof="0" err="1"/>
              <a:t>next</a:t>
            </a:r>
            <a:r>
              <a:rPr lang="it-IT" noProof="0"/>
              <a:t> </a:t>
            </a:r>
            <a:r>
              <a:rPr lang="it-IT" noProof="0" err="1"/>
              <a:t>message</a:t>
            </a:r>
            <a:r>
              <a:rPr lang="it-IT" noProof="0"/>
              <a:t> (</a:t>
            </a:r>
            <a:r>
              <a:rPr lang="it-IT" noProof="0" err="1"/>
              <a:t>null</a:t>
            </a:r>
            <a:r>
              <a:rPr lang="it-IT" noProof="0"/>
              <a:t> or </a:t>
            </a:r>
            <a:r>
              <a:rPr lang="it-IT" noProof="0" err="1"/>
              <a:t>otherwise</a:t>
            </a:r>
            <a:r>
              <a:rPr lang="it-IT" noProof="0"/>
              <a:t>) from the </a:t>
            </a:r>
            <a:r>
              <a:rPr lang="it-IT" noProof="0" err="1"/>
              <a:t>process</a:t>
            </a:r>
            <a:r>
              <a:rPr lang="it-IT" noProof="0"/>
              <a:t> on the</a:t>
            </a:r>
          </a:p>
          <a:p>
            <a:r>
              <a:rPr lang="it-IT" noProof="0" err="1"/>
              <a:t>sending</a:t>
            </a:r>
            <a:r>
              <a:rPr lang="it-IT" noProof="0"/>
              <a:t> side </a:t>
            </a:r>
            <a:r>
              <a:rPr lang="it-IT" noProof="0" err="1"/>
              <a:t>ofthe</a:t>
            </a:r>
            <a:r>
              <a:rPr lang="it-IT" noProof="0"/>
              <a:t> link. The </a:t>
            </a:r>
            <a:r>
              <a:rPr lang="it-IT" noProof="0" err="1"/>
              <a:t>process</a:t>
            </a:r>
            <a:r>
              <a:rPr lang="it-IT" noProof="0"/>
              <a:t> </a:t>
            </a:r>
            <a:r>
              <a:rPr lang="it-IT" noProof="0" err="1"/>
              <a:t>resumes</a:t>
            </a:r>
            <a:r>
              <a:rPr lang="it-IT" noProof="0"/>
              <a:t> </a:t>
            </a:r>
            <a:r>
              <a:rPr lang="it-IT" noProof="0" err="1"/>
              <a:t>execution</a:t>
            </a:r>
            <a:r>
              <a:rPr lang="it-IT" noProof="0"/>
              <a:t> </a:t>
            </a:r>
            <a:r>
              <a:rPr lang="it-IT" noProof="0" err="1"/>
              <a:t>when</a:t>
            </a:r>
            <a:r>
              <a:rPr lang="it-IT" noProof="0"/>
              <a:t> the </a:t>
            </a:r>
            <a:r>
              <a:rPr lang="it-IT" noProof="0" err="1"/>
              <a:t>response</a:t>
            </a:r>
            <a:r>
              <a:rPr lang="it-IT" noProof="0"/>
              <a:t> to </a:t>
            </a:r>
            <a:r>
              <a:rPr lang="it-IT" noProof="0" err="1"/>
              <a:t>this</a:t>
            </a:r>
            <a:r>
              <a:rPr lang="it-IT" noProof="0"/>
              <a:t> </a:t>
            </a:r>
            <a:r>
              <a:rPr lang="it-IT" noProof="0" err="1"/>
              <a:t>request</a:t>
            </a:r>
            <a:r>
              <a:rPr lang="it-IT" noProof="0"/>
              <a:t> </a:t>
            </a:r>
            <a:r>
              <a:rPr lang="it-IT" noProof="0" err="1"/>
              <a:t>is</a:t>
            </a:r>
            <a:r>
              <a:rPr lang="it-IT" noProof="0"/>
              <a:t> </a:t>
            </a:r>
            <a:r>
              <a:rPr lang="it-IT" noProof="0" err="1"/>
              <a:t>received</a:t>
            </a:r>
            <a:r>
              <a:rPr lang="it-IT" noProof="0"/>
              <a:t>. </a:t>
            </a:r>
            <a:r>
              <a:rPr lang="it-IT" noProof="0" err="1"/>
              <a:t>This</a:t>
            </a:r>
            <a:r>
              <a:rPr lang="it-IT" noProof="0"/>
              <a:t> </a:t>
            </a:r>
            <a:r>
              <a:rPr lang="it-IT" noProof="0" err="1"/>
              <a:t>approach</a:t>
            </a:r>
            <a:r>
              <a:rPr lang="it-IT" noProof="0"/>
              <a:t> helps to reduce the </a:t>
            </a:r>
            <a:r>
              <a:rPr lang="it-IT" noProof="0" err="1"/>
              <a:t>amount</a:t>
            </a:r>
            <a:r>
              <a:rPr lang="it-IT" noProof="0"/>
              <a:t> </a:t>
            </a:r>
            <a:r>
              <a:rPr lang="it-IT" noProof="0" err="1"/>
              <a:t>ofnull</a:t>
            </a:r>
            <a:r>
              <a:rPr lang="it-IT" noProof="0"/>
              <a:t> </a:t>
            </a:r>
            <a:r>
              <a:rPr lang="it-IT" noProof="0" err="1"/>
              <a:t>message</a:t>
            </a:r>
            <a:r>
              <a:rPr lang="it-IT" noProof="0"/>
              <a:t> </a:t>
            </a:r>
            <a:r>
              <a:rPr lang="it-IT" noProof="0" err="1"/>
              <a:t>traffic</a:t>
            </a:r>
            <a:r>
              <a:rPr lang="it-IT" noProof="0"/>
              <a:t>, </a:t>
            </a:r>
            <a:r>
              <a:rPr lang="it-IT" noProof="0" err="1"/>
              <a:t>though</a:t>
            </a:r>
            <a:r>
              <a:rPr lang="it-IT" noProof="0"/>
              <a:t> a </a:t>
            </a:r>
            <a:r>
              <a:rPr lang="it-IT" noProof="0" err="1"/>
              <a:t>longer</a:t>
            </a:r>
            <a:r>
              <a:rPr lang="it-IT" noProof="0"/>
              <a:t> delay </a:t>
            </a:r>
            <a:r>
              <a:rPr lang="it-IT" noProof="0" err="1"/>
              <a:t>may</a:t>
            </a:r>
            <a:r>
              <a:rPr lang="it-IT" noProof="0"/>
              <a:t> be </a:t>
            </a:r>
            <a:r>
              <a:rPr lang="it-IT" noProof="0" err="1"/>
              <a:t>required</a:t>
            </a:r>
            <a:r>
              <a:rPr lang="it-IT" noProof="0"/>
              <a:t> to </a:t>
            </a:r>
            <a:r>
              <a:rPr lang="it-IT" noProof="0" err="1"/>
              <a:t>receive</a:t>
            </a:r>
            <a:r>
              <a:rPr lang="it-IT" noProof="0"/>
              <a:t> </a:t>
            </a:r>
            <a:r>
              <a:rPr lang="it-IT" noProof="0" err="1"/>
              <a:t>null</a:t>
            </a:r>
            <a:r>
              <a:rPr lang="it-IT" noProof="0"/>
              <a:t> </a:t>
            </a:r>
            <a:r>
              <a:rPr lang="it-IT" noProof="0" err="1"/>
              <a:t>messages</a:t>
            </a:r>
            <a:r>
              <a:rPr lang="it-IT" noProof="0"/>
              <a:t> </a:t>
            </a:r>
            <a:r>
              <a:rPr lang="it-IT" noProof="0" err="1"/>
              <a:t>because</a:t>
            </a:r>
            <a:r>
              <a:rPr lang="it-IT" noProof="0"/>
              <a:t> </a:t>
            </a:r>
            <a:r>
              <a:rPr lang="it-IT" b="1" noProof="0" err="1"/>
              <a:t>two</a:t>
            </a:r>
            <a:r>
              <a:rPr lang="it-IT" b="1" noProof="0"/>
              <a:t> </a:t>
            </a:r>
            <a:r>
              <a:rPr lang="it-IT" b="1" noProof="0" err="1"/>
              <a:t>message</a:t>
            </a:r>
            <a:r>
              <a:rPr lang="it-IT" b="1" noProof="0"/>
              <a:t> </a:t>
            </a:r>
            <a:r>
              <a:rPr lang="it-IT" noProof="0"/>
              <a:t>transmissions are </a:t>
            </a:r>
            <a:r>
              <a:rPr lang="it-IT" noProof="0" err="1"/>
              <a:t>required</a:t>
            </a:r>
            <a:r>
              <a:rPr lang="it-IT" noProof="0"/>
              <a:t>.</a:t>
            </a:r>
          </a:p>
          <a:p>
            <a:endParaRPr lang="it-IT" noProof="0"/>
          </a:p>
          <a:p>
            <a:endParaRPr lang="it-IT" noProof="0"/>
          </a:p>
        </p:txBody>
      </p:sp>
    </p:spTree>
    <p:extLst>
      <p:ext uri="{BB962C8B-B14F-4D97-AF65-F5344CB8AC3E}">
        <p14:creationId xmlns:p14="http://schemas.microsoft.com/office/powerpoint/2010/main" val="4263314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a:p>
        </p:txBody>
      </p:sp>
    </p:spTree>
    <p:extLst>
      <p:ext uri="{BB962C8B-B14F-4D97-AF65-F5344CB8AC3E}">
        <p14:creationId xmlns:p14="http://schemas.microsoft.com/office/powerpoint/2010/main" val="103436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a:t> QUI</a:t>
            </a:r>
          </a:p>
        </p:txBody>
      </p:sp>
    </p:spTree>
    <p:extLst>
      <p:ext uri="{BB962C8B-B14F-4D97-AF65-F5344CB8AC3E}">
        <p14:creationId xmlns:p14="http://schemas.microsoft.com/office/powerpoint/2010/main" val="3713072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a:t>Il lookahead </a:t>
            </a:r>
            <a:r>
              <a:rPr lang="en-US" dirty="0" err="1"/>
              <a:t>è</a:t>
            </a:r>
            <a:r>
              <a:rPr lang="en-US" dirty="0"/>
              <a:t> </a:t>
            </a:r>
            <a:r>
              <a:rPr lang="en-US" dirty="0" err="1"/>
              <a:t>una</a:t>
            </a:r>
            <a:r>
              <a:rPr lang="en-US" dirty="0"/>
              <a:t> </a:t>
            </a:r>
            <a:r>
              <a:rPr lang="en-US" dirty="0" err="1"/>
              <a:t>sorta</a:t>
            </a:r>
            <a:r>
              <a:rPr lang="en-US" dirty="0"/>
              <a:t> di </a:t>
            </a:r>
            <a:r>
              <a:rPr lang="en-US" dirty="0" err="1"/>
              <a:t>promessa</a:t>
            </a:r>
            <a:r>
              <a:rPr lang="en-US" dirty="0"/>
              <a:t>. Ogni LP non </a:t>
            </a:r>
            <a:r>
              <a:rPr lang="en-US" dirty="0" err="1"/>
              <a:t>invierà</a:t>
            </a:r>
            <a:r>
              <a:rPr lang="en-US" dirty="0"/>
              <a:t> </a:t>
            </a:r>
            <a:r>
              <a:rPr lang="en-US" dirty="0" err="1"/>
              <a:t>messaggi</a:t>
            </a:r>
            <a:r>
              <a:rPr lang="en-US" dirty="0"/>
              <a:t> con </a:t>
            </a:r>
            <a:r>
              <a:rPr lang="en-US" dirty="0" err="1"/>
              <a:t>ts</a:t>
            </a:r>
            <a:r>
              <a:rPr lang="en-US" dirty="0"/>
              <a:t> </a:t>
            </a:r>
            <a:r>
              <a:rPr lang="en-US" dirty="0" err="1"/>
              <a:t>minore</a:t>
            </a:r>
            <a:r>
              <a:rPr lang="en-US" dirty="0"/>
              <a:t> di </a:t>
            </a:r>
            <a:r>
              <a:rPr lang="en-US" dirty="0" err="1"/>
              <a:t>now+lookahead</a:t>
            </a:r>
            <a:r>
              <a:rPr lang="en-US" dirty="0"/>
              <a:t>.</a:t>
            </a:r>
          </a:p>
          <a:p>
            <a:endParaRPr lang="en-US" dirty="0"/>
          </a:p>
          <a:p>
            <a:endParaRPr lang="en-US" dirty="0"/>
          </a:p>
        </p:txBody>
      </p:sp>
    </p:spTree>
    <p:extLst>
      <p:ext uri="{BB962C8B-B14F-4D97-AF65-F5344CB8AC3E}">
        <p14:creationId xmlns:p14="http://schemas.microsoft.com/office/powerpoint/2010/main" val="3580957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it-IT" noProof="0"/>
              <a:t>Proprio perché è una sorta di promessa. Di non inviare messaggi con </a:t>
            </a:r>
            <a:r>
              <a:rPr lang="it-IT" noProof="0" err="1"/>
              <a:t>ts</a:t>
            </a:r>
            <a:r>
              <a:rPr lang="it-IT" noProof="0"/>
              <a:t> minore di </a:t>
            </a:r>
            <a:r>
              <a:rPr lang="it-IT" noProof="0" err="1"/>
              <a:t>now+lookahead</a:t>
            </a:r>
            <a:r>
              <a:rPr lang="it-IT" noProof="0"/>
              <a:t>, il </a:t>
            </a:r>
            <a:r>
              <a:rPr lang="it-IT" noProof="0" err="1"/>
              <a:t>lookahead</a:t>
            </a:r>
            <a:r>
              <a:rPr lang="it-IT" noProof="0"/>
              <a:t> può essere incrementato senza problemi ma serve cautela per la sua riduzione.</a:t>
            </a:r>
          </a:p>
          <a:p>
            <a:endParaRPr lang="it-IT" noProof="0"/>
          </a:p>
          <a:p>
            <a:r>
              <a:rPr lang="it-IT" noProof="0"/>
              <a:t>Nel caso dell’esempio, quando il </a:t>
            </a:r>
            <a:r>
              <a:rPr lang="it-IT" noProof="0" err="1"/>
              <a:t>Lookahed</a:t>
            </a:r>
            <a:r>
              <a:rPr lang="it-IT" noProof="0"/>
              <a:t> è variato da 5 a 1 tutti gli LP che hanno processato messaggi tra 10 e 15 (coerentemente con il precedente valore di </a:t>
            </a:r>
            <a:r>
              <a:rPr lang="it-IT" noProof="0" err="1"/>
              <a:t>Lookahead</a:t>
            </a:r>
            <a:r>
              <a:rPr lang="it-IT" noProof="0"/>
              <a:t>) violano il principio di causalità</a:t>
            </a:r>
          </a:p>
          <a:p>
            <a:endParaRPr lang="it-IT" noProof="0"/>
          </a:p>
          <a:p>
            <a:endParaRPr lang="it-IT" noProof="0"/>
          </a:p>
        </p:txBody>
      </p:sp>
    </p:spTree>
    <p:extLst>
      <p:ext uri="{BB962C8B-B14F-4D97-AF65-F5344CB8AC3E}">
        <p14:creationId xmlns:p14="http://schemas.microsoft.com/office/powerpoint/2010/main" val="3568202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xfrm>
            <a:off x="1150938" y="692150"/>
            <a:ext cx="4556125" cy="3416300"/>
          </a:xfrm>
          <a:ln/>
        </p:spPr>
      </p:sp>
      <p:sp>
        <p:nvSpPr>
          <p:cNvPr id="205827" name="Rectangle 3"/>
          <p:cNvSpPr>
            <a:spLocks noGrp="1" noChangeArrowheads="1"/>
          </p:cNvSpPr>
          <p:nvPr>
            <p:ph type="body" idx="1"/>
          </p:nvPr>
        </p:nvSpPr>
        <p:spPr/>
        <p:txBody>
          <a:bodyPr/>
          <a:lstStyle/>
          <a:p>
            <a:r>
              <a:rPr lang="it-IT" altLang="it-IT"/>
              <a:t>As discussed earlier, the principal disadvantage of the Chandy/Mista/Bryant algorithm is that a large number of null messages can be generated, particularly if the lookahead is small. Recall that the approach used in this algorithm is to avoid deadlock situations. Another approach is to use the original algorithm shown in Figure 3.3 that is prone to deadlock but provide a mechanism to detect and recover from deadlock situations. This approach is described next.</a:t>
            </a:r>
            <a:endParaRPr lang="th-TH" altLang="it-IT"/>
          </a:p>
        </p:txBody>
      </p:sp>
    </p:spTree>
    <p:extLst>
      <p:ext uri="{BB962C8B-B14F-4D97-AF65-F5344CB8AC3E}">
        <p14:creationId xmlns:p14="http://schemas.microsoft.com/office/powerpoint/2010/main" val="1237459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a:p>
        </p:txBody>
      </p:sp>
    </p:spTree>
    <p:extLst>
      <p:ext uri="{BB962C8B-B14F-4D97-AF65-F5344CB8AC3E}">
        <p14:creationId xmlns:p14="http://schemas.microsoft.com/office/powerpoint/2010/main" val="237550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a:p>
        </p:txBody>
      </p:sp>
    </p:spTree>
    <p:extLst>
      <p:ext uri="{BB962C8B-B14F-4D97-AF65-F5344CB8AC3E}">
        <p14:creationId xmlns:p14="http://schemas.microsoft.com/office/powerpoint/2010/main" val="25926619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Per</a:t>
            </a:r>
            <a:r>
              <a:rPr lang="en-US" baseline="0"/>
              <a:t> fare detection/recovery </a:t>
            </a:r>
            <a:r>
              <a:rPr lang="en-US" baseline="0" err="1"/>
              <a:t>si</a:t>
            </a:r>
            <a:r>
              <a:rPr lang="en-US" baseline="0"/>
              <a:t> introduce un </a:t>
            </a:r>
            <a:r>
              <a:rPr lang="en-US" baseline="0" err="1"/>
              <a:t>controllore</a:t>
            </a:r>
            <a:r>
              <a:rPr lang="en-US" baseline="0"/>
              <a:t> (non </a:t>
            </a:r>
            <a:r>
              <a:rPr lang="en-US" baseline="0" err="1"/>
              <a:t>presente</a:t>
            </a:r>
            <a:r>
              <a:rPr lang="en-US" baseline="0"/>
              <a:t> </a:t>
            </a:r>
            <a:r>
              <a:rPr lang="en-US" baseline="0" err="1"/>
              <a:t>nell’algoritmo</a:t>
            </a:r>
            <a:r>
              <a:rPr lang="en-US" baseline="0"/>
              <a:t> </a:t>
            </a:r>
            <a:r>
              <a:rPr lang="en-US" baseline="0" err="1"/>
              <a:t>basato</a:t>
            </a:r>
            <a:r>
              <a:rPr lang="en-US" baseline="0"/>
              <a:t> </a:t>
            </a:r>
            <a:r>
              <a:rPr lang="en-US" baseline="0" err="1"/>
              <a:t>su</a:t>
            </a:r>
            <a:r>
              <a:rPr lang="en-US" baseline="0"/>
              <a:t> null messages)</a:t>
            </a:r>
            <a:endParaRPr lang="en-US"/>
          </a:p>
        </p:txBody>
      </p:sp>
    </p:spTree>
    <p:extLst>
      <p:ext uri="{BB962C8B-B14F-4D97-AF65-F5344CB8AC3E}">
        <p14:creationId xmlns:p14="http://schemas.microsoft.com/office/powerpoint/2010/main" val="4984545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a:p>
        </p:txBody>
      </p:sp>
    </p:spTree>
    <p:extLst>
      <p:ext uri="{BB962C8B-B14F-4D97-AF65-F5344CB8AC3E}">
        <p14:creationId xmlns:p14="http://schemas.microsoft.com/office/powerpoint/2010/main" val="252492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it-IT" b="1" dirty="0"/>
              <a:t>C</a:t>
            </a:r>
            <a:r>
              <a:rPr lang="it-IT" dirty="0"/>
              <a:t> = </a:t>
            </a:r>
            <a:r>
              <a:rPr lang="it-IT" b="1" dirty="0" err="1"/>
              <a:t>Count</a:t>
            </a:r>
            <a:r>
              <a:rPr lang="it-IT" dirty="0"/>
              <a:t> — conta i messaggi (</a:t>
            </a:r>
            <a:r>
              <a:rPr lang="it-IT" dirty="0" err="1"/>
              <a:t>null</a:t>
            </a:r>
            <a:r>
              <a:rPr lang="it-IT" dirty="0"/>
              <a:t> </a:t>
            </a:r>
            <a:r>
              <a:rPr lang="it-IT" dirty="0" err="1"/>
              <a:t>messages</a:t>
            </a:r>
            <a:r>
              <a:rPr lang="it-IT" dirty="0"/>
              <a:t> o eventi) ricevuti sui link in ingresso, quindi traccia l'engagement dell’LP </a:t>
            </a:r>
            <a:br>
              <a:rPr lang="it-IT" dirty="0"/>
            </a:br>
            <a:r>
              <a:rPr lang="it-IT" b="1" dirty="0"/>
              <a:t>D</a:t>
            </a:r>
            <a:r>
              <a:rPr lang="it-IT" dirty="0"/>
              <a:t> = </a:t>
            </a:r>
            <a:r>
              <a:rPr lang="it-IT" b="1" dirty="0" err="1"/>
              <a:t>Dependents</a:t>
            </a:r>
            <a:r>
              <a:rPr lang="it-IT" dirty="0"/>
              <a:t> (o </a:t>
            </a:r>
            <a:r>
              <a:rPr lang="it-IT" b="1" dirty="0" err="1"/>
              <a:t>Descendants</a:t>
            </a:r>
            <a:r>
              <a:rPr lang="it-IT" dirty="0"/>
              <a:t>) — conta i sottoalberi discendenti a cui l'LP ha inoltrato query, quindi traccia se l'LP è una foglia o no</a:t>
            </a:r>
            <a:br>
              <a:rPr lang="en-US" dirty="0"/>
            </a:br>
            <a:br>
              <a:rPr lang="en-US" dirty="0"/>
            </a:br>
            <a:r>
              <a:rPr lang="en-US" dirty="0"/>
              <a:t>An</a:t>
            </a:r>
            <a:r>
              <a:rPr lang="en-US" baseline="0" dirty="0"/>
              <a:t> LP returns a signal if:</a:t>
            </a:r>
          </a:p>
          <a:p>
            <a:pPr marL="171450" indent="-171450">
              <a:buFontTx/>
              <a:buChar char="-"/>
            </a:pPr>
            <a:r>
              <a:rPr lang="en-US" baseline="0" dirty="0"/>
              <a:t>it is already engaged </a:t>
            </a:r>
            <a:r>
              <a:rPr lang="en-US" b="1" baseline="0" dirty="0"/>
              <a:t>or</a:t>
            </a:r>
          </a:p>
          <a:p>
            <a:pPr marL="171450" indent="-171450">
              <a:buFontTx/>
              <a:buChar char="-"/>
            </a:pPr>
            <a:r>
              <a:rPr lang="en-US" baseline="0" dirty="0"/>
              <a:t>it is blocked AND is a leaf node</a:t>
            </a:r>
            <a:endParaRPr lang="en-US" dirty="0"/>
          </a:p>
          <a:p>
            <a:endParaRPr lang="en-US" b="1" dirty="0"/>
          </a:p>
          <a:p>
            <a:r>
              <a:rPr lang="en-US" b="1" dirty="0"/>
              <a:t>C indicates the engagement status (BILANCIO SUI LINK IN INGRESSO):</a:t>
            </a:r>
          </a:p>
          <a:p>
            <a:r>
              <a:rPr lang="en-US" dirty="0"/>
              <a:t>LP is </a:t>
            </a:r>
            <a:r>
              <a:rPr lang="en-US" b="1" dirty="0"/>
              <a:t>engaged</a:t>
            </a:r>
            <a:r>
              <a:rPr lang="en-US" dirty="0"/>
              <a:t> if C is greater than zero. If C is equal to 0, the process is disengaged (</a:t>
            </a:r>
            <a:r>
              <a:rPr lang="en-US" b="1" dirty="0"/>
              <a:t>and D must also be zero</a:t>
            </a:r>
            <a:r>
              <a:rPr lang="en-US" dirty="0"/>
              <a: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D counts the number of descendant trees (BILANCIO SUI LINK IN USCITA):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LP is a leaf node of the tree if its C value is greater than zero (i.e., it is engaged) and its D value is zero.</a:t>
            </a:r>
          </a:p>
          <a:p>
            <a:endParaRPr lang="en-US" dirty="0"/>
          </a:p>
          <a:p>
            <a:endParaRPr lang="en-US" dirty="0"/>
          </a:p>
        </p:txBody>
      </p:sp>
    </p:spTree>
    <p:extLst>
      <p:ext uri="{BB962C8B-B14F-4D97-AF65-F5344CB8AC3E}">
        <p14:creationId xmlns:p14="http://schemas.microsoft.com/office/powerpoint/2010/main" val="331993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it-IT" b="1" dirty="0"/>
              <a:t>C</a:t>
            </a:r>
            <a:r>
              <a:rPr lang="it-IT" dirty="0"/>
              <a:t> = </a:t>
            </a:r>
            <a:r>
              <a:rPr lang="it-IT" b="1" dirty="0" err="1"/>
              <a:t>Count</a:t>
            </a:r>
            <a:r>
              <a:rPr lang="it-IT" dirty="0"/>
              <a:t> — conta i messaggi (</a:t>
            </a:r>
            <a:r>
              <a:rPr lang="it-IT" dirty="0" err="1"/>
              <a:t>null</a:t>
            </a:r>
            <a:r>
              <a:rPr lang="it-IT" dirty="0"/>
              <a:t> </a:t>
            </a:r>
            <a:r>
              <a:rPr lang="it-IT" dirty="0" err="1"/>
              <a:t>messages</a:t>
            </a:r>
            <a:r>
              <a:rPr lang="it-IT" dirty="0"/>
              <a:t> o eventi) ricevuti sui link in ingresso, quindi traccia l'engagement dell’LP </a:t>
            </a:r>
            <a:br>
              <a:rPr lang="it-IT" dirty="0"/>
            </a:br>
            <a:r>
              <a:rPr lang="it-IT" b="1" dirty="0"/>
              <a:t>D</a:t>
            </a:r>
            <a:r>
              <a:rPr lang="it-IT" dirty="0"/>
              <a:t> = </a:t>
            </a:r>
            <a:r>
              <a:rPr lang="it-IT" b="1" dirty="0" err="1"/>
              <a:t>Dependents</a:t>
            </a:r>
            <a:r>
              <a:rPr lang="it-IT" dirty="0"/>
              <a:t> (o </a:t>
            </a:r>
            <a:r>
              <a:rPr lang="it-IT" b="1" dirty="0" err="1"/>
              <a:t>Descendants</a:t>
            </a:r>
            <a:r>
              <a:rPr lang="it-IT" dirty="0"/>
              <a:t>) — conta i sottoalberi discendenti a cui l'LP ha inoltrato query, quindi traccia se l'LP è una foglia o no</a:t>
            </a:r>
            <a:br>
              <a:rPr lang="en-US" dirty="0"/>
            </a:br>
            <a:br>
              <a:rPr lang="en-US" dirty="0"/>
            </a:br>
            <a:r>
              <a:rPr lang="en-US" dirty="0"/>
              <a:t>An</a:t>
            </a:r>
            <a:r>
              <a:rPr lang="en-US" baseline="0" dirty="0"/>
              <a:t> LP returns a signal if:</a:t>
            </a:r>
          </a:p>
          <a:p>
            <a:pPr marL="171450" indent="-171450">
              <a:buFontTx/>
              <a:buChar char="-"/>
            </a:pPr>
            <a:r>
              <a:rPr lang="en-US" baseline="0" dirty="0"/>
              <a:t>it is already engaged </a:t>
            </a:r>
            <a:r>
              <a:rPr lang="en-US" b="1" baseline="0" dirty="0"/>
              <a:t>or</a:t>
            </a:r>
          </a:p>
          <a:p>
            <a:pPr marL="171450" indent="-171450">
              <a:buFontTx/>
              <a:buChar char="-"/>
            </a:pPr>
            <a:r>
              <a:rPr lang="en-US" baseline="0" dirty="0"/>
              <a:t>it is blocked AND is a leaf node</a:t>
            </a:r>
            <a:endParaRPr lang="en-US" dirty="0"/>
          </a:p>
          <a:p>
            <a:endParaRPr lang="en-US" b="1"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C indicates the engagement status (BILANCIO SUI LINK IN INGRESSO):</a:t>
            </a:r>
          </a:p>
          <a:p>
            <a:r>
              <a:rPr lang="en-US" dirty="0"/>
              <a:t>LP is </a:t>
            </a:r>
            <a:r>
              <a:rPr lang="en-US" b="1" dirty="0"/>
              <a:t>engaged</a:t>
            </a:r>
            <a:r>
              <a:rPr lang="en-US" dirty="0"/>
              <a:t> if C is greater than zero. If C is equal to 0, the process is disengaged (</a:t>
            </a:r>
            <a:r>
              <a:rPr lang="en-US" b="1" dirty="0"/>
              <a:t>and D must also be zero</a:t>
            </a:r>
            <a:r>
              <a:rPr lang="en-US" dirty="0"/>
              <a: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D counts the number of descendant trees (BILANCIO SUI LINK IN USCITA):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LP is a leaf node of the tree if its C value is greater than zero (i.e., it is engaged) and its D value is zero.</a:t>
            </a:r>
          </a:p>
          <a:p>
            <a:endParaRPr lang="en-US" dirty="0"/>
          </a:p>
          <a:p>
            <a:endParaRPr lang="en-US" dirty="0"/>
          </a:p>
          <a:p>
            <a:endParaRPr lang="en-US" dirty="0"/>
          </a:p>
        </p:txBody>
      </p:sp>
    </p:spTree>
    <p:extLst>
      <p:ext uri="{BB962C8B-B14F-4D97-AF65-F5344CB8AC3E}">
        <p14:creationId xmlns:p14="http://schemas.microsoft.com/office/powerpoint/2010/main" val="39204457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it-IT" dirty="0" err="1"/>
              <a:t>When</a:t>
            </a:r>
            <a:r>
              <a:rPr lang="it-IT" dirty="0"/>
              <a:t> are C and D </a:t>
            </a:r>
            <a:r>
              <a:rPr lang="it-IT" dirty="0" err="1"/>
              <a:t>updated</a:t>
            </a:r>
            <a:r>
              <a:rPr lang="it-IT" dirty="0"/>
              <a:t>?</a:t>
            </a:r>
          </a:p>
          <a:p>
            <a:pPr marL="0" marR="0" indent="0" algn="l" defTabSz="914400" rtl="0" eaLnBrk="0" fontAlgn="base" latinLnBrk="0" hangingPunct="0">
              <a:lnSpc>
                <a:spcPct val="100000"/>
              </a:lnSpc>
              <a:spcBef>
                <a:spcPct val="30000"/>
              </a:spcBef>
              <a:spcAft>
                <a:spcPct val="0"/>
              </a:spcAft>
              <a:buClrTx/>
              <a:buSzTx/>
              <a:buFontTx/>
              <a:buNone/>
              <a:tabLst/>
              <a:defRPr/>
            </a:pPr>
            <a:r>
              <a:rPr lang="it-IT" dirty="0" err="1"/>
              <a:t>Send</a:t>
            </a:r>
            <a:r>
              <a:rPr lang="it-IT" dirty="0"/>
              <a:t> a </a:t>
            </a:r>
            <a:r>
              <a:rPr lang="it-IT" dirty="0" err="1"/>
              <a:t>message</a:t>
            </a:r>
            <a:r>
              <a:rPr lang="it-IT" dirty="0"/>
              <a:t>: </a:t>
            </a:r>
            <a:r>
              <a:rPr lang="it-IT" dirty="0" err="1"/>
              <a:t>Increment</a:t>
            </a:r>
            <a:r>
              <a:rPr lang="it-IT" dirty="0"/>
              <a:t> D in </a:t>
            </a:r>
            <a:r>
              <a:rPr lang="it-IT" dirty="0" err="1"/>
              <a:t>sender</a:t>
            </a:r>
            <a:r>
              <a:rPr lang="it-IT" dirty="0"/>
              <a:t>, </a:t>
            </a:r>
            <a:r>
              <a:rPr lang="it-IT" dirty="0" err="1"/>
              <a:t>increment</a:t>
            </a:r>
            <a:r>
              <a:rPr lang="it-IT" dirty="0"/>
              <a:t> C in </a:t>
            </a:r>
            <a:r>
              <a:rPr lang="it-IT" dirty="0" err="1"/>
              <a:t>receiver</a:t>
            </a:r>
            <a:endParaRPr lang="it-IT"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it-IT" dirty="0"/>
              <a:t>Return a </a:t>
            </a:r>
            <a:r>
              <a:rPr lang="it-IT" dirty="0" err="1"/>
              <a:t>signal</a:t>
            </a:r>
            <a:r>
              <a:rPr lang="it-IT" dirty="0"/>
              <a:t>: </a:t>
            </a:r>
            <a:r>
              <a:rPr lang="it-IT" dirty="0" err="1"/>
              <a:t>Decrement</a:t>
            </a:r>
            <a:r>
              <a:rPr lang="it-IT" dirty="0"/>
              <a:t> C in </a:t>
            </a:r>
            <a:r>
              <a:rPr lang="it-IT" dirty="0" err="1"/>
              <a:t>sender</a:t>
            </a:r>
            <a:r>
              <a:rPr lang="it-IT" dirty="0"/>
              <a:t>, </a:t>
            </a:r>
            <a:r>
              <a:rPr lang="it-IT" dirty="0" err="1"/>
              <a:t>decrement</a:t>
            </a:r>
            <a:r>
              <a:rPr lang="it-IT" dirty="0"/>
              <a:t> D in </a:t>
            </a:r>
            <a:r>
              <a:rPr lang="it-IT" dirty="0" err="1"/>
              <a:t>receiver</a:t>
            </a:r>
            <a:br>
              <a:rPr lang="en-US" dirty="0"/>
            </a:br>
            <a:br>
              <a:rPr lang="it-IT" b="1" dirty="0"/>
            </a:br>
            <a:br>
              <a:rPr lang="it-IT" b="1" dirty="0"/>
            </a:br>
            <a:r>
              <a:rPr lang="it-IT" b="1" dirty="0"/>
              <a:t>C</a:t>
            </a:r>
            <a:r>
              <a:rPr lang="it-IT" dirty="0"/>
              <a:t> = </a:t>
            </a:r>
            <a:r>
              <a:rPr lang="it-IT" b="1" dirty="0" err="1"/>
              <a:t>Count</a:t>
            </a:r>
            <a:r>
              <a:rPr lang="it-IT" dirty="0"/>
              <a:t> — conta i messaggi (</a:t>
            </a:r>
            <a:r>
              <a:rPr lang="it-IT" dirty="0" err="1"/>
              <a:t>null</a:t>
            </a:r>
            <a:r>
              <a:rPr lang="it-IT" dirty="0"/>
              <a:t> </a:t>
            </a:r>
            <a:r>
              <a:rPr lang="it-IT" dirty="0" err="1"/>
              <a:t>messages</a:t>
            </a:r>
            <a:r>
              <a:rPr lang="it-IT" dirty="0"/>
              <a:t> o eventi) ricevuti sui link in ingresso, quindi traccia l'engagement dell’LP </a:t>
            </a:r>
            <a:br>
              <a:rPr lang="it-IT" dirty="0"/>
            </a:br>
            <a:r>
              <a:rPr lang="it-IT" b="1" dirty="0"/>
              <a:t>D</a:t>
            </a:r>
            <a:r>
              <a:rPr lang="it-IT" dirty="0"/>
              <a:t> = </a:t>
            </a:r>
            <a:r>
              <a:rPr lang="it-IT" b="1" dirty="0" err="1"/>
              <a:t>Dependents</a:t>
            </a:r>
            <a:r>
              <a:rPr lang="it-IT" dirty="0"/>
              <a:t> (o </a:t>
            </a:r>
            <a:r>
              <a:rPr lang="it-IT" b="1" dirty="0" err="1"/>
              <a:t>Descendants</a:t>
            </a:r>
            <a:r>
              <a:rPr lang="it-IT" dirty="0"/>
              <a:t>) — conta i sottoalberi discendenti a cui l'LP ha inoltrato query, quindi traccia se l'LP è una foglia o no</a:t>
            </a:r>
            <a:br>
              <a:rPr lang="en-US" dirty="0"/>
            </a:br>
            <a:br>
              <a:rPr lang="en-US" dirty="0"/>
            </a:br>
            <a:r>
              <a:rPr lang="en-US" b="1" dirty="0"/>
              <a:t>When does a process send a signal?</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baseline="0" dirty="0"/>
              <a:t>it is already engaged  (</a:t>
            </a:r>
            <a:r>
              <a:rPr lang="en-US" b="0" dirty="0"/>
              <a:t>If it receives a message and C&gt;0</a:t>
            </a:r>
            <a:r>
              <a:rPr lang="en-US" baseline="0" dirty="0"/>
              <a:t>) </a:t>
            </a:r>
            <a:r>
              <a:rPr lang="en-US" b="1" baseline="0" dirty="0"/>
              <a:t>or</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baseline="0" dirty="0"/>
              <a:t>it is blocked AND is a leaf node (</a:t>
            </a:r>
            <a:r>
              <a:rPr lang="en-US" b="0" dirty="0"/>
              <a:t>If C=1, D=0, and the process is idle - becomes disengaged)</a:t>
            </a:r>
            <a:endParaRPr lang="en-US" baseline="0" dirty="0"/>
          </a:p>
          <a:p>
            <a:endParaRPr lang="en-US" b="1"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C indicates the engagement status(BILANCIO SUI LINK IN INGRESSO):</a:t>
            </a:r>
          </a:p>
          <a:p>
            <a:r>
              <a:rPr lang="en-US" dirty="0"/>
              <a:t>LP is </a:t>
            </a:r>
            <a:r>
              <a:rPr lang="en-US" b="1" dirty="0"/>
              <a:t>engaged</a:t>
            </a:r>
            <a:r>
              <a:rPr lang="en-US" dirty="0"/>
              <a:t> if C is greater than zero. If C is equal to 0, the process is disengaged (</a:t>
            </a:r>
            <a:r>
              <a:rPr lang="en-US" b="1" dirty="0"/>
              <a:t>and D must also be zero</a:t>
            </a:r>
            <a:r>
              <a:rPr lang="en-US" dirty="0"/>
              <a: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D counts the number of descendant trees (BILANCIO SUI LINK IN USCITA):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LP is a leaf node of the tree if its C value is greater than zero (i.e., it is engaged) and its D value is zero.</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dirty="0"/>
          </a:p>
          <a:p>
            <a:endParaRPr lang="en-US" dirty="0"/>
          </a:p>
          <a:p>
            <a:endParaRPr lang="en-US" dirty="0"/>
          </a:p>
          <a:p>
            <a:endParaRPr lang="en-US" dirty="0"/>
          </a:p>
        </p:txBody>
      </p:sp>
    </p:spTree>
    <p:extLst>
      <p:ext uri="{BB962C8B-B14F-4D97-AF65-F5344CB8AC3E}">
        <p14:creationId xmlns:p14="http://schemas.microsoft.com/office/powerpoint/2010/main" val="3785766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sz="1200" kern="1200" dirty="0">
                <a:solidFill>
                  <a:schemeClr val="tx1"/>
                </a:solidFill>
                <a:effectLst/>
                <a:latin typeface="Times" charset="0"/>
                <a:ea typeface="+mn-ea"/>
                <a:cs typeface="+mn-cs"/>
              </a:rPr>
              <a:t>To break the deadlock, the simulation executive needs only identify the event with the smallest time stamp and send a message to the LP holding that event to indicate that the event can now be safely processed.</a:t>
            </a:r>
          </a:p>
          <a:p>
            <a:r>
              <a:rPr lang="en-US" sz="1200" kern="1200" dirty="0">
                <a:solidFill>
                  <a:schemeClr val="tx1"/>
                </a:solidFill>
                <a:effectLst/>
                <a:latin typeface="Times" charset="0"/>
                <a:ea typeface="+mn-ea"/>
                <a:cs typeface="+mn-cs"/>
              </a:rPr>
              <a:t>One drawback of the algorithm described above is that it is overly conservative in that it only specifies the smallest time stamped event(s) as being safe to process. Using lookahead information, a larger set of safe events can usually be obtained</a:t>
            </a:r>
            <a:r>
              <a:rPr lang="it-IT">
                <a:effectLst/>
              </a:rPr>
              <a:t> </a:t>
            </a:r>
            <a:br>
              <a:rPr lang="it-IT">
                <a:effectLst/>
              </a:rPr>
            </a:br>
            <a:br>
              <a:rPr lang="it-IT">
                <a:effectLst/>
              </a:rPr>
            </a:br>
            <a:r>
              <a:rPr lang="it-IT">
                <a:effectLst/>
              </a:rPr>
              <a:t>QUI</a:t>
            </a:r>
            <a:endParaRPr lang="en-US" dirty="0"/>
          </a:p>
        </p:txBody>
      </p:sp>
    </p:spTree>
    <p:extLst>
      <p:ext uri="{BB962C8B-B14F-4D97-AF65-F5344CB8AC3E}">
        <p14:creationId xmlns:p14="http://schemas.microsoft.com/office/powerpoint/2010/main" val="15154242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charset="0"/>
                <a:ea typeface="+mn-ea"/>
                <a:cs typeface="+mn-cs"/>
              </a:rPr>
              <a:t>Spanning</a:t>
            </a:r>
            <a:r>
              <a:rPr lang="en-US" sz="1200" kern="1200" baseline="0" dirty="0">
                <a:solidFill>
                  <a:schemeClr val="tx1"/>
                </a:solidFill>
                <a:effectLst/>
                <a:latin typeface="Times" charset="0"/>
                <a:ea typeface="+mn-ea"/>
                <a:cs typeface="+mn-cs"/>
              </a:rPr>
              <a:t> tree: e</a:t>
            </a:r>
            <a:r>
              <a:rPr lang="en-US" sz="1200" kern="1200" dirty="0">
                <a:solidFill>
                  <a:schemeClr val="tx1"/>
                </a:solidFill>
                <a:effectLst/>
                <a:latin typeface="Times" charset="0"/>
                <a:ea typeface="+mn-ea"/>
                <a:cs typeface="+mn-cs"/>
              </a:rPr>
              <a:t>ach node of tree represents a processor, and the number in each node indicates the time stamp of the smallest time-stamped even in that processor. </a:t>
            </a:r>
            <a:r>
              <a:rPr lang="en-US" sz="1200" kern="1200" baseline="0" dirty="0">
                <a:solidFill>
                  <a:schemeClr val="tx1"/>
                </a:solidFill>
                <a:effectLst/>
                <a:latin typeface="Times" charset="0"/>
                <a:ea typeface="+mn-ea"/>
                <a:cs typeface="+mn-cs"/>
              </a:rPr>
              <a:t>Link spanning tree </a:t>
            </a:r>
            <a:r>
              <a:rPr lang="en-US" sz="1200" kern="1200" baseline="0" dirty="0" err="1">
                <a:solidFill>
                  <a:schemeClr val="tx1"/>
                </a:solidFill>
                <a:effectLst/>
                <a:latin typeface="Times" charset="0"/>
                <a:ea typeface="+mn-ea"/>
                <a:cs typeface="+mn-cs"/>
              </a:rPr>
              <a:t>sono</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definiti</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arbitrariamente</a:t>
            </a:r>
            <a:r>
              <a:rPr lang="en-US" sz="1200" kern="1200" baseline="0" dirty="0">
                <a:solidFill>
                  <a:schemeClr val="tx1"/>
                </a:solidFill>
                <a:effectLst/>
                <a:latin typeface="Times" charset="0"/>
                <a:ea typeface="+mn-ea"/>
                <a:cs typeface="+mn-cs"/>
              </a:rPr>
              <a:t> e non </a:t>
            </a:r>
            <a:r>
              <a:rPr lang="en-US" sz="1200" kern="1200" baseline="0" dirty="0" err="1">
                <a:solidFill>
                  <a:schemeClr val="tx1"/>
                </a:solidFill>
                <a:effectLst/>
                <a:latin typeface="Times" charset="0"/>
                <a:ea typeface="+mn-ea"/>
                <a:cs typeface="+mn-cs"/>
              </a:rPr>
              <a:t>devono</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corrospondere</a:t>
            </a:r>
            <a:r>
              <a:rPr lang="en-US" sz="1200" kern="1200" baseline="0" dirty="0">
                <a:solidFill>
                  <a:schemeClr val="tx1"/>
                </a:solidFill>
                <a:effectLst/>
                <a:latin typeface="Times" charset="0"/>
                <a:ea typeface="+mn-ea"/>
                <a:cs typeface="+mn-cs"/>
              </a:rPr>
              <a:t> a </a:t>
            </a:r>
            <a:r>
              <a:rPr lang="en-US" sz="1200" kern="1200" baseline="0" dirty="0" err="1">
                <a:solidFill>
                  <a:schemeClr val="tx1"/>
                </a:solidFill>
                <a:effectLst/>
                <a:latin typeface="Times" charset="0"/>
                <a:ea typeface="+mn-ea"/>
                <a:cs typeface="+mn-cs"/>
              </a:rPr>
              <a:t>reali</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connessioni</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tra</a:t>
            </a:r>
            <a:r>
              <a:rPr lang="en-US" sz="1200" kern="1200" baseline="0" dirty="0">
                <a:solidFill>
                  <a:schemeClr val="tx1"/>
                </a:solidFill>
                <a:effectLst/>
                <a:latin typeface="Times" charset="0"/>
                <a:ea typeface="+mn-ea"/>
                <a:cs typeface="+mn-cs"/>
              </a:rPr>
              <a:t> LP</a:t>
            </a:r>
          </a:p>
          <a:p>
            <a:endParaRPr lang="en-US" sz="1200" kern="1200" dirty="0">
              <a:solidFill>
                <a:schemeClr val="tx1"/>
              </a:solidFill>
              <a:effectLst/>
              <a:latin typeface="Times" charset="0"/>
              <a:ea typeface="+mn-ea"/>
              <a:cs typeface="+mn-cs"/>
            </a:endParaRPr>
          </a:p>
          <a:p>
            <a:r>
              <a:rPr lang="en-US" sz="1200" kern="1200" dirty="0">
                <a:solidFill>
                  <a:schemeClr val="tx1"/>
                </a:solidFill>
                <a:effectLst/>
                <a:latin typeface="Times" charset="0"/>
                <a:ea typeface="+mn-ea"/>
                <a:cs typeface="+mn-cs"/>
              </a:rPr>
              <a:t>Primo round: CTRL </a:t>
            </a:r>
            <a:r>
              <a:rPr lang="en-US" sz="1200" kern="1200" dirty="0" err="1">
                <a:solidFill>
                  <a:schemeClr val="tx1"/>
                </a:solidFill>
                <a:effectLst/>
                <a:latin typeface="Times" charset="0"/>
                <a:ea typeface="+mn-ea"/>
                <a:cs typeface="+mn-cs"/>
              </a:rPr>
              <a:t>chiede</a:t>
            </a:r>
            <a:r>
              <a:rPr lang="en-US" sz="1200" kern="1200" dirty="0">
                <a:solidFill>
                  <a:schemeClr val="tx1"/>
                </a:solidFill>
                <a:effectLst/>
                <a:latin typeface="Times" charset="0"/>
                <a:ea typeface="+mn-ea"/>
                <a:cs typeface="+mn-cs"/>
              </a:rPr>
              <a:t> di </a:t>
            </a:r>
            <a:r>
              <a:rPr lang="en-US" sz="1200" kern="1200" dirty="0" err="1">
                <a:solidFill>
                  <a:schemeClr val="tx1"/>
                </a:solidFill>
                <a:effectLst/>
                <a:latin typeface="Times" charset="0"/>
                <a:ea typeface="+mn-ea"/>
                <a:cs typeface="+mn-cs"/>
              </a:rPr>
              <a:t>determinare</a:t>
            </a:r>
            <a:r>
              <a:rPr lang="en-US" sz="1200" kern="1200" dirty="0">
                <a:solidFill>
                  <a:schemeClr val="tx1"/>
                </a:solidFill>
                <a:effectLst/>
                <a:latin typeface="Times" charset="0"/>
                <a:ea typeface="+mn-ea"/>
                <a:cs typeface="+mn-cs"/>
              </a:rPr>
              <a:t> il </a:t>
            </a:r>
            <a:r>
              <a:rPr lang="en-US" sz="1200" kern="1200" dirty="0" err="1">
                <a:solidFill>
                  <a:schemeClr val="tx1"/>
                </a:solidFill>
                <a:effectLst/>
                <a:latin typeface="Times" charset="0"/>
                <a:ea typeface="+mn-ea"/>
                <a:cs typeface="+mn-cs"/>
              </a:rPr>
              <a:t>minimo</a:t>
            </a:r>
            <a:r>
              <a:rPr lang="en-US" sz="1200" kern="1200" dirty="0">
                <a:solidFill>
                  <a:schemeClr val="tx1"/>
                </a:solidFill>
                <a:effectLst/>
                <a:latin typeface="Times" charset="0"/>
                <a:ea typeface="+mn-ea"/>
                <a:cs typeface="+mn-cs"/>
              </a:rPr>
              <a:t>, e la </a:t>
            </a:r>
            <a:r>
              <a:rPr lang="en-US" sz="1200" kern="1200" dirty="0" err="1">
                <a:solidFill>
                  <a:schemeClr val="tx1"/>
                </a:solidFill>
                <a:effectLst/>
                <a:latin typeface="Times" charset="0"/>
                <a:ea typeface="+mn-ea"/>
                <a:cs typeface="+mn-cs"/>
              </a:rPr>
              <a:t>richiesta</a:t>
            </a:r>
            <a:r>
              <a:rPr lang="en-US" sz="1200" kern="1200" dirty="0">
                <a:solidFill>
                  <a:schemeClr val="tx1"/>
                </a:solidFill>
                <a:effectLst/>
                <a:latin typeface="Times" charset="0"/>
                <a:ea typeface="+mn-ea"/>
                <a:cs typeface="+mn-cs"/>
              </a:rPr>
              <a:t> </a:t>
            </a:r>
            <a:r>
              <a:rPr lang="en-US" sz="1200" kern="1200" dirty="0" err="1">
                <a:solidFill>
                  <a:schemeClr val="tx1"/>
                </a:solidFill>
                <a:effectLst/>
                <a:latin typeface="Times" charset="0"/>
                <a:ea typeface="+mn-ea"/>
                <a:cs typeface="+mn-cs"/>
              </a:rPr>
              <a:t>procede</a:t>
            </a:r>
            <a:r>
              <a:rPr lang="en-US" sz="1200" kern="1200" dirty="0">
                <a:solidFill>
                  <a:schemeClr val="tx1"/>
                </a:solidFill>
                <a:effectLst/>
                <a:latin typeface="Times" charset="0"/>
                <a:ea typeface="+mn-ea"/>
                <a:cs typeface="+mn-cs"/>
              </a:rPr>
              <a:t> </a:t>
            </a:r>
            <a:r>
              <a:rPr lang="en-US" sz="1200" kern="1200" dirty="0" err="1">
                <a:solidFill>
                  <a:schemeClr val="tx1"/>
                </a:solidFill>
                <a:effectLst/>
                <a:latin typeface="Times" charset="0"/>
                <a:ea typeface="+mn-ea"/>
                <a:cs typeface="+mn-cs"/>
              </a:rPr>
              <a:t>lungo</a:t>
            </a:r>
            <a:r>
              <a:rPr lang="en-US" sz="1200" kern="1200" dirty="0">
                <a:solidFill>
                  <a:schemeClr val="tx1"/>
                </a:solidFill>
                <a:effectLst/>
                <a:latin typeface="Times" charset="0"/>
                <a:ea typeface="+mn-ea"/>
                <a:cs typeface="+mn-cs"/>
              </a:rPr>
              <a:t> </a:t>
            </a:r>
            <a:r>
              <a:rPr lang="en-US" sz="1200" kern="1200" dirty="0" err="1">
                <a:solidFill>
                  <a:schemeClr val="tx1"/>
                </a:solidFill>
                <a:effectLst/>
                <a:latin typeface="Times" charset="0"/>
                <a:ea typeface="+mn-ea"/>
                <a:cs typeface="+mn-cs"/>
              </a:rPr>
              <a:t>l’albero</a:t>
            </a:r>
            <a:r>
              <a:rPr lang="en-US" sz="1200" kern="1200" dirty="0">
                <a:solidFill>
                  <a:schemeClr val="tx1"/>
                </a:solidFill>
                <a:effectLst/>
                <a:latin typeface="Times" charset="0"/>
                <a:ea typeface="+mn-ea"/>
                <a:cs typeface="+mn-cs"/>
              </a:rPr>
              <a:t>.</a:t>
            </a:r>
            <a:br>
              <a:rPr lang="en-US" sz="1200" kern="1200" dirty="0">
                <a:solidFill>
                  <a:schemeClr val="tx1"/>
                </a:solidFill>
                <a:effectLst/>
                <a:latin typeface="Times" charset="0"/>
                <a:ea typeface="+mn-ea"/>
                <a:cs typeface="+mn-cs"/>
              </a:rPr>
            </a:br>
            <a:r>
              <a:rPr lang="en-US" sz="1200" kern="1200" dirty="0">
                <a:solidFill>
                  <a:schemeClr val="tx1"/>
                </a:solidFill>
                <a:effectLst/>
                <a:latin typeface="Times" charset="0"/>
                <a:ea typeface="+mn-ea"/>
                <a:cs typeface="+mn-cs"/>
              </a:rPr>
              <a:t>Secondo round: Arrows indicate communications in the second round to compute the global minimum</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pag</a:t>
            </a:r>
            <a:r>
              <a:rPr lang="en-US" sz="1200" kern="1200" baseline="0" dirty="0">
                <a:solidFill>
                  <a:schemeClr val="tx1"/>
                </a:solidFill>
                <a:effectLst/>
                <a:latin typeface="Times" charset="0"/>
                <a:ea typeface="+mn-ea"/>
                <a:cs typeface="+mn-cs"/>
              </a:rPr>
              <a:t> 63 book </a:t>
            </a:r>
            <a:r>
              <a:rPr lang="en-US" sz="1200" kern="1200" baseline="0" dirty="0" err="1">
                <a:solidFill>
                  <a:schemeClr val="tx1"/>
                </a:solidFill>
                <a:effectLst/>
                <a:latin typeface="Times" charset="0"/>
                <a:ea typeface="+mn-ea"/>
                <a:cs typeface="+mn-cs"/>
              </a:rPr>
              <a:t>fujimoto</a:t>
            </a:r>
            <a:r>
              <a:rPr lang="en-US" sz="1200" kern="1200" baseline="0" dirty="0">
                <a:solidFill>
                  <a:schemeClr val="tx1"/>
                </a:solidFill>
                <a:effectLst/>
                <a:latin typeface="Times" charset="0"/>
                <a:ea typeface="+mn-ea"/>
                <a:cs typeface="+mn-cs"/>
              </a:rPr>
              <a:t>)</a:t>
            </a:r>
            <a:br>
              <a:rPr lang="en-US" sz="1200" kern="1200" baseline="0" dirty="0">
                <a:solidFill>
                  <a:schemeClr val="tx1"/>
                </a:solidFill>
                <a:effectLst/>
                <a:latin typeface="Times" charset="0"/>
                <a:ea typeface="+mn-ea"/>
                <a:cs typeface="+mn-cs"/>
              </a:rPr>
            </a:br>
            <a:r>
              <a:rPr lang="en-US" sz="1200" kern="1200" baseline="0" dirty="0" err="1">
                <a:solidFill>
                  <a:schemeClr val="tx1"/>
                </a:solidFill>
                <a:effectLst/>
                <a:latin typeface="Times" charset="0"/>
                <a:ea typeface="+mn-ea"/>
                <a:cs typeface="+mn-cs"/>
              </a:rPr>
              <a:t>Terzo</a:t>
            </a:r>
            <a:r>
              <a:rPr lang="en-US" sz="1200" kern="1200" baseline="0" dirty="0">
                <a:solidFill>
                  <a:schemeClr val="tx1"/>
                </a:solidFill>
                <a:effectLst/>
                <a:latin typeface="Times" charset="0"/>
                <a:ea typeface="+mn-ea"/>
                <a:cs typeface="+mn-cs"/>
              </a:rPr>
              <a:t> round: CTRL </a:t>
            </a:r>
            <a:r>
              <a:rPr lang="en-US" sz="1200" kern="1200" baseline="0" dirty="0" err="1">
                <a:solidFill>
                  <a:schemeClr val="tx1"/>
                </a:solidFill>
                <a:effectLst/>
                <a:latin typeface="Times" charset="0"/>
                <a:ea typeface="+mn-ea"/>
                <a:cs typeface="+mn-cs"/>
              </a:rPr>
              <a:t>comunica</a:t>
            </a:r>
            <a:r>
              <a:rPr lang="en-US" sz="1200" kern="1200" baseline="0" dirty="0">
                <a:solidFill>
                  <a:schemeClr val="tx1"/>
                </a:solidFill>
                <a:effectLst/>
                <a:latin typeface="Times" charset="0"/>
                <a:ea typeface="+mn-ea"/>
                <a:cs typeface="+mn-cs"/>
              </a:rPr>
              <a:t> il </a:t>
            </a:r>
            <a:r>
              <a:rPr lang="en-US" sz="1200" kern="1200" baseline="0" dirty="0" err="1">
                <a:solidFill>
                  <a:schemeClr val="tx1"/>
                </a:solidFill>
                <a:effectLst/>
                <a:latin typeface="Times" charset="0"/>
                <a:ea typeface="+mn-ea"/>
                <a:cs typeface="+mn-cs"/>
              </a:rPr>
              <a:t>minimo</a:t>
            </a:r>
            <a:r>
              <a:rPr lang="en-US" sz="1200" kern="1200" baseline="0" dirty="0">
                <a:solidFill>
                  <a:schemeClr val="tx1"/>
                </a:solidFill>
                <a:effectLst/>
                <a:latin typeface="Times" charset="0"/>
                <a:ea typeface="+mn-ea"/>
                <a:cs typeface="+mn-cs"/>
              </a:rPr>
              <a:t> timestamp e tale </a:t>
            </a:r>
            <a:r>
              <a:rPr lang="en-US" sz="1200" kern="1200" baseline="0" dirty="0" err="1">
                <a:solidFill>
                  <a:schemeClr val="tx1"/>
                </a:solidFill>
                <a:effectLst/>
                <a:latin typeface="Times" charset="0"/>
                <a:ea typeface="+mn-ea"/>
                <a:cs typeface="+mn-cs"/>
              </a:rPr>
              <a:t>informazione</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procede</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lungo</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l’albero</a:t>
            </a:r>
            <a:r>
              <a:rPr lang="en-US" sz="1200" kern="1200" baseline="0" dirty="0">
                <a:solidFill>
                  <a:schemeClr val="tx1"/>
                </a:solidFill>
                <a:effectLst/>
                <a:latin typeface="Times" charset="0"/>
                <a:ea typeface="+mn-ea"/>
                <a:cs typeface="+mn-cs"/>
              </a:rPr>
              <a:t>.</a:t>
            </a:r>
          </a:p>
          <a:p>
            <a:endParaRPr lang="en-US" sz="1200" kern="1200" baseline="0" dirty="0">
              <a:solidFill>
                <a:schemeClr val="tx1"/>
              </a:solidFill>
              <a:effectLst/>
              <a:latin typeface="Times" charset="0"/>
              <a:ea typeface="+mn-ea"/>
              <a:cs typeface="+mn-cs"/>
            </a:endParaRPr>
          </a:p>
          <a:p>
            <a:r>
              <a:rPr lang="en-US" sz="1200" kern="1200" baseline="0" dirty="0">
                <a:solidFill>
                  <a:schemeClr val="tx1"/>
                </a:solidFill>
                <a:effectLst/>
                <a:latin typeface="Times" charset="0"/>
                <a:ea typeface="+mn-ea"/>
                <a:cs typeface="+mn-cs"/>
              </a:rPr>
              <a:t>LP con il </a:t>
            </a:r>
            <a:r>
              <a:rPr lang="en-US" sz="1200" kern="1200" baseline="0" dirty="0" err="1">
                <a:solidFill>
                  <a:schemeClr val="tx1"/>
                </a:solidFill>
                <a:effectLst/>
                <a:latin typeface="Times" charset="0"/>
                <a:ea typeface="+mn-ea"/>
                <a:cs typeface="+mn-cs"/>
              </a:rPr>
              <a:t>messaggio</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avente</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minimo</a:t>
            </a:r>
            <a:r>
              <a:rPr lang="en-US" sz="1200" kern="1200" baseline="0" dirty="0">
                <a:solidFill>
                  <a:schemeClr val="tx1"/>
                </a:solidFill>
                <a:effectLst/>
                <a:latin typeface="Times" charset="0"/>
                <a:ea typeface="+mn-ea"/>
                <a:cs typeface="+mn-cs"/>
              </a:rPr>
              <a:t> timestamp </a:t>
            </a:r>
            <a:r>
              <a:rPr lang="en-US" sz="1200" kern="1200" baseline="0" dirty="0" err="1">
                <a:solidFill>
                  <a:schemeClr val="tx1"/>
                </a:solidFill>
                <a:effectLst/>
                <a:latin typeface="Times" charset="0"/>
                <a:ea typeface="+mn-ea"/>
                <a:cs typeface="+mn-cs"/>
              </a:rPr>
              <a:t>può</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processare</a:t>
            </a:r>
            <a:r>
              <a:rPr lang="en-US" sz="1200" kern="1200" baseline="0" dirty="0">
                <a:solidFill>
                  <a:schemeClr val="tx1"/>
                </a:solidFill>
                <a:effectLst/>
                <a:latin typeface="Times" charset="0"/>
                <a:ea typeface="+mn-ea"/>
                <a:cs typeface="+mn-cs"/>
              </a:rPr>
              <a:t> il </a:t>
            </a:r>
            <a:r>
              <a:rPr lang="en-US" sz="1200" kern="1200" baseline="0" dirty="0" err="1">
                <a:solidFill>
                  <a:schemeClr val="tx1"/>
                </a:solidFill>
                <a:effectLst/>
                <a:latin typeface="Times" charset="0"/>
                <a:ea typeface="+mn-ea"/>
                <a:cs typeface="+mn-cs"/>
              </a:rPr>
              <a:t>messaggio</a:t>
            </a:r>
            <a:r>
              <a:rPr lang="en-US" sz="1200" kern="1200" baseline="0" dirty="0">
                <a:solidFill>
                  <a:schemeClr val="tx1"/>
                </a:solidFill>
                <a:effectLst/>
                <a:latin typeface="Times" charset="0"/>
                <a:ea typeface="+mn-ea"/>
                <a:cs typeface="+mn-cs"/>
              </a:rPr>
              <a:t>.</a:t>
            </a:r>
          </a:p>
          <a:p>
            <a:r>
              <a:rPr lang="en-US" sz="1200" kern="1200" baseline="0" dirty="0" err="1">
                <a:solidFill>
                  <a:schemeClr val="tx1"/>
                </a:solidFill>
                <a:effectLst/>
                <a:latin typeface="Times" charset="0"/>
                <a:ea typeface="+mn-ea"/>
                <a:cs typeface="+mn-cs"/>
              </a:rPr>
              <a:t>Usando</a:t>
            </a:r>
            <a:r>
              <a:rPr lang="en-US" sz="1200" kern="1200" baseline="0" dirty="0">
                <a:solidFill>
                  <a:schemeClr val="tx1"/>
                </a:solidFill>
                <a:effectLst/>
                <a:latin typeface="Times" charset="0"/>
                <a:ea typeface="+mn-ea"/>
                <a:cs typeface="+mn-cs"/>
              </a:rPr>
              <a:t> il lookahead </a:t>
            </a:r>
            <a:r>
              <a:rPr lang="en-US" sz="1200" kern="1200" baseline="0" dirty="0" err="1">
                <a:solidFill>
                  <a:schemeClr val="tx1"/>
                </a:solidFill>
                <a:effectLst/>
                <a:latin typeface="Times" charset="0"/>
                <a:ea typeface="+mn-ea"/>
                <a:cs typeface="+mn-cs"/>
              </a:rPr>
              <a:t>ciascun</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processo</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può</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elaborare</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i</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messaggi</a:t>
            </a:r>
            <a:r>
              <a:rPr lang="en-US" sz="1200" kern="1200" baseline="0" dirty="0">
                <a:solidFill>
                  <a:schemeClr val="tx1"/>
                </a:solidFill>
                <a:effectLst/>
                <a:latin typeface="Times" charset="0"/>
                <a:ea typeface="+mn-ea"/>
                <a:cs typeface="+mn-cs"/>
              </a:rPr>
              <a:t> safe [</a:t>
            </a:r>
            <a:r>
              <a:rPr lang="en-US" sz="1200" kern="1200" baseline="0" dirty="0" err="1">
                <a:solidFill>
                  <a:schemeClr val="tx1"/>
                </a:solidFill>
                <a:effectLst/>
                <a:latin typeface="Times" charset="0"/>
                <a:ea typeface="+mn-ea"/>
                <a:cs typeface="+mn-cs"/>
              </a:rPr>
              <a:t>Tmin</a:t>
            </a:r>
            <a:r>
              <a:rPr lang="en-US" sz="1200" kern="1200" baseline="0" dirty="0">
                <a:solidFill>
                  <a:schemeClr val="tx1"/>
                </a:solidFill>
                <a:effectLst/>
                <a:latin typeface="Times" charset="0"/>
                <a:ea typeface="+mn-ea"/>
                <a:cs typeface="+mn-cs"/>
              </a:rPr>
              <a:t>, </a:t>
            </a:r>
            <a:r>
              <a:rPr lang="en-US" sz="1200" kern="1200" baseline="0" dirty="0" err="1">
                <a:solidFill>
                  <a:schemeClr val="tx1"/>
                </a:solidFill>
                <a:effectLst/>
                <a:latin typeface="Times" charset="0"/>
                <a:ea typeface="+mn-ea"/>
                <a:cs typeface="+mn-cs"/>
              </a:rPr>
              <a:t>Tmin+L</a:t>
            </a:r>
            <a:r>
              <a:rPr lang="en-US" sz="1200" kern="1200" baseline="0" dirty="0">
                <a:solidFill>
                  <a:schemeClr val="tx1"/>
                </a:solidFill>
                <a:effectLst/>
                <a:latin typeface="Times" charset="0"/>
                <a:ea typeface="+mn-ea"/>
                <a:cs typeface="+mn-cs"/>
              </a:rPr>
              <a:t>] </a:t>
            </a:r>
          </a:p>
        </p:txBody>
      </p:sp>
    </p:spTree>
    <p:extLst>
      <p:ext uri="{BB962C8B-B14F-4D97-AF65-F5344CB8AC3E}">
        <p14:creationId xmlns:p14="http://schemas.microsoft.com/office/powerpoint/2010/main" val="1451710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a:p>
        </p:txBody>
      </p:sp>
    </p:spTree>
    <p:extLst>
      <p:ext uri="{BB962C8B-B14F-4D97-AF65-F5344CB8AC3E}">
        <p14:creationId xmlns:p14="http://schemas.microsoft.com/office/powerpoint/2010/main" val="6901204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xfrm>
            <a:off x="1150938" y="692150"/>
            <a:ext cx="4556125" cy="3416300"/>
          </a:xfrm>
          <a:ln/>
        </p:spPr>
      </p:sp>
      <p:sp>
        <p:nvSpPr>
          <p:cNvPr id="172035" name="Rectangle 3"/>
          <p:cNvSpPr>
            <a:spLocks noGrp="1" noChangeArrowheads="1"/>
          </p:cNvSpPr>
          <p:nvPr>
            <p:ph type="body" idx="1"/>
          </p:nvPr>
        </p:nvSpPr>
        <p:spPr/>
        <p:txBody>
          <a:bodyPr/>
          <a:lstStyle/>
          <a:p>
            <a:endParaRPr lang="th-TH" altLang="it-IT"/>
          </a:p>
        </p:txBody>
      </p:sp>
    </p:spTree>
    <p:extLst>
      <p:ext uri="{BB962C8B-B14F-4D97-AF65-F5344CB8AC3E}">
        <p14:creationId xmlns:p14="http://schemas.microsoft.com/office/powerpoint/2010/main" val="11277465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The</a:t>
            </a:r>
            <a:r>
              <a:rPr lang="en-US" baseline="0"/>
              <a:t> computation cycles between phases rather than relying on the system becoming deadlocked.</a:t>
            </a:r>
          </a:p>
          <a:p>
            <a:r>
              <a:rPr lang="en-US" baseline="0"/>
              <a:t>The barrier ensures that no events are processed, and thus no new events are created, while the simulation executive is trying to determine which events are safe to process.</a:t>
            </a:r>
            <a:endParaRPr lang="en-US"/>
          </a:p>
          <a:p>
            <a:r>
              <a:rPr lang="en-US"/>
              <a:t>The “safe” events are the one with</a:t>
            </a:r>
            <a:r>
              <a:rPr lang="en-US" baseline="0"/>
              <a:t> minimum time stamp and the other events identified by use of the </a:t>
            </a:r>
            <a:r>
              <a:rPr lang="en-US" baseline="0" err="1"/>
              <a:t>lookahead</a:t>
            </a:r>
            <a:r>
              <a:rPr lang="en-US" baseline="0"/>
              <a:t> (as in the deadlock recovery mechanism).</a:t>
            </a:r>
            <a:endParaRPr lang="en-US"/>
          </a:p>
          <a:p>
            <a:r>
              <a:rPr lang="en-US"/>
              <a:t>All</a:t>
            </a:r>
            <a:r>
              <a:rPr lang="en-US" baseline="0"/>
              <a:t> events generated at the “process events” step are processed in the next cycle</a:t>
            </a:r>
            <a:endParaRPr lang="en-US"/>
          </a:p>
        </p:txBody>
      </p:sp>
    </p:spTree>
    <p:extLst>
      <p:ext uri="{BB962C8B-B14F-4D97-AF65-F5344CB8AC3E}">
        <p14:creationId xmlns:p14="http://schemas.microsoft.com/office/powerpoint/2010/main" val="13483013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err="1"/>
              <a:t>Implementazione</a:t>
            </a:r>
            <a:r>
              <a:rPr lang="en-US" baseline="0" dirty="0"/>
              <a:t> shared memory: </a:t>
            </a:r>
            <a:r>
              <a:rPr lang="en-US" sz="1200" kern="1200" dirty="0">
                <a:solidFill>
                  <a:schemeClr val="tx1"/>
                </a:solidFill>
                <a:effectLst/>
                <a:latin typeface="Times" charset="0"/>
                <a:ea typeface="+mn-ea"/>
                <a:cs typeface="+mn-cs"/>
              </a:rPr>
              <a:t>A variable called Blocked indicates the number of processors that have reached the barrier point. The second counter called Released indicates the number of processors that have (1) reached the barrier point, (2) detected that all of the processors have reached the barrier point, and (3) proceeded beyond the barrier. Both counters are initialized to zero. Assume that there are N processors in the system. The condition Blocked equal to N (for any value of Released) indicates that all processors have reached the barrier point, and it is used to signal that processors can proceed beyond the barrier. Before a processor can initiate a barrier operation, it must wait until Released is equal to 0. This is necessary to avoid starting a new barrier operation before all processors have been released from the previous one. Once Released is equal to 0, the processor enters the barrier by incrementing Blocked. This must be done as an atomic operation to avoid race conditions. The processor then waits until Blocked becomes N. When the last processor to reach the barrier point increments Blocked to N, the processors can be released from the barrier. At this instant, Released will still be equal to zero. Each processor that is released from the barrier increments Released (again as an atomic operation) and resumes execution beyond the barrier. The last processor to be released from the barrier detects that it is setting Released to become equal to N, so it resets both variables to zero. Setting Released equal to 0 "arms" the barrier for the next operation.</a:t>
            </a:r>
            <a:r>
              <a:rPr lang="it-IT" dirty="0">
                <a:effectLst/>
              </a:rPr>
              <a:t> </a:t>
            </a:r>
            <a:endParaRPr lang="en-US" dirty="0"/>
          </a:p>
        </p:txBody>
      </p:sp>
    </p:spTree>
    <p:extLst>
      <p:ext uri="{BB962C8B-B14F-4D97-AF65-F5344CB8AC3E}">
        <p14:creationId xmlns:p14="http://schemas.microsoft.com/office/powerpoint/2010/main" val="12681274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it-IT" noProof="0" dirty="0"/>
          </a:p>
          <a:p>
            <a:r>
              <a:rPr lang="it-IT" noProof="0" dirty="0" err="1"/>
              <a:t>When</a:t>
            </a:r>
            <a:r>
              <a:rPr lang="it-IT" noProof="0" dirty="0"/>
              <a:t> a processor </a:t>
            </a:r>
            <a:r>
              <a:rPr lang="it-IT" b="1" noProof="0" dirty="0" err="1"/>
              <a:t>enters</a:t>
            </a:r>
            <a:r>
              <a:rPr lang="it-IT" b="1" noProof="0" dirty="0"/>
              <a:t> the </a:t>
            </a:r>
            <a:r>
              <a:rPr lang="it-IT" b="1" noProof="0" dirty="0" err="1"/>
              <a:t>barrier</a:t>
            </a:r>
            <a:r>
              <a:rPr lang="it-IT" b="1" noProof="0" dirty="0"/>
              <a:t> primitive</a:t>
            </a:r>
            <a:r>
              <a:rPr lang="it-IT" noProof="0" dirty="0"/>
              <a:t>, </a:t>
            </a:r>
            <a:r>
              <a:rPr lang="it-IT" noProof="0" dirty="0" err="1"/>
              <a:t>it</a:t>
            </a:r>
            <a:r>
              <a:rPr lang="it-IT" noProof="0" dirty="0"/>
              <a:t> </a:t>
            </a:r>
            <a:r>
              <a:rPr lang="it-IT" noProof="0" dirty="0" err="1"/>
              <a:t>sends</a:t>
            </a:r>
            <a:r>
              <a:rPr lang="it-IT" noProof="0" dirty="0"/>
              <a:t> a </a:t>
            </a:r>
            <a:r>
              <a:rPr lang="it-IT" noProof="0" dirty="0" err="1"/>
              <a:t>synchronization</a:t>
            </a:r>
            <a:r>
              <a:rPr lang="it-IT" noProof="0" dirty="0"/>
              <a:t> </a:t>
            </a:r>
            <a:r>
              <a:rPr lang="it-IT" noProof="0" dirty="0" err="1"/>
              <a:t>message</a:t>
            </a:r>
            <a:r>
              <a:rPr lang="it-IT" noProof="0" dirty="0"/>
              <a:t> to the controller processor, and </a:t>
            </a:r>
            <a:r>
              <a:rPr lang="it-IT" noProof="0" dirty="0" err="1"/>
              <a:t>waits</a:t>
            </a:r>
            <a:r>
              <a:rPr lang="it-IT" noProof="0" dirty="0"/>
              <a:t> for a </a:t>
            </a:r>
            <a:r>
              <a:rPr lang="it-IT" noProof="0" dirty="0" err="1"/>
              <a:t>response</a:t>
            </a:r>
            <a:r>
              <a:rPr lang="it-IT" noProof="0" dirty="0"/>
              <a:t>. </a:t>
            </a:r>
            <a:r>
              <a:rPr lang="it-IT" noProof="0" dirty="0" err="1"/>
              <a:t>When</a:t>
            </a:r>
            <a:r>
              <a:rPr lang="it-IT" noProof="0" dirty="0"/>
              <a:t> the controller </a:t>
            </a:r>
            <a:r>
              <a:rPr lang="it-IT" noProof="0" dirty="0" err="1"/>
              <a:t>has</a:t>
            </a:r>
            <a:r>
              <a:rPr lang="it-IT" noProof="0" dirty="0"/>
              <a:t> </a:t>
            </a:r>
            <a:r>
              <a:rPr lang="it-IT" noProof="0" dirty="0" err="1"/>
              <a:t>received</a:t>
            </a:r>
            <a:r>
              <a:rPr lang="it-IT" noProof="0" dirty="0"/>
              <a:t> </a:t>
            </a:r>
            <a:r>
              <a:rPr lang="it-IT" noProof="0" dirty="0" err="1"/>
              <a:t>such</a:t>
            </a:r>
            <a:r>
              <a:rPr lang="it-IT" noProof="0" dirty="0"/>
              <a:t> a </a:t>
            </a:r>
            <a:r>
              <a:rPr lang="it-IT" noProof="0" dirty="0" err="1"/>
              <a:t>message</a:t>
            </a:r>
            <a:r>
              <a:rPr lang="it-IT" noProof="0" dirty="0"/>
              <a:t> from </a:t>
            </a:r>
            <a:r>
              <a:rPr lang="it-IT" noProof="0" dirty="0" err="1"/>
              <a:t>every</a:t>
            </a:r>
            <a:r>
              <a:rPr lang="it-IT" noProof="0" dirty="0"/>
              <a:t> processor </a:t>
            </a:r>
            <a:r>
              <a:rPr lang="it-IT" noProof="0" dirty="0" err="1"/>
              <a:t>participating</a:t>
            </a:r>
            <a:r>
              <a:rPr lang="it-IT" noProof="0" dirty="0"/>
              <a:t> in the </a:t>
            </a:r>
            <a:r>
              <a:rPr lang="it-IT" noProof="0" dirty="0" err="1"/>
              <a:t>simulation</a:t>
            </a:r>
            <a:r>
              <a:rPr lang="it-IT" noProof="0" dirty="0"/>
              <a:t> (</a:t>
            </a:r>
            <a:r>
              <a:rPr lang="it-IT" noProof="0" dirty="0" err="1"/>
              <a:t>including</a:t>
            </a:r>
            <a:r>
              <a:rPr lang="it-IT" noProof="0" dirty="0"/>
              <a:t> </a:t>
            </a:r>
            <a:r>
              <a:rPr lang="it-IT" noProof="0" dirty="0" err="1"/>
              <a:t>itself</a:t>
            </a:r>
            <a:r>
              <a:rPr lang="it-IT" noProof="0" dirty="0"/>
              <a:t>), </a:t>
            </a:r>
            <a:r>
              <a:rPr lang="it-IT" noProof="0" dirty="0" err="1"/>
              <a:t>it</a:t>
            </a:r>
            <a:r>
              <a:rPr lang="it-IT" noProof="0" dirty="0"/>
              <a:t> </a:t>
            </a:r>
            <a:r>
              <a:rPr lang="it-IT" b="1" noProof="0" dirty="0" err="1"/>
              <a:t>broadcasts</a:t>
            </a:r>
            <a:r>
              <a:rPr lang="it-IT" b="1" noProof="0" dirty="0"/>
              <a:t> a release </a:t>
            </a:r>
            <a:r>
              <a:rPr lang="it-IT" b="1" noProof="0" dirty="0" err="1"/>
              <a:t>message</a:t>
            </a:r>
            <a:r>
              <a:rPr lang="it-IT" noProof="0" dirty="0"/>
              <a:t> </a:t>
            </a:r>
            <a:r>
              <a:rPr lang="it-IT" noProof="0" dirty="0" err="1"/>
              <a:t>indicating</a:t>
            </a:r>
            <a:r>
              <a:rPr lang="it-IT" noProof="0" dirty="0"/>
              <a:t> the global </a:t>
            </a:r>
            <a:r>
              <a:rPr lang="it-IT" noProof="0" dirty="0" err="1"/>
              <a:t>synchronization</a:t>
            </a:r>
            <a:r>
              <a:rPr lang="it-IT" noProof="0" dirty="0"/>
              <a:t> point </a:t>
            </a:r>
            <a:r>
              <a:rPr lang="it-IT" noProof="0" dirty="0" err="1"/>
              <a:t>has</a:t>
            </a:r>
            <a:r>
              <a:rPr lang="it-IT" noProof="0" dirty="0"/>
              <a:t> </a:t>
            </a:r>
            <a:r>
              <a:rPr lang="it-IT" noProof="0" dirty="0" err="1"/>
              <a:t>been</a:t>
            </a:r>
            <a:r>
              <a:rPr lang="it-IT" noProof="0" dirty="0"/>
              <a:t> </a:t>
            </a:r>
            <a:r>
              <a:rPr lang="it-IT" noProof="0" dirty="0" err="1"/>
              <a:t>reached</a:t>
            </a:r>
            <a:r>
              <a:rPr lang="it-IT" noProof="0" dirty="0"/>
              <a:t>. </a:t>
            </a:r>
            <a:r>
              <a:rPr lang="it-IT" b="1" noProof="0" dirty="0" err="1"/>
              <a:t>Upon</a:t>
            </a:r>
            <a:r>
              <a:rPr lang="it-IT" b="1" noProof="0" dirty="0"/>
              <a:t> </a:t>
            </a:r>
            <a:r>
              <a:rPr lang="it-IT" b="1" noProof="0" dirty="0" err="1"/>
              <a:t>receiving</a:t>
            </a:r>
            <a:r>
              <a:rPr lang="it-IT" b="1" noProof="0" dirty="0"/>
              <a:t> the release </a:t>
            </a:r>
            <a:r>
              <a:rPr lang="it-IT" b="1" noProof="0" dirty="0" err="1"/>
              <a:t>message</a:t>
            </a:r>
            <a:r>
              <a:rPr lang="it-IT" b="1" noProof="0" dirty="0"/>
              <a:t>, </a:t>
            </a:r>
            <a:r>
              <a:rPr lang="it-IT" b="1" noProof="0" dirty="0" err="1"/>
              <a:t>each</a:t>
            </a:r>
            <a:r>
              <a:rPr lang="it-IT" b="1" noProof="0" dirty="0"/>
              <a:t> processor </a:t>
            </a:r>
            <a:r>
              <a:rPr lang="it-IT" b="1" noProof="0" dirty="0" err="1"/>
              <a:t>continues</a:t>
            </a:r>
            <a:r>
              <a:rPr lang="it-IT" b="1" noProof="0" dirty="0"/>
              <a:t> </a:t>
            </a:r>
            <a:r>
              <a:rPr lang="it-IT" b="1" noProof="0" dirty="0" err="1"/>
              <a:t>execution</a:t>
            </a:r>
            <a:r>
              <a:rPr lang="it-IT" b="1" noProof="0" dirty="0"/>
              <a:t> </a:t>
            </a:r>
            <a:r>
              <a:rPr lang="it-IT" b="1" noProof="0" dirty="0" err="1"/>
              <a:t>starting</a:t>
            </a:r>
            <a:r>
              <a:rPr lang="it-IT" b="1" noProof="0" dirty="0"/>
              <a:t> </a:t>
            </a:r>
            <a:r>
              <a:rPr lang="it-IT" b="1" noProof="0" dirty="0" err="1"/>
              <a:t>at</a:t>
            </a:r>
            <a:r>
              <a:rPr lang="it-IT" b="1" noProof="0" dirty="0"/>
              <a:t> the </a:t>
            </a:r>
            <a:r>
              <a:rPr lang="it-IT" b="1" noProof="0" dirty="0" err="1"/>
              <a:t>statement</a:t>
            </a:r>
            <a:r>
              <a:rPr lang="it-IT" b="1" noProof="0" dirty="0"/>
              <a:t> </a:t>
            </a:r>
            <a:r>
              <a:rPr lang="it-IT" b="1" noProof="0" dirty="0" err="1"/>
              <a:t>immediately</a:t>
            </a:r>
            <a:r>
              <a:rPr lang="it-IT" b="1" noProof="0" dirty="0"/>
              <a:t> following the </a:t>
            </a:r>
            <a:r>
              <a:rPr lang="it-IT" b="1" noProof="0" dirty="0" err="1"/>
              <a:t>barrier</a:t>
            </a:r>
            <a:r>
              <a:rPr lang="it-IT" b="1" noProof="0" dirty="0"/>
              <a:t>.</a:t>
            </a:r>
          </a:p>
          <a:p>
            <a:endParaRPr lang="it-IT" b="1" noProof="0" dirty="0"/>
          </a:p>
          <a:p>
            <a:r>
              <a:rPr lang="it-IT" b="1" noProof="0" dirty="0"/>
              <a:t>Questo approccio non scala efficacemente al crescere di </a:t>
            </a:r>
            <a:r>
              <a:rPr lang="it-IT" b="1" noProof="0" dirty="0" err="1"/>
              <a:t>N</a:t>
            </a:r>
            <a:r>
              <a:rPr lang="it-IT" b="1" noProof="0" dirty="0"/>
              <a:t> perché il controllore diventa un collo di bottiglia</a:t>
            </a:r>
          </a:p>
        </p:txBody>
      </p:sp>
    </p:spTree>
    <p:extLst>
      <p:ext uri="{BB962C8B-B14F-4D97-AF65-F5344CB8AC3E}">
        <p14:creationId xmlns:p14="http://schemas.microsoft.com/office/powerpoint/2010/main" val="29504090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err="1"/>
              <a:t>Possibile</a:t>
            </a:r>
            <a:r>
              <a:rPr lang="en-US" dirty="0"/>
              <a:t> </a:t>
            </a:r>
            <a:r>
              <a:rPr lang="en-US" dirty="0" err="1"/>
              <a:t>alternativa</a:t>
            </a:r>
            <a:r>
              <a:rPr lang="en-US" dirty="0"/>
              <a:t>: ELIMINIAMO IL CONTROLLORE. </a:t>
            </a:r>
            <a:br>
              <a:rPr lang="en-US" dirty="0"/>
            </a:br>
            <a:r>
              <a:rPr lang="en-US" dirty="0"/>
              <a:t>Non ho </a:t>
            </a:r>
            <a:r>
              <a:rPr lang="en-US" dirty="0" err="1"/>
              <a:t>più</a:t>
            </a:r>
            <a:r>
              <a:rPr lang="en-US" dirty="0"/>
              <a:t> il </a:t>
            </a:r>
            <a:r>
              <a:rPr lang="en-US" dirty="0" err="1"/>
              <a:t>controllore</a:t>
            </a:r>
            <a:r>
              <a:rPr lang="en-US" dirty="0"/>
              <a:t> ma ho </a:t>
            </a:r>
            <a:r>
              <a:rPr lang="en-US" dirty="0" err="1"/>
              <a:t>troppi</a:t>
            </a:r>
            <a:r>
              <a:rPr lang="en-US" dirty="0"/>
              <a:t> </a:t>
            </a:r>
            <a:r>
              <a:rPr lang="en-US" dirty="0" err="1"/>
              <a:t>messaggi</a:t>
            </a:r>
            <a:r>
              <a:rPr lang="en-US" dirty="0"/>
              <a:t>.</a:t>
            </a:r>
          </a:p>
          <a:p>
            <a:r>
              <a:rPr lang="en-US" dirty="0" err="1"/>
              <a:t>Potrei</a:t>
            </a:r>
            <a:r>
              <a:rPr lang="en-US" dirty="0"/>
              <a:t> </a:t>
            </a:r>
            <a:r>
              <a:rPr lang="en-US" dirty="0" err="1"/>
              <a:t>lasciare</a:t>
            </a:r>
            <a:r>
              <a:rPr lang="en-US" dirty="0"/>
              <a:t> il </a:t>
            </a:r>
            <a:r>
              <a:rPr lang="en-US" dirty="0" err="1"/>
              <a:t>conntrollore</a:t>
            </a:r>
            <a:r>
              <a:rPr lang="en-US" dirty="0"/>
              <a:t> e </a:t>
            </a:r>
            <a:r>
              <a:rPr lang="en-US" dirty="0" err="1"/>
              <a:t>usare</a:t>
            </a:r>
            <a:r>
              <a:rPr lang="en-US" dirty="0"/>
              <a:t> </a:t>
            </a:r>
            <a:r>
              <a:rPr lang="en-US" dirty="0" err="1"/>
              <a:t>delle</a:t>
            </a:r>
            <a:r>
              <a:rPr lang="en-US" dirty="0"/>
              <a:t> </a:t>
            </a:r>
            <a:r>
              <a:rPr lang="en-US" dirty="0" err="1"/>
              <a:t>variabili</a:t>
            </a:r>
            <a:r>
              <a:rPr lang="en-US" dirty="0"/>
              <a:t> </a:t>
            </a:r>
            <a:r>
              <a:rPr lang="en-US" dirty="0" err="1"/>
              <a:t>condivise</a:t>
            </a:r>
            <a:r>
              <a:rPr lang="en-US" dirty="0"/>
              <a:t> (ma non lo </a:t>
            </a:r>
            <a:r>
              <a:rPr lang="en-US" dirty="0" err="1"/>
              <a:t>scegliamo</a:t>
            </a:r>
            <a:r>
              <a:rPr lang="en-US" dirty="0"/>
              <a:t> per </a:t>
            </a:r>
            <a:r>
              <a:rPr lang="en-US" dirty="0" err="1"/>
              <a:t>renderlo</a:t>
            </a:r>
            <a:r>
              <a:rPr lang="en-US" dirty="0"/>
              <a:t> </a:t>
            </a:r>
            <a:r>
              <a:rPr lang="en-US" dirty="0" err="1"/>
              <a:t>compatibile</a:t>
            </a:r>
            <a:r>
              <a:rPr lang="en-US" dirty="0"/>
              <a:t> con la </a:t>
            </a:r>
            <a:r>
              <a:rPr lang="en-US" dirty="0" err="1"/>
              <a:t>simulazione</a:t>
            </a:r>
            <a:r>
              <a:rPr lang="en-US" dirty="0"/>
              <a:t> </a:t>
            </a:r>
            <a:r>
              <a:rPr lang="en-US" dirty="0" err="1"/>
              <a:t>distribuita</a:t>
            </a:r>
            <a:r>
              <a:rPr lang="en-US" dirty="0"/>
              <a:t>)</a:t>
            </a:r>
          </a:p>
        </p:txBody>
      </p:sp>
    </p:spTree>
    <p:extLst>
      <p:ext uri="{BB962C8B-B14F-4D97-AF65-F5344CB8AC3E}">
        <p14:creationId xmlns:p14="http://schemas.microsoft.com/office/powerpoint/2010/main" val="3431389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err="1"/>
              <a:t>Utilizziamo</a:t>
            </a:r>
            <a:r>
              <a:rPr lang="en-US" dirty="0"/>
              <a:t> </a:t>
            </a:r>
            <a:r>
              <a:rPr lang="en-US" dirty="0" err="1"/>
              <a:t>quindi</a:t>
            </a:r>
            <a:r>
              <a:rPr lang="en-US" dirty="0"/>
              <a:t> un </a:t>
            </a:r>
            <a:r>
              <a:rPr lang="en-US" dirty="0" err="1"/>
              <a:t>albero</a:t>
            </a:r>
            <a:r>
              <a:rPr lang="en-US" dirty="0"/>
              <a:t> </a:t>
            </a:r>
            <a:r>
              <a:rPr lang="en-US" dirty="0" err="1"/>
              <a:t>binario</a:t>
            </a:r>
            <a:r>
              <a:rPr lang="en-US" dirty="0"/>
              <a:t> </a:t>
            </a:r>
            <a:r>
              <a:rPr lang="en-US" dirty="0" err="1"/>
              <a:t>bilanciato</a:t>
            </a:r>
            <a:r>
              <a:rPr lang="en-US" dirty="0"/>
              <a:t> (0 non </a:t>
            </a:r>
            <a:r>
              <a:rPr lang="en-US" dirty="0" err="1"/>
              <a:t>è</a:t>
            </a:r>
            <a:r>
              <a:rPr lang="en-US" dirty="0"/>
              <a:t> un </a:t>
            </a:r>
            <a:r>
              <a:rPr lang="en-US" dirty="0" err="1"/>
              <a:t>controllore</a:t>
            </a:r>
            <a:r>
              <a:rPr lang="en-US" dirty="0"/>
              <a:t>, </a:t>
            </a:r>
            <a:r>
              <a:rPr lang="en-US" dirty="0" err="1"/>
              <a:t>è</a:t>
            </a:r>
            <a:r>
              <a:rPr lang="en-US" dirty="0"/>
              <a:t> uno </a:t>
            </a:r>
            <a:r>
              <a:rPr lang="en-US" dirty="0" err="1"/>
              <a:t>qualsiasi</a:t>
            </a:r>
            <a:r>
              <a:rPr lang="en-US" dirty="0"/>
              <a:t>). </a:t>
            </a:r>
            <a:r>
              <a:rPr lang="en-US" dirty="0" err="1"/>
              <a:t>Topologia</a:t>
            </a:r>
            <a:r>
              <a:rPr lang="en-US" dirty="0"/>
              <a:t> </a:t>
            </a:r>
            <a:r>
              <a:rPr lang="en-US" dirty="0" err="1"/>
              <a:t>che</a:t>
            </a:r>
            <a:r>
              <a:rPr lang="en-US" dirty="0"/>
              <a:t> non </a:t>
            </a:r>
            <a:r>
              <a:rPr lang="en-US" dirty="0" err="1"/>
              <a:t>riflette</a:t>
            </a:r>
            <a:r>
              <a:rPr lang="en-US" dirty="0"/>
              <a:t> la </a:t>
            </a:r>
            <a:r>
              <a:rPr lang="en-US" dirty="0" err="1"/>
              <a:t>reale</a:t>
            </a:r>
            <a:r>
              <a:rPr lang="en-US" dirty="0"/>
              <a:t> </a:t>
            </a:r>
            <a:r>
              <a:rPr lang="en-US" dirty="0" err="1"/>
              <a:t>struttura</a:t>
            </a:r>
            <a:r>
              <a:rPr lang="en-US" dirty="0"/>
              <a:t> </a:t>
            </a:r>
            <a:r>
              <a:rPr lang="en-US" dirty="0" err="1"/>
              <a:t>fisica</a:t>
            </a:r>
            <a:endParaRPr lang="en-US" dirty="0"/>
          </a:p>
          <a:p>
            <a:endParaRPr lang="en-US" dirty="0"/>
          </a:p>
          <a:p>
            <a:r>
              <a:rPr lang="en-US" dirty="0" err="1"/>
              <a:t>logN</a:t>
            </a:r>
            <a:r>
              <a:rPr lang="en-US" dirty="0"/>
              <a:t> </a:t>
            </a:r>
            <a:r>
              <a:rPr lang="en-US" dirty="0" err="1"/>
              <a:t>messaggi</a:t>
            </a:r>
            <a:r>
              <a:rPr lang="en-US" dirty="0"/>
              <a:t> per la </a:t>
            </a:r>
            <a:r>
              <a:rPr lang="en-US" dirty="0" err="1"/>
              <a:t>barriera</a:t>
            </a:r>
            <a:r>
              <a:rPr lang="en-US" dirty="0"/>
              <a:t>, </a:t>
            </a:r>
            <a:r>
              <a:rPr lang="en-US" dirty="0" err="1"/>
              <a:t>logN</a:t>
            </a:r>
            <a:r>
              <a:rPr lang="en-US" dirty="0"/>
              <a:t> </a:t>
            </a:r>
            <a:r>
              <a:rPr lang="en-US" dirty="0" err="1"/>
              <a:t>messagi</a:t>
            </a:r>
            <a:r>
              <a:rPr lang="en-US" dirty="0"/>
              <a:t> per la </a:t>
            </a:r>
            <a:r>
              <a:rPr lang="en-US" dirty="0" err="1"/>
              <a:t>notifica</a:t>
            </a:r>
            <a:r>
              <a:rPr lang="en-US" dirty="0"/>
              <a:t> = 2logN </a:t>
            </a:r>
            <a:r>
              <a:rPr lang="en-US" dirty="0" err="1"/>
              <a:t>messaggi</a:t>
            </a:r>
            <a:endParaRPr lang="en-US" dirty="0"/>
          </a:p>
        </p:txBody>
      </p:sp>
    </p:spTree>
    <p:extLst>
      <p:ext uri="{BB962C8B-B14F-4D97-AF65-F5344CB8AC3E}">
        <p14:creationId xmlns:p14="http://schemas.microsoft.com/office/powerpoint/2010/main" val="21099992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LBTS: Lower Bound Time Stamp</a:t>
            </a:r>
            <a:r>
              <a:rPr lang="en-US" baseline="0"/>
              <a:t> (is the lower bound time stamp of any message </a:t>
            </a:r>
            <a:r>
              <a:rPr lang="en-US" baseline="0" err="1"/>
              <a:t>LPi</a:t>
            </a:r>
            <a:r>
              <a:rPr lang="en-US" baseline="0"/>
              <a:t> can receive in the future)</a:t>
            </a:r>
          </a:p>
          <a:p>
            <a:r>
              <a:rPr lang="en-US" sz="1200" kern="1200">
                <a:solidFill>
                  <a:schemeClr val="tx1"/>
                </a:solidFill>
                <a:effectLst/>
                <a:latin typeface="Times" charset="0"/>
                <a:ea typeface="+mn-ea"/>
                <a:cs typeface="+mn-cs"/>
              </a:rPr>
              <a:t>Transient</a:t>
            </a:r>
            <a:r>
              <a:rPr lang="en-US" sz="1200" kern="1200" baseline="0">
                <a:solidFill>
                  <a:schemeClr val="tx1"/>
                </a:solidFill>
                <a:effectLst/>
                <a:latin typeface="Times" charset="0"/>
                <a:ea typeface="+mn-ea"/>
                <a:cs typeface="+mn-cs"/>
              </a:rPr>
              <a:t> message </a:t>
            </a:r>
            <a:r>
              <a:rPr lang="en-US" sz="1200" kern="1200">
                <a:solidFill>
                  <a:schemeClr val="tx1"/>
                </a:solidFill>
                <a:effectLst/>
                <a:latin typeface="Times" charset="0"/>
                <a:ea typeface="+mn-ea"/>
                <a:cs typeface="+mn-cs"/>
              </a:rPr>
              <a:t>problem (only</a:t>
            </a:r>
            <a:r>
              <a:rPr lang="en-US" sz="1200" kern="1200" baseline="0">
                <a:solidFill>
                  <a:schemeClr val="tx1"/>
                </a:solidFill>
                <a:effectLst/>
                <a:latin typeface="Times" charset="0"/>
                <a:ea typeface="+mn-ea"/>
                <a:cs typeface="+mn-cs"/>
              </a:rPr>
              <a:t> in case of asynchronous messages!): </a:t>
            </a:r>
            <a:r>
              <a:rPr lang="en-US" sz="1200" kern="1200">
                <a:solidFill>
                  <a:schemeClr val="tx1"/>
                </a:solidFill>
                <a:effectLst/>
                <a:latin typeface="Times" charset="0"/>
                <a:ea typeface="+mn-ea"/>
                <a:cs typeface="+mn-cs"/>
              </a:rPr>
              <a:t>consider the case where all of the LPs advance to simulation time </a:t>
            </a:r>
            <a:r>
              <a:rPr lang="en-US" sz="1200" i="1" kern="1200">
                <a:solidFill>
                  <a:schemeClr val="tx1"/>
                </a:solidFill>
                <a:effectLst/>
                <a:latin typeface="Times" charset="0"/>
                <a:ea typeface="+mn-ea"/>
                <a:cs typeface="+mn-cs"/>
              </a:rPr>
              <a:t>T, </a:t>
            </a:r>
            <a:r>
              <a:rPr lang="en-US" sz="1200" kern="1200">
                <a:solidFill>
                  <a:schemeClr val="tx1"/>
                </a:solidFill>
                <a:effectLst/>
                <a:latin typeface="Times" charset="0"/>
                <a:ea typeface="+mn-ea"/>
                <a:cs typeface="+mn-cs"/>
              </a:rPr>
              <a:t>one LP sends a message with time stamp </a:t>
            </a:r>
            <a:r>
              <a:rPr lang="en-US" sz="1200" i="1" kern="1200">
                <a:solidFill>
                  <a:schemeClr val="tx1"/>
                </a:solidFill>
                <a:effectLst/>
                <a:latin typeface="Times" charset="0"/>
                <a:ea typeface="+mn-ea"/>
                <a:cs typeface="+mn-cs"/>
              </a:rPr>
              <a:t>T + </a:t>
            </a:r>
            <a:r>
              <a:rPr lang="en-US" sz="1200" kern="1200">
                <a:solidFill>
                  <a:schemeClr val="tx1"/>
                </a:solidFill>
                <a:effectLst/>
                <a:latin typeface="Times" charset="0"/>
                <a:ea typeface="+mn-ea"/>
                <a:cs typeface="+mn-cs"/>
              </a:rPr>
              <a:t>1, and all the others generate messages with time stamp </a:t>
            </a:r>
            <a:r>
              <a:rPr lang="en-US" sz="1200" i="1" kern="1200">
                <a:solidFill>
                  <a:schemeClr val="tx1"/>
                </a:solidFill>
                <a:effectLst/>
                <a:latin typeface="Times" charset="0"/>
                <a:ea typeface="+mn-ea"/>
                <a:cs typeface="+mn-cs"/>
              </a:rPr>
              <a:t>T + </a:t>
            </a:r>
            <a:r>
              <a:rPr lang="en-US" sz="1200" kern="1200">
                <a:solidFill>
                  <a:schemeClr val="tx1"/>
                </a:solidFill>
                <a:effectLst/>
                <a:latin typeface="Times" charset="0"/>
                <a:ea typeface="+mn-ea"/>
                <a:cs typeface="+mn-cs"/>
              </a:rPr>
              <a:t>10. Assume that all of these messages are transmitted to their destination processor except the message with time stamp </a:t>
            </a:r>
            <a:r>
              <a:rPr lang="en-US" sz="1200" i="1" kern="1200">
                <a:solidFill>
                  <a:schemeClr val="tx1"/>
                </a:solidFill>
                <a:effectLst/>
                <a:latin typeface="Times" charset="0"/>
                <a:ea typeface="+mn-ea"/>
                <a:cs typeface="+mn-cs"/>
              </a:rPr>
              <a:t>T + </a:t>
            </a:r>
            <a:r>
              <a:rPr lang="en-US" sz="1200" kern="1200">
                <a:solidFill>
                  <a:schemeClr val="tx1"/>
                </a:solidFill>
                <a:effectLst/>
                <a:latin typeface="Times" charset="0"/>
                <a:ea typeface="+mn-ea"/>
                <a:cs typeface="+mn-cs"/>
              </a:rPr>
              <a:t>1, which is delayed in the network. All processors now enter the barrier primitive, are subsequently released from the primitive, and begin the computation to determine the events that are safe to process. Because the time stamp </a:t>
            </a:r>
            <a:r>
              <a:rPr lang="en-US" sz="1200" i="1" kern="1200">
                <a:solidFill>
                  <a:schemeClr val="tx1"/>
                </a:solidFill>
                <a:effectLst/>
                <a:latin typeface="Times" charset="0"/>
                <a:ea typeface="+mn-ea"/>
                <a:cs typeface="+mn-cs"/>
              </a:rPr>
              <a:t>T + </a:t>
            </a:r>
            <a:r>
              <a:rPr lang="en-US" sz="1200" kern="1200">
                <a:solidFill>
                  <a:schemeClr val="tx1"/>
                </a:solidFill>
                <a:effectLst/>
                <a:latin typeface="Times" charset="0"/>
                <a:ea typeface="+mn-ea"/>
                <a:cs typeface="+mn-cs"/>
              </a:rPr>
              <a:t>1 message has not been received, it is not taken into account in this computa­tion. This would result in the processors erroneously believing the time stamp </a:t>
            </a:r>
            <a:r>
              <a:rPr lang="en-US" sz="1200" i="1" kern="1200">
                <a:solidFill>
                  <a:schemeClr val="tx1"/>
                </a:solidFill>
                <a:effectLst/>
                <a:latin typeface="Times" charset="0"/>
                <a:ea typeface="+mn-ea"/>
                <a:cs typeface="+mn-cs"/>
              </a:rPr>
              <a:t>T + </a:t>
            </a:r>
            <a:r>
              <a:rPr lang="en-US" sz="1200" kern="1200">
                <a:solidFill>
                  <a:schemeClr val="tx1"/>
                </a:solidFill>
                <a:effectLst/>
                <a:latin typeface="Times" charset="0"/>
                <a:ea typeface="+mn-ea"/>
                <a:cs typeface="+mn-cs"/>
              </a:rPr>
              <a:t>10 events are all safe to process, since there are none with a smaller time stamp.</a:t>
            </a:r>
            <a:r>
              <a:rPr lang="it-IT">
                <a:effectLst/>
              </a:rPr>
              <a:t> </a:t>
            </a:r>
            <a:endParaRPr lang="en-US"/>
          </a:p>
        </p:txBody>
      </p:sp>
    </p:spTree>
    <p:extLst>
      <p:ext uri="{BB962C8B-B14F-4D97-AF65-F5344CB8AC3E}">
        <p14:creationId xmlns:p14="http://schemas.microsoft.com/office/powerpoint/2010/main" val="2383711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The</a:t>
            </a:r>
            <a:r>
              <a:rPr lang="en-US" baseline="0"/>
              <a:t> problem can be solved without giving up asynchronous message sends by using message counters.</a:t>
            </a:r>
            <a:endParaRPr lang="en-US"/>
          </a:p>
        </p:txBody>
      </p:sp>
    </p:spTree>
    <p:extLst>
      <p:ext uri="{BB962C8B-B14F-4D97-AF65-F5344CB8AC3E}">
        <p14:creationId xmlns:p14="http://schemas.microsoft.com/office/powerpoint/2010/main" val="9791994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a:t>The</a:t>
            </a:r>
            <a:r>
              <a:rPr lang="en-US" baseline="0" dirty="0"/>
              <a:t> problem can be solved without giving up asynchronous message sends by using message counters.</a:t>
            </a:r>
          </a:p>
          <a:p>
            <a:endParaRPr lang="en-US" dirty="0"/>
          </a:p>
          <a:p>
            <a:r>
              <a:rPr lang="en-US" dirty="0"/>
              <a:t>Each processor maintains two local counters indicating (1) the number of messages it has sent, and (2) the number of messages it has received. </a:t>
            </a:r>
          </a:p>
        </p:txBody>
      </p:sp>
    </p:spTree>
    <p:extLst>
      <p:ext uri="{BB962C8B-B14F-4D97-AF65-F5344CB8AC3E}">
        <p14:creationId xmlns:p14="http://schemas.microsoft.com/office/powerpoint/2010/main" val="8002484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err="1"/>
              <a:t>Basta</a:t>
            </a:r>
            <a:r>
              <a:rPr lang="en-US" baseline="0"/>
              <a:t> </a:t>
            </a:r>
            <a:r>
              <a:rPr lang="en-US" baseline="0" err="1"/>
              <a:t>anche</a:t>
            </a:r>
            <a:r>
              <a:rPr lang="en-US" baseline="0"/>
              <a:t> </a:t>
            </a:r>
            <a:r>
              <a:rPr lang="en-US" baseline="0" err="1"/>
              <a:t>mantenere</a:t>
            </a:r>
            <a:r>
              <a:rPr lang="en-US" baseline="0"/>
              <a:t> </a:t>
            </a:r>
            <a:r>
              <a:rPr lang="en-US" baseline="0" err="1"/>
              <a:t>una</a:t>
            </a:r>
            <a:r>
              <a:rPr lang="en-US" baseline="0"/>
              <a:t> </a:t>
            </a:r>
            <a:r>
              <a:rPr lang="en-US" baseline="0" err="1"/>
              <a:t>variabile</a:t>
            </a:r>
            <a:r>
              <a:rPr lang="en-US" baseline="0"/>
              <a:t> </a:t>
            </a:r>
            <a:r>
              <a:rPr lang="en-US" baseline="0" err="1"/>
              <a:t>che</a:t>
            </a:r>
            <a:r>
              <a:rPr lang="en-US" baseline="0"/>
              <a:t> </a:t>
            </a:r>
            <a:r>
              <a:rPr lang="en-US" baseline="0" err="1"/>
              <a:t>specifica</a:t>
            </a:r>
            <a:r>
              <a:rPr lang="en-US" baseline="0"/>
              <a:t> la </a:t>
            </a:r>
            <a:r>
              <a:rPr lang="en-US" baseline="0" err="1"/>
              <a:t>differenza</a:t>
            </a:r>
            <a:r>
              <a:rPr lang="en-US" baseline="0"/>
              <a:t> </a:t>
            </a:r>
            <a:r>
              <a:rPr lang="en-US" baseline="0" err="1"/>
              <a:t>tra</a:t>
            </a:r>
            <a:r>
              <a:rPr lang="en-US" baseline="0"/>
              <a:t> le due </a:t>
            </a:r>
            <a:r>
              <a:rPr lang="en-US" baseline="0" err="1"/>
              <a:t>quantità</a:t>
            </a:r>
            <a:r>
              <a:rPr lang="en-US" baseline="0"/>
              <a:t>.</a:t>
            </a:r>
          </a:p>
          <a:p>
            <a:r>
              <a:rPr lang="en-US" baseline="0" err="1"/>
              <a:t>L’algoritmo</a:t>
            </a:r>
            <a:r>
              <a:rPr lang="en-US" baseline="0"/>
              <a:t> per </a:t>
            </a:r>
            <a:r>
              <a:rPr lang="en-US" baseline="0" err="1"/>
              <a:t>assicurarsi</a:t>
            </a:r>
            <a:r>
              <a:rPr lang="en-US" baseline="0"/>
              <a:t> </a:t>
            </a:r>
            <a:r>
              <a:rPr lang="en-US" baseline="0" err="1"/>
              <a:t>che</a:t>
            </a:r>
            <a:r>
              <a:rPr lang="en-US" baseline="0"/>
              <a:t> </a:t>
            </a:r>
            <a:r>
              <a:rPr lang="en-US" baseline="0" err="1"/>
              <a:t>il</a:t>
            </a:r>
            <a:r>
              <a:rPr lang="en-US" baseline="0"/>
              <a:t> </a:t>
            </a:r>
            <a:r>
              <a:rPr lang="en-US" baseline="0" err="1"/>
              <a:t>numero</a:t>
            </a:r>
            <a:r>
              <a:rPr lang="en-US" baseline="0"/>
              <a:t> </a:t>
            </a:r>
            <a:r>
              <a:rPr lang="en-US" baseline="0" err="1"/>
              <a:t>totale</a:t>
            </a:r>
            <a:r>
              <a:rPr lang="en-US" baseline="0"/>
              <a:t> di send e receive </a:t>
            </a:r>
            <a:r>
              <a:rPr lang="en-US" baseline="0" err="1"/>
              <a:t>coincida</a:t>
            </a:r>
            <a:r>
              <a:rPr lang="en-US" baseline="0"/>
              <a:t> </a:t>
            </a:r>
            <a:r>
              <a:rPr lang="en-US" baseline="0" err="1"/>
              <a:t>può</a:t>
            </a:r>
            <a:r>
              <a:rPr lang="en-US" baseline="0"/>
              <a:t> </a:t>
            </a:r>
            <a:r>
              <a:rPr lang="en-US" baseline="0" err="1"/>
              <a:t>essere</a:t>
            </a:r>
            <a:r>
              <a:rPr lang="en-US" baseline="0"/>
              <a:t> </a:t>
            </a:r>
            <a:r>
              <a:rPr lang="en-US" baseline="0" err="1"/>
              <a:t>combinato</a:t>
            </a:r>
            <a:r>
              <a:rPr lang="en-US" baseline="0"/>
              <a:t> con la </a:t>
            </a:r>
            <a:r>
              <a:rPr lang="en-US" baseline="0" err="1"/>
              <a:t>primitiva</a:t>
            </a:r>
            <a:r>
              <a:rPr lang="en-US" baseline="0"/>
              <a:t> </a:t>
            </a:r>
            <a:r>
              <a:rPr lang="en-US" baseline="0" err="1"/>
              <a:t>barriera</a:t>
            </a:r>
            <a:r>
              <a:rPr lang="en-US" baseline="0"/>
              <a:t>.</a:t>
            </a:r>
            <a:endParaRPr lang="en-US"/>
          </a:p>
        </p:txBody>
      </p:sp>
    </p:spTree>
    <p:extLst>
      <p:ext uri="{BB962C8B-B14F-4D97-AF65-F5344CB8AC3E}">
        <p14:creationId xmlns:p14="http://schemas.microsoft.com/office/powerpoint/2010/main" val="12663595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a:t>Each processor at an interior node of the tree sums the counters it receives from the child processors in the tree with its own counters, and sends the two sums to its parent in the tree. Using this approach, the root will hold the total sum of the send and receive counters across all of the processors.</a:t>
            </a:r>
          </a:p>
          <a:p>
            <a:endParaRPr lang="en-US" dirty="0"/>
          </a:p>
          <a:p>
            <a:r>
              <a:rPr lang="en-US" dirty="0"/>
              <a:t>These counters may not match at the root, however, because a processor may not have received one or more transient messages when it added the values of its local counters into the sum. </a:t>
            </a:r>
            <a:r>
              <a:rPr lang="en-US" b="1" dirty="0"/>
              <a:t>To address this problem, if any processor receives a message after it has sent its counters to its parent in the tree, it sends a separate message to the root denoting this fact, causing the total count of the number of received messages to increase by one</a:t>
            </a:r>
            <a:r>
              <a:rPr lang="en-US" dirty="0"/>
              <a:t>. When the root detects that the total send and receive counters match, it broadcasts a message indicating that the barrier has been reached and that there are no more transient messages in the system.</a:t>
            </a:r>
          </a:p>
        </p:txBody>
      </p:sp>
    </p:spTree>
    <p:extLst>
      <p:ext uri="{BB962C8B-B14F-4D97-AF65-F5344CB8AC3E}">
        <p14:creationId xmlns:p14="http://schemas.microsoft.com/office/powerpoint/2010/main" val="30063936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dirty="0"/>
              <a:t>Lookahead plays a crucial role in the performance of conservative synchronization algorithms. Further the simulation application must be written in such a way as to maximize its lookahead. This often has a profound effect on the way the simulation program is designed and developed (remember, there is not a single way to implement a simulation program, it’s really a case-by-case approach).</a:t>
            </a:r>
          </a:p>
          <a:p>
            <a:r>
              <a:rPr lang="en-US" sz="1200" kern="1200" dirty="0">
                <a:solidFill>
                  <a:schemeClr val="tx1"/>
                </a:solidFill>
                <a:effectLst/>
                <a:latin typeface="Times" charset="0"/>
                <a:ea typeface="+mn-ea"/>
                <a:cs typeface="+mn-cs"/>
              </a:rPr>
              <a:t>To illustrate this, consider the simulation of a queuing network.</a:t>
            </a:r>
          </a:p>
          <a:p>
            <a:endParaRPr lang="en-US" sz="1200" kern="1200" dirty="0">
              <a:solidFill>
                <a:schemeClr val="tx1"/>
              </a:solidFill>
              <a:effectLst/>
              <a:latin typeface="Times" charset="0"/>
              <a:ea typeface="+mn-ea"/>
              <a:cs typeface="+mn-cs"/>
            </a:endParaRPr>
          </a:p>
          <a:p>
            <a:r>
              <a:rPr lang="en-US" sz="1200" kern="1200" dirty="0">
                <a:solidFill>
                  <a:schemeClr val="tx1"/>
                </a:solidFill>
                <a:effectLst/>
                <a:latin typeface="Times" charset="0"/>
                <a:ea typeface="+mn-ea"/>
                <a:cs typeface="+mn-cs"/>
              </a:rPr>
              <a:t>The </a:t>
            </a:r>
            <a:r>
              <a:rPr lang="en-US" sz="1200" b="1" kern="1200" dirty="0">
                <a:solidFill>
                  <a:schemeClr val="tx1"/>
                </a:solidFill>
                <a:effectLst/>
                <a:latin typeface="Times" charset="0"/>
                <a:ea typeface="+mn-ea"/>
                <a:cs typeface="+mn-cs"/>
              </a:rPr>
              <a:t>classical approach </a:t>
            </a:r>
            <a:r>
              <a:rPr lang="en-US" sz="1200" kern="1200" dirty="0">
                <a:solidFill>
                  <a:schemeClr val="tx1"/>
                </a:solidFill>
                <a:effectLst/>
                <a:latin typeface="Times" charset="0"/>
                <a:ea typeface="+mn-ea"/>
                <a:cs typeface="+mn-cs"/>
              </a:rPr>
              <a:t>to modeling a single queue is to use two types of events: arrival events to signify the arrival of a new customer at the station and departure events to represent a customer completing service, and leaving the station, typically to advance to another station (similar to air traffic simulation).</a:t>
            </a:r>
          </a:p>
          <a:p>
            <a:endParaRPr lang="en-US" dirty="0"/>
          </a:p>
          <a:p>
            <a:r>
              <a:rPr lang="en-US" b="1" dirty="0"/>
              <a:t>Optimized approach</a:t>
            </a:r>
            <a:r>
              <a:rPr lang="en-US" dirty="0"/>
              <a:t>: </a:t>
            </a:r>
            <a:r>
              <a:rPr lang="en-US" sz="1200" kern="1200" dirty="0">
                <a:solidFill>
                  <a:schemeClr val="tx1"/>
                </a:solidFill>
                <a:effectLst/>
                <a:latin typeface="Times" charset="0"/>
                <a:ea typeface="+mn-ea"/>
                <a:cs typeface="+mn-cs"/>
              </a:rPr>
              <a:t>One can optimize the simulation program in the classical approach by eliminating the departure event. Exploiting the fact that the station uses a first-come-first-serve policy, one need only maintain a state variable called </a:t>
            </a:r>
            <a:r>
              <a:rPr lang="en-US" sz="1200" b="1" kern="1200" dirty="0">
                <a:solidFill>
                  <a:schemeClr val="tx1"/>
                </a:solidFill>
                <a:effectLst/>
                <a:latin typeface="Times" charset="0"/>
                <a:ea typeface="+mn-ea"/>
                <a:cs typeface="+mn-cs"/>
              </a:rPr>
              <a:t>Done</a:t>
            </a:r>
            <a:r>
              <a:rPr lang="en-US" sz="1200" kern="1200" dirty="0">
                <a:solidFill>
                  <a:schemeClr val="tx1"/>
                </a:solidFill>
                <a:effectLst/>
                <a:latin typeface="Times" charset="0"/>
                <a:ea typeface="+mn-ea"/>
                <a:cs typeface="+mn-cs"/>
              </a:rPr>
              <a:t> indicating when the server would have served all jobs currently in the queue. If a new job arrives at time </a:t>
            </a:r>
            <a:r>
              <a:rPr lang="en-US" sz="1200" i="1" kern="1200" dirty="0">
                <a:solidFill>
                  <a:schemeClr val="tx1"/>
                </a:solidFill>
                <a:effectLst/>
                <a:latin typeface="Times" charset="0"/>
                <a:ea typeface="+mn-ea"/>
                <a:cs typeface="+mn-cs"/>
              </a:rPr>
              <a:t>T </a:t>
            </a:r>
            <a:r>
              <a:rPr lang="en-US" sz="1200" kern="1200" dirty="0">
                <a:solidFill>
                  <a:schemeClr val="tx1"/>
                </a:solidFill>
                <a:effectLst/>
                <a:latin typeface="Times" charset="0"/>
                <a:ea typeface="+mn-ea"/>
                <a:cs typeface="+mn-cs"/>
              </a:rPr>
              <a:t>and </a:t>
            </a:r>
            <a:r>
              <a:rPr lang="en-US" sz="1200" i="1" kern="1200" dirty="0">
                <a:solidFill>
                  <a:schemeClr val="tx1"/>
                </a:solidFill>
                <a:effectLst/>
                <a:latin typeface="Times" charset="0"/>
                <a:ea typeface="+mn-ea"/>
                <a:cs typeface="+mn-cs"/>
              </a:rPr>
              <a:t>T </a:t>
            </a:r>
            <a:r>
              <a:rPr lang="en-US" sz="1200" kern="1200" dirty="0">
                <a:solidFill>
                  <a:schemeClr val="tx1"/>
                </a:solidFill>
                <a:effectLst/>
                <a:latin typeface="Times" charset="0"/>
                <a:ea typeface="+mn-ea"/>
                <a:cs typeface="+mn-cs"/>
              </a:rPr>
              <a:t>is greater than Done, then the server must be idle when the job arrives, and the newly arriving job completes service at time </a:t>
            </a:r>
            <a:r>
              <a:rPr lang="en-US" sz="1200" kern="1200" dirty="0" err="1">
                <a:solidFill>
                  <a:schemeClr val="tx1"/>
                </a:solidFill>
                <a:effectLst/>
                <a:latin typeface="Times" charset="0"/>
                <a:ea typeface="+mn-ea"/>
                <a:cs typeface="+mn-cs"/>
              </a:rPr>
              <a:t>Now+S</a:t>
            </a:r>
            <a:r>
              <a:rPr lang="en-US" sz="1200" kern="1200" dirty="0">
                <a:solidFill>
                  <a:schemeClr val="tx1"/>
                </a:solidFill>
                <a:effectLst/>
                <a:latin typeface="Times" charset="0"/>
                <a:ea typeface="+mn-ea"/>
                <a:cs typeface="+mn-cs"/>
              </a:rPr>
              <a:t>. Otherwise, the server is busy until the time stored in the Done variable. The newly arriving job will therefore depart at time </a:t>
            </a:r>
            <a:r>
              <a:rPr lang="en-US" sz="1200" kern="1200" dirty="0" err="1">
                <a:solidFill>
                  <a:schemeClr val="tx1"/>
                </a:solidFill>
                <a:effectLst/>
                <a:latin typeface="Times" charset="0"/>
                <a:ea typeface="+mn-ea"/>
                <a:cs typeface="+mn-cs"/>
              </a:rPr>
              <a:t>Done+S</a:t>
            </a:r>
            <a:r>
              <a:rPr lang="en-US" sz="1200" kern="1200" dirty="0">
                <a:solidFill>
                  <a:schemeClr val="tx1"/>
                </a:solidFill>
                <a:effectLst/>
                <a:latin typeface="Times" charset="0"/>
                <a:ea typeface="+mn-ea"/>
                <a:cs typeface="+mn-cs"/>
              </a:rPr>
              <a:t>.</a:t>
            </a:r>
          </a:p>
          <a:p>
            <a:endParaRPr lang="en-US" sz="1200" kern="1200" dirty="0">
              <a:solidFill>
                <a:schemeClr val="tx1"/>
              </a:solidFill>
              <a:effectLst/>
              <a:latin typeface="Times" charset="0"/>
              <a:ea typeface="+mn-ea"/>
              <a:cs typeface="+mn-cs"/>
            </a:endParaRPr>
          </a:p>
          <a:p>
            <a:r>
              <a:rPr lang="en-US" sz="1200" kern="1200" dirty="0">
                <a:solidFill>
                  <a:schemeClr val="tx1"/>
                </a:solidFill>
                <a:effectLst/>
                <a:latin typeface="Times" charset="0"/>
                <a:ea typeface="+mn-ea"/>
                <a:cs typeface="+mn-cs"/>
              </a:rPr>
              <a:t>One way of viewing lookahead is to observe that the arrival event at time </a:t>
            </a:r>
            <a:r>
              <a:rPr lang="en-US" sz="1200" i="1" kern="1200" dirty="0">
                <a:solidFill>
                  <a:schemeClr val="tx1"/>
                </a:solidFill>
                <a:effectLst/>
                <a:latin typeface="Times" charset="0"/>
                <a:ea typeface="+mn-ea"/>
                <a:cs typeface="+mn-cs"/>
              </a:rPr>
              <a:t>T + Q + S </a:t>
            </a:r>
            <a:r>
              <a:rPr lang="en-US" sz="1200" kern="1200" dirty="0">
                <a:solidFill>
                  <a:schemeClr val="tx1"/>
                </a:solidFill>
                <a:effectLst/>
                <a:latin typeface="Times" charset="0"/>
                <a:ea typeface="+mn-ea"/>
                <a:cs typeface="+mn-cs"/>
              </a:rPr>
              <a:t>is invariant to any other events occurring in the interval </a:t>
            </a:r>
            <a:r>
              <a:rPr lang="en-US" sz="1200" i="1" kern="1200" dirty="0">
                <a:solidFill>
                  <a:schemeClr val="tx1"/>
                </a:solidFill>
                <a:effectLst/>
                <a:latin typeface="Times" charset="0"/>
                <a:ea typeface="+mn-ea"/>
                <a:cs typeface="+mn-cs"/>
              </a:rPr>
              <a:t>[T, T + Q + S]. </a:t>
            </a:r>
            <a:r>
              <a:rPr lang="en-US" sz="1200" kern="1200" dirty="0">
                <a:solidFill>
                  <a:schemeClr val="tx1"/>
                </a:solidFill>
                <a:effectLst/>
                <a:latin typeface="Times" charset="0"/>
                <a:ea typeface="+mn-ea"/>
                <a:cs typeface="+mn-cs"/>
              </a:rPr>
              <a:t>This allows the event to be generated at time </a:t>
            </a:r>
            <a:r>
              <a:rPr lang="en-US" sz="1200" i="1" kern="1200" dirty="0">
                <a:solidFill>
                  <a:schemeClr val="tx1"/>
                </a:solidFill>
                <a:effectLst/>
                <a:latin typeface="Times" charset="0"/>
                <a:ea typeface="+mn-ea"/>
                <a:cs typeface="+mn-cs"/>
              </a:rPr>
              <a:t>T</a:t>
            </a:r>
            <a:r>
              <a:rPr lang="en-IT" sz="1200" i="1" kern="1200">
                <a:solidFill>
                  <a:schemeClr val="tx1"/>
                </a:solidFill>
                <a:effectLst/>
                <a:latin typeface="Times" charset="0"/>
                <a:ea typeface="+mn-ea"/>
                <a:cs typeface="+mn-cs"/>
              </a:rPr>
              <a:t>.</a:t>
            </a:r>
            <a:r>
              <a:rPr lang="en-IT">
                <a:effectLst/>
              </a:rPr>
              <a:t> </a:t>
            </a:r>
            <a:endParaRPr lang="en-US" sz="1200" kern="1200" dirty="0">
              <a:solidFill>
                <a:schemeClr val="tx1"/>
              </a:solidFill>
              <a:effectLst/>
              <a:latin typeface="Times" charset="0"/>
              <a:ea typeface="+mn-ea"/>
              <a:cs typeface="+mn-cs"/>
            </a:endParaRPr>
          </a:p>
          <a:p>
            <a:endParaRPr lang="en-US" sz="1200" kern="1200" dirty="0">
              <a:solidFill>
                <a:schemeClr val="tx1"/>
              </a:solidFill>
              <a:effectLst/>
              <a:latin typeface="Times" charset="0"/>
              <a:ea typeface="+mn-ea"/>
              <a:cs typeface="+mn-cs"/>
            </a:endParaRPr>
          </a:p>
          <a:p>
            <a:r>
              <a:rPr lang="en-US" sz="1200" kern="1200" dirty="0">
                <a:solidFill>
                  <a:schemeClr val="tx1"/>
                </a:solidFill>
                <a:effectLst/>
                <a:latin typeface="Times" charset="0"/>
                <a:ea typeface="+mn-ea"/>
                <a:cs typeface="+mn-cs"/>
              </a:rPr>
              <a:t>The classical simulation program has poor lookahead properties because LP1 must advance to simulation time </a:t>
            </a:r>
            <a:r>
              <a:rPr lang="en-US" sz="1200" i="1" kern="1200" dirty="0">
                <a:solidFill>
                  <a:schemeClr val="tx1"/>
                </a:solidFill>
                <a:effectLst/>
                <a:latin typeface="Times" charset="0"/>
                <a:ea typeface="+mn-ea"/>
                <a:cs typeface="+mn-cs"/>
              </a:rPr>
              <a:t>T + Q + S </a:t>
            </a:r>
            <a:r>
              <a:rPr lang="en-US" sz="1200" kern="1200" dirty="0">
                <a:solidFill>
                  <a:schemeClr val="tx1"/>
                </a:solidFill>
                <a:effectLst/>
                <a:latin typeface="Times" charset="0"/>
                <a:ea typeface="+mn-ea"/>
                <a:cs typeface="+mn-cs"/>
              </a:rPr>
              <a:t>before it can generate the new arrival event with time stamp </a:t>
            </a:r>
            <a:r>
              <a:rPr lang="en-US" sz="1200" i="1" kern="1200" dirty="0">
                <a:solidFill>
                  <a:schemeClr val="tx1"/>
                </a:solidFill>
                <a:effectLst/>
                <a:latin typeface="Times" charset="0"/>
                <a:ea typeface="+mn-ea"/>
                <a:cs typeface="+mn-cs"/>
              </a:rPr>
              <a:t>T + Q + S. </a:t>
            </a:r>
            <a:r>
              <a:rPr lang="en-US" sz="1200" kern="1200" dirty="0">
                <a:solidFill>
                  <a:schemeClr val="tx1"/>
                </a:solidFill>
                <a:effectLst/>
                <a:latin typeface="Times" charset="0"/>
                <a:ea typeface="+mn-ea"/>
                <a:cs typeface="+mn-cs"/>
              </a:rPr>
              <a:t>The LP has zero lookahead with respect to scheduling this event! On the other hand, the optimized simulation program has good lookahead because the program attempts to schedule events far into the simulated future. </a:t>
            </a:r>
          </a:p>
          <a:p>
            <a:endParaRPr lang="en-US" dirty="0">
              <a:latin typeface="Courier" pitchFamily="2" charset="0"/>
            </a:endParaRPr>
          </a:p>
          <a:p>
            <a:r>
              <a:rPr lang="en-US" sz="1200" b="1" kern="1200" dirty="0" err="1">
                <a:solidFill>
                  <a:schemeClr val="tx1"/>
                </a:solidFill>
                <a:effectLst/>
                <a:latin typeface="Times" charset="0"/>
                <a:ea typeface="+mn-ea"/>
                <a:cs typeface="+mn-cs"/>
              </a:rPr>
              <a:t>L’efficienza</a:t>
            </a:r>
            <a:r>
              <a:rPr lang="en-US" sz="1200" b="1" kern="1200" dirty="0">
                <a:solidFill>
                  <a:schemeClr val="tx1"/>
                </a:solidFill>
                <a:effectLst/>
                <a:latin typeface="Times" charset="0"/>
                <a:ea typeface="+mn-ea"/>
                <a:cs typeface="+mn-cs"/>
              </a:rPr>
              <a:t> </a:t>
            </a:r>
            <a:r>
              <a:rPr lang="en-US" sz="1200" b="1" kern="1200" dirty="0" err="1">
                <a:solidFill>
                  <a:schemeClr val="tx1"/>
                </a:solidFill>
                <a:effectLst/>
                <a:latin typeface="Times" charset="0"/>
                <a:ea typeface="+mn-ea"/>
                <a:cs typeface="+mn-cs"/>
              </a:rPr>
              <a:t>quindi</a:t>
            </a:r>
            <a:r>
              <a:rPr lang="en-US" sz="1200" b="1" kern="1200" dirty="0">
                <a:solidFill>
                  <a:schemeClr val="tx1"/>
                </a:solidFill>
                <a:effectLst/>
                <a:latin typeface="Times" charset="0"/>
                <a:ea typeface="+mn-ea"/>
                <a:cs typeface="+mn-cs"/>
              </a:rPr>
              <a:t> </a:t>
            </a:r>
            <a:r>
              <a:rPr lang="en-US" sz="1200" b="1" kern="1200" dirty="0" err="1">
                <a:solidFill>
                  <a:schemeClr val="tx1"/>
                </a:solidFill>
                <a:effectLst/>
                <a:latin typeface="Times" charset="0"/>
                <a:ea typeface="+mn-ea"/>
                <a:cs typeface="+mn-cs"/>
              </a:rPr>
              <a:t>è</a:t>
            </a:r>
            <a:r>
              <a:rPr lang="en-US" sz="1200" b="1" kern="1200" dirty="0">
                <a:solidFill>
                  <a:schemeClr val="tx1"/>
                </a:solidFill>
                <a:effectLst/>
                <a:latin typeface="Times" charset="0"/>
                <a:ea typeface="+mn-ea"/>
                <a:cs typeface="+mn-cs"/>
              </a:rPr>
              <a:t> </a:t>
            </a:r>
            <a:r>
              <a:rPr lang="en-US" sz="1200" b="1" kern="1200" dirty="0" err="1">
                <a:solidFill>
                  <a:schemeClr val="tx1"/>
                </a:solidFill>
                <a:effectLst/>
                <a:latin typeface="Times" charset="0"/>
                <a:ea typeface="+mn-ea"/>
                <a:cs typeface="+mn-cs"/>
              </a:rPr>
              <a:t>strettamente</a:t>
            </a:r>
            <a:r>
              <a:rPr lang="en-US" sz="1200" b="1" kern="1200" dirty="0">
                <a:solidFill>
                  <a:schemeClr val="tx1"/>
                </a:solidFill>
                <a:effectLst/>
                <a:latin typeface="Times" charset="0"/>
                <a:ea typeface="+mn-ea"/>
                <a:cs typeface="+mn-cs"/>
              </a:rPr>
              <a:t> </a:t>
            </a:r>
            <a:r>
              <a:rPr lang="en-US" sz="1200" b="1" kern="1200" dirty="0" err="1">
                <a:solidFill>
                  <a:schemeClr val="tx1"/>
                </a:solidFill>
                <a:effectLst/>
                <a:latin typeface="Times" charset="0"/>
                <a:ea typeface="+mn-ea"/>
                <a:cs typeface="+mn-cs"/>
              </a:rPr>
              <a:t>influenzata</a:t>
            </a:r>
            <a:r>
              <a:rPr lang="en-US" sz="1200" b="1" kern="1200" dirty="0">
                <a:solidFill>
                  <a:schemeClr val="tx1"/>
                </a:solidFill>
                <a:effectLst/>
                <a:latin typeface="Times" charset="0"/>
                <a:ea typeface="+mn-ea"/>
                <a:cs typeface="+mn-cs"/>
              </a:rPr>
              <a:t> dal lookahead e dal </a:t>
            </a:r>
            <a:r>
              <a:rPr lang="en-US" sz="1200" b="1" kern="1200" dirty="0" err="1">
                <a:solidFill>
                  <a:schemeClr val="tx1"/>
                </a:solidFill>
                <a:effectLst/>
                <a:latin typeface="Times" charset="0"/>
                <a:ea typeface="+mn-ea"/>
                <a:cs typeface="+mn-cs"/>
              </a:rPr>
              <a:t>desing</a:t>
            </a:r>
            <a:r>
              <a:rPr lang="en-US" sz="1200" b="1" kern="1200" dirty="0">
                <a:solidFill>
                  <a:schemeClr val="tx1"/>
                </a:solidFill>
                <a:effectLst/>
                <a:latin typeface="Times" charset="0"/>
                <a:ea typeface="+mn-ea"/>
                <a:cs typeface="+mn-cs"/>
              </a:rPr>
              <a:t>/</a:t>
            </a:r>
            <a:r>
              <a:rPr lang="en-US" sz="1200" b="1" kern="1200" dirty="0" err="1">
                <a:solidFill>
                  <a:schemeClr val="tx1"/>
                </a:solidFill>
                <a:effectLst/>
                <a:latin typeface="Times" charset="0"/>
                <a:ea typeface="+mn-ea"/>
                <a:cs typeface="+mn-cs"/>
              </a:rPr>
              <a:t>implementazione</a:t>
            </a:r>
            <a:r>
              <a:rPr lang="en-US" sz="1200" b="1" kern="1200" dirty="0">
                <a:solidFill>
                  <a:schemeClr val="tx1"/>
                </a:solidFill>
                <a:effectLst/>
                <a:latin typeface="Times" charset="0"/>
                <a:ea typeface="+mn-ea"/>
                <a:cs typeface="+mn-cs"/>
              </a:rPr>
              <a:t> della </a:t>
            </a:r>
            <a:r>
              <a:rPr lang="en-US" sz="1200" b="1" kern="1200" dirty="0" err="1">
                <a:solidFill>
                  <a:schemeClr val="tx1"/>
                </a:solidFill>
                <a:effectLst/>
                <a:latin typeface="Times" charset="0"/>
                <a:ea typeface="+mn-ea"/>
                <a:cs typeface="+mn-cs"/>
              </a:rPr>
              <a:t>simulazione</a:t>
            </a:r>
            <a:endParaRPr lang="en-US" b="1" dirty="0">
              <a:latin typeface="Courier" pitchFamily="2" charset="0"/>
            </a:endParaRPr>
          </a:p>
        </p:txBody>
      </p:sp>
    </p:spTree>
    <p:extLst>
      <p:ext uri="{BB962C8B-B14F-4D97-AF65-F5344CB8AC3E}">
        <p14:creationId xmlns:p14="http://schemas.microsoft.com/office/powerpoint/2010/main" val="29478036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Lookahead plays a crucial role in the performance of conservative synchronization algorithms. Further the simulation application must be written in such a way as to maximize its lookahead. This often has a profound effect on the way the simulation program is designed and developed (remember, there is not a single way to implement a simulation program, it’s really a case-by-case approach).</a:t>
            </a:r>
          </a:p>
          <a:p>
            <a:r>
              <a:rPr lang="en-US" sz="1200" kern="1200">
                <a:solidFill>
                  <a:schemeClr val="tx1"/>
                </a:solidFill>
                <a:effectLst/>
                <a:latin typeface="Times" charset="0"/>
                <a:ea typeface="+mn-ea"/>
                <a:cs typeface="+mn-cs"/>
              </a:rPr>
              <a:t>To illustrate this, consider the simulation of a queuing network.</a:t>
            </a:r>
          </a:p>
          <a:p>
            <a:endParaRPr lang="en-US" sz="1200" kern="1200">
              <a:solidFill>
                <a:schemeClr val="tx1"/>
              </a:solidFill>
              <a:effectLst/>
              <a:latin typeface="Times" charset="0"/>
              <a:ea typeface="+mn-ea"/>
              <a:cs typeface="+mn-cs"/>
            </a:endParaRPr>
          </a:p>
          <a:p>
            <a:r>
              <a:rPr lang="en-US" sz="1200" kern="1200">
                <a:solidFill>
                  <a:schemeClr val="tx1"/>
                </a:solidFill>
                <a:effectLst/>
                <a:latin typeface="Times" charset="0"/>
                <a:ea typeface="+mn-ea"/>
                <a:cs typeface="+mn-cs"/>
              </a:rPr>
              <a:t>The </a:t>
            </a:r>
            <a:r>
              <a:rPr lang="en-US" sz="1200" b="1" kern="1200">
                <a:solidFill>
                  <a:schemeClr val="tx1"/>
                </a:solidFill>
                <a:effectLst/>
                <a:latin typeface="Times" charset="0"/>
                <a:ea typeface="+mn-ea"/>
                <a:cs typeface="+mn-cs"/>
              </a:rPr>
              <a:t>classical approach </a:t>
            </a:r>
            <a:r>
              <a:rPr lang="en-US" sz="1200" kern="1200">
                <a:solidFill>
                  <a:schemeClr val="tx1"/>
                </a:solidFill>
                <a:effectLst/>
                <a:latin typeface="Times" charset="0"/>
                <a:ea typeface="+mn-ea"/>
                <a:cs typeface="+mn-cs"/>
              </a:rPr>
              <a:t>to modeling a single queue is to use two types of events: arrival events to signify the arrival of a new customer at the station and departure events to represent a customer completing service, and leaving the station, typically to advance to another station (similar to air traffic simulation).</a:t>
            </a:r>
          </a:p>
          <a:p>
            <a:endParaRPr lang="en-US"/>
          </a:p>
          <a:p>
            <a:r>
              <a:rPr lang="en-US" b="1"/>
              <a:t>Optimized approach</a:t>
            </a:r>
            <a:r>
              <a:rPr lang="en-US"/>
              <a:t>: </a:t>
            </a:r>
            <a:r>
              <a:rPr lang="en-US" sz="1200" kern="1200">
                <a:solidFill>
                  <a:schemeClr val="tx1"/>
                </a:solidFill>
                <a:effectLst/>
                <a:latin typeface="Times" charset="0"/>
                <a:ea typeface="+mn-ea"/>
                <a:cs typeface="+mn-cs"/>
              </a:rPr>
              <a:t>One can optimize the simulation program in the classical approach by eliminating the departure event. Exploiting the fact that the station uses a first-come-first-serve policy, one need only maintain a state variable called </a:t>
            </a:r>
            <a:r>
              <a:rPr lang="en-US" sz="1200" b="1" kern="1200">
                <a:solidFill>
                  <a:schemeClr val="tx1"/>
                </a:solidFill>
                <a:effectLst/>
                <a:latin typeface="Times" charset="0"/>
                <a:ea typeface="+mn-ea"/>
                <a:cs typeface="+mn-cs"/>
              </a:rPr>
              <a:t>Done</a:t>
            </a:r>
            <a:r>
              <a:rPr lang="en-US" sz="1200" kern="1200">
                <a:solidFill>
                  <a:schemeClr val="tx1"/>
                </a:solidFill>
                <a:effectLst/>
                <a:latin typeface="Times" charset="0"/>
                <a:ea typeface="+mn-ea"/>
                <a:cs typeface="+mn-cs"/>
              </a:rPr>
              <a:t> indicating when the server would have served all jobs currently in the queue. If a new job arrives at time </a:t>
            </a:r>
            <a:r>
              <a:rPr lang="en-US" sz="1200" i="1" kern="1200">
                <a:solidFill>
                  <a:schemeClr val="tx1"/>
                </a:solidFill>
                <a:effectLst/>
                <a:latin typeface="Times" charset="0"/>
                <a:ea typeface="+mn-ea"/>
                <a:cs typeface="+mn-cs"/>
              </a:rPr>
              <a:t>T </a:t>
            </a:r>
            <a:r>
              <a:rPr lang="en-US" sz="1200" kern="1200">
                <a:solidFill>
                  <a:schemeClr val="tx1"/>
                </a:solidFill>
                <a:effectLst/>
                <a:latin typeface="Times" charset="0"/>
                <a:ea typeface="+mn-ea"/>
                <a:cs typeface="+mn-cs"/>
              </a:rPr>
              <a:t>and </a:t>
            </a:r>
            <a:r>
              <a:rPr lang="en-US" sz="1200" i="1" kern="1200">
                <a:solidFill>
                  <a:schemeClr val="tx1"/>
                </a:solidFill>
                <a:effectLst/>
                <a:latin typeface="Times" charset="0"/>
                <a:ea typeface="+mn-ea"/>
                <a:cs typeface="+mn-cs"/>
              </a:rPr>
              <a:t>T </a:t>
            </a:r>
            <a:r>
              <a:rPr lang="en-US" sz="1200" kern="1200">
                <a:solidFill>
                  <a:schemeClr val="tx1"/>
                </a:solidFill>
                <a:effectLst/>
                <a:latin typeface="Times" charset="0"/>
                <a:ea typeface="+mn-ea"/>
                <a:cs typeface="+mn-cs"/>
              </a:rPr>
              <a:t>is greater than Done, then the server must be idle when the job arrives, and the newly arriving job completes service at time </a:t>
            </a:r>
            <a:r>
              <a:rPr lang="en-US" sz="1200" kern="1200" err="1">
                <a:solidFill>
                  <a:schemeClr val="tx1"/>
                </a:solidFill>
                <a:effectLst/>
                <a:latin typeface="Times" charset="0"/>
                <a:ea typeface="+mn-ea"/>
                <a:cs typeface="+mn-cs"/>
              </a:rPr>
              <a:t>Now+S</a:t>
            </a:r>
            <a:r>
              <a:rPr lang="en-US" sz="1200" kern="1200">
                <a:solidFill>
                  <a:schemeClr val="tx1"/>
                </a:solidFill>
                <a:effectLst/>
                <a:latin typeface="Times" charset="0"/>
                <a:ea typeface="+mn-ea"/>
                <a:cs typeface="+mn-cs"/>
              </a:rPr>
              <a:t>. Otherwise, the server is busy until the time stored in the Done variable. The newly arriving job will therefore depart at time </a:t>
            </a:r>
            <a:r>
              <a:rPr lang="en-US" sz="1200" kern="1200" err="1">
                <a:solidFill>
                  <a:schemeClr val="tx1"/>
                </a:solidFill>
                <a:effectLst/>
                <a:latin typeface="Times" charset="0"/>
                <a:ea typeface="+mn-ea"/>
                <a:cs typeface="+mn-cs"/>
              </a:rPr>
              <a:t>Done+S</a:t>
            </a:r>
            <a:r>
              <a:rPr lang="en-US" sz="1200" kern="1200">
                <a:solidFill>
                  <a:schemeClr val="tx1"/>
                </a:solidFill>
                <a:effectLst/>
                <a:latin typeface="Times" charset="0"/>
                <a:ea typeface="+mn-ea"/>
                <a:cs typeface="+mn-cs"/>
              </a:rPr>
              <a:t>.</a:t>
            </a:r>
          </a:p>
          <a:p>
            <a:endParaRPr lang="en-US" sz="1200" kern="1200">
              <a:solidFill>
                <a:schemeClr val="tx1"/>
              </a:solidFill>
              <a:effectLst/>
              <a:latin typeface="Times" charset="0"/>
              <a:ea typeface="+mn-ea"/>
              <a:cs typeface="+mn-cs"/>
            </a:endParaRPr>
          </a:p>
          <a:p>
            <a:r>
              <a:rPr lang="en-US" sz="1200" kern="1200">
                <a:solidFill>
                  <a:schemeClr val="tx1"/>
                </a:solidFill>
                <a:effectLst/>
                <a:latin typeface="Times" charset="0"/>
                <a:ea typeface="+mn-ea"/>
                <a:cs typeface="+mn-cs"/>
              </a:rPr>
              <a:t>One way of viewing lookahead is to observe that the arrival event at time </a:t>
            </a:r>
            <a:r>
              <a:rPr lang="en-US" sz="1200" i="1" kern="1200">
                <a:solidFill>
                  <a:schemeClr val="tx1"/>
                </a:solidFill>
                <a:effectLst/>
                <a:latin typeface="Times" charset="0"/>
                <a:ea typeface="+mn-ea"/>
                <a:cs typeface="+mn-cs"/>
              </a:rPr>
              <a:t>T + Q + S </a:t>
            </a:r>
            <a:r>
              <a:rPr lang="en-US" sz="1200" kern="1200">
                <a:solidFill>
                  <a:schemeClr val="tx1"/>
                </a:solidFill>
                <a:effectLst/>
                <a:latin typeface="Times" charset="0"/>
                <a:ea typeface="+mn-ea"/>
                <a:cs typeface="+mn-cs"/>
              </a:rPr>
              <a:t>is invariant to any other events occurring in the interval </a:t>
            </a:r>
            <a:r>
              <a:rPr lang="en-US" sz="1200" i="1" kern="1200">
                <a:solidFill>
                  <a:schemeClr val="tx1"/>
                </a:solidFill>
                <a:effectLst/>
                <a:latin typeface="Times" charset="0"/>
                <a:ea typeface="+mn-ea"/>
                <a:cs typeface="+mn-cs"/>
              </a:rPr>
              <a:t>[T, T + Q + S]. </a:t>
            </a:r>
            <a:r>
              <a:rPr lang="en-US" sz="1200" kern="1200">
                <a:solidFill>
                  <a:schemeClr val="tx1"/>
                </a:solidFill>
                <a:effectLst/>
                <a:latin typeface="Times" charset="0"/>
                <a:ea typeface="+mn-ea"/>
                <a:cs typeface="+mn-cs"/>
              </a:rPr>
              <a:t>This allows the event to be generated at time </a:t>
            </a:r>
            <a:r>
              <a:rPr lang="en-US" sz="1200" i="1" kern="1200">
                <a:solidFill>
                  <a:schemeClr val="tx1"/>
                </a:solidFill>
                <a:effectLst/>
                <a:latin typeface="Times" charset="0"/>
                <a:ea typeface="+mn-ea"/>
                <a:cs typeface="+mn-cs"/>
              </a:rPr>
              <a:t>T</a:t>
            </a:r>
            <a:r>
              <a:rPr lang="en-IT" sz="1200" i="1" kern="1200">
                <a:solidFill>
                  <a:schemeClr val="tx1"/>
                </a:solidFill>
                <a:effectLst/>
                <a:latin typeface="Times" charset="0"/>
                <a:ea typeface="+mn-ea"/>
                <a:cs typeface="+mn-cs"/>
              </a:rPr>
              <a:t>.</a:t>
            </a:r>
            <a:r>
              <a:rPr lang="en-IT">
                <a:effectLst/>
              </a:rPr>
              <a:t> </a:t>
            </a:r>
            <a:endParaRPr lang="en-US" sz="1200" kern="1200">
              <a:solidFill>
                <a:schemeClr val="tx1"/>
              </a:solidFill>
              <a:effectLst/>
              <a:latin typeface="Times" charset="0"/>
              <a:ea typeface="+mn-ea"/>
              <a:cs typeface="+mn-cs"/>
            </a:endParaRPr>
          </a:p>
          <a:p>
            <a:endParaRPr lang="en-US" sz="1200" kern="1200">
              <a:solidFill>
                <a:schemeClr val="tx1"/>
              </a:solidFill>
              <a:effectLst/>
              <a:latin typeface="Times" charset="0"/>
              <a:ea typeface="+mn-ea"/>
              <a:cs typeface="+mn-cs"/>
            </a:endParaRPr>
          </a:p>
          <a:p>
            <a:r>
              <a:rPr lang="en-US" sz="1200" kern="1200">
                <a:solidFill>
                  <a:schemeClr val="tx1"/>
                </a:solidFill>
                <a:effectLst/>
                <a:latin typeface="Times" charset="0"/>
                <a:ea typeface="+mn-ea"/>
                <a:cs typeface="+mn-cs"/>
              </a:rPr>
              <a:t>The classical simulation program has poor lookahead properties because LP1 must advance to simulation time </a:t>
            </a:r>
            <a:r>
              <a:rPr lang="en-US" sz="1200" i="1" kern="1200">
                <a:solidFill>
                  <a:schemeClr val="tx1"/>
                </a:solidFill>
                <a:effectLst/>
                <a:latin typeface="Times" charset="0"/>
                <a:ea typeface="+mn-ea"/>
                <a:cs typeface="+mn-cs"/>
              </a:rPr>
              <a:t>T + Q + S </a:t>
            </a:r>
            <a:r>
              <a:rPr lang="en-US" sz="1200" kern="1200">
                <a:solidFill>
                  <a:schemeClr val="tx1"/>
                </a:solidFill>
                <a:effectLst/>
                <a:latin typeface="Times" charset="0"/>
                <a:ea typeface="+mn-ea"/>
                <a:cs typeface="+mn-cs"/>
              </a:rPr>
              <a:t>before it can generate the new arrival event with time stamp </a:t>
            </a:r>
            <a:r>
              <a:rPr lang="en-US" sz="1200" i="1" kern="1200">
                <a:solidFill>
                  <a:schemeClr val="tx1"/>
                </a:solidFill>
                <a:effectLst/>
                <a:latin typeface="Times" charset="0"/>
                <a:ea typeface="+mn-ea"/>
                <a:cs typeface="+mn-cs"/>
              </a:rPr>
              <a:t>T + Q + S. </a:t>
            </a:r>
            <a:r>
              <a:rPr lang="en-US" sz="1200" kern="1200">
                <a:solidFill>
                  <a:schemeClr val="tx1"/>
                </a:solidFill>
                <a:effectLst/>
                <a:latin typeface="Times" charset="0"/>
                <a:ea typeface="+mn-ea"/>
                <a:cs typeface="+mn-cs"/>
              </a:rPr>
              <a:t>The LP has zero lookahead with respect to scheduling this event! On the other hand, the optimized simulation program has good lookahead because the program attempts to schedule events far into the simulated future. </a:t>
            </a:r>
          </a:p>
          <a:p>
            <a:endParaRPr lang="en-US">
              <a:latin typeface="Courier" pitchFamily="2" charset="0"/>
            </a:endParaRPr>
          </a:p>
          <a:p>
            <a:r>
              <a:rPr lang="en-US" sz="1200" b="1" kern="1200" err="1">
                <a:solidFill>
                  <a:schemeClr val="tx1"/>
                </a:solidFill>
                <a:effectLst/>
                <a:latin typeface="Times" charset="0"/>
                <a:ea typeface="+mn-ea"/>
                <a:cs typeface="+mn-cs"/>
              </a:rPr>
              <a:t>L’efficienza</a:t>
            </a:r>
            <a:r>
              <a:rPr lang="en-US" sz="1200" b="1" kern="1200">
                <a:solidFill>
                  <a:schemeClr val="tx1"/>
                </a:solidFill>
                <a:effectLst/>
                <a:latin typeface="Times" charset="0"/>
                <a:ea typeface="+mn-ea"/>
                <a:cs typeface="+mn-cs"/>
              </a:rPr>
              <a:t> </a:t>
            </a:r>
            <a:r>
              <a:rPr lang="en-US" sz="1200" b="1" kern="1200" err="1">
                <a:solidFill>
                  <a:schemeClr val="tx1"/>
                </a:solidFill>
                <a:effectLst/>
                <a:latin typeface="Times" charset="0"/>
                <a:ea typeface="+mn-ea"/>
                <a:cs typeface="+mn-cs"/>
              </a:rPr>
              <a:t>quindi</a:t>
            </a:r>
            <a:r>
              <a:rPr lang="en-US" sz="1200" b="1" kern="1200">
                <a:solidFill>
                  <a:schemeClr val="tx1"/>
                </a:solidFill>
                <a:effectLst/>
                <a:latin typeface="Times" charset="0"/>
                <a:ea typeface="+mn-ea"/>
                <a:cs typeface="+mn-cs"/>
              </a:rPr>
              <a:t> </a:t>
            </a:r>
            <a:r>
              <a:rPr lang="en-US" sz="1200" b="1" kern="1200" err="1">
                <a:solidFill>
                  <a:schemeClr val="tx1"/>
                </a:solidFill>
                <a:effectLst/>
                <a:latin typeface="Times" charset="0"/>
                <a:ea typeface="+mn-ea"/>
                <a:cs typeface="+mn-cs"/>
              </a:rPr>
              <a:t>è</a:t>
            </a:r>
            <a:r>
              <a:rPr lang="en-US" sz="1200" b="1" kern="1200">
                <a:solidFill>
                  <a:schemeClr val="tx1"/>
                </a:solidFill>
                <a:effectLst/>
                <a:latin typeface="Times" charset="0"/>
                <a:ea typeface="+mn-ea"/>
                <a:cs typeface="+mn-cs"/>
              </a:rPr>
              <a:t> </a:t>
            </a:r>
            <a:r>
              <a:rPr lang="en-US" sz="1200" b="1" kern="1200" err="1">
                <a:solidFill>
                  <a:schemeClr val="tx1"/>
                </a:solidFill>
                <a:effectLst/>
                <a:latin typeface="Times" charset="0"/>
                <a:ea typeface="+mn-ea"/>
                <a:cs typeface="+mn-cs"/>
              </a:rPr>
              <a:t>strettamente</a:t>
            </a:r>
            <a:r>
              <a:rPr lang="en-US" sz="1200" b="1" kern="1200">
                <a:solidFill>
                  <a:schemeClr val="tx1"/>
                </a:solidFill>
                <a:effectLst/>
                <a:latin typeface="Times" charset="0"/>
                <a:ea typeface="+mn-ea"/>
                <a:cs typeface="+mn-cs"/>
              </a:rPr>
              <a:t> </a:t>
            </a:r>
            <a:r>
              <a:rPr lang="en-US" sz="1200" b="1" kern="1200" err="1">
                <a:solidFill>
                  <a:schemeClr val="tx1"/>
                </a:solidFill>
                <a:effectLst/>
                <a:latin typeface="Times" charset="0"/>
                <a:ea typeface="+mn-ea"/>
                <a:cs typeface="+mn-cs"/>
              </a:rPr>
              <a:t>influenzata</a:t>
            </a:r>
            <a:r>
              <a:rPr lang="en-US" sz="1200" b="1" kern="1200">
                <a:solidFill>
                  <a:schemeClr val="tx1"/>
                </a:solidFill>
                <a:effectLst/>
                <a:latin typeface="Times" charset="0"/>
                <a:ea typeface="+mn-ea"/>
                <a:cs typeface="+mn-cs"/>
              </a:rPr>
              <a:t> dal lookahead e dal </a:t>
            </a:r>
            <a:r>
              <a:rPr lang="en-US" sz="1200" b="1" kern="1200" err="1">
                <a:solidFill>
                  <a:schemeClr val="tx1"/>
                </a:solidFill>
                <a:effectLst/>
                <a:latin typeface="Times" charset="0"/>
                <a:ea typeface="+mn-ea"/>
                <a:cs typeface="+mn-cs"/>
              </a:rPr>
              <a:t>desing</a:t>
            </a:r>
            <a:r>
              <a:rPr lang="en-US" sz="1200" b="1" kern="1200">
                <a:solidFill>
                  <a:schemeClr val="tx1"/>
                </a:solidFill>
                <a:effectLst/>
                <a:latin typeface="Times" charset="0"/>
                <a:ea typeface="+mn-ea"/>
                <a:cs typeface="+mn-cs"/>
              </a:rPr>
              <a:t>/</a:t>
            </a:r>
            <a:r>
              <a:rPr lang="en-US" sz="1200" b="1" kern="1200" err="1">
                <a:solidFill>
                  <a:schemeClr val="tx1"/>
                </a:solidFill>
                <a:effectLst/>
                <a:latin typeface="Times" charset="0"/>
                <a:ea typeface="+mn-ea"/>
                <a:cs typeface="+mn-cs"/>
              </a:rPr>
              <a:t>implementazione</a:t>
            </a:r>
            <a:r>
              <a:rPr lang="en-US" sz="1200" b="1" kern="1200">
                <a:solidFill>
                  <a:schemeClr val="tx1"/>
                </a:solidFill>
                <a:effectLst/>
                <a:latin typeface="Times" charset="0"/>
                <a:ea typeface="+mn-ea"/>
                <a:cs typeface="+mn-cs"/>
              </a:rPr>
              <a:t> </a:t>
            </a:r>
            <a:r>
              <a:rPr lang="en-US" sz="1200" b="1" kern="1200" err="1">
                <a:solidFill>
                  <a:schemeClr val="tx1"/>
                </a:solidFill>
                <a:effectLst/>
                <a:latin typeface="Times" charset="0"/>
                <a:ea typeface="+mn-ea"/>
                <a:cs typeface="+mn-cs"/>
              </a:rPr>
              <a:t>della</a:t>
            </a:r>
            <a:r>
              <a:rPr lang="en-US" sz="1200" b="1" kern="1200">
                <a:solidFill>
                  <a:schemeClr val="tx1"/>
                </a:solidFill>
                <a:effectLst/>
                <a:latin typeface="Times" charset="0"/>
                <a:ea typeface="+mn-ea"/>
                <a:cs typeface="+mn-cs"/>
              </a:rPr>
              <a:t> </a:t>
            </a:r>
            <a:r>
              <a:rPr lang="en-US" sz="1200" b="1" kern="1200" err="1">
                <a:solidFill>
                  <a:schemeClr val="tx1"/>
                </a:solidFill>
                <a:effectLst/>
                <a:latin typeface="Times" charset="0"/>
                <a:ea typeface="+mn-ea"/>
                <a:cs typeface="+mn-cs"/>
              </a:rPr>
              <a:t>simulazione</a:t>
            </a:r>
            <a:endParaRPr lang="en-US" b="1">
              <a:latin typeface="Courier" pitchFamily="2" charset="0"/>
            </a:endParaRPr>
          </a:p>
        </p:txBody>
      </p:sp>
    </p:spTree>
    <p:extLst>
      <p:ext uri="{BB962C8B-B14F-4D97-AF65-F5344CB8AC3E}">
        <p14:creationId xmlns:p14="http://schemas.microsoft.com/office/powerpoint/2010/main" val="7659109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a:latin typeface="Courier" pitchFamily="2" charset="0"/>
            </a:endParaRPr>
          </a:p>
        </p:txBody>
      </p:sp>
    </p:spTree>
    <p:extLst>
      <p:ext uri="{BB962C8B-B14F-4D97-AF65-F5344CB8AC3E}">
        <p14:creationId xmlns:p14="http://schemas.microsoft.com/office/powerpoint/2010/main" val="26883119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r>
              <a:rPr lang="en-US"/>
              <a:t>5 processors, each</a:t>
            </a:r>
            <a:r>
              <a:rPr lang="en-US" baseline="0"/>
              <a:t> one executing a given LP (one LP for each center)</a:t>
            </a:r>
          </a:p>
          <a:p>
            <a:r>
              <a:rPr lang="en-US"/>
              <a:t>The number of messages that</a:t>
            </a:r>
            <a:r>
              <a:rPr lang="en-US" baseline="0"/>
              <a:t> are processed </a:t>
            </a:r>
            <a:r>
              <a:rPr lang="en-US" b="1" baseline="0"/>
              <a:t>between </a:t>
            </a:r>
            <a:r>
              <a:rPr lang="en-US" b="1"/>
              <a:t>deadlocks </a:t>
            </a:r>
            <a:r>
              <a:rPr lang="en-US"/>
              <a:t>should be maximized, because deadlock</a:t>
            </a:r>
            <a:r>
              <a:rPr lang="en-US" baseline="0"/>
              <a:t> represents an overhead that does not occur in a sequential execution.</a:t>
            </a:r>
          </a:p>
          <a:p>
            <a:r>
              <a:rPr lang="en-US" sz="1200" kern="1200">
                <a:solidFill>
                  <a:schemeClr val="tx1"/>
                </a:solidFill>
                <a:effectLst/>
                <a:latin typeface="Times" charset="0"/>
                <a:ea typeface="+mn-ea"/>
                <a:cs typeface="+mn-cs"/>
              </a:rPr>
              <a:t>Shown are curves for the classical implementation using both arrival and departure events and the optimized version using only arrival events. The service time is selected either deterministically or from an exponentially distributed random variable</a:t>
            </a:r>
            <a:r>
              <a:rPr lang="en-IT" sz="1200" kern="1200">
                <a:solidFill>
                  <a:schemeClr val="tx1"/>
                </a:solidFill>
                <a:effectLst/>
                <a:latin typeface="Times" charset="0"/>
                <a:ea typeface="+mn-ea"/>
                <a:cs typeface="+mn-cs"/>
              </a:rPr>
              <a:t>.</a:t>
            </a:r>
            <a:endParaRPr lang="en-US"/>
          </a:p>
        </p:txBody>
      </p:sp>
    </p:spTree>
    <p:extLst>
      <p:ext uri="{BB962C8B-B14F-4D97-AF65-F5344CB8AC3E}">
        <p14:creationId xmlns:p14="http://schemas.microsoft.com/office/powerpoint/2010/main" val="11369495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kern="1200">
                <a:solidFill>
                  <a:schemeClr val="tx1"/>
                </a:solidFill>
                <a:effectLst/>
                <a:latin typeface="Times" charset="0"/>
                <a:ea typeface="+mn-ea"/>
                <a:cs typeface="+mn-cs"/>
              </a:rPr>
              <a:t>The speedup measurements show that the optimized simulation executes two to three times faster than the sequential execution for reasonably large job populations, </a:t>
            </a:r>
            <a:r>
              <a:rPr lang="en-US" sz="1200" b="1" kern="1200">
                <a:solidFill>
                  <a:schemeClr val="tx1"/>
                </a:solidFill>
                <a:effectLst/>
                <a:latin typeface="Times" charset="0"/>
                <a:ea typeface="+mn-ea"/>
                <a:cs typeface="+mn-cs"/>
              </a:rPr>
              <a:t>but the unoptimized version executes much more slowly than the sequential execution</a:t>
            </a:r>
            <a:r>
              <a:rPr lang="en-IT" b="1">
                <a:effectLst/>
              </a:rPr>
              <a:t> </a:t>
            </a:r>
            <a:endParaRPr lang="en-IT" b="1"/>
          </a:p>
        </p:txBody>
      </p:sp>
    </p:spTree>
    <p:extLst>
      <p:ext uri="{BB962C8B-B14F-4D97-AF65-F5344CB8AC3E}">
        <p14:creationId xmlns:p14="http://schemas.microsoft.com/office/powerpoint/2010/main" val="11828364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50938" y="692150"/>
            <a:ext cx="4556125" cy="3416300"/>
          </a:xfrm>
        </p:spPr>
      </p:sp>
      <p:sp>
        <p:nvSpPr>
          <p:cNvPr id="3" name="Segnaposto note 2"/>
          <p:cNvSpPr>
            <a:spLocks noGrp="1"/>
          </p:cNvSpPr>
          <p:nvPr>
            <p:ph type="body" idx="1"/>
          </p:nvPr>
        </p:nvSpPr>
        <p:spPr/>
        <p:txBody>
          <a:bodyPr/>
          <a:lstStyle/>
          <a:p>
            <a:endParaRPr lang="en-US"/>
          </a:p>
        </p:txBody>
      </p:sp>
    </p:spTree>
    <p:extLst>
      <p:ext uri="{BB962C8B-B14F-4D97-AF65-F5344CB8AC3E}">
        <p14:creationId xmlns:p14="http://schemas.microsoft.com/office/powerpoint/2010/main" val="1903140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143000" y="1122363"/>
            <a:ext cx="6858000" cy="2387600"/>
          </a:xfrm>
        </p:spPr>
        <p:txBody>
          <a:bodyPr anchor="b"/>
          <a:lstStyle>
            <a:lvl1pPr algn="ctr">
              <a:defRPr sz="6000"/>
            </a:lvl1pPr>
          </a:lstStyle>
          <a:p>
            <a:r>
              <a:rPr lang="it-IT"/>
              <a:t>Fare clic per modificare stile</a:t>
            </a:r>
            <a:endParaRPr lang="en-US"/>
          </a:p>
        </p:txBody>
      </p:sp>
      <p:sp>
        <p:nvSpPr>
          <p:cNvPr id="3" name="Sottotitolo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5" name="Segnaposto piè di pagina 2">
            <a:extLst>
              <a:ext uri="{FF2B5EF4-FFF2-40B4-BE49-F238E27FC236}">
                <a16:creationId xmlns:a16="http://schemas.microsoft.com/office/drawing/2014/main" id="{DECEAAFC-5F0C-9E19-3468-F0E684CCA2EA}"/>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F2859D0F-4C31-EEF9-C8DB-609F067EF8C6}"/>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1FE622D5-E2D4-B700-BBBF-637E0428F950}"/>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45944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10" name="Segnaposto piè di pagina 2">
            <a:extLst>
              <a:ext uri="{FF2B5EF4-FFF2-40B4-BE49-F238E27FC236}">
                <a16:creationId xmlns:a16="http://schemas.microsoft.com/office/drawing/2014/main" id="{90807420-3F2F-90FA-B581-12F41D8360E3}"/>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11" name="Segnaposto numero diapositiva 3">
            <a:extLst>
              <a:ext uri="{FF2B5EF4-FFF2-40B4-BE49-F238E27FC236}">
                <a16:creationId xmlns:a16="http://schemas.microsoft.com/office/drawing/2014/main" id="{0B47B014-FB1F-0BF9-D7CB-266A24D2079E}"/>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12" name="Segnaposto data 4">
            <a:extLst>
              <a:ext uri="{FF2B5EF4-FFF2-40B4-BE49-F238E27FC236}">
                <a16:creationId xmlns:a16="http://schemas.microsoft.com/office/drawing/2014/main" id="{4571A43D-252E-478A-23E4-FEE2A241784E}"/>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236968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623888" y="1709738"/>
            <a:ext cx="7886700" cy="2852737"/>
          </a:xfrm>
        </p:spPr>
        <p:txBody>
          <a:bodyPr anchor="b"/>
          <a:lstStyle>
            <a:lvl1pPr>
              <a:defRPr sz="6000"/>
            </a:lvl1pPr>
          </a:lstStyle>
          <a:p>
            <a:r>
              <a:rPr lang="it-IT"/>
              <a:t>Fare clic per modificare stile</a:t>
            </a:r>
            <a:endParaRPr lang="en-US"/>
          </a:p>
        </p:txBody>
      </p:sp>
      <p:sp>
        <p:nvSpPr>
          <p:cNvPr id="3" name="Segnaposto testo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it-IT"/>
              <a:t>Fare clic per modificare gli stili del testo dello schema</a:t>
            </a:r>
          </a:p>
        </p:txBody>
      </p:sp>
      <p:sp>
        <p:nvSpPr>
          <p:cNvPr id="5" name="Segnaposto piè di pagina 2">
            <a:extLst>
              <a:ext uri="{FF2B5EF4-FFF2-40B4-BE49-F238E27FC236}">
                <a16:creationId xmlns:a16="http://schemas.microsoft.com/office/drawing/2014/main" id="{625199C5-BF82-03C1-96ED-1DD72486F640}"/>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C35FA2CE-CC11-4CC1-5D03-155E510E9648}"/>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D276AADB-D0B8-C1E2-56B9-1E058B76F3FD}"/>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2091053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sz="half" idx="1"/>
          </p:nvPr>
        </p:nvSpPr>
        <p:spPr>
          <a:xfrm>
            <a:off x="471488" y="762000"/>
            <a:ext cx="4100512" cy="20494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p:cNvSpPr>
            <a:spLocks noGrp="1"/>
          </p:cNvSpPr>
          <p:nvPr>
            <p:ph sz="half" idx="2"/>
          </p:nvPr>
        </p:nvSpPr>
        <p:spPr>
          <a:xfrm>
            <a:off x="4724400" y="762000"/>
            <a:ext cx="4100513" cy="20494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2">
            <a:extLst>
              <a:ext uri="{FF2B5EF4-FFF2-40B4-BE49-F238E27FC236}">
                <a16:creationId xmlns:a16="http://schemas.microsoft.com/office/drawing/2014/main" id="{5306316E-AC17-434B-F22E-E8CCFA78E36C}"/>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7" name="Segnaposto numero diapositiva 3">
            <a:extLst>
              <a:ext uri="{FF2B5EF4-FFF2-40B4-BE49-F238E27FC236}">
                <a16:creationId xmlns:a16="http://schemas.microsoft.com/office/drawing/2014/main" id="{66462AA1-BDE4-E1BA-ED7B-B9E3677921EB}"/>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8" name="Segnaposto data 4">
            <a:extLst>
              <a:ext uri="{FF2B5EF4-FFF2-40B4-BE49-F238E27FC236}">
                <a16:creationId xmlns:a16="http://schemas.microsoft.com/office/drawing/2014/main" id="{03A9D11D-0839-3D9E-67D7-D5F73046EABB}"/>
              </a:ext>
            </a:extLst>
          </p:cNvPr>
          <p:cNvSpPr>
            <a:spLocks noGrp="1"/>
          </p:cNvSpPr>
          <p:nvPr>
            <p:ph type="dt" sz="half" idx="10"/>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758946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630238" y="365125"/>
            <a:ext cx="7886700" cy="1325563"/>
          </a:xfrm>
        </p:spPr>
        <p:txBody>
          <a:bodyPr/>
          <a:lstStyle/>
          <a:p>
            <a:r>
              <a:rPr lang="it-IT"/>
              <a:t>Fare clic per modificare stile</a:t>
            </a:r>
            <a:endParaRPr lang="en-US"/>
          </a:p>
        </p:txBody>
      </p:sp>
      <p:sp>
        <p:nvSpPr>
          <p:cNvPr id="3" name="Segnaposto testo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630238" y="2505075"/>
            <a:ext cx="386873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testo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4629150" y="2505075"/>
            <a:ext cx="38877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8" name="Segnaposto piè di pagina 2">
            <a:extLst>
              <a:ext uri="{FF2B5EF4-FFF2-40B4-BE49-F238E27FC236}">
                <a16:creationId xmlns:a16="http://schemas.microsoft.com/office/drawing/2014/main" id="{47F1E6A9-CC57-2F5A-E87E-7469458FBC10}"/>
              </a:ext>
            </a:extLst>
          </p:cNvPr>
          <p:cNvSpPr>
            <a:spLocks noGrp="1"/>
          </p:cNvSpPr>
          <p:nvPr>
            <p:ph type="ftr" sz="quarter" idx="10"/>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9" name="Segnaposto numero diapositiva 3">
            <a:extLst>
              <a:ext uri="{FF2B5EF4-FFF2-40B4-BE49-F238E27FC236}">
                <a16:creationId xmlns:a16="http://schemas.microsoft.com/office/drawing/2014/main" id="{F1999CFC-35C4-FA8D-39A7-3EAA38FC0228}"/>
              </a:ext>
            </a:extLst>
          </p:cNvPr>
          <p:cNvSpPr>
            <a:spLocks noGrp="1"/>
          </p:cNvSpPr>
          <p:nvPr>
            <p:ph type="sldNum" sz="quarter" idx="11"/>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10" name="Segnaposto data 4">
            <a:extLst>
              <a:ext uri="{FF2B5EF4-FFF2-40B4-BE49-F238E27FC236}">
                <a16:creationId xmlns:a16="http://schemas.microsoft.com/office/drawing/2014/main" id="{F1CF5EC1-9368-04D3-E41A-C8B2A2A0B442}"/>
              </a:ext>
            </a:extLst>
          </p:cNvPr>
          <p:cNvSpPr>
            <a:spLocks noGrp="1"/>
          </p:cNvSpPr>
          <p:nvPr>
            <p:ph type="dt" sz="half" idx="1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711572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4" name="Segnaposto piè di pagina 2">
            <a:extLst>
              <a:ext uri="{FF2B5EF4-FFF2-40B4-BE49-F238E27FC236}">
                <a16:creationId xmlns:a16="http://schemas.microsoft.com/office/drawing/2014/main" id="{0CEC5C86-6CC9-3C10-45DB-5160BDA916FF}"/>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5" name="Segnaposto numero diapositiva 3">
            <a:extLst>
              <a:ext uri="{FF2B5EF4-FFF2-40B4-BE49-F238E27FC236}">
                <a16:creationId xmlns:a16="http://schemas.microsoft.com/office/drawing/2014/main" id="{6AA8F63A-CAAF-F756-840E-814652D9EE36}"/>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6" name="Segnaposto data 4">
            <a:extLst>
              <a:ext uri="{FF2B5EF4-FFF2-40B4-BE49-F238E27FC236}">
                <a16:creationId xmlns:a16="http://schemas.microsoft.com/office/drawing/2014/main" id="{C441D9AA-E70F-F5F7-B039-E391B604BE73}"/>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848312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08E4E1D2-0BDC-9D5D-DDF1-AD16FBC9116F}"/>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4" name="Segnaposto numero diapositiva 3">
            <a:extLst>
              <a:ext uri="{FF2B5EF4-FFF2-40B4-BE49-F238E27FC236}">
                <a16:creationId xmlns:a16="http://schemas.microsoft.com/office/drawing/2014/main" id="{4A95C9FB-8188-1A8A-083C-CBBFFB8BFAD0}"/>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5" name="Segnaposto data 4">
            <a:extLst>
              <a:ext uri="{FF2B5EF4-FFF2-40B4-BE49-F238E27FC236}">
                <a16:creationId xmlns:a16="http://schemas.microsoft.com/office/drawing/2014/main" id="{BDF6BA95-60D2-15B4-CBC2-52348264B9A9}"/>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437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30238" y="457200"/>
            <a:ext cx="2949575" cy="1600200"/>
          </a:xfrm>
        </p:spPr>
        <p:txBody>
          <a:bodyPr anchor="b"/>
          <a:lstStyle>
            <a:lvl1pPr>
              <a:defRPr sz="3200"/>
            </a:lvl1pPr>
          </a:lstStyle>
          <a:p>
            <a:r>
              <a:rPr lang="it-IT"/>
              <a:t>Fare clic per modificare stile</a:t>
            </a:r>
            <a:endParaRPr lang="en-US"/>
          </a:p>
        </p:txBody>
      </p:sp>
      <p:sp>
        <p:nvSpPr>
          <p:cNvPr id="3" name="Segnaposto contenuto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6" name="Segnaposto piè di pagina 2">
            <a:extLst>
              <a:ext uri="{FF2B5EF4-FFF2-40B4-BE49-F238E27FC236}">
                <a16:creationId xmlns:a16="http://schemas.microsoft.com/office/drawing/2014/main" id="{9764EA81-1562-758B-1B61-F2724D1AB0B8}"/>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7" name="Segnaposto numero diapositiva 3">
            <a:extLst>
              <a:ext uri="{FF2B5EF4-FFF2-40B4-BE49-F238E27FC236}">
                <a16:creationId xmlns:a16="http://schemas.microsoft.com/office/drawing/2014/main" id="{A57B8857-4442-AE8F-8ADF-A9C29EF8BB94}"/>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8" name="Segnaposto data 4">
            <a:extLst>
              <a:ext uri="{FF2B5EF4-FFF2-40B4-BE49-F238E27FC236}">
                <a16:creationId xmlns:a16="http://schemas.microsoft.com/office/drawing/2014/main" id="{E05CC305-6942-A8A8-6089-53DF6A2BB310}"/>
              </a:ext>
            </a:extLst>
          </p:cNvPr>
          <p:cNvSpPr>
            <a:spLocks noGrp="1"/>
          </p:cNvSpPr>
          <p:nvPr>
            <p:ph type="dt" sz="half" idx="10"/>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410391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30238" y="457200"/>
            <a:ext cx="2949575" cy="1600200"/>
          </a:xfrm>
        </p:spPr>
        <p:txBody>
          <a:bodyPr anchor="b"/>
          <a:lstStyle>
            <a:lvl1pPr>
              <a:defRPr sz="3200"/>
            </a:lvl1pPr>
          </a:lstStyle>
          <a:p>
            <a:r>
              <a:rPr lang="it-IT"/>
              <a:t>Fare clic per modificare stile</a:t>
            </a:r>
            <a:endParaRPr lang="en-US"/>
          </a:p>
        </p:txBody>
      </p:sp>
      <p:sp>
        <p:nvSpPr>
          <p:cNvPr id="3" name="Segnaposto immagine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egnaposto tes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6" name="Segnaposto piè di pagina 2">
            <a:extLst>
              <a:ext uri="{FF2B5EF4-FFF2-40B4-BE49-F238E27FC236}">
                <a16:creationId xmlns:a16="http://schemas.microsoft.com/office/drawing/2014/main" id="{40300144-4B31-5F72-8967-A872DADAF8C7}"/>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7" name="Segnaposto numero diapositiva 3">
            <a:extLst>
              <a:ext uri="{FF2B5EF4-FFF2-40B4-BE49-F238E27FC236}">
                <a16:creationId xmlns:a16="http://schemas.microsoft.com/office/drawing/2014/main" id="{899B7996-3438-D5F4-A3CA-5ADAA9DAA14B}"/>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8" name="Segnaposto data 4">
            <a:extLst>
              <a:ext uri="{FF2B5EF4-FFF2-40B4-BE49-F238E27FC236}">
                <a16:creationId xmlns:a16="http://schemas.microsoft.com/office/drawing/2014/main" id="{94C0DEF1-7E6A-CDC9-D688-FED0B2263D13}"/>
              </a:ext>
            </a:extLst>
          </p:cNvPr>
          <p:cNvSpPr>
            <a:spLocks noGrp="1"/>
          </p:cNvSpPr>
          <p:nvPr>
            <p:ph type="dt" sz="half" idx="10"/>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522570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piè di pagina 2">
            <a:extLst>
              <a:ext uri="{FF2B5EF4-FFF2-40B4-BE49-F238E27FC236}">
                <a16:creationId xmlns:a16="http://schemas.microsoft.com/office/drawing/2014/main" id="{4C905CDB-7467-FE31-17D7-65CA5D3354D6}"/>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25F7CA58-ADE3-77AD-2C19-DB7B67F099DA}"/>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2C8A6E80-30B9-AC82-87ED-D871ED449591}"/>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788769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i">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737350" y="139700"/>
            <a:ext cx="2087563" cy="2671763"/>
          </a:xfrm>
        </p:spPr>
        <p:txBody>
          <a:bodyPr vert="eaVert"/>
          <a:lstStyle/>
          <a:p>
            <a:r>
              <a:rPr lang="it-IT"/>
              <a:t>Fare clic per modificare stile</a:t>
            </a:r>
            <a:endParaRPr lang="en-US"/>
          </a:p>
        </p:txBody>
      </p:sp>
      <p:sp>
        <p:nvSpPr>
          <p:cNvPr id="3" name="Segnaposto testo verticale 2"/>
          <p:cNvSpPr>
            <a:spLocks noGrp="1"/>
          </p:cNvSpPr>
          <p:nvPr>
            <p:ph type="body" orient="vert" idx="1"/>
          </p:nvPr>
        </p:nvSpPr>
        <p:spPr>
          <a:xfrm>
            <a:off x="471488" y="139700"/>
            <a:ext cx="6113462" cy="267176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piè di pagina 2">
            <a:extLst>
              <a:ext uri="{FF2B5EF4-FFF2-40B4-BE49-F238E27FC236}">
                <a16:creationId xmlns:a16="http://schemas.microsoft.com/office/drawing/2014/main" id="{FFD82765-FCC7-EBC6-0162-C5AF118B81AE}"/>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6A84F7C6-A35B-CDB3-A6C7-CB97140D6CEA}"/>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FF92806A-A8FB-0E7A-ECB7-4F7699ECF061}"/>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224336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olo e grafico">
    <p:spTree>
      <p:nvGrpSpPr>
        <p:cNvPr id="1" name=""/>
        <p:cNvGrpSpPr/>
        <p:nvPr/>
      </p:nvGrpSpPr>
      <p:grpSpPr>
        <a:xfrm>
          <a:off x="0" y="0"/>
          <a:ext cx="0" cy="0"/>
          <a:chOff x="0" y="0"/>
          <a:chExt cx="0" cy="0"/>
        </a:xfrm>
      </p:grpSpPr>
      <p:sp>
        <p:nvSpPr>
          <p:cNvPr id="2" name="Titolo 1"/>
          <p:cNvSpPr>
            <a:spLocks noGrp="1"/>
          </p:cNvSpPr>
          <p:nvPr>
            <p:ph type="title"/>
          </p:nvPr>
        </p:nvSpPr>
        <p:spPr>
          <a:xfrm>
            <a:off x="471488" y="139700"/>
            <a:ext cx="8353425" cy="638175"/>
          </a:xfrm>
        </p:spPr>
        <p:txBody>
          <a:bodyPr/>
          <a:lstStyle/>
          <a:p>
            <a:r>
              <a:rPr lang="it-IT"/>
              <a:t>Fare clic per modificare stile</a:t>
            </a:r>
            <a:endParaRPr lang="en-US"/>
          </a:p>
        </p:txBody>
      </p:sp>
      <p:sp>
        <p:nvSpPr>
          <p:cNvPr id="3" name="Segnaposto grafico 2"/>
          <p:cNvSpPr>
            <a:spLocks noGrp="1"/>
          </p:cNvSpPr>
          <p:nvPr>
            <p:ph type="chart" idx="1"/>
          </p:nvPr>
        </p:nvSpPr>
        <p:spPr>
          <a:xfrm>
            <a:off x="471488" y="762000"/>
            <a:ext cx="8353425" cy="2049463"/>
          </a:xfrm>
        </p:spPr>
        <p:txBody>
          <a:bodyPr/>
          <a:lstStyle/>
          <a:p>
            <a:endParaRPr lang="en-US"/>
          </a:p>
        </p:txBody>
      </p:sp>
      <p:sp>
        <p:nvSpPr>
          <p:cNvPr id="5" name="Segnaposto piè di pagina 2">
            <a:extLst>
              <a:ext uri="{FF2B5EF4-FFF2-40B4-BE49-F238E27FC236}">
                <a16:creationId xmlns:a16="http://schemas.microsoft.com/office/drawing/2014/main" id="{7A6E28BC-FD14-F8A8-2A7B-A19276DA5C26}"/>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DE2F638F-33FB-E5C3-748F-7E0D5F2DB5D5}"/>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6C9C593A-8180-DAB2-710D-548F432D7663}"/>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235233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5" name="Titolo 4"/>
          <p:cNvSpPr>
            <a:spLocks noGrp="1"/>
          </p:cNvSpPr>
          <p:nvPr>
            <p:ph type="title"/>
          </p:nvPr>
        </p:nvSpPr>
        <p:spPr/>
        <p:txBody>
          <a:bodyPr/>
          <a:lstStyle/>
          <a:p>
            <a:r>
              <a:rPr lang="it-IT"/>
              <a:t>Fare clic per modificare stile</a:t>
            </a:r>
            <a:endParaRPr lang="en-US"/>
          </a:p>
        </p:txBody>
      </p:sp>
      <p:sp>
        <p:nvSpPr>
          <p:cNvPr id="2" name="Segnaposto piè di pagina 2">
            <a:extLst>
              <a:ext uri="{FF2B5EF4-FFF2-40B4-BE49-F238E27FC236}">
                <a16:creationId xmlns:a16="http://schemas.microsoft.com/office/drawing/2014/main" id="{0BFF3C39-7341-095F-2F31-F8F4A38D6646}"/>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00768EF6-C8A9-6129-D209-ABB52B62FCEB}"/>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AB929AF5-59F4-0296-3FB9-C92CA296C76B}"/>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400119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piè di pagina 2">
            <a:extLst>
              <a:ext uri="{FF2B5EF4-FFF2-40B4-BE49-F238E27FC236}">
                <a16:creationId xmlns:a16="http://schemas.microsoft.com/office/drawing/2014/main" id="{ABEE34C1-062F-1044-5737-D9BE70CAD0A5}"/>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5" name="Segnaposto numero diapositiva 3">
            <a:extLst>
              <a:ext uri="{FF2B5EF4-FFF2-40B4-BE49-F238E27FC236}">
                <a16:creationId xmlns:a16="http://schemas.microsoft.com/office/drawing/2014/main" id="{CD75A515-A302-D821-847B-2EE6333CF82E}"/>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6" name="Segnaposto data 4">
            <a:extLst>
              <a:ext uri="{FF2B5EF4-FFF2-40B4-BE49-F238E27FC236}">
                <a16:creationId xmlns:a16="http://schemas.microsoft.com/office/drawing/2014/main" id="{6B20B92D-4CF5-9232-0E4D-C113499DC653}"/>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8249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623888" y="1709738"/>
            <a:ext cx="7886700" cy="2852737"/>
          </a:xfrm>
        </p:spPr>
        <p:txBody>
          <a:bodyPr anchor="b"/>
          <a:lstStyle>
            <a:lvl1pPr>
              <a:defRPr sz="6000"/>
            </a:lvl1pPr>
          </a:lstStyle>
          <a:p>
            <a:r>
              <a:rPr lang="it-IT"/>
              <a:t>Fare clic per modificare stile</a:t>
            </a:r>
            <a:endParaRPr lang="en-US"/>
          </a:p>
        </p:txBody>
      </p:sp>
      <p:sp>
        <p:nvSpPr>
          <p:cNvPr id="3" name="Segnaposto testo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it-IT"/>
              <a:t>Fare clic per modificare gli stili del testo dello schema</a:t>
            </a:r>
          </a:p>
        </p:txBody>
      </p:sp>
      <p:sp>
        <p:nvSpPr>
          <p:cNvPr id="4" name="Segnaposto piè di pagina 2">
            <a:extLst>
              <a:ext uri="{FF2B5EF4-FFF2-40B4-BE49-F238E27FC236}">
                <a16:creationId xmlns:a16="http://schemas.microsoft.com/office/drawing/2014/main" id="{824B1E60-1306-1907-159E-08BA3FEAE3AE}"/>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5" name="Segnaposto numero diapositiva 3">
            <a:extLst>
              <a:ext uri="{FF2B5EF4-FFF2-40B4-BE49-F238E27FC236}">
                <a16:creationId xmlns:a16="http://schemas.microsoft.com/office/drawing/2014/main" id="{6C9E6941-AE6F-5224-71DE-6FA9F6EB4A14}"/>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6" name="Segnaposto data 4">
            <a:extLst>
              <a:ext uri="{FF2B5EF4-FFF2-40B4-BE49-F238E27FC236}">
                <a16:creationId xmlns:a16="http://schemas.microsoft.com/office/drawing/2014/main" id="{522D6B40-455F-9AAD-2F85-337CEA73F4EA}"/>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2073070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sz="half" idx="1"/>
          </p:nvPr>
        </p:nvSpPr>
        <p:spPr>
          <a:xfrm>
            <a:off x="471488" y="762000"/>
            <a:ext cx="4100512" cy="20494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p:cNvSpPr>
            <a:spLocks noGrp="1"/>
          </p:cNvSpPr>
          <p:nvPr>
            <p:ph sz="half" idx="2"/>
          </p:nvPr>
        </p:nvSpPr>
        <p:spPr>
          <a:xfrm>
            <a:off x="4724400" y="762000"/>
            <a:ext cx="4100513" cy="20494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piè di pagina 2">
            <a:extLst>
              <a:ext uri="{FF2B5EF4-FFF2-40B4-BE49-F238E27FC236}">
                <a16:creationId xmlns:a16="http://schemas.microsoft.com/office/drawing/2014/main" id="{7A40B53E-C559-CE26-EFCD-5F103461E18F}"/>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82E6E3C3-48E4-A535-E3BB-B980F848729B}"/>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2D0A17C5-3139-88B6-0440-9C290A394FAA}"/>
              </a:ext>
            </a:extLst>
          </p:cNvPr>
          <p:cNvSpPr>
            <a:spLocks noGrp="1"/>
          </p:cNvSpPr>
          <p:nvPr>
            <p:ph type="dt" sz="half" idx="10"/>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314022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630238" y="365125"/>
            <a:ext cx="7886700" cy="1325563"/>
          </a:xfrm>
        </p:spPr>
        <p:txBody>
          <a:bodyPr/>
          <a:lstStyle/>
          <a:p>
            <a:r>
              <a:rPr lang="it-IT"/>
              <a:t>Fare clic per modificare stile</a:t>
            </a:r>
            <a:endParaRPr lang="en-US"/>
          </a:p>
        </p:txBody>
      </p:sp>
      <p:sp>
        <p:nvSpPr>
          <p:cNvPr id="3" name="Segnaposto testo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630238" y="2505075"/>
            <a:ext cx="386873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testo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4629150" y="2505075"/>
            <a:ext cx="38877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piè di pagina 2">
            <a:extLst>
              <a:ext uri="{FF2B5EF4-FFF2-40B4-BE49-F238E27FC236}">
                <a16:creationId xmlns:a16="http://schemas.microsoft.com/office/drawing/2014/main" id="{D5A0F47A-0FAC-6118-5543-DFF6623C19B9}"/>
              </a:ext>
            </a:extLst>
          </p:cNvPr>
          <p:cNvSpPr>
            <a:spLocks noGrp="1"/>
          </p:cNvSpPr>
          <p:nvPr>
            <p:ph type="ftr" sz="quarter" idx="10"/>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8" name="Segnaposto numero diapositiva 3">
            <a:extLst>
              <a:ext uri="{FF2B5EF4-FFF2-40B4-BE49-F238E27FC236}">
                <a16:creationId xmlns:a16="http://schemas.microsoft.com/office/drawing/2014/main" id="{9FBEC11C-33D9-20EA-A937-66B5E52ED793}"/>
              </a:ext>
            </a:extLst>
          </p:cNvPr>
          <p:cNvSpPr>
            <a:spLocks noGrp="1"/>
          </p:cNvSpPr>
          <p:nvPr>
            <p:ph type="sldNum" sz="quarter" idx="11"/>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9" name="Segnaposto data 4">
            <a:extLst>
              <a:ext uri="{FF2B5EF4-FFF2-40B4-BE49-F238E27FC236}">
                <a16:creationId xmlns:a16="http://schemas.microsoft.com/office/drawing/2014/main" id="{5D9756C3-5ED4-CBA9-7FDF-C19C0E4B5B6A}"/>
              </a:ext>
            </a:extLst>
          </p:cNvPr>
          <p:cNvSpPr>
            <a:spLocks noGrp="1"/>
          </p:cNvSpPr>
          <p:nvPr>
            <p:ph type="dt" sz="half" idx="1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2027052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piè di pagina 2">
            <a:extLst>
              <a:ext uri="{FF2B5EF4-FFF2-40B4-BE49-F238E27FC236}">
                <a16:creationId xmlns:a16="http://schemas.microsoft.com/office/drawing/2014/main" id="{068D5411-9D01-3AFD-468C-32088AFCAB19}"/>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4" name="Segnaposto numero diapositiva 3">
            <a:extLst>
              <a:ext uri="{FF2B5EF4-FFF2-40B4-BE49-F238E27FC236}">
                <a16:creationId xmlns:a16="http://schemas.microsoft.com/office/drawing/2014/main" id="{97AF460D-B6AA-0565-155E-22CB70607EF9}"/>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5" name="Segnaposto data 4">
            <a:extLst>
              <a:ext uri="{FF2B5EF4-FFF2-40B4-BE49-F238E27FC236}">
                <a16:creationId xmlns:a16="http://schemas.microsoft.com/office/drawing/2014/main" id="{FEC20EBA-DD20-E705-CE35-804560ED678C}"/>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7219329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piè di pagina 2">
            <a:extLst>
              <a:ext uri="{FF2B5EF4-FFF2-40B4-BE49-F238E27FC236}">
                <a16:creationId xmlns:a16="http://schemas.microsoft.com/office/drawing/2014/main" id="{CA791635-DC29-B779-37ED-E048C483A4C1}"/>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3" name="Segnaposto numero diapositiva 3">
            <a:extLst>
              <a:ext uri="{FF2B5EF4-FFF2-40B4-BE49-F238E27FC236}">
                <a16:creationId xmlns:a16="http://schemas.microsoft.com/office/drawing/2014/main" id="{90E45E21-80E8-FA91-548E-69213720A3C7}"/>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4" name="Segnaposto data 4">
            <a:extLst>
              <a:ext uri="{FF2B5EF4-FFF2-40B4-BE49-F238E27FC236}">
                <a16:creationId xmlns:a16="http://schemas.microsoft.com/office/drawing/2014/main" id="{A6B80C0A-4B2A-B36B-A769-EC946C2158C5}"/>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210693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30238" y="457200"/>
            <a:ext cx="2949575" cy="1600200"/>
          </a:xfrm>
        </p:spPr>
        <p:txBody>
          <a:bodyPr anchor="b"/>
          <a:lstStyle>
            <a:lvl1pPr>
              <a:defRPr sz="3200"/>
            </a:lvl1pPr>
          </a:lstStyle>
          <a:p>
            <a:r>
              <a:rPr lang="it-IT"/>
              <a:t>Fare clic per modificare stile</a:t>
            </a:r>
            <a:endParaRPr lang="en-US"/>
          </a:p>
        </p:txBody>
      </p:sp>
      <p:sp>
        <p:nvSpPr>
          <p:cNvPr id="3" name="Segnaposto contenuto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piè di pagina 2">
            <a:extLst>
              <a:ext uri="{FF2B5EF4-FFF2-40B4-BE49-F238E27FC236}">
                <a16:creationId xmlns:a16="http://schemas.microsoft.com/office/drawing/2014/main" id="{8C002EAF-782D-8F47-5037-1EF1F2D4CB41}"/>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C730EA49-6C80-99ED-5558-510F84D9B5D3}"/>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CEA195DE-32EE-CA6E-F847-98626353FBC4}"/>
              </a:ext>
            </a:extLst>
          </p:cNvPr>
          <p:cNvSpPr>
            <a:spLocks noGrp="1"/>
          </p:cNvSpPr>
          <p:nvPr>
            <p:ph type="dt" sz="half" idx="10"/>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690778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30238" y="457200"/>
            <a:ext cx="2949575" cy="1600200"/>
          </a:xfrm>
        </p:spPr>
        <p:txBody>
          <a:bodyPr anchor="b"/>
          <a:lstStyle>
            <a:lvl1pPr>
              <a:defRPr sz="3200"/>
            </a:lvl1pPr>
          </a:lstStyle>
          <a:p>
            <a:r>
              <a:rPr lang="it-IT"/>
              <a:t>Fare clic per modificare stile</a:t>
            </a:r>
            <a:endParaRPr lang="en-US"/>
          </a:p>
        </p:txBody>
      </p:sp>
      <p:sp>
        <p:nvSpPr>
          <p:cNvPr id="3" name="Segnaposto immagine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egnaposto tes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piè di pagina 2">
            <a:extLst>
              <a:ext uri="{FF2B5EF4-FFF2-40B4-BE49-F238E27FC236}">
                <a16:creationId xmlns:a16="http://schemas.microsoft.com/office/drawing/2014/main" id="{7BAF8765-C1C7-F701-8F99-39F1120ADE49}"/>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6" name="Segnaposto numero diapositiva 3">
            <a:extLst>
              <a:ext uri="{FF2B5EF4-FFF2-40B4-BE49-F238E27FC236}">
                <a16:creationId xmlns:a16="http://schemas.microsoft.com/office/drawing/2014/main" id="{7E5FCCF2-9D7B-6E18-B726-55CBDCD324C3}"/>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7" name="Segnaposto data 4">
            <a:extLst>
              <a:ext uri="{FF2B5EF4-FFF2-40B4-BE49-F238E27FC236}">
                <a16:creationId xmlns:a16="http://schemas.microsoft.com/office/drawing/2014/main" id="{B8609948-AA2B-8B95-F40F-11A480B34A67}"/>
              </a:ext>
            </a:extLst>
          </p:cNvPr>
          <p:cNvSpPr>
            <a:spLocks noGrp="1"/>
          </p:cNvSpPr>
          <p:nvPr>
            <p:ph type="dt" sz="half" idx="10"/>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4594499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piè di pagina 2">
            <a:extLst>
              <a:ext uri="{FF2B5EF4-FFF2-40B4-BE49-F238E27FC236}">
                <a16:creationId xmlns:a16="http://schemas.microsoft.com/office/drawing/2014/main" id="{E46DFFE5-F418-6468-39D2-84248E6B4771}"/>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5" name="Segnaposto numero diapositiva 3">
            <a:extLst>
              <a:ext uri="{FF2B5EF4-FFF2-40B4-BE49-F238E27FC236}">
                <a16:creationId xmlns:a16="http://schemas.microsoft.com/office/drawing/2014/main" id="{8EE4E585-4BB7-3A99-6770-54E869B52923}"/>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6" name="Segnaposto data 4">
            <a:extLst>
              <a:ext uri="{FF2B5EF4-FFF2-40B4-BE49-F238E27FC236}">
                <a16:creationId xmlns:a16="http://schemas.microsoft.com/office/drawing/2014/main" id="{8CAB09BB-8F8E-900D-7906-2EEEC2B5A9BC}"/>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2491176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itolo e testo verticali">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737350" y="139700"/>
            <a:ext cx="2087563" cy="2671763"/>
          </a:xfrm>
        </p:spPr>
        <p:txBody>
          <a:bodyPr vert="eaVert"/>
          <a:lstStyle/>
          <a:p>
            <a:r>
              <a:rPr lang="it-IT"/>
              <a:t>Fare clic per modificare stile</a:t>
            </a:r>
            <a:endParaRPr lang="en-US"/>
          </a:p>
        </p:txBody>
      </p:sp>
      <p:sp>
        <p:nvSpPr>
          <p:cNvPr id="3" name="Segnaposto testo verticale 2"/>
          <p:cNvSpPr>
            <a:spLocks noGrp="1"/>
          </p:cNvSpPr>
          <p:nvPr>
            <p:ph type="body" orient="vert" idx="1"/>
          </p:nvPr>
        </p:nvSpPr>
        <p:spPr>
          <a:xfrm>
            <a:off x="471488" y="139700"/>
            <a:ext cx="6113462" cy="267176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piè di pagina 2">
            <a:extLst>
              <a:ext uri="{FF2B5EF4-FFF2-40B4-BE49-F238E27FC236}">
                <a16:creationId xmlns:a16="http://schemas.microsoft.com/office/drawing/2014/main" id="{213036F4-1957-525F-45AA-33DEE79E87F2}"/>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5" name="Segnaposto numero diapositiva 3">
            <a:extLst>
              <a:ext uri="{FF2B5EF4-FFF2-40B4-BE49-F238E27FC236}">
                <a16:creationId xmlns:a16="http://schemas.microsoft.com/office/drawing/2014/main" id="{D2859164-46B7-249B-7CEA-24103971B45F}"/>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6" name="Segnaposto data 4">
            <a:extLst>
              <a:ext uri="{FF2B5EF4-FFF2-40B4-BE49-F238E27FC236}">
                <a16:creationId xmlns:a16="http://schemas.microsoft.com/office/drawing/2014/main" id="{0358B618-85BD-4743-1992-32FC1BD1139F}"/>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2726607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chart" preserve="1">
  <p:cSld name="Titolo e grafico">
    <p:spTree>
      <p:nvGrpSpPr>
        <p:cNvPr id="1" name=""/>
        <p:cNvGrpSpPr/>
        <p:nvPr/>
      </p:nvGrpSpPr>
      <p:grpSpPr>
        <a:xfrm>
          <a:off x="0" y="0"/>
          <a:ext cx="0" cy="0"/>
          <a:chOff x="0" y="0"/>
          <a:chExt cx="0" cy="0"/>
        </a:xfrm>
      </p:grpSpPr>
      <p:sp>
        <p:nvSpPr>
          <p:cNvPr id="2" name="Titolo 1"/>
          <p:cNvSpPr>
            <a:spLocks noGrp="1"/>
          </p:cNvSpPr>
          <p:nvPr>
            <p:ph type="title"/>
          </p:nvPr>
        </p:nvSpPr>
        <p:spPr>
          <a:xfrm>
            <a:off x="471488" y="139700"/>
            <a:ext cx="8353425" cy="638175"/>
          </a:xfrm>
        </p:spPr>
        <p:txBody>
          <a:bodyPr/>
          <a:lstStyle/>
          <a:p>
            <a:r>
              <a:rPr lang="it-IT"/>
              <a:t>Fare clic per modificare stile</a:t>
            </a:r>
            <a:endParaRPr lang="en-US"/>
          </a:p>
        </p:txBody>
      </p:sp>
      <p:sp>
        <p:nvSpPr>
          <p:cNvPr id="3" name="Segnaposto grafico 2"/>
          <p:cNvSpPr>
            <a:spLocks noGrp="1"/>
          </p:cNvSpPr>
          <p:nvPr>
            <p:ph type="chart" idx="1"/>
          </p:nvPr>
        </p:nvSpPr>
        <p:spPr>
          <a:xfrm>
            <a:off x="471488" y="762000"/>
            <a:ext cx="8353425" cy="2049463"/>
          </a:xfrm>
        </p:spPr>
        <p:txBody>
          <a:bodyPr/>
          <a:lstStyle/>
          <a:p>
            <a:endParaRPr lang="en-US"/>
          </a:p>
        </p:txBody>
      </p:sp>
      <p:sp>
        <p:nvSpPr>
          <p:cNvPr id="4" name="Segnaposto piè di pagina 2">
            <a:extLst>
              <a:ext uri="{FF2B5EF4-FFF2-40B4-BE49-F238E27FC236}">
                <a16:creationId xmlns:a16="http://schemas.microsoft.com/office/drawing/2014/main" id="{CF4E4C63-9288-0C2B-7FF8-EAC8E3B724CF}"/>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5" name="Segnaposto numero diapositiva 3">
            <a:extLst>
              <a:ext uri="{FF2B5EF4-FFF2-40B4-BE49-F238E27FC236}">
                <a16:creationId xmlns:a16="http://schemas.microsoft.com/office/drawing/2014/main" id="{852401F5-F805-3842-4820-CDE303F9FCF8}"/>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6" name="Segnaposto data 4">
            <a:extLst>
              <a:ext uri="{FF2B5EF4-FFF2-40B4-BE49-F238E27FC236}">
                <a16:creationId xmlns:a16="http://schemas.microsoft.com/office/drawing/2014/main" id="{D443BC64-5235-2480-A55E-4D19467096B8}"/>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1744808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dgm" preserve="1">
  <p:cSld name="Titolo, diagramma o organigramma">
    <p:spTree>
      <p:nvGrpSpPr>
        <p:cNvPr id="1" name=""/>
        <p:cNvGrpSpPr/>
        <p:nvPr/>
      </p:nvGrpSpPr>
      <p:grpSpPr>
        <a:xfrm>
          <a:off x="0" y="0"/>
          <a:ext cx="0" cy="0"/>
          <a:chOff x="0" y="0"/>
          <a:chExt cx="0" cy="0"/>
        </a:xfrm>
      </p:grpSpPr>
      <p:sp>
        <p:nvSpPr>
          <p:cNvPr id="2" name="Titolo 1"/>
          <p:cNvSpPr>
            <a:spLocks noGrp="1"/>
          </p:cNvSpPr>
          <p:nvPr>
            <p:ph type="title"/>
          </p:nvPr>
        </p:nvSpPr>
        <p:spPr>
          <a:xfrm>
            <a:off x="471488" y="139700"/>
            <a:ext cx="8353425" cy="638175"/>
          </a:xfrm>
        </p:spPr>
        <p:txBody>
          <a:bodyPr/>
          <a:lstStyle/>
          <a:p>
            <a:r>
              <a:rPr lang="it-IT"/>
              <a:t>Fare clic per modificare stile</a:t>
            </a:r>
            <a:endParaRPr lang="en-US"/>
          </a:p>
        </p:txBody>
      </p:sp>
      <p:sp>
        <p:nvSpPr>
          <p:cNvPr id="3" name="Segnaposto SmartArt 2"/>
          <p:cNvSpPr>
            <a:spLocks noGrp="1"/>
          </p:cNvSpPr>
          <p:nvPr>
            <p:ph type="dgm" idx="1"/>
          </p:nvPr>
        </p:nvSpPr>
        <p:spPr>
          <a:xfrm>
            <a:off x="471488" y="762000"/>
            <a:ext cx="8353425" cy="2049463"/>
          </a:xfrm>
        </p:spPr>
        <p:txBody>
          <a:bodyPr/>
          <a:lstStyle/>
          <a:p>
            <a:endParaRPr lang="en-US"/>
          </a:p>
        </p:txBody>
      </p:sp>
      <p:sp>
        <p:nvSpPr>
          <p:cNvPr id="4" name="Segnaposto piè di pagina 2">
            <a:extLst>
              <a:ext uri="{FF2B5EF4-FFF2-40B4-BE49-F238E27FC236}">
                <a16:creationId xmlns:a16="http://schemas.microsoft.com/office/drawing/2014/main" id="{36EF7984-99E9-D285-BCAC-592DEE85336F}"/>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5" name="Segnaposto numero diapositiva 3">
            <a:extLst>
              <a:ext uri="{FF2B5EF4-FFF2-40B4-BE49-F238E27FC236}">
                <a16:creationId xmlns:a16="http://schemas.microsoft.com/office/drawing/2014/main" id="{7E0BE936-CA6A-6666-F7A2-087A9AF14B2B}"/>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6" name="Segnaposto data 4">
            <a:extLst>
              <a:ext uri="{FF2B5EF4-FFF2-40B4-BE49-F238E27FC236}">
                <a16:creationId xmlns:a16="http://schemas.microsoft.com/office/drawing/2014/main" id="{231D2727-0E69-6DBE-2999-CF92748EB8F9}"/>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991381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1488" y="139700"/>
            <a:ext cx="8353425" cy="638175"/>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7" tIns="44450" rIns="90487" bIns="44450" numCol="1" anchor="ctr" anchorCtr="0" compatLnSpc="1">
            <a:prstTxWarp prst="textNoShape">
              <a:avLst/>
            </a:prstTxWarp>
            <a:spAutoFit/>
          </a:bodyPr>
          <a:lstStyle/>
          <a:p>
            <a:pPr lvl="0"/>
            <a:r>
              <a:rPr lang="en-US" altLang="it-IT"/>
              <a:t>Click to edit Master title style</a:t>
            </a:r>
          </a:p>
        </p:txBody>
      </p:sp>
      <p:sp>
        <p:nvSpPr>
          <p:cNvPr id="1027" name="Rectangle 3"/>
          <p:cNvSpPr>
            <a:spLocks noGrp="1" noChangeArrowheads="1"/>
          </p:cNvSpPr>
          <p:nvPr>
            <p:ph type="body" idx="1"/>
          </p:nvPr>
        </p:nvSpPr>
        <p:spPr bwMode="auto">
          <a:xfrm>
            <a:off x="471488" y="762000"/>
            <a:ext cx="8353425" cy="2049463"/>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7" tIns="44450" rIns="90487" bIns="44450" numCol="1" anchor="t" anchorCtr="0" compatLnSpc="1">
            <a:prstTxWarp prst="textNoShape">
              <a:avLst/>
            </a:prstTxWarp>
            <a:spAutoFit/>
          </a:bodyPr>
          <a:lstStyle/>
          <a:p>
            <a:pPr lvl="0"/>
            <a:r>
              <a:rPr lang="en-US" altLang="it-IT"/>
              <a:t>Click to edit Master text styles</a:t>
            </a:r>
          </a:p>
          <a:p>
            <a:pPr lvl="1"/>
            <a:r>
              <a:rPr lang="en-US" altLang="it-IT"/>
              <a:t>Second level</a:t>
            </a:r>
          </a:p>
          <a:p>
            <a:pPr lvl="2"/>
            <a:r>
              <a:rPr lang="en-US" altLang="it-IT"/>
              <a:t>Third level</a:t>
            </a:r>
          </a:p>
          <a:p>
            <a:pPr lvl="3"/>
            <a:r>
              <a:rPr lang="en-US" altLang="it-IT"/>
              <a:t>Fourth level</a:t>
            </a:r>
          </a:p>
          <a:p>
            <a:pPr lvl="4"/>
            <a:r>
              <a:rPr lang="en-US" altLang="it-IT"/>
              <a:t>Fifth level</a:t>
            </a:r>
          </a:p>
        </p:txBody>
      </p:sp>
      <p:sp>
        <p:nvSpPr>
          <p:cNvPr id="1028" name="Line 4"/>
          <p:cNvSpPr>
            <a:spLocks noChangeShapeType="1"/>
          </p:cNvSpPr>
          <p:nvPr/>
        </p:nvSpPr>
        <p:spPr bwMode="auto">
          <a:xfrm>
            <a:off x="457200" y="762000"/>
            <a:ext cx="8382000" cy="0"/>
          </a:xfrm>
          <a:prstGeom prst="line">
            <a:avLst/>
          </a:prstGeom>
          <a:noFill/>
          <a:ln w="57150" cmpd="thickThin">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 name="Segnaposto piè di pagina 2">
            <a:extLst>
              <a:ext uri="{FF2B5EF4-FFF2-40B4-BE49-F238E27FC236}">
                <a16:creationId xmlns:a16="http://schemas.microsoft.com/office/drawing/2014/main" id="{5046F2D3-7315-AC93-0AC9-FE1CB468D923}"/>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4" name="Segnaposto numero diapositiva 3">
            <a:extLst>
              <a:ext uri="{FF2B5EF4-FFF2-40B4-BE49-F238E27FC236}">
                <a16:creationId xmlns:a16="http://schemas.microsoft.com/office/drawing/2014/main" id="{182CE342-B6CA-8D40-CB6D-E38D951C1CB1}"/>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5" name="Segnaposto data 4">
            <a:extLst>
              <a:ext uri="{FF2B5EF4-FFF2-40B4-BE49-F238E27FC236}">
                <a16:creationId xmlns:a16="http://schemas.microsoft.com/office/drawing/2014/main" id="{876E4930-CDEA-8592-2565-5CCF86C05297}"/>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Helvetica" charset="0"/>
        </a:defRPr>
      </a:lvl2pPr>
      <a:lvl3pPr algn="ctr" rtl="0" eaLnBrk="0" fontAlgn="base" hangingPunct="0">
        <a:spcBef>
          <a:spcPct val="0"/>
        </a:spcBef>
        <a:spcAft>
          <a:spcPct val="0"/>
        </a:spcAft>
        <a:defRPr sz="3600" b="1">
          <a:solidFill>
            <a:schemeClr val="tx2"/>
          </a:solidFill>
          <a:latin typeface="Helvetica" charset="0"/>
        </a:defRPr>
      </a:lvl3pPr>
      <a:lvl4pPr algn="ctr" rtl="0" eaLnBrk="0" fontAlgn="base" hangingPunct="0">
        <a:spcBef>
          <a:spcPct val="0"/>
        </a:spcBef>
        <a:spcAft>
          <a:spcPct val="0"/>
        </a:spcAft>
        <a:defRPr sz="3600" b="1">
          <a:solidFill>
            <a:schemeClr val="tx2"/>
          </a:solidFill>
          <a:latin typeface="Helvetica" charset="0"/>
        </a:defRPr>
      </a:lvl4pPr>
      <a:lvl5pPr algn="ctr" rtl="0" eaLnBrk="0" fontAlgn="base" hangingPunct="0">
        <a:spcBef>
          <a:spcPct val="0"/>
        </a:spcBef>
        <a:spcAft>
          <a:spcPct val="0"/>
        </a:spcAft>
        <a:defRPr sz="3600" b="1">
          <a:solidFill>
            <a:schemeClr val="tx2"/>
          </a:solidFill>
          <a:latin typeface="Helvetica" charset="0"/>
        </a:defRPr>
      </a:lvl5pPr>
      <a:lvl6pPr marL="457200" algn="ctr" rtl="0" eaLnBrk="0" fontAlgn="base" hangingPunct="0">
        <a:spcBef>
          <a:spcPct val="0"/>
        </a:spcBef>
        <a:spcAft>
          <a:spcPct val="0"/>
        </a:spcAft>
        <a:defRPr sz="3600" b="1">
          <a:solidFill>
            <a:schemeClr val="tx2"/>
          </a:solidFill>
          <a:latin typeface="Helvetica" charset="0"/>
        </a:defRPr>
      </a:lvl6pPr>
      <a:lvl7pPr marL="914400" algn="ctr" rtl="0" eaLnBrk="0" fontAlgn="base" hangingPunct="0">
        <a:spcBef>
          <a:spcPct val="0"/>
        </a:spcBef>
        <a:spcAft>
          <a:spcPct val="0"/>
        </a:spcAft>
        <a:defRPr sz="3600" b="1">
          <a:solidFill>
            <a:schemeClr val="tx2"/>
          </a:solidFill>
          <a:latin typeface="Helvetica" charset="0"/>
        </a:defRPr>
      </a:lvl7pPr>
      <a:lvl8pPr marL="1371600" algn="ctr" rtl="0" eaLnBrk="0" fontAlgn="base" hangingPunct="0">
        <a:spcBef>
          <a:spcPct val="0"/>
        </a:spcBef>
        <a:spcAft>
          <a:spcPct val="0"/>
        </a:spcAft>
        <a:defRPr sz="3600" b="1">
          <a:solidFill>
            <a:schemeClr val="tx2"/>
          </a:solidFill>
          <a:latin typeface="Helvetica" charset="0"/>
        </a:defRPr>
      </a:lvl8pPr>
      <a:lvl9pPr marL="1828800" algn="ctr" rtl="0" eaLnBrk="0" fontAlgn="base" hangingPunct="0">
        <a:spcBef>
          <a:spcPct val="0"/>
        </a:spcBef>
        <a:spcAft>
          <a:spcPct val="0"/>
        </a:spcAft>
        <a:defRPr sz="3600" b="1">
          <a:solidFill>
            <a:schemeClr val="tx2"/>
          </a:solidFill>
          <a:latin typeface="Helvetica" charset="0"/>
        </a:defRPr>
      </a:lvl9pPr>
    </p:titleStyle>
    <p:bodyStyle>
      <a:lvl1pPr marL="342900" indent="-342900" algn="l" rtl="0" eaLnBrk="0" fontAlgn="base" hangingPunct="0">
        <a:spcBef>
          <a:spcPct val="20000"/>
        </a:spcBef>
        <a:spcAft>
          <a:spcPct val="0"/>
        </a:spcAft>
        <a:buSzPct val="10000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SzPct val="10000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SzPct val="10000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SzPct val="10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1488" y="139700"/>
            <a:ext cx="8353425" cy="638175"/>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7" tIns="44450" rIns="90487" bIns="44450" numCol="1" anchor="ctr" anchorCtr="0" compatLnSpc="1">
            <a:prstTxWarp prst="textNoShape">
              <a:avLst/>
            </a:prstTxWarp>
            <a:spAutoFit/>
          </a:bodyPr>
          <a:lstStyle/>
          <a:p>
            <a:pPr lvl="0"/>
            <a:r>
              <a:rPr lang="en-US" altLang="it-IT"/>
              <a:t>Click to edit Master title style</a:t>
            </a:r>
          </a:p>
        </p:txBody>
      </p:sp>
      <p:sp>
        <p:nvSpPr>
          <p:cNvPr id="1027" name="Rectangle 3"/>
          <p:cNvSpPr>
            <a:spLocks noGrp="1" noChangeArrowheads="1"/>
          </p:cNvSpPr>
          <p:nvPr>
            <p:ph type="body" idx="1"/>
          </p:nvPr>
        </p:nvSpPr>
        <p:spPr bwMode="auto">
          <a:xfrm>
            <a:off x="471488" y="762000"/>
            <a:ext cx="8353425" cy="2049463"/>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7" tIns="44450" rIns="90487" bIns="44450" numCol="1" anchor="t" anchorCtr="0" compatLnSpc="1">
            <a:prstTxWarp prst="textNoShape">
              <a:avLst/>
            </a:prstTxWarp>
            <a:spAutoFit/>
          </a:bodyPr>
          <a:lstStyle/>
          <a:p>
            <a:pPr lvl="0"/>
            <a:r>
              <a:rPr lang="en-US" altLang="it-IT"/>
              <a:t>Click to edit Master text styles</a:t>
            </a:r>
          </a:p>
          <a:p>
            <a:pPr lvl="1"/>
            <a:r>
              <a:rPr lang="en-US" altLang="it-IT"/>
              <a:t>Second level</a:t>
            </a:r>
          </a:p>
          <a:p>
            <a:pPr lvl="2"/>
            <a:r>
              <a:rPr lang="en-US" altLang="it-IT"/>
              <a:t>Third level</a:t>
            </a:r>
          </a:p>
          <a:p>
            <a:pPr lvl="3"/>
            <a:r>
              <a:rPr lang="en-US" altLang="it-IT"/>
              <a:t>Fourth level</a:t>
            </a:r>
          </a:p>
          <a:p>
            <a:pPr lvl="4"/>
            <a:r>
              <a:rPr lang="en-US" altLang="it-IT"/>
              <a:t>Fifth level</a:t>
            </a:r>
          </a:p>
        </p:txBody>
      </p:sp>
      <p:sp>
        <p:nvSpPr>
          <p:cNvPr id="1028" name="Line 4"/>
          <p:cNvSpPr>
            <a:spLocks noChangeShapeType="1"/>
          </p:cNvSpPr>
          <p:nvPr/>
        </p:nvSpPr>
        <p:spPr bwMode="auto">
          <a:xfrm>
            <a:off x="457200" y="762000"/>
            <a:ext cx="8382000" cy="0"/>
          </a:xfrm>
          <a:prstGeom prst="line">
            <a:avLst/>
          </a:prstGeom>
          <a:noFill/>
          <a:ln w="57150" cmpd="thickThin">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2" name="Segnaposto piè di pagina 2">
            <a:extLst>
              <a:ext uri="{FF2B5EF4-FFF2-40B4-BE49-F238E27FC236}">
                <a16:creationId xmlns:a16="http://schemas.microsoft.com/office/drawing/2014/main" id="{938CCA05-7354-1202-761D-65C3E8FEFBF3}"/>
              </a:ext>
            </a:extLst>
          </p:cNvPr>
          <p:cNvSpPr>
            <a:spLocks noGrp="1"/>
          </p:cNvSpPr>
          <p:nvPr>
            <p:ph type="ftr" sz="quarter" idx="3"/>
          </p:nvPr>
        </p:nvSpPr>
        <p:spPr>
          <a:xfrm>
            <a:off x="2703984" y="6579874"/>
            <a:ext cx="3888432" cy="276852"/>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paolo.bocciarelli@uniroma2.it</a:t>
            </a:r>
          </a:p>
        </p:txBody>
      </p:sp>
      <p:sp>
        <p:nvSpPr>
          <p:cNvPr id="4" name="Segnaposto numero diapositiva 3">
            <a:extLst>
              <a:ext uri="{FF2B5EF4-FFF2-40B4-BE49-F238E27FC236}">
                <a16:creationId xmlns:a16="http://schemas.microsoft.com/office/drawing/2014/main" id="{713CC689-1BA9-EB86-110A-8228CF21A2C8}"/>
              </a:ext>
            </a:extLst>
          </p:cNvPr>
          <p:cNvSpPr>
            <a:spLocks noGrp="1"/>
          </p:cNvSpPr>
          <p:nvPr>
            <p:ph type="sldNum" sz="quarter" idx="4"/>
          </p:nvPr>
        </p:nvSpPr>
        <p:spPr>
          <a:xfrm>
            <a:off x="6839744" y="6581148"/>
            <a:ext cx="2304256" cy="276852"/>
          </a:xfrm>
          <a:prstGeom prst="rect">
            <a:avLst/>
          </a:prstGeom>
        </p:spPr>
        <p:txBody>
          <a:bodyPr vert="horz" lIns="91440" tIns="45720" rIns="91440" bIns="45720" rtlCol="0" anchor="ctr"/>
          <a:lstStyle>
            <a:lvl1pPr algn="r">
              <a:defRPr sz="1200">
                <a:solidFill>
                  <a:schemeClr val="tx1">
                    <a:tint val="82000"/>
                  </a:schemeClr>
                </a:solidFill>
              </a:defRPr>
            </a:lvl1pPr>
          </a:lstStyle>
          <a:p>
            <a:fld id="{9BFB3A76-8619-A843-8C67-B9C7C140DBAC}" type="slidenum">
              <a:rPr lang="en-US" smtClean="0"/>
              <a:t>‹N›</a:t>
            </a:fld>
            <a:endParaRPr lang="en-US"/>
          </a:p>
        </p:txBody>
      </p:sp>
      <p:sp>
        <p:nvSpPr>
          <p:cNvPr id="5" name="Segnaposto data 4">
            <a:extLst>
              <a:ext uri="{FF2B5EF4-FFF2-40B4-BE49-F238E27FC236}">
                <a16:creationId xmlns:a16="http://schemas.microsoft.com/office/drawing/2014/main" id="{3189B94E-10D8-1A9B-0C11-DFDECEB1E401}"/>
              </a:ext>
            </a:extLst>
          </p:cNvPr>
          <p:cNvSpPr>
            <a:spLocks noGrp="1"/>
          </p:cNvSpPr>
          <p:nvPr>
            <p:ph type="dt" sz="half" idx="2"/>
          </p:nvPr>
        </p:nvSpPr>
        <p:spPr>
          <a:xfrm>
            <a:off x="0" y="6579874"/>
            <a:ext cx="3086100" cy="276852"/>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Distributed Simulation Systems</a:t>
            </a:r>
            <a:endParaRPr lang="en-US"/>
          </a:p>
        </p:txBody>
      </p:sp>
    </p:spTree>
    <p:extLst>
      <p:ext uri="{BB962C8B-B14F-4D97-AF65-F5344CB8AC3E}">
        <p14:creationId xmlns:p14="http://schemas.microsoft.com/office/powerpoint/2010/main" val="154393916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p:txStyles>
    <p:title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Helvetica" charset="0"/>
        </a:defRPr>
      </a:lvl2pPr>
      <a:lvl3pPr algn="ctr" rtl="0" eaLnBrk="0" fontAlgn="base" hangingPunct="0">
        <a:spcBef>
          <a:spcPct val="0"/>
        </a:spcBef>
        <a:spcAft>
          <a:spcPct val="0"/>
        </a:spcAft>
        <a:defRPr sz="3600" b="1">
          <a:solidFill>
            <a:schemeClr val="tx2"/>
          </a:solidFill>
          <a:latin typeface="Helvetica" charset="0"/>
        </a:defRPr>
      </a:lvl3pPr>
      <a:lvl4pPr algn="ctr" rtl="0" eaLnBrk="0" fontAlgn="base" hangingPunct="0">
        <a:spcBef>
          <a:spcPct val="0"/>
        </a:spcBef>
        <a:spcAft>
          <a:spcPct val="0"/>
        </a:spcAft>
        <a:defRPr sz="3600" b="1">
          <a:solidFill>
            <a:schemeClr val="tx2"/>
          </a:solidFill>
          <a:latin typeface="Helvetica" charset="0"/>
        </a:defRPr>
      </a:lvl4pPr>
      <a:lvl5pPr algn="ctr" rtl="0" eaLnBrk="0" fontAlgn="base" hangingPunct="0">
        <a:spcBef>
          <a:spcPct val="0"/>
        </a:spcBef>
        <a:spcAft>
          <a:spcPct val="0"/>
        </a:spcAft>
        <a:defRPr sz="3600" b="1">
          <a:solidFill>
            <a:schemeClr val="tx2"/>
          </a:solidFill>
          <a:latin typeface="Helvetica" charset="0"/>
        </a:defRPr>
      </a:lvl5pPr>
      <a:lvl6pPr marL="457200" algn="ctr" rtl="0" eaLnBrk="0" fontAlgn="base" hangingPunct="0">
        <a:spcBef>
          <a:spcPct val="0"/>
        </a:spcBef>
        <a:spcAft>
          <a:spcPct val="0"/>
        </a:spcAft>
        <a:defRPr sz="3600" b="1">
          <a:solidFill>
            <a:schemeClr val="tx2"/>
          </a:solidFill>
          <a:latin typeface="Helvetica" charset="0"/>
        </a:defRPr>
      </a:lvl6pPr>
      <a:lvl7pPr marL="914400" algn="ctr" rtl="0" eaLnBrk="0" fontAlgn="base" hangingPunct="0">
        <a:spcBef>
          <a:spcPct val="0"/>
        </a:spcBef>
        <a:spcAft>
          <a:spcPct val="0"/>
        </a:spcAft>
        <a:defRPr sz="3600" b="1">
          <a:solidFill>
            <a:schemeClr val="tx2"/>
          </a:solidFill>
          <a:latin typeface="Helvetica" charset="0"/>
        </a:defRPr>
      </a:lvl7pPr>
      <a:lvl8pPr marL="1371600" algn="ctr" rtl="0" eaLnBrk="0" fontAlgn="base" hangingPunct="0">
        <a:spcBef>
          <a:spcPct val="0"/>
        </a:spcBef>
        <a:spcAft>
          <a:spcPct val="0"/>
        </a:spcAft>
        <a:defRPr sz="3600" b="1">
          <a:solidFill>
            <a:schemeClr val="tx2"/>
          </a:solidFill>
          <a:latin typeface="Helvetica" charset="0"/>
        </a:defRPr>
      </a:lvl8pPr>
      <a:lvl9pPr marL="1828800" algn="ctr" rtl="0" eaLnBrk="0" fontAlgn="base" hangingPunct="0">
        <a:spcBef>
          <a:spcPct val="0"/>
        </a:spcBef>
        <a:spcAft>
          <a:spcPct val="0"/>
        </a:spcAft>
        <a:defRPr sz="3600" b="1">
          <a:solidFill>
            <a:schemeClr val="tx2"/>
          </a:solidFill>
          <a:latin typeface="Helvetica" charset="0"/>
        </a:defRPr>
      </a:lvl9pPr>
    </p:titleStyle>
    <p:bodyStyle>
      <a:lvl1pPr marL="342900" indent="-342900" algn="l" rtl="0" eaLnBrk="0" fontAlgn="base" hangingPunct="0">
        <a:spcBef>
          <a:spcPct val="20000"/>
        </a:spcBef>
        <a:spcAft>
          <a:spcPct val="0"/>
        </a:spcAft>
        <a:buSzPct val="10000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SzPct val="10000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SzPct val="10000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SzPct val="10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7.xml"/><Relationship Id="rId1" Type="http://schemas.openxmlformats.org/officeDocument/2006/relationships/slideLayout" Target="../slideLayouts/slideLayout24.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8.xml"/><Relationship Id="rId1" Type="http://schemas.openxmlformats.org/officeDocument/2006/relationships/slideLayout" Target="../slideLayouts/slideLayout24.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ctrTitle"/>
          </p:nvPr>
        </p:nvSpPr>
        <p:spPr>
          <a:xfrm>
            <a:off x="685800" y="2538413"/>
            <a:ext cx="7772400" cy="638175"/>
          </a:xfrm>
        </p:spPr>
        <p:txBody>
          <a:bodyPr anchor="ctr"/>
          <a:lstStyle/>
          <a:p>
            <a:r>
              <a:rPr lang="en-US" altLang="it-IT" sz="3600" dirty="0"/>
              <a:t>Parallel and Distributed Simulation</a:t>
            </a:r>
          </a:p>
        </p:txBody>
      </p:sp>
      <p:sp>
        <p:nvSpPr>
          <p:cNvPr id="151555" name="Rectangle 3"/>
          <p:cNvSpPr>
            <a:spLocks noGrp="1" noChangeArrowheads="1"/>
          </p:cNvSpPr>
          <p:nvPr>
            <p:ph type="subTitle" idx="1"/>
          </p:nvPr>
        </p:nvSpPr>
        <p:spPr>
          <a:xfrm>
            <a:off x="1371600" y="3886200"/>
            <a:ext cx="6400800" cy="1455738"/>
          </a:xfrm>
        </p:spPr>
        <p:txBody>
          <a:bodyPr/>
          <a:lstStyle/>
          <a:p>
            <a:r>
              <a:rPr lang="en-US" altLang="it-IT" sz="2800" dirty="0"/>
              <a:t>Parallel Discrete Event Simulation:</a:t>
            </a:r>
          </a:p>
          <a:p>
            <a:r>
              <a:rPr lang="en-US" altLang="it-IT" sz="2800" dirty="0"/>
              <a:t>Introduction &amp; The Null Message Synchronization Algorithm</a:t>
            </a:r>
          </a:p>
        </p:txBody>
      </p:sp>
      <p:sp>
        <p:nvSpPr>
          <p:cNvPr id="151556" name="Line 4"/>
          <p:cNvSpPr>
            <a:spLocks noChangeShapeType="1"/>
          </p:cNvSpPr>
          <p:nvPr/>
        </p:nvSpPr>
        <p:spPr bwMode="auto">
          <a:xfrm>
            <a:off x="457200" y="6019800"/>
            <a:ext cx="8382000" cy="0"/>
          </a:xfrm>
          <a:prstGeom prst="line">
            <a:avLst/>
          </a:prstGeom>
          <a:noFill/>
          <a:ln w="57150" cmpd="thickThin">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it-IT"/>
              <a:t>Outline</a:t>
            </a:r>
          </a:p>
        </p:txBody>
      </p:sp>
      <p:sp>
        <p:nvSpPr>
          <p:cNvPr id="142339" name="Rectangle 3"/>
          <p:cNvSpPr>
            <a:spLocks noGrp="1" noChangeArrowheads="1"/>
          </p:cNvSpPr>
          <p:nvPr>
            <p:ph type="body" idx="1"/>
          </p:nvPr>
        </p:nvSpPr>
        <p:spPr>
          <a:xfrm>
            <a:off x="471488" y="990600"/>
            <a:ext cx="8353425" cy="4097338"/>
          </a:xfrm>
        </p:spPr>
        <p:txBody>
          <a:bodyPr/>
          <a:lstStyle/>
          <a:p>
            <a:r>
              <a:rPr lang="en-US" altLang="it-IT"/>
              <a:t>Air Traffic Network Example</a:t>
            </a:r>
          </a:p>
          <a:p>
            <a:r>
              <a:rPr lang="en-US" altLang="it-IT"/>
              <a:t>Parallel Discrete Event Simulation</a:t>
            </a:r>
          </a:p>
          <a:p>
            <a:pPr lvl="1"/>
            <a:r>
              <a:rPr lang="en-US" altLang="it-IT"/>
              <a:t>Logical processes &amp; time stamped messages</a:t>
            </a:r>
          </a:p>
          <a:p>
            <a:pPr lvl="1"/>
            <a:r>
              <a:rPr lang="en-US" altLang="it-IT"/>
              <a:t>Local causality constraint and the synchronization problem</a:t>
            </a:r>
          </a:p>
          <a:p>
            <a:r>
              <a:rPr lang="en-US" altLang="it-IT"/>
              <a:t>Chandy/</a:t>
            </a:r>
            <a:r>
              <a:rPr lang="en-US" altLang="it-IT" err="1"/>
              <a:t>Misra</a:t>
            </a:r>
            <a:r>
              <a:rPr lang="en-US" altLang="it-IT"/>
              <a:t>/Bryant Null Message Algorithm</a:t>
            </a:r>
          </a:p>
          <a:p>
            <a:pPr lvl="1"/>
            <a:r>
              <a:rPr lang="en-US" altLang="it-IT"/>
              <a:t>Ground rules</a:t>
            </a:r>
          </a:p>
          <a:p>
            <a:pPr lvl="1"/>
            <a:r>
              <a:rPr lang="en-US" altLang="it-IT"/>
              <a:t>An algorithm that doesn’t work</a:t>
            </a:r>
          </a:p>
          <a:p>
            <a:pPr lvl="1"/>
            <a:r>
              <a:rPr lang="en-US" altLang="it-IT"/>
              <a:t>Deadlock avoidance using null messages</a:t>
            </a:r>
          </a:p>
        </p:txBody>
      </p:sp>
      <p:sp>
        <p:nvSpPr>
          <p:cNvPr id="4" name="Segnaposto numero diapositiva 3">
            <a:extLst>
              <a:ext uri="{FF2B5EF4-FFF2-40B4-BE49-F238E27FC236}">
                <a16:creationId xmlns:a16="http://schemas.microsoft.com/office/drawing/2014/main" id="{904BF781-30F4-BAB8-8F9C-311296D51DC8}"/>
              </a:ext>
            </a:extLst>
          </p:cNvPr>
          <p:cNvSpPr>
            <a:spLocks noGrp="1"/>
          </p:cNvSpPr>
          <p:nvPr>
            <p:ph type="sldNum" sz="quarter" idx="4"/>
          </p:nvPr>
        </p:nvSpPr>
        <p:spPr/>
        <p:txBody>
          <a:bodyPr/>
          <a:lstStyle/>
          <a:p>
            <a:fld id="{9BFB3A76-8619-A843-8C67-B9C7C140DBAC}" type="slidenum">
              <a:rPr lang="en-US" smtClean="0"/>
              <a:t>2</a:t>
            </a:fld>
            <a:endParaRPr lang="en-US"/>
          </a:p>
        </p:txBody>
      </p:sp>
      <p:sp>
        <p:nvSpPr>
          <p:cNvPr id="5" name="Segnaposto data 4">
            <a:extLst>
              <a:ext uri="{FF2B5EF4-FFF2-40B4-BE49-F238E27FC236}">
                <a16:creationId xmlns:a16="http://schemas.microsoft.com/office/drawing/2014/main" id="{8398C38A-071B-D6DE-848B-DB9E26450A32}"/>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08252913-C875-8A70-49DE-B47C51C106B8}"/>
              </a:ext>
            </a:extLst>
          </p:cNvPr>
          <p:cNvSpPr>
            <a:spLocks noGrp="1"/>
          </p:cNvSpPr>
          <p:nvPr>
            <p:ph type="ftr" sz="quarter" idx="3"/>
          </p:nvPr>
        </p:nvSpPr>
        <p:spPr/>
        <p:txBody>
          <a:bodyPr/>
          <a:lstStyle/>
          <a:p>
            <a:r>
              <a:rPr lang="en-US"/>
              <a:t>paolo.bocciarelli@uniroma2.it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altLang="it-IT"/>
              <a:t>Event-Oriented Simulation</a:t>
            </a:r>
          </a:p>
        </p:txBody>
      </p:sp>
      <p:grpSp>
        <p:nvGrpSpPr>
          <p:cNvPr id="174083" name="Group 3"/>
          <p:cNvGrpSpPr>
            <a:grpSpLocks/>
          </p:cNvGrpSpPr>
          <p:nvPr/>
        </p:nvGrpSpPr>
        <p:grpSpPr bwMode="auto">
          <a:xfrm>
            <a:off x="152400" y="914400"/>
            <a:ext cx="8763000" cy="2895600"/>
            <a:chOff x="96" y="576"/>
            <a:chExt cx="5520" cy="1824"/>
          </a:xfrm>
        </p:grpSpPr>
        <p:sp>
          <p:nvSpPr>
            <p:cNvPr id="174084" name="Rectangle 4"/>
            <p:cNvSpPr>
              <a:spLocks noChangeArrowheads="1"/>
            </p:cNvSpPr>
            <p:nvPr/>
          </p:nvSpPr>
          <p:spPr bwMode="auto">
            <a:xfrm>
              <a:off x="96" y="576"/>
              <a:ext cx="5520" cy="1824"/>
            </a:xfrm>
            <a:prstGeom prst="rect">
              <a:avLst/>
            </a:prstGeom>
            <a:solidFill>
              <a:srgbClr val="FFC5C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4085" name="Rectangle 5"/>
            <p:cNvSpPr>
              <a:spLocks noChangeArrowheads="1"/>
            </p:cNvSpPr>
            <p:nvPr/>
          </p:nvSpPr>
          <p:spPr bwMode="auto">
            <a:xfrm>
              <a:off x="134" y="916"/>
              <a:ext cx="1738" cy="808"/>
            </a:xfrm>
            <a:prstGeom prst="rect">
              <a:avLst/>
            </a:prstGeom>
            <a:solidFill>
              <a:srgbClr val="99FF9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lstStyle/>
            <a:p>
              <a:pPr algn="ctr"/>
              <a:r>
                <a:rPr lang="en-US" altLang="it-IT" sz="1600"/>
                <a:t>state variables</a:t>
              </a:r>
              <a:endParaRPr lang="en-US" altLang="it-IT" sz="1400">
                <a:latin typeface="Courier" charset="0"/>
              </a:endParaRPr>
            </a:p>
            <a:p>
              <a:pPr algn="ctr"/>
              <a:endParaRPr lang="en-US" altLang="it-IT" sz="1400">
                <a:latin typeface="Courier" charset="0"/>
              </a:endParaRPr>
            </a:p>
          </p:txBody>
        </p:sp>
        <p:sp>
          <p:nvSpPr>
            <p:cNvPr id="174086" name="Rectangle 6"/>
            <p:cNvSpPr>
              <a:spLocks noChangeArrowheads="1"/>
            </p:cNvSpPr>
            <p:nvPr/>
          </p:nvSpPr>
          <p:spPr bwMode="auto">
            <a:xfrm>
              <a:off x="217" y="1163"/>
              <a:ext cx="132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600">
                  <a:latin typeface="Times New Roman" charset="0"/>
                </a:rPr>
                <a:t>Integer: InTheAir;</a:t>
              </a:r>
            </a:p>
            <a:p>
              <a:r>
                <a:rPr lang="en-US" altLang="it-IT" sz="1600">
                  <a:latin typeface="Times New Roman" charset="0"/>
                </a:rPr>
                <a:t>Integer: OnTheGround;</a:t>
              </a:r>
            </a:p>
            <a:p>
              <a:r>
                <a:rPr lang="en-US" altLang="it-IT" sz="1600">
                  <a:latin typeface="Times New Roman" charset="0"/>
                </a:rPr>
                <a:t>Boolean: RunwayFree;</a:t>
              </a:r>
            </a:p>
          </p:txBody>
        </p:sp>
        <p:sp>
          <p:nvSpPr>
            <p:cNvPr id="174087" name="Rectangle 7"/>
            <p:cNvSpPr>
              <a:spLocks noChangeArrowheads="1"/>
            </p:cNvSpPr>
            <p:nvPr/>
          </p:nvSpPr>
          <p:spPr bwMode="auto">
            <a:xfrm>
              <a:off x="2112" y="672"/>
              <a:ext cx="2784" cy="286"/>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lvl="1">
                <a:buFontTx/>
                <a:buNone/>
              </a:pPr>
              <a:r>
                <a:rPr lang="en-US" altLang="it-IT" b="1"/>
                <a:t>Event handler procedures</a:t>
              </a:r>
            </a:p>
          </p:txBody>
        </p:sp>
        <p:sp>
          <p:nvSpPr>
            <p:cNvPr id="174088" name="Text Box 8"/>
            <p:cNvSpPr txBox="1">
              <a:spLocks noChangeArrowheads="1"/>
            </p:cNvSpPr>
            <p:nvPr/>
          </p:nvSpPr>
          <p:spPr bwMode="auto">
            <a:xfrm>
              <a:off x="144" y="2160"/>
              <a:ext cx="15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Simulation application</a:t>
              </a:r>
            </a:p>
          </p:txBody>
        </p:sp>
        <p:sp>
          <p:nvSpPr>
            <p:cNvPr id="174089" name="Rectangle 9"/>
            <p:cNvSpPr>
              <a:spLocks noChangeArrowheads="1"/>
            </p:cNvSpPr>
            <p:nvPr/>
          </p:nvSpPr>
          <p:spPr bwMode="auto">
            <a:xfrm>
              <a:off x="2016" y="1078"/>
              <a:ext cx="1104" cy="938"/>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sz="2000">
                  <a:latin typeface="Times New Roman" charset="0"/>
                </a:rPr>
                <a:t>Arrival Event</a:t>
              </a:r>
            </a:p>
            <a:p>
              <a:pPr>
                <a:buFontTx/>
                <a:buNone/>
              </a:pPr>
              <a:r>
                <a:rPr lang="en-US" altLang="it-IT" sz="2000">
                  <a:latin typeface="Times New Roman" charset="0"/>
                </a:rPr>
                <a:t>{</a:t>
              </a:r>
            </a:p>
            <a:p>
              <a:pPr>
                <a:buFontTx/>
                <a:buNone/>
              </a:pPr>
              <a:r>
                <a:rPr lang="en-US" altLang="it-IT" sz="2000">
                  <a:latin typeface="Times New Roman" charset="0"/>
                </a:rPr>
                <a:t>   …</a:t>
              </a:r>
            </a:p>
            <a:p>
              <a:pPr>
                <a:buFontTx/>
                <a:buNone/>
              </a:pPr>
              <a:r>
                <a:rPr lang="en-US" altLang="it-IT" sz="2000">
                  <a:latin typeface="Times New Roman" charset="0"/>
                </a:rPr>
                <a:t>}</a:t>
              </a:r>
              <a:endParaRPr lang="en-US" altLang="it-IT" sz="2000">
                <a:latin typeface="Courier" charset="0"/>
              </a:endParaRPr>
            </a:p>
          </p:txBody>
        </p:sp>
        <p:sp>
          <p:nvSpPr>
            <p:cNvPr id="174090" name="Rectangle 10"/>
            <p:cNvSpPr>
              <a:spLocks noChangeArrowheads="1"/>
            </p:cNvSpPr>
            <p:nvPr/>
          </p:nvSpPr>
          <p:spPr bwMode="auto">
            <a:xfrm>
              <a:off x="3264" y="1078"/>
              <a:ext cx="1008" cy="938"/>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sz="2000">
                  <a:latin typeface="Times New Roman" charset="0"/>
                </a:rPr>
                <a:t>Landed Event</a:t>
              </a:r>
            </a:p>
            <a:p>
              <a:pPr>
                <a:buFontTx/>
                <a:buNone/>
              </a:pPr>
              <a:r>
                <a:rPr lang="en-US" altLang="it-IT" sz="2000">
                  <a:latin typeface="Times New Roman" charset="0"/>
                </a:rPr>
                <a:t>{</a:t>
              </a:r>
            </a:p>
            <a:p>
              <a:pPr>
                <a:buFontTx/>
                <a:buNone/>
              </a:pPr>
              <a:r>
                <a:rPr lang="en-US" altLang="it-IT" sz="2000">
                  <a:latin typeface="Times New Roman" charset="0"/>
                </a:rPr>
                <a:t>   …</a:t>
              </a:r>
            </a:p>
            <a:p>
              <a:pPr>
                <a:buFontTx/>
                <a:buNone/>
              </a:pPr>
              <a:r>
                <a:rPr lang="en-US" altLang="it-IT" sz="2000">
                  <a:latin typeface="Times New Roman" charset="0"/>
                </a:rPr>
                <a:t>}</a:t>
              </a:r>
              <a:endParaRPr lang="en-US" altLang="it-IT" sz="2000">
                <a:latin typeface="Courier" charset="0"/>
              </a:endParaRPr>
            </a:p>
          </p:txBody>
        </p:sp>
        <p:sp>
          <p:nvSpPr>
            <p:cNvPr id="174091" name="Rectangle 11"/>
            <p:cNvSpPr>
              <a:spLocks noChangeArrowheads="1"/>
            </p:cNvSpPr>
            <p:nvPr/>
          </p:nvSpPr>
          <p:spPr bwMode="auto">
            <a:xfrm>
              <a:off x="4464" y="1056"/>
              <a:ext cx="1008" cy="1130"/>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sz="2000">
                  <a:latin typeface="Times New Roman" charset="0"/>
                </a:rPr>
                <a:t>Departure Event</a:t>
              </a:r>
            </a:p>
            <a:p>
              <a:pPr>
                <a:buFontTx/>
                <a:buNone/>
              </a:pPr>
              <a:r>
                <a:rPr lang="en-US" altLang="it-IT" sz="2000">
                  <a:latin typeface="Times New Roman" charset="0"/>
                </a:rPr>
                <a:t>{</a:t>
              </a:r>
            </a:p>
            <a:p>
              <a:pPr>
                <a:buFontTx/>
                <a:buNone/>
              </a:pPr>
              <a:r>
                <a:rPr lang="en-US" altLang="it-IT" sz="2000">
                  <a:latin typeface="Times New Roman" charset="0"/>
                </a:rPr>
                <a:t>   …</a:t>
              </a:r>
            </a:p>
            <a:p>
              <a:pPr>
                <a:buFontTx/>
                <a:buNone/>
              </a:pPr>
              <a:r>
                <a:rPr lang="en-US" altLang="it-IT" sz="2000">
                  <a:latin typeface="Times New Roman" charset="0"/>
                </a:rPr>
                <a:t>}</a:t>
              </a:r>
              <a:endParaRPr lang="en-US" altLang="it-IT" sz="2000">
                <a:latin typeface="Courier" charset="0"/>
              </a:endParaRPr>
            </a:p>
          </p:txBody>
        </p:sp>
      </p:grpSp>
      <p:grpSp>
        <p:nvGrpSpPr>
          <p:cNvPr id="174092" name="Group 12"/>
          <p:cNvGrpSpPr>
            <a:grpSpLocks/>
          </p:cNvGrpSpPr>
          <p:nvPr/>
        </p:nvGrpSpPr>
        <p:grpSpPr bwMode="auto">
          <a:xfrm>
            <a:off x="152400" y="3810000"/>
            <a:ext cx="8763000" cy="2819400"/>
            <a:chOff x="96" y="2400"/>
            <a:chExt cx="5520" cy="1776"/>
          </a:xfrm>
        </p:grpSpPr>
        <p:sp>
          <p:nvSpPr>
            <p:cNvPr id="174093" name="Rectangle 13"/>
            <p:cNvSpPr>
              <a:spLocks noChangeArrowheads="1"/>
            </p:cNvSpPr>
            <p:nvPr/>
          </p:nvSpPr>
          <p:spPr bwMode="auto">
            <a:xfrm>
              <a:off x="96" y="2400"/>
              <a:ext cx="5520" cy="1776"/>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74094" name="Group 14"/>
            <p:cNvGrpSpPr>
              <a:grpSpLocks/>
            </p:cNvGrpSpPr>
            <p:nvPr/>
          </p:nvGrpSpPr>
          <p:grpSpPr bwMode="auto">
            <a:xfrm>
              <a:off x="192" y="3224"/>
              <a:ext cx="1336" cy="808"/>
              <a:chOff x="192" y="3224"/>
              <a:chExt cx="1336" cy="808"/>
            </a:xfrm>
          </p:grpSpPr>
          <p:sp>
            <p:nvSpPr>
              <p:cNvPr id="174095" name="Rectangle 15"/>
              <p:cNvSpPr>
                <a:spLocks noChangeArrowheads="1"/>
              </p:cNvSpPr>
              <p:nvPr/>
            </p:nvSpPr>
            <p:spPr bwMode="auto">
              <a:xfrm>
                <a:off x="192" y="3224"/>
                <a:ext cx="1336" cy="808"/>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lstStyle/>
              <a:p>
                <a:pPr algn="ctr"/>
                <a:r>
                  <a:rPr lang="en-US" altLang="it-IT" sz="1400">
                    <a:latin typeface="Times" charset="0"/>
                  </a:rPr>
                  <a:t>Pending Event List (PEL)</a:t>
                </a:r>
              </a:p>
            </p:txBody>
          </p:sp>
          <p:sp>
            <p:nvSpPr>
              <p:cNvPr id="174096" name="Rectangle 16"/>
              <p:cNvSpPr>
                <a:spLocks noChangeArrowheads="1"/>
              </p:cNvSpPr>
              <p:nvPr/>
            </p:nvSpPr>
            <p:spPr bwMode="auto">
              <a:xfrm>
                <a:off x="288" y="3416"/>
                <a:ext cx="280" cy="232"/>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9:00</a:t>
                </a:r>
              </a:p>
            </p:txBody>
          </p:sp>
          <p:sp>
            <p:nvSpPr>
              <p:cNvPr id="174097" name="Rectangle 17"/>
              <p:cNvSpPr>
                <a:spLocks noChangeArrowheads="1"/>
              </p:cNvSpPr>
              <p:nvPr/>
            </p:nvSpPr>
            <p:spPr bwMode="auto">
              <a:xfrm>
                <a:off x="672" y="3656"/>
                <a:ext cx="280" cy="232"/>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9:16</a:t>
                </a:r>
              </a:p>
            </p:txBody>
          </p:sp>
          <p:sp>
            <p:nvSpPr>
              <p:cNvPr id="174098" name="Rectangle 18"/>
              <p:cNvSpPr>
                <a:spLocks noChangeArrowheads="1"/>
              </p:cNvSpPr>
              <p:nvPr/>
            </p:nvSpPr>
            <p:spPr bwMode="auto">
              <a:xfrm>
                <a:off x="1104" y="3512"/>
                <a:ext cx="280" cy="232"/>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10:10</a:t>
                </a:r>
              </a:p>
            </p:txBody>
          </p:sp>
        </p:grpSp>
        <p:sp>
          <p:nvSpPr>
            <p:cNvPr id="174099" name="Rectangle 19"/>
            <p:cNvSpPr>
              <a:spLocks noChangeArrowheads="1"/>
            </p:cNvSpPr>
            <p:nvPr/>
          </p:nvSpPr>
          <p:spPr bwMode="auto">
            <a:xfrm>
              <a:off x="384" y="2896"/>
              <a:ext cx="856" cy="184"/>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r>
                <a:rPr lang="en-US" altLang="it-IT" sz="1400">
                  <a:latin typeface="Times" charset="0"/>
                </a:rPr>
                <a:t>Now = 8:45</a:t>
              </a:r>
            </a:p>
          </p:txBody>
        </p:sp>
        <p:sp>
          <p:nvSpPr>
            <p:cNvPr id="174100" name="Line 20"/>
            <p:cNvSpPr>
              <a:spLocks noChangeShapeType="1"/>
            </p:cNvSpPr>
            <p:nvPr/>
          </p:nvSpPr>
          <p:spPr bwMode="auto">
            <a:xfrm>
              <a:off x="96" y="2400"/>
              <a:ext cx="5520"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4101" name="Text Box 21"/>
            <p:cNvSpPr txBox="1">
              <a:spLocks noChangeArrowheads="1"/>
            </p:cNvSpPr>
            <p:nvPr/>
          </p:nvSpPr>
          <p:spPr bwMode="auto">
            <a:xfrm>
              <a:off x="164" y="2448"/>
              <a:ext cx="14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Simulation executive</a:t>
              </a:r>
            </a:p>
          </p:txBody>
        </p:sp>
        <p:sp>
          <p:nvSpPr>
            <p:cNvPr id="174102" name="Rectangle 22"/>
            <p:cNvSpPr>
              <a:spLocks noChangeArrowheads="1"/>
            </p:cNvSpPr>
            <p:nvPr/>
          </p:nvSpPr>
          <p:spPr bwMode="auto">
            <a:xfrm>
              <a:off x="2112" y="2498"/>
              <a:ext cx="2784" cy="286"/>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lvl="1">
                <a:buFontTx/>
                <a:buNone/>
              </a:pPr>
              <a:r>
                <a:rPr lang="en-US" altLang="it-IT" b="1"/>
                <a:t>Event processing loop</a:t>
              </a:r>
            </a:p>
          </p:txBody>
        </p:sp>
        <p:sp>
          <p:nvSpPr>
            <p:cNvPr id="174103" name="Rectangle 23"/>
            <p:cNvSpPr>
              <a:spLocks noChangeArrowheads="1"/>
            </p:cNvSpPr>
            <p:nvPr/>
          </p:nvSpPr>
          <p:spPr bwMode="auto">
            <a:xfrm>
              <a:off x="1680" y="2864"/>
              <a:ext cx="3840" cy="1168"/>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sz="2000">
                  <a:latin typeface="Times New Roman" charset="0"/>
                </a:rPr>
                <a:t>While (simulation not finished)</a:t>
              </a:r>
            </a:p>
            <a:p>
              <a:pPr>
                <a:buFontTx/>
                <a:buNone/>
              </a:pPr>
              <a:r>
                <a:rPr lang="en-US" altLang="it-IT" sz="2000">
                  <a:latin typeface="Times New Roman" charset="0"/>
                </a:rPr>
                <a:t>	E = smallest time stamp event in PEL</a:t>
              </a:r>
            </a:p>
            <a:p>
              <a:pPr>
                <a:buFontTx/>
                <a:buNone/>
              </a:pPr>
              <a:r>
                <a:rPr lang="en-US" altLang="it-IT" sz="2000">
                  <a:latin typeface="Times New Roman" charset="0"/>
                </a:rPr>
                <a:t>	Remove E from PEL</a:t>
              </a:r>
            </a:p>
            <a:p>
              <a:pPr>
                <a:buFontTx/>
                <a:buNone/>
              </a:pPr>
              <a:r>
                <a:rPr lang="en-US" altLang="it-IT" sz="2000">
                  <a:latin typeface="Times New Roman" charset="0"/>
                </a:rPr>
                <a:t>	Now := time stamp of E</a:t>
              </a:r>
            </a:p>
            <a:p>
              <a:pPr>
                <a:buFontTx/>
                <a:buNone/>
              </a:pPr>
              <a:r>
                <a:rPr lang="en-US" altLang="it-IT" sz="2000">
                  <a:latin typeface="Times New Roman" charset="0"/>
                </a:rPr>
                <a:t>	call event handler procedure</a:t>
              </a:r>
            </a:p>
          </p:txBody>
        </p:sp>
      </p:grpSp>
      <p:sp>
        <p:nvSpPr>
          <p:cNvPr id="4" name="Segnaposto numero diapositiva 3">
            <a:extLst>
              <a:ext uri="{FF2B5EF4-FFF2-40B4-BE49-F238E27FC236}">
                <a16:creationId xmlns:a16="http://schemas.microsoft.com/office/drawing/2014/main" id="{405B663D-CD53-590D-4452-F50EF19A61CD}"/>
              </a:ext>
            </a:extLst>
          </p:cNvPr>
          <p:cNvSpPr>
            <a:spLocks noGrp="1"/>
          </p:cNvSpPr>
          <p:nvPr>
            <p:ph type="sldNum" sz="quarter" idx="4"/>
          </p:nvPr>
        </p:nvSpPr>
        <p:spPr/>
        <p:txBody>
          <a:bodyPr/>
          <a:lstStyle/>
          <a:p>
            <a:fld id="{9BFB3A76-8619-A843-8C67-B9C7C140DBAC}" type="slidenum">
              <a:rPr lang="en-US" smtClean="0"/>
              <a:t>3</a:t>
            </a:fld>
            <a:endParaRPr lang="en-US"/>
          </a:p>
        </p:txBody>
      </p:sp>
      <p:sp>
        <p:nvSpPr>
          <p:cNvPr id="5" name="Segnaposto data 4">
            <a:extLst>
              <a:ext uri="{FF2B5EF4-FFF2-40B4-BE49-F238E27FC236}">
                <a16:creationId xmlns:a16="http://schemas.microsoft.com/office/drawing/2014/main" id="{138016F1-D25A-B12F-92D8-CCA1B183220B}"/>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920C9F98-229F-AED8-6CED-2BBD21AFB680}"/>
              </a:ext>
            </a:extLst>
          </p:cNvPr>
          <p:cNvSpPr>
            <a:spLocks noGrp="1"/>
          </p:cNvSpPr>
          <p:nvPr>
            <p:ph type="ftr" sz="quarter" idx="3"/>
          </p:nvPr>
        </p:nvSpPr>
        <p:spPr/>
        <p:txBody>
          <a:bodyPr/>
          <a:lstStyle/>
          <a:p>
            <a:r>
              <a:rPr lang="en-US"/>
              <a:t>paolo.bocciarelli@uniroma2.it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9202" name="Rectangle 1026"/>
          <p:cNvSpPr>
            <a:spLocks noGrp="1" noChangeArrowheads="1"/>
          </p:cNvSpPr>
          <p:nvPr>
            <p:ph type="title"/>
          </p:nvPr>
        </p:nvSpPr>
        <p:spPr/>
        <p:txBody>
          <a:bodyPr/>
          <a:lstStyle/>
          <a:p>
            <a:r>
              <a:rPr lang="en-US" altLang="it-IT"/>
              <a:t>Parallel Discrete Event Simulation</a:t>
            </a:r>
          </a:p>
        </p:txBody>
      </p:sp>
      <p:sp>
        <p:nvSpPr>
          <p:cNvPr id="179203" name="Rectangle 1027"/>
          <p:cNvSpPr>
            <a:spLocks noGrp="1" noChangeArrowheads="1"/>
          </p:cNvSpPr>
          <p:nvPr>
            <p:ph type="body" idx="1"/>
          </p:nvPr>
        </p:nvSpPr>
        <p:spPr>
          <a:xfrm>
            <a:off x="381000" y="912813"/>
            <a:ext cx="8610600" cy="5469702"/>
          </a:xfrm>
        </p:spPr>
        <p:txBody>
          <a:bodyPr/>
          <a:lstStyle/>
          <a:p>
            <a:r>
              <a:rPr lang="en-US" altLang="it-IT"/>
              <a:t>Extend example to model a network of airports</a:t>
            </a:r>
          </a:p>
          <a:p>
            <a:pPr lvl="1"/>
            <a:r>
              <a:rPr lang="en-US" altLang="it-IT"/>
              <a:t>Encapsulate each airport simulator in a </a:t>
            </a:r>
            <a:r>
              <a:rPr lang="en-US" altLang="it-IT">
                <a:solidFill>
                  <a:srgbClr val="CC0000"/>
                </a:solidFill>
              </a:rPr>
              <a:t>logical process</a:t>
            </a:r>
          </a:p>
          <a:p>
            <a:pPr lvl="1"/>
            <a:r>
              <a:rPr lang="en-US" altLang="it-IT"/>
              <a:t>Logical processes can schedule events (</a:t>
            </a:r>
            <a:r>
              <a:rPr lang="en-US" altLang="it-IT">
                <a:solidFill>
                  <a:srgbClr val="CC0000"/>
                </a:solidFill>
              </a:rPr>
              <a:t>send messages</a:t>
            </a:r>
            <a:r>
              <a:rPr lang="en-US" altLang="it-IT"/>
              <a:t>) for other logical processes</a:t>
            </a:r>
          </a:p>
          <a:p>
            <a:pPr>
              <a:buFontTx/>
              <a:buNone/>
            </a:pPr>
            <a:r>
              <a:rPr lang="en-US" altLang="it-IT"/>
              <a:t>More generally...</a:t>
            </a:r>
          </a:p>
          <a:p>
            <a:r>
              <a:rPr lang="en-US" altLang="it-IT"/>
              <a:t>Physical system</a:t>
            </a:r>
          </a:p>
          <a:p>
            <a:pPr lvl="1"/>
            <a:r>
              <a:rPr lang="en-US" altLang="it-IT"/>
              <a:t>Collection of interacting physical processes (airports)</a:t>
            </a:r>
          </a:p>
          <a:p>
            <a:r>
              <a:rPr lang="en-US" altLang="it-IT"/>
              <a:t>Simulation</a:t>
            </a:r>
          </a:p>
          <a:p>
            <a:pPr lvl="1"/>
            <a:r>
              <a:rPr lang="en-US" altLang="it-IT"/>
              <a:t>Collection of logical processes (LPs)</a:t>
            </a:r>
          </a:p>
          <a:p>
            <a:pPr lvl="1"/>
            <a:r>
              <a:rPr lang="en-US" altLang="it-IT"/>
              <a:t>Each LP models a physical process</a:t>
            </a:r>
          </a:p>
          <a:p>
            <a:pPr lvl="1"/>
            <a:r>
              <a:rPr lang="en-US" altLang="it-IT"/>
              <a:t>Interactions between physical processes modeled by scheduling events between LPs</a:t>
            </a:r>
          </a:p>
        </p:txBody>
      </p:sp>
      <p:sp>
        <p:nvSpPr>
          <p:cNvPr id="4" name="Segnaposto numero diapositiva 3">
            <a:extLst>
              <a:ext uri="{FF2B5EF4-FFF2-40B4-BE49-F238E27FC236}">
                <a16:creationId xmlns:a16="http://schemas.microsoft.com/office/drawing/2014/main" id="{9C20679D-A1D0-316D-E491-87BF3A5FB31C}"/>
              </a:ext>
            </a:extLst>
          </p:cNvPr>
          <p:cNvSpPr>
            <a:spLocks noGrp="1"/>
          </p:cNvSpPr>
          <p:nvPr>
            <p:ph type="sldNum" sz="quarter" idx="4"/>
          </p:nvPr>
        </p:nvSpPr>
        <p:spPr/>
        <p:txBody>
          <a:bodyPr/>
          <a:lstStyle/>
          <a:p>
            <a:fld id="{9BFB3A76-8619-A843-8C67-B9C7C140DBAC}" type="slidenum">
              <a:rPr lang="en-US" smtClean="0"/>
              <a:t>4</a:t>
            </a:fld>
            <a:endParaRPr lang="en-US"/>
          </a:p>
        </p:txBody>
      </p:sp>
      <p:sp>
        <p:nvSpPr>
          <p:cNvPr id="5" name="Segnaposto data 4">
            <a:extLst>
              <a:ext uri="{FF2B5EF4-FFF2-40B4-BE49-F238E27FC236}">
                <a16:creationId xmlns:a16="http://schemas.microsoft.com/office/drawing/2014/main" id="{FB3E9CB5-CC39-6C91-5BD0-EC6F6AEA0502}"/>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C9DBF0DB-B619-40C4-3DFF-1374BB1BAD16}"/>
              </a:ext>
            </a:extLst>
          </p:cNvPr>
          <p:cNvSpPr>
            <a:spLocks noGrp="1"/>
          </p:cNvSpPr>
          <p:nvPr>
            <p:ph type="ftr" sz="quarter" idx="3"/>
          </p:nvPr>
        </p:nvSpPr>
        <p:spPr/>
        <p:txBody>
          <a:bodyPr/>
          <a:lstStyle/>
          <a:p>
            <a:r>
              <a:rPr lang="en-US"/>
              <a:t>paolo.bocciarelli@uniroma2.it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Effect transition="in" filter="dissolve">
                                      <p:cBhvr>
                                        <p:cTn id="7" dur="500"/>
                                        <p:tgtEl>
                                          <p:spTgt spid="1792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9203">
                                            <p:txEl>
                                              <p:pRg st="1" end="1"/>
                                            </p:txEl>
                                          </p:spTgt>
                                        </p:tgtEl>
                                        <p:attrNameLst>
                                          <p:attrName>style.visibility</p:attrName>
                                        </p:attrNameLst>
                                      </p:cBhvr>
                                      <p:to>
                                        <p:strVal val="visible"/>
                                      </p:to>
                                    </p:set>
                                    <p:animEffect transition="in" filter="dissolve">
                                      <p:cBhvr>
                                        <p:cTn id="12" dur="500"/>
                                        <p:tgtEl>
                                          <p:spTgt spid="1792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9203">
                                            <p:txEl>
                                              <p:pRg st="2" end="2"/>
                                            </p:txEl>
                                          </p:spTgt>
                                        </p:tgtEl>
                                        <p:attrNameLst>
                                          <p:attrName>style.visibility</p:attrName>
                                        </p:attrNameLst>
                                      </p:cBhvr>
                                      <p:to>
                                        <p:strVal val="visible"/>
                                      </p:to>
                                    </p:set>
                                    <p:animEffect transition="in" filter="dissolve">
                                      <p:cBhvr>
                                        <p:cTn id="17" dur="500"/>
                                        <p:tgtEl>
                                          <p:spTgt spid="1792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9203">
                                            <p:txEl>
                                              <p:pRg st="3" end="3"/>
                                            </p:txEl>
                                          </p:spTgt>
                                        </p:tgtEl>
                                        <p:attrNameLst>
                                          <p:attrName>style.visibility</p:attrName>
                                        </p:attrNameLst>
                                      </p:cBhvr>
                                      <p:to>
                                        <p:strVal val="visible"/>
                                      </p:to>
                                    </p:set>
                                    <p:animEffect transition="in" filter="dissolve">
                                      <p:cBhvr>
                                        <p:cTn id="22" dur="500"/>
                                        <p:tgtEl>
                                          <p:spTgt spid="1792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9203">
                                            <p:txEl>
                                              <p:pRg st="4" end="4"/>
                                            </p:txEl>
                                          </p:spTgt>
                                        </p:tgtEl>
                                        <p:attrNameLst>
                                          <p:attrName>style.visibility</p:attrName>
                                        </p:attrNameLst>
                                      </p:cBhvr>
                                      <p:to>
                                        <p:strVal val="visible"/>
                                      </p:to>
                                    </p:set>
                                    <p:animEffect transition="in" filter="dissolve">
                                      <p:cBhvr>
                                        <p:cTn id="27" dur="500"/>
                                        <p:tgtEl>
                                          <p:spTgt spid="1792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9203">
                                            <p:txEl>
                                              <p:pRg st="5" end="5"/>
                                            </p:txEl>
                                          </p:spTgt>
                                        </p:tgtEl>
                                        <p:attrNameLst>
                                          <p:attrName>style.visibility</p:attrName>
                                        </p:attrNameLst>
                                      </p:cBhvr>
                                      <p:to>
                                        <p:strVal val="visible"/>
                                      </p:to>
                                    </p:set>
                                    <p:animEffect transition="in" filter="dissolve">
                                      <p:cBhvr>
                                        <p:cTn id="32" dur="500"/>
                                        <p:tgtEl>
                                          <p:spTgt spid="1792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9203">
                                            <p:txEl>
                                              <p:pRg st="6" end="6"/>
                                            </p:txEl>
                                          </p:spTgt>
                                        </p:tgtEl>
                                        <p:attrNameLst>
                                          <p:attrName>style.visibility</p:attrName>
                                        </p:attrNameLst>
                                      </p:cBhvr>
                                      <p:to>
                                        <p:strVal val="visible"/>
                                      </p:to>
                                    </p:set>
                                    <p:animEffect transition="in" filter="dissolve">
                                      <p:cBhvr>
                                        <p:cTn id="37" dur="500"/>
                                        <p:tgtEl>
                                          <p:spTgt spid="17920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9203">
                                            <p:txEl>
                                              <p:pRg st="7" end="7"/>
                                            </p:txEl>
                                          </p:spTgt>
                                        </p:tgtEl>
                                        <p:attrNameLst>
                                          <p:attrName>style.visibility</p:attrName>
                                        </p:attrNameLst>
                                      </p:cBhvr>
                                      <p:to>
                                        <p:strVal val="visible"/>
                                      </p:to>
                                    </p:set>
                                    <p:animEffect transition="in" filter="dissolve">
                                      <p:cBhvr>
                                        <p:cTn id="42" dur="500"/>
                                        <p:tgtEl>
                                          <p:spTgt spid="17920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79203">
                                            <p:txEl>
                                              <p:pRg st="8" end="8"/>
                                            </p:txEl>
                                          </p:spTgt>
                                        </p:tgtEl>
                                        <p:attrNameLst>
                                          <p:attrName>style.visibility</p:attrName>
                                        </p:attrNameLst>
                                      </p:cBhvr>
                                      <p:to>
                                        <p:strVal val="visible"/>
                                      </p:to>
                                    </p:set>
                                    <p:animEffect transition="in" filter="dissolve">
                                      <p:cBhvr>
                                        <p:cTn id="47" dur="500"/>
                                        <p:tgtEl>
                                          <p:spTgt spid="17920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79203">
                                            <p:txEl>
                                              <p:pRg st="9" end="9"/>
                                            </p:txEl>
                                          </p:spTgt>
                                        </p:tgtEl>
                                        <p:attrNameLst>
                                          <p:attrName>style.visibility</p:attrName>
                                        </p:attrNameLst>
                                      </p:cBhvr>
                                      <p:to>
                                        <p:strVal val="visible"/>
                                      </p:to>
                                    </p:set>
                                    <p:animEffect transition="in" filter="dissolve">
                                      <p:cBhvr>
                                        <p:cTn id="52" dur="500"/>
                                        <p:tgtEl>
                                          <p:spTgt spid="1792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2" name="Rectangle 4"/>
          <p:cNvSpPr>
            <a:spLocks noGrp="1" noChangeArrowheads="1"/>
          </p:cNvSpPr>
          <p:nvPr>
            <p:ph type="title"/>
          </p:nvPr>
        </p:nvSpPr>
        <p:spPr>
          <a:xfrm>
            <a:off x="236538" y="152400"/>
            <a:ext cx="8670925" cy="57626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t>Parallel Discrete Event Simulation Example</a:t>
            </a:r>
          </a:p>
        </p:txBody>
      </p:sp>
      <p:sp>
        <p:nvSpPr>
          <p:cNvPr id="160802" name="Rectangle 34"/>
          <p:cNvSpPr>
            <a:spLocks noChangeArrowheads="1"/>
          </p:cNvSpPr>
          <p:nvPr/>
        </p:nvSpPr>
        <p:spPr bwMode="auto">
          <a:xfrm>
            <a:off x="242888" y="6491288"/>
            <a:ext cx="85947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2000" b="1">
                <a:latin typeface="Helvetica" charset="0"/>
              </a:rPr>
              <a:t>all interactions between LPs must be via messages (no shared state)</a:t>
            </a:r>
          </a:p>
        </p:txBody>
      </p:sp>
      <p:grpSp>
        <p:nvGrpSpPr>
          <p:cNvPr id="160806" name="Group 38"/>
          <p:cNvGrpSpPr>
            <a:grpSpLocks/>
          </p:cNvGrpSpPr>
          <p:nvPr/>
        </p:nvGrpSpPr>
        <p:grpSpPr bwMode="auto">
          <a:xfrm>
            <a:off x="234950" y="838200"/>
            <a:ext cx="8674100" cy="2443163"/>
            <a:chOff x="148" y="528"/>
            <a:chExt cx="5464" cy="1539"/>
          </a:xfrm>
        </p:grpSpPr>
        <p:grpSp>
          <p:nvGrpSpPr>
            <p:cNvPr id="160803" name="Group 35"/>
            <p:cNvGrpSpPr>
              <a:grpSpLocks/>
            </p:cNvGrpSpPr>
            <p:nvPr/>
          </p:nvGrpSpPr>
          <p:grpSpPr bwMode="auto">
            <a:xfrm>
              <a:off x="148" y="528"/>
              <a:ext cx="5464" cy="1539"/>
              <a:chOff x="148" y="388"/>
              <a:chExt cx="5464" cy="1562"/>
            </a:xfrm>
          </p:grpSpPr>
          <p:sp>
            <p:nvSpPr>
              <p:cNvPr id="160771" name="Rectangle 3"/>
              <p:cNvSpPr>
                <a:spLocks noChangeArrowheads="1"/>
              </p:cNvSpPr>
              <p:nvPr/>
            </p:nvSpPr>
            <p:spPr bwMode="auto">
              <a:xfrm>
                <a:off x="148" y="388"/>
                <a:ext cx="5464" cy="1288"/>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73" name="AutoShape 5"/>
              <p:cNvSpPr>
                <a:spLocks noChangeArrowheads="1"/>
              </p:cNvSpPr>
              <p:nvPr/>
            </p:nvSpPr>
            <p:spPr bwMode="auto">
              <a:xfrm>
                <a:off x="196" y="1012"/>
                <a:ext cx="1384" cy="472"/>
              </a:xfrm>
              <a:prstGeom prst="parallelogram">
                <a:avLst>
                  <a:gd name="adj" fmla="val 85930"/>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60774" name="Group 6"/>
              <p:cNvGrpSpPr>
                <a:grpSpLocks/>
              </p:cNvGrpSpPr>
              <p:nvPr/>
            </p:nvGrpSpPr>
            <p:grpSpPr bwMode="auto">
              <a:xfrm>
                <a:off x="628" y="916"/>
                <a:ext cx="184" cy="280"/>
                <a:chOff x="628" y="916"/>
                <a:chExt cx="184" cy="280"/>
              </a:xfrm>
            </p:grpSpPr>
            <p:sp>
              <p:nvSpPr>
                <p:cNvPr id="160775" name="Rectangle 7"/>
                <p:cNvSpPr>
                  <a:spLocks noChangeArrowheads="1"/>
                </p:cNvSpPr>
                <p:nvPr/>
              </p:nvSpPr>
              <p:spPr bwMode="auto">
                <a:xfrm>
                  <a:off x="676" y="1012"/>
                  <a:ext cx="88" cy="184"/>
                </a:xfrm>
                <a:prstGeom prst="rect">
                  <a:avLst/>
                </a:pr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76" name="AutoShape 8"/>
                <p:cNvSpPr>
                  <a:spLocks noChangeArrowheads="1"/>
                </p:cNvSpPr>
                <p:nvPr/>
              </p:nvSpPr>
              <p:spPr bwMode="auto">
                <a:xfrm rot="-10800000" flipH="1" flipV="1">
                  <a:off x="628" y="916"/>
                  <a:ext cx="184" cy="88"/>
                </a:xfrm>
                <a:custGeom>
                  <a:avLst/>
                  <a:gdLst>
                    <a:gd name="G0" fmla="+- 5399 0 0"/>
                    <a:gd name="G1" fmla="+- 21600 0 5399"/>
                    <a:gd name="G2" fmla="*/ 5399 1 2"/>
                    <a:gd name="G3" fmla="+- 21600 0 G2"/>
                    <a:gd name="G4" fmla="+/ 5399 21600 2"/>
                    <a:gd name="G5" fmla="+/ G1 0 2"/>
                    <a:gd name="G6" fmla="*/ 21600 21600 5399"/>
                    <a:gd name="G7" fmla="*/ G6 1 2"/>
                    <a:gd name="G8" fmla="+- 21600 0 G7"/>
                    <a:gd name="G9" fmla="*/ 21600 1 2"/>
                    <a:gd name="G10" fmla="+- 5399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399" y="21600"/>
                      </a:lnTo>
                      <a:lnTo>
                        <a:pt x="16201" y="21600"/>
                      </a:lnTo>
                      <a:lnTo>
                        <a:pt x="21600" y="0"/>
                      </a:lnTo>
                      <a:close/>
                    </a:path>
                  </a:pathLst>
                </a:cu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pic>
            <p:nvPicPr>
              <p:cNvPr id="160777" name="Picture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 y="684"/>
                <a:ext cx="711"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60778" name="Rectangle 10"/>
              <p:cNvSpPr>
                <a:spLocks noChangeArrowheads="1"/>
              </p:cNvSpPr>
              <p:nvPr/>
            </p:nvSpPr>
            <p:spPr bwMode="auto">
              <a:xfrm>
                <a:off x="615" y="1311"/>
                <a:ext cx="3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400" b="1"/>
                  <a:t>SFO</a:t>
                </a:r>
              </a:p>
            </p:txBody>
          </p:sp>
          <p:sp>
            <p:nvSpPr>
              <p:cNvPr id="160779" name="AutoShape 11"/>
              <p:cNvSpPr>
                <a:spLocks noChangeArrowheads="1"/>
              </p:cNvSpPr>
              <p:nvPr/>
            </p:nvSpPr>
            <p:spPr bwMode="auto">
              <a:xfrm>
                <a:off x="3988" y="1060"/>
                <a:ext cx="1384" cy="472"/>
              </a:xfrm>
              <a:prstGeom prst="parallelogram">
                <a:avLst>
                  <a:gd name="adj" fmla="val 85930"/>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60780" name="Group 12"/>
              <p:cNvGrpSpPr>
                <a:grpSpLocks/>
              </p:cNvGrpSpPr>
              <p:nvPr/>
            </p:nvGrpSpPr>
            <p:grpSpPr bwMode="auto">
              <a:xfrm>
                <a:off x="4420" y="964"/>
                <a:ext cx="184" cy="280"/>
                <a:chOff x="4420" y="964"/>
                <a:chExt cx="184" cy="280"/>
              </a:xfrm>
            </p:grpSpPr>
            <p:sp>
              <p:nvSpPr>
                <p:cNvPr id="160781" name="Rectangle 13"/>
                <p:cNvSpPr>
                  <a:spLocks noChangeArrowheads="1"/>
                </p:cNvSpPr>
                <p:nvPr/>
              </p:nvSpPr>
              <p:spPr bwMode="auto">
                <a:xfrm>
                  <a:off x="4468" y="1060"/>
                  <a:ext cx="88" cy="184"/>
                </a:xfrm>
                <a:prstGeom prst="rect">
                  <a:avLst/>
                </a:pr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2" name="AutoShape 14"/>
                <p:cNvSpPr>
                  <a:spLocks noChangeArrowheads="1"/>
                </p:cNvSpPr>
                <p:nvPr/>
              </p:nvSpPr>
              <p:spPr bwMode="auto">
                <a:xfrm rot="-10800000" flipH="1" flipV="1">
                  <a:off x="4420" y="964"/>
                  <a:ext cx="184" cy="88"/>
                </a:xfrm>
                <a:custGeom>
                  <a:avLst/>
                  <a:gdLst>
                    <a:gd name="G0" fmla="+- 5399 0 0"/>
                    <a:gd name="G1" fmla="+- 21600 0 5399"/>
                    <a:gd name="G2" fmla="*/ 5399 1 2"/>
                    <a:gd name="G3" fmla="+- 21600 0 G2"/>
                    <a:gd name="G4" fmla="+/ 5399 21600 2"/>
                    <a:gd name="G5" fmla="+/ G1 0 2"/>
                    <a:gd name="G6" fmla="*/ 21600 21600 5399"/>
                    <a:gd name="G7" fmla="*/ G6 1 2"/>
                    <a:gd name="G8" fmla="+- 21600 0 G7"/>
                    <a:gd name="G9" fmla="*/ 21600 1 2"/>
                    <a:gd name="G10" fmla="+- 5399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399" y="21600"/>
                      </a:lnTo>
                      <a:lnTo>
                        <a:pt x="16201" y="21600"/>
                      </a:lnTo>
                      <a:lnTo>
                        <a:pt x="21600" y="0"/>
                      </a:lnTo>
                      <a:close/>
                    </a:path>
                  </a:pathLst>
                </a:cu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60783" name="Rectangle 15"/>
              <p:cNvSpPr>
                <a:spLocks noChangeArrowheads="1"/>
              </p:cNvSpPr>
              <p:nvPr/>
            </p:nvSpPr>
            <p:spPr bwMode="auto">
              <a:xfrm>
                <a:off x="4407" y="1359"/>
                <a:ext cx="325"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400" b="1"/>
                  <a:t>JFK</a:t>
                </a:r>
              </a:p>
            </p:txBody>
          </p:sp>
          <p:sp>
            <p:nvSpPr>
              <p:cNvPr id="160784" name="AutoShape 16"/>
              <p:cNvSpPr>
                <a:spLocks noChangeArrowheads="1"/>
              </p:cNvSpPr>
              <p:nvPr/>
            </p:nvSpPr>
            <p:spPr bwMode="auto">
              <a:xfrm>
                <a:off x="2500" y="532"/>
                <a:ext cx="1384" cy="472"/>
              </a:xfrm>
              <a:prstGeom prst="parallelogram">
                <a:avLst>
                  <a:gd name="adj" fmla="val 85930"/>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60785" name="Group 17"/>
              <p:cNvGrpSpPr>
                <a:grpSpLocks/>
              </p:cNvGrpSpPr>
              <p:nvPr/>
            </p:nvGrpSpPr>
            <p:grpSpPr bwMode="auto">
              <a:xfrm>
                <a:off x="2932" y="436"/>
                <a:ext cx="184" cy="280"/>
                <a:chOff x="2932" y="436"/>
                <a:chExt cx="184" cy="280"/>
              </a:xfrm>
            </p:grpSpPr>
            <p:sp>
              <p:nvSpPr>
                <p:cNvPr id="160786" name="Rectangle 18"/>
                <p:cNvSpPr>
                  <a:spLocks noChangeArrowheads="1"/>
                </p:cNvSpPr>
                <p:nvPr/>
              </p:nvSpPr>
              <p:spPr bwMode="auto">
                <a:xfrm>
                  <a:off x="2980" y="532"/>
                  <a:ext cx="88" cy="184"/>
                </a:xfrm>
                <a:prstGeom prst="rect">
                  <a:avLst/>
                </a:pr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7" name="AutoShape 19"/>
                <p:cNvSpPr>
                  <a:spLocks noChangeArrowheads="1"/>
                </p:cNvSpPr>
                <p:nvPr/>
              </p:nvSpPr>
              <p:spPr bwMode="auto">
                <a:xfrm rot="-10800000" flipH="1" flipV="1">
                  <a:off x="2932" y="436"/>
                  <a:ext cx="184" cy="88"/>
                </a:xfrm>
                <a:custGeom>
                  <a:avLst/>
                  <a:gdLst>
                    <a:gd name="G0" fmla="+- 5399 0 0"/>
                    <a:gd name="G1" fmla="+- 21600 0 5399"/>
                    <a:gd name="G2" fmla="*/ 5399 1 2"/>
                    <a:gd name="G3" fmla="+- 21600 0 G2"/>
                    <a:gd name="G4" fmla="+/ 5399 21600 2"/>
                    <a:gd name="G5" fmla="+/ G1 0 2"/>
                    <a:gd name="G6" fmla="*/ 21600 21600 5399"/>
                    <a:gd name="G7" fmla="*/ G6 1 2"/>
                    <a:gd name="G8" fmla="+- 21600 0 G7"/>
                    <a:gd name="G9" fmla="*/ 21600 1 2"/>
                    <a:gd name="G10" fmla="+- 5399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399" y="21600"/>
                      </a:lnTo>
                      <a:lnTo>
                        <a:pt x="16201" y="21600"/>
                      </a:lnTo>
                      <a:lnTo>
                        <a:pt x="21600" y="0"/>
                      </a:lnTo>
                      <a:close/>
                    </a:path>
                  </a:pathLst>
                </a:cu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60788" name="Rectangle 20"/>
              <p:cNvSpPr>
                <a:spLocks noChangeArrowheads="1"/>
              </p:cNvSpPr>
              <p:nvPr/>
            </p:nvSpPr>
            <p:spPr bwMode="auto">
              <a:xfrm>
                <a:off x="2919" y="831"/>
                <a:ext cx="3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400" b="1"/>
                  <a:t>ORD</a:t>
                </a:r>
              </a:p>
            </p:txBody>
          </p:sp>
          <p:sp>
            <p:nvSpPr>
              <p:cNvPr id="160789" name="Rectangle 21"/>
              <p:cNvSpPr>
                <a:spLocks noChangeArrowheads="1"/>
              </p:cNvSpPr>
              <p:nvPr/>
            </p:nvSpPr>
            <p:spPr bwMode="auto">
              <a:xfrm>
                <a:off x="489" y="1737"/>
                <a:ext cx="176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1600" b="1">
                    <a:latin typeface="Helvetica" charset="0"/>
                  </a:rPr>
                  <a:t>physical process</a:t>
                </a:r>
              </a:p>
            </p:txBody>
          </p:sp>
          <p:sp>
            <p:nvSpPr>
              <p:cNvPr id="160790" name="Rectangle 22"/>
              <p:cNvSpPr>
                <a:spLocks noChangeArrowheads="1"/>
              </p:cNvSpPr>
              <p:nvPr/>
            </p:nvSpPr>
            <p:spPr bwMode="auto">
              <a:xfrm>
                <a:off x="2649" y="1737"/>
                <a:ext cx="2822"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1600" b="1">
                    <a:latin typeface="Helvetica" charset="0"/>
                  </a:rPr>
                  <a:t>interactions among physical processes</a:t>
                </a:r>
              </a:p>
            </p:txBody>
          </p:sp>
        </p:grpSp>
        <p:sp>
          <p:nvSpPr>
            <p:cNvPr id="160805" name="Text Box 37"/>
            <p:cNvSpPr txBox="1">
              <a:spLocks noChangeArrowheads="1"/>
            </p:cNvSpPr>
            <p:nvPr/>
          </p:nvSpPr>
          <p:spPr bwMode="auto">
            <a:xfrm>
              <a:off x="182" y="558"/>
              <a:ext cx="1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b="1"/>
                <a:t>Physical system</a:t>
              </a:r>
            </a:p>
          </p:txBody>
        </p:sp>
      </p:grpSp>
      <p:grpSp>
        <p:nvGrpSpPr>
          <p:cNvPr id="160808" name="Group 40"/>
          <p:cNvGrpSpPr>
            <a:grpSpLocks/>
          </p:cNvGrpSpPr>
          <p:nvPr/>
        </p:nvGrpSpPr>
        <p:grpSpPr bwMode="auto">
          <a:xfrm>
            <a:off x="234950" y="3289300"/>
            <a:ext cx="8674100" cy="3263900"/>
            <a:chOff x="148" y="2072"/>
            <a:chExt cx="5464" cy="2056"/>
          </a:xfrm>
        </p:grpSpPr>
        <p:grpSp>
          <p:nvGrpSpPr>
            <p:cNvPr id="160804" name="Group 36"/>
            <p:cNvGrpSpPr>
              <a:grpSpLocks/>
            </p:cNvGrpSpPr>
            <p:nvPr/>
          </p:nvGrpSpPr>
          <p:grpSpPr bwMode="auto">
            <a:xfrm>
              <a:off x="148" y="2072"/>
              <a:ext cx="5464" cy="2056"/>
              <a:chOff x="148" y="1972"/>
              <a:chExt cx="5464" cy="2056"/>
            </a:xfrm>
          </p:grpSpPr>
          <p:sp>
            <p:nvSpPr>
              <p:cNvPr id="160770" name="Rectangle 2"/>
              <p:cNvSpPr>
                <a:spLocks noChangeArrowheads="1"/>
              </p:cNvSpPr>
              <p:nvPr/>
            </p:nvSpPr>
            <p:spPr bwMode="auto">
              <a:xfrm>
                <a:off x="148" y="2500"/>
                <a:ext cx="5464" cy="1528"/>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1" name="Rectangle 23"/>
              <p:cNvSpPr>
                <a:spLocks noChangeArrowheads="1"/>
              </p:cNvSpPr>
              <p:nvPr/>
            </p:nvSpPr>
            <p:spPr bwMode="auto">
              <a:xfrm>
                <a:off x="489" y="2265"/>
                <a:ext cx="119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1600" b="1">
                    <a:latin typeface="Helvetica" charset="0"/>
                  </a:rPr>
                  <a:t>logical process</a:t>
                </a:r>
              </a:p>
            </p:txBody>
          </p:sp>
          <p:sp>
            <p:nvSpPr>
              <p:cNvPr id="160792" name="Rectangle 24"/>
              <p:cNvSpPr>
                <a:spLocks noChangeArrowheads="1"/>
              </p:cNvSpPr>
              <p:nvPr/>
            </p:nvSpPr>
            <p:spPr bwMode="auto">
              <a:xfrm>
                <a:off x="2985" y="2265"/>
                <a:ext cx="200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1600" b="1">
                    <a:latin typeface="Helvetica" charset="0"/>
                  </a:rPr>
                  <a:t>time stamped event (message)</a:t>
                </a:r>
              </a:p>
            </p:txBody>
          </p:sp>
          <p:sp>
            <p:nvSpPr>
              <p:cNvPr id="160793" name="AutoShape 25"/>
              <p:cNvSpPr>
                <a:spLocks noChangeArrowheads="1"/>
              </p:cNvSpPr>
              <p:nvPr/>
            </p:nvSpPr>
            <p:spPr bwMode="auto">
              <a:xfrm rot="16200000" flipH="1">
                <a:off x="916" y="2020"/>
                <a:ext cx="280" cy="184"/>
              </a:xfrm>
              <a:prstGeom prst="rightArrow">
                <a:avLst>
                  <a:gd name="adj1" fmla="val 50000"/>
                  <a:gd name="adj2" fmla="val 76094"/>
                </a:avLst>
              </a:pr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4" name="AutoShape 26"/>
              <p:cNvSpPr>
                <a:spLocks noChangeArrowheads="1"/>
              </p:cNvSpPr>
              <p:nvPr/>
            </p:nvSpPr>
            <p:spPr bwMode="auto">
              <a:xfrm rot="16200000" flipH="1">
                <a:off x="3748" y="2020"/>
                <a:ext cx="280" cy="184"/>
              </a:xfrm>
              <a:prstGeom prst="rightArrow">
                <a:avLst>
                  <a:gd name="adj1" fmla="val 50000"/>
                  <a:gd name="adj2" fmla="val 76094"/>
                </a:avLst>
              </a:prstGeom>
              <a:solidFill>
                <a:srgbClr val="081D58"/>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5" name="Rectangle 27"/>
              <p:cNvSpPr>
                <a:spLocks noChangeArrowheads="1"/>
              </p:cNvSpPr>
              <p:nvPr/>
            </p:nvSpPr>
            <p:spPr bwMode="auto">
              <a:xfrm>
                <a:off x="2600" y="2648"/>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ORD</a:t>
                </a:r>
              </a:p>
            </p:txBody>
          </p:sp>
          <p:sp>
            <p:nvSpPr>
              <p:cNvPr id="160796" name="Rectangle 28"/>
              <p:cNvSpPr>
                <a:spLocks noChangeArrowheads="1"/>
              </p:cNvSpPr>
              <p:nvPr/>
            </p:nvSpPr>
            <p:spPr bwMode="auto">
              <a:xfrm>
                <a:off x="1256" y="3464"/>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SFO</a:t>
                </a:r>
              </a:p>
            </p:txBody>
          </p:sp>
          <p:sp>
            <p:nvSpPr>
              <p:cNvPr id="160797" name="Rectangle 29"/>
              <p:cNvSpPr>
                <a:spLocks noChangeArrowheads="1"/>
              </p:cNvSpPr>
              <p:nvPr/>
            </p:nvSpPr>
            <p:spPr bwMode="auto">
              <a:xfrm>
                <a:off x="3896" y="3512"/>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JFK</a:t>
                </a:r>
              </a:p>
            </p:txBody>
          </p:sp>
          <p:sp>
            <p:nvSpPr>
              <p:cNvPr id="160798" name="Line 30"/>
              <p:cNvSpPr>
                <a:spLocks noChangeShapeType="1"/>
              </p:cNvSpPr>
              <p:nvPr/>
            </p:nvSpPr>
            <p:spPr bwMode="auto">
              <a:xfrm>
                <a:off x="3272" y="3080"/>
                <a:ext cx="608" cy="416"/>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9" name="Line 31"/>
              <p:cNvSpPr>
                <a:spLocks noChangeShapeType="1"/>
              </p:cNvSpPr>
              <p:nvPr/>
            </p:nvSpPr>
            <p:spPr bwMode="auto">
              <a:xfrm flipH="1">
                <a:off x="1920" y="3080"/>
                <a:ext cx="672" cy="368"/>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0" name="Line 32"/>
              <p:cNvSpPr>
                <a:spLocks noChangeShapeType="1"/>
              </p:cNvSpPr>
              <p:nvPr/>
            </p:nvSpPr>
            <p:spPr bwMode="auto">
              <a:xfrm>
                <a:off x="1928" y="3696"/>
                <a:ext cx="1952"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1" name="Rectangle 33"/>
              <p:cNvSpPr>
                <a:spLocks noChangeArrowheads="1"/>
              </p:cNvSpPr>
              <p:nvPr/>
            </p:nvSpPr>
            <p:spPr bwMode="auto">
              <a:xfrm>
                <a:off x="1588" y="3172"/>
                <a:ext cx="376" cy="232"/>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200">
                    <a:solidFill>
                      <a:schemeClr val="bg1"/>
                    </a:solidFill>
                  </a:rPr>
                  <a:t>arrival</a:t>
                </a:r>
              </a:p>
              <a:p>
                <a:pPr algn="ctr"/>
                <a:r>
                  <a:rPr lang="en-US" altLang="it-IT" sz="1200">
                    <a:solidFill>
                      <a:schemeClr val="bg1"/>
                    </a:solidFill>
                  </a:rPr>
                  <a:t>10:00</a:t>
                </a:r>
              </a:p>
            </p:txBody>
          </p:sp>
        </p:grpSp>
        <p:sp>
          <p:nvSpPr>
            <p:cNvPr id="160807" name="Text Box 39"/>
            <p:cNvSpPr txBox="1">
              <a:spLocks noChangeArrowheads="1"/>
            </p:cNvSpPr>
            <p:nvPr/>
          </p:nvSpPr>
          <p:spPr bwMode="auto">
            <a:xfrm>
              <a:off x="192" y="2640"/>
              <a:ext cx="8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b="1"/>
                <a:t>Simulation</a:t>
              </a:r>
            </a:p>
          </p:txBody>
        </p:sp>
      </p:grpSp>
      <p:sp>
        <p:nvSpPr>
          <p:cNvPr id="4" name="Segnaposto numero diapositiva 3">
            <a:extLst>
              <a:ext uri="{FF2B5EF4-FFF2-40B4-BE49-F238E27FC236}">
                <a16:creationId xmlns:a16="http://schemas.microsoft.com/office/drawing/2014/main" id="{8890CCC7-72D0-FDA5-A87A-EE77D85B3C41}"/>
              </a:ext>
            </a:extLst>
          </p:cNvPr>
          <p:cNvSpPr>
            <a:spLocks noGrp="1"/>
          </p:cNvSpPr>
          <p:nvPr>
            <p:ph type="sldNum" sz="quarter" idx="4"/>
          </p:nvPr>
        </p:nvSpPr>
        <p:spPr/>
        <p:txBody>
          <a:bodyPr/>
          <a:lstStyle/>
          <a:p>
            <a:fld id="{9BFB3A76-8619-A843-8C67-B9C7C140DBAC}" type="slidenum">
              <a:rPr lang="en-US" smtClean="0"/>
              <a:t>5</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0806"/>
                                        </p:tgtEl>
                                        <p:attrNameLst>
                                          <p:attrName>style.visibility</p:attrName>
                                        </p:attrNameLst>
                                      </p:cBhvr>
                                      <p:to>
                                        <p:strVal val="visible"/>
                                      </p:to>
                                    </p:set>
                                    <p:animEffect transition="in" filter="dissolve">
                                      <p:cBhvr>
                                        <p:cTn id="7" dur="500"/>
                                        <p:tgtEl>
                                          <p:spTgt spid="1608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0808"/>
                                        </p:tgtEl>
                                        <p:attrNameLst>
                                          <p:attrName>style.visibility</p:attrName>
                                        </p:attrNameLst>
                                      </p:cBhvr>
                                      <p:to>
                                        <p:strVal val="visible"/>
                                      </p:to>
                                    </p:set>
                                    <p:animEffect transition="in" filter="dissolve">
                                      <p:cBhvr>
                                        <p:cTn id="12" dur="500"/>
                                        <p:tgtEl>
                                          <p:spTgt spid="1608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0802"/>
                                        </p:tgtEl>
                                        <p:attrNameLst>
                                          <p:attrName>style.visibility</p:attrName>
                                        </p:attrNameLst>
                                      </p:cBhvr>
                                      <p:to>
                                        <p:strVal val="visible"/>
                                      </p:to>
                                    </p:set>
                                    <p:animEffect transition="in" filter="dissolve">
                                      <p:cBhvr>
                                        <p:cTn id="17" dur="500"/>
                                        <p:tgtEl>
                                          <p:spTgt spid="160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02"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en-US" altLang="it-IT"/>
              <a:t>LP Simulation Example</a:t>
            </a:r>
          </a:p>
        </p:txBody>
      </p:sp>
      <p:sp>
        <p:nvSpPr>
          <p:cNvPr id="176131" name="Rectangle 3"/>
          <p:cNvSpPr>
            <a:spLocks noGrp="1" noChangeArrowheads="1"/>
          </p:cNvSpPr>
          <p:nvPr>
            <p:ph type="body" idx="1"/>
          </p:nvPr>
        </p:nvSpPr>
        <p:spPr>
          <a:xfrm>
            <a:off x="457200" y="2209800"/>
            <a:ext cx="8382000" cy="1676400"/>
          </a:xfrm>
          <a:ln w="12700">
            <a:solidFill>
              <a:srgbClr val="000066"/>
            </a:solidFill>
            <a:miter lim="800000"/>
            <a:headEnd/>
            <a:tailEnd/>
          </a:ln>
        </p:spPr>
        <p:txBody>
          <a:bodyPr/>
          <a:lstStyle/>
          <a:p>
            <a:pPr>
              <a:buFontTx/>
              <a:buNone/>
            </a:pPr>
            <a:r>
              <a:rPr lang="en-US" altLang="it-IT" sz="1800">
                <a:latin typeface="Times New Roman" charset="0"/>
              </a:rPr>
              <a:t>Arrival Event:</a:t>
            </a:r>
          </a:p>
          <a:p>
            <a:pPr>
              <a:buFontTx/>
              <a:buNone/>
            </a:pPr>
            <a:r>
              <a:rPr lang="en-US" altLang="it-IT" sz="1800" err="1">
                <a:latin typeface="Times New Roman" charset="0"/>
              </a:rPr>
              <a:t>InTheAir</a:t>
            </a:r>
            <a:r>
              <a:rPr lang="en-US" altLang="it-IT" sz="1800">
                <a:latin typeface="Times New Roman" charset="0"/>
              </a:rPr>
              <a:t> := InTheAir+1;</a:t>
            </a:r>
          </a:p>
          <a:p>
            <a:pPr>
              <a:buFontTx/>
              <a:buNone/>
            </a:pPr>
            <a:r>
              <a:rPr lang="en-US" altLang="it-IT" sz="1800">
                <a:latin typeface="Times New Roman" charset="0"/>
              </a:rPr>
              <a:t>If (</a:t>
            </a:r>
            <a:r>
              <a:rPr lang="en-US" altLang="it-IT" sz="1800" err="1">
                <a:latin typeface="Times New Roman" charset="0"/>
              </a:rPr>
              <a:t>RunwayFree</a:t>
            </a:r>
            <a:r>
              <a:rPr lang="en-US" altLang="it-IT" sz="1800">
                <a:latin typeface="Times New Roman" charset="0"/>
              </a:rPr>
              <a:t>)</a:t>
            </a:r>
          </a:p>
          <a:p>
            <a:pPr>
              <a:buFontTx/>
              <a:buNone/>
            </a:pPr>
            <a:r>
              <a:rPr lang="en-US" altLang="it-IT" sz="1800">
                <a:latin typeface="Times New Roman" charset="0"/>
              </a:rPr>
              <a:t>	</a:t>
            </a:r>
            <a:r>
              <a:rPr lang="en-US" altLang="it-IT" sz="1800" err="1">
                <a:latin typeface="Times New Roman" charset="0"/>
              </a:rPr>
              <a:t>RunwayFree</a:t>
            </a:r>
            <a:r>
              <a:rPr lang="en-US" altLang="it-IT" sz="1800">
                <a:latin typeface="Times New Roman" charset="0"/>
              </a:rPr>
              <a:t>:=FALSE;</a:t>
            </a:r>
          </a:p>
          <a:p>
            <a:pPr>
              <a:buFontTx/>
              <a:buNone/>
            </a:pPr>
            <a:r>
              <a:rPr lang="en-US" altLang="it-IT" sz="1800">
                <a:latin typeface="Times New Roman" charset="0"/>
              </a:rPr>
              <a:t>	</a:t>
            </a:r>
            <a:r>
              <a:rPr lang="en-US" altLang="it-IT" sz="1800">
                <a:solidFill>
                  <a:schemeClr val="tx2"/>
                </a:solidFill>
                <a:latin typeface="Times New Roman" charset="0"/>
              </a:rPr>
              <a:t>Schedule</a:t>
            </a:r>
            <a:r>
              <a:rPr lang="en-US" altLang="it-IT" sz="1800">
                <a:latin typeface="Times New Roman" charset="0"/>
              </a:rPr>
              <a:t> Landed event </a:t>
            </a:r>
            <a:r>
              <a:rPr lang="en-US" altLang="it-IT" sz="1800">
                <a:solidFill>
                  <a:srgbClr val="CC0000"/>
                </a:solidFill>
                <a:latin typeface="Times New Roman" charset="0"/>
              </a:rPr>
              <a:t>(local)</a:t>
            </a:r>
            <a:r>
              <a:rPr lang="en-US" altLang="it-IT" sz="1800">
                <a:latin typeface="Times New Roman" charset="0"/>
              </a:rPr>
              <a:t> @ </a:t>
            </a:r>
            <a:r>
              <a:rPr lang="en-US" altLang="it-IT" sz="1800" err="1">
                <a:latin typeface="Times New Roman" charset="0"/>
              </a:rPr>
              <a:t>Now+R</a:t>
            </a:r>
            <a:r>
              <a:rPr lang="en-US" altLang="it-IT" sz="1800">
                <a:latin typeface="Times New Roman" charset="0"/>
              </a:rPr>
              <a:t>;</a:t>
            </a:r>
          </a:p>
        </p:txBody>
      </p:sp>
      <p:sp>
        <p:nvSpPr>
          <p:cNvPr id="176132" name="Rectangle 4"/>
          <p:cNvSpPr>
            <a:spLocks noChangeArrowheads="1"/>
          </p:cNvSpPr>
          <p:nvPr/>
        </p:nvSpPr>
        <p:spPr bwMode="auto">
          <a:xfrm>
            <a:off x="457200" y="838200"/>
            <a:ext cx="8382000" cy="1371600"/>
          </a:xfrm>
          <a:prstGeom prst="rect">
            <a:avLst/>
          </a:prstGeom>
          <a:noFill/>
          <a:ln w="12700">
            <a:solidFill>
              <a:srgbClr val="000066"/>
            </a:solidFill>
            <a:miter lim="800000"/>
            <a:headEnd/>
            <a:tailEnd/>
          </a:ln>
          <a:effectLst/>
          <a:extLst>
            <a:ext uri="{909E8E84-426E-40DD-AFC4-6F175D3DCCD1}">
              <a14:hiddenFill xmlns:a14="http://schemas.microsoft.com/office/drawing/2010/main">
                <a:solidFill>
                  <a:srgbClr val="FDE3BA"/>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r>
              <a:rPr lang="en-US" altLang="it-IT" sz="1800">
                <a:latin typeface="Times New Roman" charset="0"/>
              </a:rPr>
              <a:t>Now: current simulation time</a:t>
            </a:r>
          </a:p>
          <a:p>
            <a:r>
              <a:rPr lang="en-US" altLang="it-IT" sz="1800">
                <a:latin typeface="Times New Roman" charset="0"/>
              </a:rPr>
              <a:t>InTheAir: number of aircraft landing or waiting to land</a:t>
            </a:r>
          </a:p>
          <a:p>
            <a:r>
              <a:rPr lang="en-US" altLang="it-IT" sz="1800">
                <a:latin typeface="Times New Roman" charset="0"/>
              </a:rPr>
              <a:t>OnTheGround: number of landed aircraft</a:t>
            </a:r>
          </a:p>
          <a:p>
            <a:r>
              <a:rPr lang="en-US" altLang="it-IT" sz="1800">
                <a:latin typeface="Times New Roman" charset="0"/>
              </a:rPr>
              <a:t>RunwayFree: Boolean, true if runway available</a:t>
            </a:r>
          </a:p>
        </p:txBody>
      </p:sp>
      <p:sp>
        <p:nvSpPr>
          <p:cNvPr id="176133" name="Rectangle 5"/>
          <p:cNvSpPr>
            <a:spLocks noChangeArrowheads="1"/>
          </p:cNvSpPr>
          <p:nvPr/>
        </p:nvSpPr>
        <p:spPr bwMode="auto">
          <a:xfrm>
            <a:off x="457200" y="3886200"/>
            <a:ext cx="8382000" cy="1676400"/>
          </a:xfrm>
          <a:prstGeom prst="rect">
            <a:avLst/>
          </a:prstGeom>
          <a:noFill/>
          <a:ln w="12700">
            <a:solidFill>
              <a:srgbClr val="000066"/>
            </a:solidFill>
            <a:miter lim="800000"/>
            <a:headEnd/>
            <a:tailEnd/>
          </a:ln>
          <a:effectLst/>
          <a:extLst>
            <a:ext uri="{909E8E84-426E-40DD-AFC4-6F175D3DCCD1}">
              <a14:hiddenFill xmlns:a14="http://schemas.microsoft.com/office/drawing/2010/main">
                <a:solidFill>
                  <a:srgbClr val="FDE3BA"/>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sz="1800">
                <a:latin typeface="Times New Roman" charset="0"/>
              </a:rPr>
              <a:t>Landed Event:</a:t>
            </a:r>
          </a:p>
          <a:p>
            <a:pPr>
              <a:buFontTx/>
              <a:buNone/>
            </a:pPr>
            <a:r>
              <a:rPr lang="en-US" altLang="it-IT" sz="1800">
                <a:latin typeface="Times New Roman" charset="0"/>
              </a:rPr>
              <a:t>InTheAir:=InTheAir-1;     OnTheGround:=OnTheGround+1;</a:t>
            </a:r>
          </a:p>
          <a:p>
            <a:pPr>
              <a:buFontTx/>
              <a:buNone/>
            </a:pPr>
            <a:r>
              <a:rPr lang="en-US" altLang="it-IT" sz="1800">
                <a:solidFill>
                  <a:schemeClr val="tx2"/>
                </a:solidFill>
                <a:latin typeface="Times New Roman" charset="0"/>
              </a:rPr>
              <a:t>Schedule</a:t>
            </a:r>
            <a:r>
              <a:rPr lang="en-US" altLang="it-IT" sz="1800">
                <a:latin typeface="Times New Roman" charset="0"/>
              </a:rPr>
              <a:t> Departure event </a:t>
            </a:r>
            <a:r>
              <a:rPr lang="en-US" altLang="it-IT" sz="1800">
                <a:solidFill>
                  <a:srgbClr val="CC0000"/>
                </a:solidFill>
                <a:latin typeface="Times New Roman" charset="0"/>
              </a:rPr>
              <a:t>(local)</a:t>
            </a:r>
            <a:r>
              <a:rPr lang="en-US" altLang="it-IT" sz="1800">
                <a:latin typeface="Times New Roman" charset="0"/>
              </a:rPr>
              <a:t> @ Now + G;</a:t>
            </a:r>
          </a:p>
          <a:p>
            <a:pPr>
              <a:buFontTx/>
              <a:buNone/>
            </a:pPr>
            <a:r>
              <a:rPr lang="en-US" altLang="it-IT" sz="1800">
                <a:latin typeface="Times New Roman" charset="0"/>
              </a:rPr>
              <a:t>If (InTheAir&gt;0) </a:t>
            </a:r>
            <a:r>
              <a:rPr lang="en-US" altLang="it-IT" sz="1800">
                <a:solidFill>
                  <a:schemeClr val="tx2"/>
                </a:solidFill>
                <a:latin typeface="Times New Roman" charset="0"/>
              </a:rPr>
              <a:t>Schedule</a:t>
            </a:r>
            <a:r>
              <a:rPr lang="en-US" altLang="it-IT" sz="1800">
                <a:latin typeface="Times New Roman" charset="0"/>
              </a:rPr>
              <a:t> Landed event </a:t>
            </a:r>
            <a:r>
              <a:rPr lang="en-US" altLang="it-IT" sz="1800">
                <a:solidFill>
                  <a:srgbClr val="CC0000"/>
                </a:solidFill>
                <a:latin typeface="Times New Roman" charset="0"/>
              </a:rPr>
              <a:t>(local) </a:t>
            </a:r>
            <a:r>
              <a:rPr lang="en-US" altLang="it-IT" sz="1800">
                <a:latin typeface="Times New Roman" charset="0"/>
              </a:rPr>
              <a:t>@ Now+R;</a:t>
            </a:r>
          </a:p>
          <a:p>
            <a:pPr>
              <a:buFontTx/>
              <a:buNone/>
            </a:pPr>
            <a:r>
              <a:rPr lang="en-US" altLang="it-IT" sz="1800">
                <a:latin typeface="Times New Roman" charset="0"/>
              </a:rPr>
              <a:t>Else RunwayFree := TRUE;</a:t>
            </a:r>
          </a:p>
        </p:txBody>
      </p:sp>
      <p:sp>
        <p:nvSpPr>
          <p:cNvPr id="176134" name="Rectangle 6"/>
          <p:cNvSpPr>
            <a:spLocks noChangeArrowheads="1"/>
          </p:cNvSpPr>
          <p:nvPr/>
        </p:nvSpPr>
        <p:spPr bwMode="auto">
          <a:xfrm>
            <a:off x="457200" y="5562600"/>
            <a:ext cx="8382000" cy="990600"/>
          </a:xfrm>
          <a:prstGeom prst="rect">
            <a:avLst/>
          </a:prstGeom>
          <a:noFill/>
          <a:ln w="12700">
            <a:solidFill>
              <a:srgbClr val="000066"/>
            </a:solidFill>
            <a:miter lim="800000"/>
            <a:headEnd/>
            <a:tailEnd/>
          </a:ln>
          <a:effectLst/>
          <a:extLst>
            <a:ext uri="{909E8E84-426E-40DD-AFC4-6F175D3DCCD1}">
              <a14:hiddenFill xmlns:a14="http://schemas.microsoft.com/office/drawing/2010/main">
                <a:solidFill>
                  <a:srgbClr val="FDE3BA"/>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sz="1800">
                <a:latin typeface="Times New Roman" charset="0"/>
              </a:rPr>
              <a:t>Departure Event </a:t>
            </a:r>
            <a:r>
              <a:rPr lang="en-US" altLang="it-IT" sz="1800" b="1">
                <a:solidFill>
                  <a:srgbClr val="CC0000"/>
                </a:solidFill>
                <a:latin typeface="Times New Roman" charset="0"/>
              </a:rPr>
              <a:t>(D = delay to reach another airport)</a:t>
            </a:r>
            <a:r>
              <a:rPr lang="en-US" altLang="it-IT" sz="1800">
                <a:latin typeface="Times New Roman" charset="0"/>
              </a:rPr>
              <a:t>:</a:t>
            </a:r>
          </a:p>
          <a:p>
            <a:pPr>
              <a:buFontTx/>
              <a:buNone/>
            </a:pPr>
            <a:r>
              <a:rPr lang="en-US" altLang="it-IT" sz="1800" err="1">
                <a:latin typeface="Times New Roman" charset="0"/>
              </a:rPr>
              <a:t>OnTheGround</a:t>
            </a:r>
            <a:r>
              <a:rPr lang="en-US" altLang="it-IT" sz="1800">
                <a:latin typeface="Times New Roman" charset="0"/>
              </a:rPr>
              <a:t> := </a:t>
            </a:r>
            <a:r>
              <a:rPr lang="en-US" altLang="it-IT" sz="1800" err="1">
                <a:latin typeface="Times New Roman" charset="0"/>
              </a:rPr>
              <a:t>OnTheGround</a:t>
            </a:r>
            <a:r>
              <a:rPr lang="en-US" altLang="it-IT" sz="1800">
                <a:latin typeface="Times New Roman" charset="0"/>
              </a:rPr>
              <a:t> - 1;</a:t>
            </a:r>
          </a:p>
          <a:p>
            <a:pPr>
              <a:buFontTx/>
              <a:buNone/>
            </a:pPr>
            <a:r>
              <a:rPr lang="en-US" altLang="it-IT" sz="1800" b="1">
                <a:solidFill>
                  <a:srgbClr val="CC0000"/>
                </a:solidFill>
                <a:latin typeface="Times New Roman" charset="0"/>
              </a:rPr>
              <a:t>Schedule Arrival Event (remote) @ (</a:t>
            </a:r>
            <a:r>
              <a:rPr lang="en-US" altLang="it-IT" sz="1800" b="1" err="1">
                <a:solidFill>
                  <a:srgbClr val="CC0000"/>
                </a:solidFill>
                <a:latin typeface="Times New Roman" charset="0"/>
              </a:rPr>
              <a:t>Now+D</a:t>
            </a:r>
            <a:r>
              <a:rPr lang="en-US" altLang="it-IT" sz="1800" b="1">
                <a:solidFill>
                  <a:srgbClr val="CC0000"/>
                </a:solidFill>
                <a:latin typeface="Times New Roman" charset="0"/>
              </a:rPr>
              <a:t>) @ another airport</a:t>
            </a:r>
            <a:endParaRPr lang="en-US" altLang="it-IT" sz="1800">
              <a:latin typeface="Times New Roman" charset="0"/>
            </a:endParaRPr>
          </a:p>
        </p:txBody>
      </p:sp>
      <p:sp>
        <p:nvSpPr>
          <p:cNvPr id="3" name="Rettangolo 2">
            <a:extLst>
              <a:ext uri="{FF2B5EF4-FFF2-40B4-BE49-F238E27FC236}">
                <a16:creationId xmlns:a16="http://schemas.microsoft.com/office/drawing/2014/main" id="{5911B61A-4C25-17CE-DB69-013311936052}"/>
              </a:ext>
            </a:extLst>
          </p:cNvPr>
          <p:cNvSpPr/>
          <p:nvPr/>
        </p:nvSpPr>
        <p:spPr bwMode="auto">
          <a:xfrm>
            <a:off x="561255" y="2270124"/>
            <a:ext cx="4442793" cy="1571923"/>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4" name="Rettangolo 3">
            <a:extLst>
              <a:ext uri="{FF2B5EF4-FFF2-40B4-BE49-F238E27FC236}">
                <a16:creationId xmlns:a16="http://schemas.microsoft.com/office/drawing/2014/main" id="{BFE405D1-DD7B-AD2A-C914-2B53E198AC2C}"/>
              </a:ext>
            </a:extLst>
          </p:cNvPr>
          <p:cNvSpPr/>
          <p:nvPr/>
        </p:nvSpPr>
        <p:spPr bwMode="auto">
          <a:xfrm>
            <a:off x="561255" y="3965944"/>
            <a:ext cx="6675041" cy="1551288"/>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5" name="Rettangolo 4">
            <a:extLst>
              <a:ext uri="{FF2B5EF4-FFF2-40B4-BE49-F238E27FC236}">
                <a16:creationId xmlns:a16="http://schemas.microsoft.com/office/drawing/2014/main" id="{601CF781-A354-1138-6173-3BF1E0ACE7A7}"/>
              </a:ext>
            </a:extLst>
          </p:cNvPr>
          <p:cNvSpPr/>
          <p:nvPr/>
        </p:nvSpPr>
        <p:spPr bwMode="auto">
          <a:xfrm>
            <a:off x="529612" y="5675983"/>
            <a:ext cx="6706684" cy="864000"/>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7" name="Segnaposto numero diapositiva 6">
            <a:extLst>
              <a:ext uri="{FF2B5EF4-FFF2-40B4-BE49-F238E27FC236}">
                <a16:creationId xmlns:a16="http://schemas.microsoft.com/office/drawing/2014/main" id="{ABE6C24C-5D69-F627-F1C2-46BDB05C81D3}"/>
              </a:ext>
            </a:extLst>
          </p:cNvPr>
          <p:cNvSpPr>
            <a:spLocks noGrp="1"/>
          </p:cNvSpPr>
          <p:nvPr>
            <p:ph type="sldNum" sz="quarter" idx="4"/>
          </p:nvPr>
        </p:nvSpPr>
        <p:spPr/>
        <p:txBody>
          <a:bodyPr/>
          <a:lstStyle/>
          <a:p>
            <a:fld id="{9BFB3A76-8619-A843-8C67-B9C7C140DBAC}" type="slidenum">
              <a:rPr lang="en-US" smtClean="0"/>
              <a:t>6</a:t>
            </a:fld>
            <a:endParaRPr lang="en-US"/>
          </a:p>
        </p:txBody>
      </p:sp>
      <p:sp>
        <p:nvSpPr>
          <p:cNvPr id="8" name="Segnaposto data 7">
            <a:extLst>
              <a:ext uri="{FF2B5EF4-FFF2-40B4-BE49-F238E27FC236}">
                <a16:creationId xmlns:a16="http://schemas.microsoft.com/office/drawing/2014/main" id="{A863E581-6959-4B9B-1414-DD06C8B93F8D}"/>
              </a:ext>
            </a:extLst>
          </p:cNvPr>
          <p:cNvSpPr>
            <a:spLocks noGrp="1"/>
          </p:cNvSpPr>
          <p:nvPr>
            <p:ph type="dt" sz="half" idx="2"/>
          </p:nvPr>
        </p:nvSpPr>
        <p:spPr/>
        <p:txBody>
          <a:bodyPr/>
          <a:lstStyle/>
          <a:p>
            <a:r>
              <a:rPr lang="it-IT"/>
              <a:t>Distributed Simulation Systems</a:t>
            </a:r>
            <a:endParaRPr lang="en-US"/>
          </a:p>
        </p:txBody>
      </p:sp>
      <p:sp>
        <p:nvSpPr>
          <p:cNvPr id="9" name="Segnaposto piè di pagina 8">
            <a:extLst>
              <a:ext uri="{FF2B5EF4-FFF2-40B4-BE49-F238E27FC236}">
                <a16:creationId xmlns:a16="http://schemas.microsoft.com/office/drawing/2014/main" id="{11BD8FC2-195E-38CF-32D3-FD89A2683C3E}"/>
              </a:ext>
            </a:extLst>
          </p:cNvPr>
          <p:cNvSpPr>
            <a:spLocks noGrp="1"/>
          </p:cNvSpPr>
          <p:nvPr>
            <p:ph type="ftr" sz="quarter" idx="3"/>
          </p:nvPr>
        </p:nvSpPr>
        <p:spPr/>
        <p:txBody>
          <a:bodyPr/>
          <a:lstStyle/>
          <a:p>
            <a:r>
              <a:rPr lang="en-US"/>
              <a:t>paolo.bocciarelli@uniroma2.it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1288" name="Group 40"/>
          <p:cNvGrpSpPr>
            <a:grpSpLocks/>
          </p:cNvGrpSpPr>
          <p:nvPr/>
        </p:nvGrpSpPr>
        <p:grpSpPr bwMode="auto">
          <a:xfrm>
            <a:off x="457200" y="3352800"/>
            <a:ext cx="8153400" cy="3352800"/>
            <a:chOff x="288" y="2112"/>
            <a:chExt cx="5136" cy="2112"/>
          </a:xfrm>
        </p:grpSpPr>
        <p:sp>
          <p:nvSpPr>
            <p:cNvPr id="181252" name="Rectangle 4"/>
            <p:cNvSpPr>
              <a:spLocks noChangeArrowheads="1"/>
            </p:cNvSpPr>
            <p:nvPr/>
          </p:nvSpPr>
          <p:spPr bwMode="auto">
            <a:xfrm>
              <a:off x="288" y="2112"/>
              <a:ext cx="5136" cy="2112"/>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1253" name="Rectangle 5"/>
            <p:cNvSpPr>
              <a:spLocks noChangeArrowheads="1"/>
            </p:cNvSpPr>
            <p:nvPr/>
          </p:nvSpPr>
          <p:spPr bwMode="auto">
            <a:xfrm>
              <a:off x="3312" y="2160"/>
              <a:ext cx="807" cy="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lgn="ctr">
                <a:spcBef>
                  <a:spcPct val="20000"/>
                </a:spcBef>
              </a:pPr>
              <a:r>
                <a:rPr lang="en-US" altLang="it-IT" sz="2000" b="1">
                  <a:latin typeface="Helvetica" charset="0"/>
                </a:rPr>
                <a:t>logical</a:t>
              </a:r>
            </a:p>
            <a:p>
              <a:pPr algn="ctr">
                <a:spcBef>
                  <a:spcPct val="20000"/>
                </a:spcBef>
              </a:pPr>
              <a:r>
                <a:rPr lang="en-US" altLang="it-IT" sz="2000" b="1">
                  <a:latin typeface="Helvetica" charset="0"/>
                </a:rPr>
                <a:t>process</a:t>
              </a:r>
            </a:p>
          </p:txBody>
        </p:sp>
        <p:sp>
          <p:nvSpPr>
            <p:cNvPr id="181255" name="Rectangle 7"/>
            <p:cNvSpPr>
              <a:spLocks noChangeArrowheads="1"/>
            </p:cNvSpPr>
            <p:nvPr/>
          </p:nvSpPr>
          <p:spPr bwMode="auto">
            <a:xfrm>
              <a:off x="2696" y="2208"/>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ORD</a:t>
              </a:r>
            </a:p>
          </p:txBody>
        </p:sp>
        <p:sp>
          <p:nvSpPr>
            <p:cNvPr id="181256" name="Rectangle 8"/>
            <p:cNvSpPr>
              <a:spLocks noChangeArrowheads="1"/>
            </p:cNvSpPr>
            <p:nvPr/>
          </p:nvSpPr>
          <p:spPr bwMode="auto">
            <a:xfrm>
              <a:off x="1632" y="3648"/>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SFO</a:t>
              </a:r>
            </a:p>
          </p:txBody>
        </p:sp>
        <p:sp>
          <p:nvSpPr>
            <p:cNvPr id="181257" name="Rectangle 9"/>
            <p:cNvSpPr>
              <a:spLocks noChangeArrowheads="1"/>
            </p:cNvSpPr>
            <p:nvPr/>
          </p:nvSpPr>
          <p:spPr bwMode="auto">
            <a:xfrm>
              <a:off x="3744" y="3648"/>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JFK</a:t>
              </a:r>
            </a:p>
          </p:txBody>
        </p:sp>
        <p:sp>
          <p:nvSpPr>
            <p:cNvPr id="181259" name="Line 11"/>
            <p:cNvSpPr>
              <a:spLocks noChangeShapeType="1"/>
            </p:cNvSpPr>
            <p:nvPr/>
          </p:nvSpPr>
          <p:spPr bwMode="auto">
            <a:xfrm flipH="1">
              <a:off x="1968" y="2640"/>
              <a:ext cx="720" cy="1008"/>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1260" name="Line 12"/>
            <p:cNvSpPr>
              <a:spLocks noChangeShapeType="1"/>
            </p:cNvSpPr>
            <p:nvPr/>
          </p:nvSpPr>
          <p:spPr bwMode="auto">
            <a:xfrm>
              <a:off x="2304" y="3840"/>
              <a:ext cx="144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1261" name="Rectangle 13"/>
            <p:cNvSpPr>
              <a:spLocks noChangeArrowheads="1"/>
            </p:cNvSpPr>
            <p:nvPr/>
          </p:nvSpPr>
          <p:spPr bwMode="auto">
            <a:xfrm>
              <a:off x="1680" y="3216"/>
              <a:ext cx="376" cy="232"/>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200">
                  <a:solidFill>
                    <a:schemeClr val="bg1"/>
                  </a:solidFill>
                </a:rPr>
                <a:t>arrival</a:t>
              </a:r>
            </a:p>
            <a:p>
              <a:pPr algn="ctr"/>
              <a:r>
                <a:rPr lang="en-US" altLang="it-IT" sz="1200">
                  <a:solidFill>
                    <a:schemeClr val="bg1"/>
                  </a:solidFill>
                </a:rPr>
                <a:t>10:00</a:t>
              </a:r>
            </a:p>
          </p:txBody>
        </p:sp>
        <p:sp>
          <p:nvSpPr>
            <p:cNvPr id="181282" name="Line 34"/>
            <p:cNvSpPr>
              <a:spLocks noChangeShapeType="1"/>
            </p:cNvSpPr>
            <p:nvPr/>
          </p:nvSpPr>
          <p:spPr bwMode="auto">
            <a:xfrm>
              <a:off x="3360" y="2640"/>
              <a:ext cx="720" cy="1008"/>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81250" name="Rectangle 2"/>
          <p:cNvSpPr>
            <a:spLocks noGrp="1" noChangeArrowheads="1"/>
          </p:cNvSpPr>
          <p:nvPr>
            <p:ph type="title"/>
          </p:nvPr>
        </p:nvSpPr>
        <p:spPr>
          <a:xfrm>
            <a:off x="395288" y="169863"/>
            <a:ext cx="8443912" cy="576262"/>
          </a:xfrm>
        </p:spPr>
        <p:txBody>
          <a:bodyPr/>
          <a:lstStyle/>
          <a:p>
            <a:r>
              <a:rPr lang="en-US" altLang="it-IT" sz="3200"/>
              <a:t>Approach to Parallel/Distributed Execution</a:t>
            </a:r>
          </a:p>
        </p:txBody>
      </p:sp>
      <p:sp>
        <p:nvSpPr>
          <p:cNvPr id="181251" name="Rectangle 3"/>
          <p:cNvSpPr>
            <a:spLocks noGrp="1" noChangeArrowheads="1"/>
          </p:cNvSpPr>
          <p:nvPr>
            <p:ph type="body" idx="1"/>
          </p:nvPr>
        </p:nvSpPr>
        <p:spPr>
          <a:xfrm>
            <a:off x="381000" y="850900"/>
            <a:ext cx="8443913" cy="454025"/>
          </a:xfrm>
        </p:spPr>
        <p:txBody>
          <a:bodyPr/>
          <a:lstStyle/>
          <a:p>
            <a:r>
              <a:rPr lang="en-US" altLang="it-IT" sz="2400"/>
              <a:t>LP paradigm appears well suited to concurrent execution</a:t>
            </a:r>
          </a:p>
        </p:txBody>
      </p:sp>
      <p:grpSp>
        <p:nvGrpSpPr>
          <p:cNvPr id="181287" name="Group 39"/>
          <p:cNvGrpSpPr>
            <a:grpSpLocks/>
          </p:cNvGrpSpPr>
          <p:nvPr/>
        </p:nvGrpSpPr>
        <p:grpSpPr bwMode="auto">
          <a:xfrm>
            <a:off x="381000" y="1371600"/>
            <a:ext cx="8443913" cy="5291138"/>
            <a:chOff x="240" y="864"/>
            <a:chExt cx="5319" cy="3333"/>
          </a:xfrm>
        </p:grpSpPr>
        <p:pic>
          <p:nvPicPr>
            <p:cNvPr id="181278" name="Picture 3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 y="3840"/>
              <a:ext cx="615"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81279" name="Picture 3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 y="2208"/>
              <a:ext cx="61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81280" name="Picture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4" y="3312"/>
              <a:ext cx="615"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81284" name="Rectangle 36"/>
            <p:cNvSpPr>
              <a:spLocks noChangeArrowheads="1"/>
            </p:cNvSpPr>
            <p:nvPr/>
          </p:nvSpPr>
          <p:spPr bwMode="auto">
            <a:xfrm>
              <a:off x="240" y="864"/>
              <a:ext cx="5319" cy="516"/>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r>
                <a:rPr lang="en-US" altLang="it-IT" sz="2400"/>
                <a:t>Map LPs to different processors</a:t>
              </a:r>
            </a:p>
            <a:p>
              <a:pPr lvl="1"/>
              <a:r>
                <a:rPr lang="en-US" altLang="it-IT" sz="2000"/>
                <a:t>Multiple LPs per processor OK</a:t>
              </a:r>
            </a:p>
          </p:txBody>
        </p:sp>
      </p:grpSp>
      <p:grpSp>
        <p:nvGrpSpPr>
          <p:cNvPr id="181289" name="Group 41"/>
          <p:cNvGrpSpPr>
            <a:grpSpLocks/>
          </p:cNvGrpSpPr>
          <p:nvPr/>
        </p:nvGrpSpPr>
        <p:grpSpPr bwMode="auto">
          <a:xfrm>
            <a:off x="395288" y="2168525"/>
            <a:ext cx="8443912" cy="3317875"/>
            <a:chOff x="249" y="1366"/>
            <a:chExt cx="5319" cy="2090"/>
          </a:xfrm>
        </p:grpSpPr>
        <p:sp>
          <p:nvSpPr>
            <p:cNvPr id="181254" name="Rectangle 6"/>
            <p:cNvSpPr>
              <a:spLocks noChangeArrowheads="1"/>
            </p:cNvSpPr>
            <p:nvPr/>
          </p:nvSpPr>
          <p:spPr bwMode="auto">
            <a:xfrm>
              <a:off x="346" y="2978"/>
              <a:ext cx="1766" cy="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lgn="ctr">
                <a:spcBef>
                  <a:spcPct val="20000"/>
                </a:spcBef>
              </a:pPr>
              <a:r>
                <a:rPr lang="en-US" altLang="it-IT" sz="2000" b="1">
                  <a:latin typeface="Helvetica" charset="0"/>
                </a:rPr>
                <a:t>time stamped event</a:t>
              </a:r>
            </a:p>
            <a:p>
              <a:pPr algn="ctr">
                <a:spcBef>
                  <a:spcPct val="20000"/>
                </a:spcBef>
              </a:pPr>
              <a:r>
                <a:rPr lang="en-US" altLang="it-IT" sz="2000" b="1">
                  <a:latin typeface="Helvetica" charset="0"/>
                </a:rPr>
                <a:t>(message)</a:t>
              </a:r>
            </a:p>
          </p:txBody>
        </p:sp>
        <p:sp>
          <p:nvSpPr>
            <p:cNvPr id="181285" name="Rectangle 37"/>
            <p:cNvSpPr>
              <a:spLocks noChangeArrowheads="1"/>
            </p:cNvSpPr>
            <p:nvPr/>
          </p:nvSpPr>
          <p:spPr bwMode="auto">
            <a:xfrm>
              <a:off x="249" y="1366"/>
              <a:ext cx="5319" cy="746"/>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r>
                <a:rPr lang="en-US" altLang="it-IT" sz="2400"/>
                <a:t>Communication via message passing</a:t>
              </a:r>
            </a:p>
            <a:p>
              <a:pPr lvl="1"/>
              <a:r>
                <a:rPr lang="en-US" altLang="it-IT" sz="2000"/>
                <a:t>All interactions via messages</a:t>
              </a:r>
            </a:p>
            <a:p>
              <a:pPr lvl="1"/>
              <a:r>
                <a:rPr lang="en-US" altLang="it-IT" sz="2000"/>
                <a:t>No shared state variables</a:t>
              </a:r>
            </a:p>
          </p:txBody>
        </p:sp>
      </p:grpSp>
      <p:sp>
        <p:nvSpPr>
          <p:cNvPr id="4" name="Segnaposto numero diapositiva 3">
            <a:extLst>
              <a:ext uri="{FF2B5EF4-FFF2-40B4-BE49-F238E27FC236}">
                <a16:creationId xmlns:a16="http://schemas.microsoft.com/office/drawing/2014/main" id="{3A7A975B-EF1C-55C4-5D3D-F56E1477ACBD}"/>
              </a:ext>
            </a:extLst>
          </p:cNvPr>
          <p:cNvSpPr>
            <a:spLocks noGrp="1"/>
          </p:cNvSpPr>
          <p:nvPr>
            <p:ph type="sldNum" sz="quarter" idx="4"/>
          </p:nvPr>
        </p:nvSpPr>
        <p:spPr/>
        <p:txBody>
          <a:bodyPr/>
          <a:lstStyle/>
          <a:p>
            <a:fld id="{9BFB3A76-8619-A843-8C67-B9C7C140DBAC}" type="slidenum">
              <a:rPr lang="en-US" smtClean="0"/>
              <a:t>7</a:t>
            </a:fld>
            <a:endParaRPr lang="en-US"/>
          </a:p>
        </p:txBody>
      </p:sp>
      <p:sp>
        <p:nvSpPr>
          <p:cNvPr id="5" name="Segnaposto data 4">
            <a:extLst>
              <a:ext uri="{FF2B5EF4-FFF2-40B4-BE49-F238E27FC236}">
                <a16:creationId xmlns:a16="http://schemas.microsoft.com/office/drawing/2014/main" id="{E1815457-2AD3-C183-81D5-1E27A273D9A4}"/>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58C9D1F7-EC64-B200-9241-88F35008EC0B}"/>
              </a:ext>
            </a:extLst>
          </p:cNvPr>
          <p:cNvSpPr>
            <a:spLocks noGrp="1"/>
          </p:cNvSpPr>
          <p:nvPr>
            <p:ph type="ftr" sz="quarter" idx="3"/>
          </p:nvPr>
        </p:nvSpPr>
        <p:spPr/>
        <p:txBody>
          <a:bodyPr/>
          <a:lstStyle/>
          <a:p>
            <a:r>
              <a:rPr lang="en-US"/>
              <a:t>paolo.bocciarelli@uniroma2.it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1287"/>
                                        </p:tgtEl>
                                        <p:attrNameLst>
                                          <p:attrName>style.visibility</p:attrName>
                                        </p:attrNameLst>
                                      </p:cBhvr>
                                      <p:to>
                                        <p:strVal val="visible"/>
                                      </p:to>
                                    </p:set>
                                    <p:animEffect transition="in" filter="dissolve">
                                      <p:cBhvr>
                                        <p:cTn id="7" dur="500"/>
                                        <p:tgtEl>
                                          <p:spTgt spid="1812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1289"/>
                                        </p:tgtEl>
                                        <p:attrNameLst>
                                          <p:attrName>style.visibility</p:attrName>
                                        </p:attrNameLst>
                                      </p:cBhvr>
                                      <p:to>
                                        <p:strVal val="visible"/>
                                      </p:to>
                                    </p:set>
                                    <p:animEffect transition="in" filter="dissolve">
                                      <p:cBhvr>
                                        <p:cTn id="12" dur="500"/>
                                        <p:tgtEl>
                                          <p:spTgt spid="181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388938" y="152400"/>
            <a:ext cx="83661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Causality constraint</a:t>
            </a:r>
          </a:p>
        </p:txBody>
      </p:sp>
      <p:sp>
        <p:nvSpPr>
          <p:cNvPr id="161795" name="Rectangle 3"/>
          <p:cNvSpPr>
            <a:spLocks noGrp="1" noChangeArrowheads="1"/>
          </p:cNvSpPr>
          <p:nvPr>
            <p:ph type="body" sz="half" idx="1"/>
          </p:nvPr>
        </p:nvSpPr>
        <p:spPr>
          <a:xfrm>
            <a:off x="381000" y="1296988"/>
            <a:ext cx="8366125" cy="1382430"/>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pPr>
              <a:buFontTx/>
              <a:buNone/>
            </a:pPr>
            <a:r>
              <a:rPr lang="en-US" altLang="it-IT"/>
              <a:t>Golden rule for each process: “Incoming messages must be processed in time stamp order” (</a:t>
            </a:r>
            <a:r>
              <a:rPr lang="en-US" altLang="it-IT">
                <a:solidFill>
                  <a:srgbClr val="CC0000"/>
                </a:solidFill>
              </a:rPr>
              <a:t>local causality constraint</a:t>
            </a:r>
            <a:r>
              <a:rPr lang="en-US" altLang="it-IT"/>
              <a:t>)</a:t>
            </a:r>
          </a:p>
        </p:txBody>
      </p:sp>
      <p:grpSp>
        <p:nvGrpSpPr>
          <p:cNvPr id="161810" name="Group 18"/>
          <p:cNvGrpSpPr>
            <a:grpSpLocks/>
          </p:cNvGrpSpPr>
          <p:nvPr/>
        </p:nvGrpSpPr>
        <p:grpSpPr bwMode="auto">
          <a:xfrm>
            <a:off x="457200" y="3429000"/>
            <a:ext cx="8153400" cy="2425700"/>
            <a:chOff x="288" y="2160"/>
            <a:chExt cx="5136" cy="1528"/>
          </a:xfrm>
        </p:grpSpPr>
        <p:sp>
          <p:nvSpPr>
            <p:cNvPr id="161799" name="Rectangle 7"/>
            <p:cNvSpPr>
              <a:spLocks noChangeArrowheads="1"/>
            </p:cNvSpPr>
            <p:nvPr/>
          </p:nvSpPr>
          <p:spPr bwMode="auto">
            <a:xfrm>
              <a:off x="288" y="2160"/>
              <a:ext cx="5136" cy="1528"/>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1" name="Rectangle 9"/>
            <p:cNvSpPr>
              <a:spLocks noChangeArrowheads="1"/>
            </p:cNvSpPr>
            <p:nvPr/>
          </p:nvSpPr>
          <p:spPr bwMode="auto">
            <a:xfrm>
              <a:off x="572" y="2642"/>
              <a:ext cx="912" cy="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lgn="ctr">
                <a:spcBef>
                  <a:spcPct val="20000"/>
                </a:spcBef>
              </a:pPr>
              <a:r>
                <a:rPr lang="en-US" altLang="it-IT" sz="2000" b="1">
                  <a:latin typeface="Helvetica" charset="0"/>
                </a:rPr>
                <a:t>Safe to</a:t>
              </a:r>
            </a:p>
            <a:p>
              <a:pPr algn="ctr">
                <a:spcBef>
                  <a:spcPct val="20000"/>
                </a:spcBef>
              </a:pPr>
              <a:r>
                <a:rPr lang="en-US" altLang="it-IT" sz="2000" b="1">
                  <a:latin typeface="Helvetica" charset="0"/>
                </a:rPr>
                <a:t>process?</a:t>
              </a:r>
            </a:p>
          </p:txBody>
        </p:sp>
        <p:sp>
          <p:nvSpPr>
            <p:cNvPr id="161802" name="Rectangle 10"/>
            <p:cNvSpPr>
              <a:spLocks noChangeArrowheads="1"/>
            </p:cNvSpPr>
            <p:nvPr/>
          </p:nvSpPr>
          <p:spPr bwMode="auto">
            <a:xfrm>
              <a:off x="2596" y="2308"/>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ORD</a:t>
              </a:r>
            </a:p>
          </p:txBody>
        </p:sp>
        <p:sp>
          <p:nvSpPr>
            <p:cNvPr id="161803" name="Rectangle 11"/>
            <p:cNvSpPr>
              <a:spLocks noChangeArrowheads="1"/>
            </p:cNvSpPr>
            <p:nvPr/>
          </p:nvSpPr>
          <p:spPr bwMode="auto">
            <a:xfrm>
              <a:off x="1252" y="3124"/>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SFO</a:t>
              </a:r>
            </a:p>
          </p:txBody>
        </p:sp>
        <p:sp>
          <p:nvSpPr>
            <p:cNvPr id="161804" name="Rectangle 12"/>
            <p:cNvSpPr>
              <a:spLocks noChangeArrowheads="1"/>
            </p:cNvSpPr>
            <p:nvPr/>
          </p:nvSpPr>
          <p:spPr bwMode="auto">
            <a:xfrm>
              <a:off x="3892" y="3172"/>
              <a:ext cx="656" cy="416"/>
            </a:xfrm>
            <a:prstGeom prst="rect">
              <a:avLst/>
            </a:prstGeom>
            <a:solidFill>
              <a:srgbClr val="081D58"/>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chemeClr val="bg1"/>
                  </a:solidFill>
                </a:rPr>
                <a:t>JFK</a:t>
              </a:r>
            </a:p>
          </p:txBody>
        </p:sp>
        <p:sp>
          <p:nvSpPr>
            <p:cNvPr id="161805" name="Line 13"/>
            <p:cNvSpPr>
              <a:spLocks noChangeShapeType="1"/>
            </p:cNvSpPr>
            <p:nvPr/>
          </p:nvSpPr>
          <p:spPr bwMode="auto">
            <a:xfrm>
              <a:off x="3268" y="2740"/>
              <a:ext cx="608" cy="416"/>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6" name="Line 14"/>
            <p:cNvSpPr>
              <a:spLocks noChangeShapeType="1"/>
            </p:cNvSpPr>
            <p:nvPr/>
          </p:nvSpPr>
          <p:spPr bwMode="auto">
            <a:xfrm flipH="1">
              <a:off x="1916" y="2740"/>
              <a:ext cx="672" cy="368"/>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7" name="Line 15"/>
            <p:cNvSpPr>
              <a:spLocks noChangeShapeType="1"/>
            </p:cNvSpPr>
            <p:nvPr/>
          </p:nvSpPr>
          <p:spPr bwMode="auto">
            <a:xfrm>
              <a:off x="1924" y="3356"/>
              <a:ext cx="1952"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8" name="Rectangle 16"/>
            <p:cNvSpPr>
              <a:spLocks noChangeArrowheads="1"/>
            </p:cNvSpPr>
            <p:nvPr/>
          </p:nvSpPr>
          <p:spPr bwMode="auto">
            <a:xfrm>
              <a:off x="1532" y="2832"/>
              <a:ext cx="376" cy="232"/>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200">
                  <a:solidFill>
                    <a:schemeClr val="bg1"/>
                  </a:solidFill>
                </a:rPr>
                <a:t>arrival</a:t>
              </a:r>
            </a:p>
            <a:p>
              <a:pPr algn="ctr"/>
              <a:r>
                <a:rPr lang="en-US" altLang="it-IT" sz="1200">
                  <a:solidFill>
                    <a:schemeClr val="bg1"/>
                  </a:solidFill>
                </a:rPr>
                <a:t>10:00</a:t>
              </a:r>
            </a:p>
          </p:txBody>
        </p:sp>
      </p:grpSp>
      <p:sp>
        <p:nvSpPr>
          <p:cNvPr id="4" name="Segnaposto numero diapositiva 3">
            <a:extLst>
              <a:ext uri="{FF2B5EF4-FFF2-40B4-BE49-F238E27FC236}">
                <a16:creationId xmlns:a16="http://schemas.microsoft.com/office/drawing/2014/main" id="{2D3B7465-5D97-9E6C-0F49-18E3890FB587}"/>
              </a:ext>
            </a:extLst>
          </p:cNvPr>
          <p:cNvSpPr>
            <a:spLocks noGrp="1"/>
          </p:cNvSpPr>
          <p:nvPr>
            <p:ph type="sldNum" sz="quarter" idx="4"/>
          </p:nvPr>
        </p:nvSpPr>
        <p:spPr/>
        <p:txBody>
          <a:bodyPr/>
          <a:lstStyle/>
          <a:p>
            <a:fld id="{9BFB3A76-8619-A843-8C67-B9C7C140DBAC}" type="slidenum">
              <a:rPr lang="en-US" smtClean="0"/>
              <a:t>8</a:t>
            </a:fld>
            <a:endParaRPr lang="en-US"/>
          </a:p>
        </p:txBody>
      </p:sp>
      <p:sp>
        <p:nvSpPr>
          <p:cNvPr id="5" name="Segnaposto data 4">
            <a:extLst>
              <a:ext uri="{FF2B5EF4-FFF2-40B4-BE49-F238E27FC236}">
                <a16:creationId xmlns:a16="http://schemas.microsoft.com/office/drawing/2014/main" id="{A8D95D6A-0379-E24B-D420-6CCDD1BA5A4B}"/>
              </a:ext>
            </a:extLst>
          </p:cNvPr>
          <p:cNvSpPr>
            <a:spLocks noGrp="1"/>
          </p:cNvSpPr>
          <p:nvPr>
            <p:ph type="dt" sz="half" idx="10"/>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EBF65BF6-DADB-1E7E-3E5A-5DBE222C8DE6}"/>
              </a:ext>
            </a:extLst>
          </p:cNvPr>
          <p:cNvSpPr>
            <a:spLocks noGrp="1"/>
          </p:cNvSpPr>
          <p:nvPr>
            <p:ph type="ftr" sz="quarter" idx="3"/>
          </p:nvPr>
        </p:nvSpPr>
        <p:spPr/>
        <p:txBody>
          <a:bodyPr/>
          <a:lstStyle/>
          <a:p>
            <a:r>
              <a:rPr lang="en-US"/>
              <a:t>paolo.bocciarelli@uniroma2.it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388938" y="152400"/>
            <a:ext cx="83661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The Synchronization Problem</a:t>
            </a:r>
          </a:p>
        </p:txBody>
      </p:sp>
      <p:sp>
        <p:nvSpPr>
          <p:cNvPr id="182275" name="Rectangle 3"/>
          <p:cNvSpPr>
            <a:spLocks noGrp="1" noChangeArrowheads="1"/>
          </p:cNvSpPr>
          <p:nvPr>
            <p:ph type="body" sz="half" idx="1"/>
          </p:nvPr>
        </p:nvSpPr>
        <p:spPr>
          <a:xfrm>
            <a:off x="388938" y="1133475"/>
            <a:ext cx="8366125" cy="453072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pPr>
              <a:buFontTx/>
              <a:buNone/>
            </a:pPr>
            <a:r>
              <a:rPr lang="en-US" altLang="it-IT"/>
              <a:t>Synchronization Problem: An algorithm is needed to ensure each LP processes events in time stamp order</a:t>
            </a:r>
          </a:p>
          <a:p>
            <a:pPr>
              <a:buFontTx/>
              <a:buNone/>
            </a:pPr>
            <a:endParaRPr lang="en-US" altLang="it-IT"/>
          </a:p>
          <a:p>
            <a:pPr>
              <a:buFontTx/>
              <a:buNone/>
            </a:pPr>
            <a:r>
              <a:rPr lang="en-US" altLang="it-IT"/>
              <a:t>Observation: ignoring events with the same time stamp, adherence to the local causality constraint is sufficient to ensure that the parallel simulation </a:t>
            </a:r>
            <a:r>
              <a:rPr lang="en-US" altLang="it-IT">
                <a:solidFill>
                  <a:srgbClr val="CC0000"/>
                </a:solidFill>
              </a:rPr>
              <a:t>will produce exactly the same results as a sequential execution</a:t>
            </a:r>
            <a:r>
              <a:rPr lang="en-US" altLang="it-IT"/>
              <a:t> where all events across all LPs are processed in time stamp order.</a:t>
            </a:r>
          </a:p>
        </p:txBody>
      </p:sp>
      <p:sp>
        <p:nvSpPr>
          <p:cNvPr id="4" name="Segnaposto numero diapositiva 3">
            <a:extLst>
              <a:ext uri="{FF2B5EF4-FFF2-40B4-BE49-F238E27FC236}">
                <a16:creationId xmlns:a16="http://schemas.microsoft.com/office/drawing/2014/main" id="{8087A039-AF5D-6087-CBB8-FE4D868EE8A4}"/>
              </a:ext>
            </a:extLst>
          </p:cNvPr>
          <p:cNvSpPr>
            <a:spLocks noGrp="1"/>
          </p:cNvSpPr>
          <p:nvPr>
            <p:ph type="sldNum" sz="quarter" idx="4"/>
          </p:nvPr>
        </p:nvSpPr>
        <p:spPr/>
        <p:txBody>
          <a:bodyPr/>
          <a:lstStyle/>
          <a:p>
            <a:fld id="{9BFB3A76-8619-A843-8C67-B9C7C140DBAC}" type="slidenum">
              <a:rPr lang="en-US" smtClean="0"/>
              <a:t>9</a:t>
            </a:fld>
            <a:endParaRPr lang="en-US"/>
          </a:p>
        </p:txBody>
      </p:sp>
      <p:sp>
        <p:nvSpPr>
          <p:cNvPr id="5" name="Segnaposto data 4">
            <a:extLst>
              <a:ext uri="{FF2B5EF4-FFF2-40B4-BE49-F238E27FC236}">
                <a16:creationId xmlns:a16="http://schemas.microsoft.com/office/drawing/2014/main" id="{4098279A-C595-D8CE-1555-A7FA092F39E6}"/>
              </a:ext>
            </a:extLst>
          </p:cNvPr>
          <p:cNvSpPr>
            <a:spLocks noGrp="1"/>
          </p:cNvSpPr>
          <p:nvPr>
            <p:ph type="dt" sz="half" idx="10"/>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DE620706-9818-65F4-A778-7C7E778811D3}"/>
              </a:ext>
            </a:extLst>
          </p:cNvPr>
          <p:cNvSpPr>
            <a:spLocks noGrp="1"/>
          </p:cNvSpPr>
          <p:nvPr>
            <p:ph type="ftr" sz="quarter" idx="3"/>
          </p:nvPr>
        </p:nvSpPr>
        <p:spPr/>
        <p:txBody>
          <a:bodyPr/>
          <a:lstStyle/>
          <a:p>
            <a:r>
              <a:rPr lang="en-US"/>
              <a:t>paolo.bocciarelli@uniroma2.it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dissolve">
                                      <p:cBhvr>
                                        <p:cTn id="7" dur="500"/>
                                        <p:tgtEl>
                                          <p:spTgt spid="182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2275">
                                            <p:txEl>
                                              <p:pRg st="2" end="2"/>
                                            </p:txEl>
                                          </p:spTgt>
                                        </p:tgtEl>
                                        <p:attrNameLst>
                                          <p:attrName>style.visibility</p:attrName>
                                        </p:attrNameLst>
                                      </p:cBhvr>
                                      <p:to>
                                        <p:strVal val="visible"/>
                                      </p:to>
                                    </p:set>
                                    <p:animEffect transition="in" filter="dissolve">
                                      <p:cBhvr>
                                        <p:cTn id="12" dur="500"/>
                                        <p:tgtEl>
                                          <p:spTgt spid="182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Rectangle 1026"/>
          <p:cNvSpPr>
            <a:spLocks noGrp="1" noChangeArrowheads="1"/>
          </p:cNvSpPr>
          <p:nvPr>
            <p:ph type="title"/>
          </p:nvPr>
        </p:nvSpPr>
        <p:spPr/>
        <p:txBody>
          <a:bodyPr/>
          <a:lstStyle/>
          <a:p>
            <a:r>
              <a:rPr lang="en-US" altLang="it-IT"/>
              <a:t>Synchronization Algorithms</a:t>
            </a:r>
          </a:p>
        </p:txBody>
      </p:sp>
      <p:sp>
        <p:nvSpPr>
          <p:cNvPr id="180227" name="Rectangle 1027"/>
          <p:cNvSpPr>
            <a:spLocks noGrp="1" noChangeArrowheads="1"/>
          </p:cNvSpPr>
          <p:nvPr>
            <p:ph type="body" idx="1"/>
          </p:nvPr>
        </p:nvSpPr>
        <p:spPr>
          <a:xfrm>
            <a:off x="471488" y="941388"/>
            <a:ext cx="8353425" cy="4915705"/>
          </a:xfrm>
        </p:spPr>
        <p:txBody>
          <a:bodyPr/>
          <a:lstStyle/>
          <a:p>
            <a:r>
              <a:rPr lang="en-US" altLang="it-IT">
                <a:solidFill>
                  <a:srgbClr val="C00000"/>
                </a:solidFill>
              </a:rPr>
              <a:t>Conservative synchronization</a:t>
            </a:r>
            <a:r>
              <a:rPr lang="en-US" altLang="it-IT"/>
              <a:t>: avoid violating the local causality constraint (wait until it’s safe)</a:t>
            </a:r>
          </a:p>
          <a:p>
            <a:pPr lvl="1"/>
            <a:r>
              <a:rPr lang="en-US" altLang="it-IT"/>
              <a:t>deadlock avoidance using null messages (</a:t>
            </a:r>
            <a:r>
              <a:rPr lang="en-US" altLang="it-IT" err="1"/>
              <a:t>Chandy</a:t>
            </a:r>
            <a:r>
              <a:rPr lang="en-US" altLang="it-IT"/>
              <a:t>/</a:t>
            </a:r>
            <a:r>
              <a:rPr lang="en-US" altLang="it-IT" err="1"/>
              <a:t>Misra</a:t>
            </a:r>
            <a:r>
              <a:rPr lang="en-US" altLang="it-IT"/>
              <a:t>/Bryant)</a:t>
            </a:r>
          </a:p>
          <a:p>
            <a:pPr lvl="1"/>
            <a:r>
              <a:rPr lang="en-US" altLang="it-IT"/>
              <a:t>deadlock detection and recovery</a:t>
            </a:r>
          </a:p>
          <a:p>
            <a:pPr lvl="1"/>
            <a:r>
              <a:rPr lang="en-US" altLang="it-IT"/>
              <a:t>synchronous algorithms (e.g., execute in “rounds”)</a:t>
            </a:r>
          </a:p>
          <a:p>
            <a:r>
              <a:rPr lang="en-US" altLang="it-IT">
                <a:solidFill>
                  <a:srgbClr val="C00000"/>
                </a:solidFill>
              </a:rPr>
              <a:t>Optimistic synchronization</a:t>
            </a:r>
            <a:r>
              <a:rPr lang="en-US" altLang="it-IT"/>
              <a:t>: allow violations of local causality to occur, but detect them at runtime and recover using a rollback mechanism</a:t>
            </a:r>
          </a:p>
          <a:p>
            <a:pPr lvl="1"/>
            <a:r>
              <a:rPr lang="en-US" altLang="it-IT"/>
              <a:t>Time Warp (Jefferson)</a:t>
            </a:r>
          </a:p>
          <a:p>
            <a:pPr lvl="1"/>
            <a:r>
              <a:rPr lang="en-US" altLang="it-IT"/>
              <a:t>numerous other approaches</a:t>
            </a:r>
            <a:endParaRPr lang="en-US" altLang="it-IT" sz="2000"/>
          </a:p>
        </p:txBody>
      </p:sp>
      <p:sp>
        <p:nvSpPr>
          <p:cNvPr id="4" name="Segnaposto numero diapositiva 3">
            <a:extLst>
              <a:ext uri="{FF2B5EF4-FFF2-40B4-BE49-F238E27FC236}">
                <a16:creationId xmlns:a16="http://schemas.microsoft.com/office/drawing/2014/main" id="{5DDF8862-DDAF-D041-6AF9-91159E7184A6}"/>
              </a:ext>
            </a:extLst>
          </p:cNvPr>
          <p:cNvSpPr>
            <a:spLocks noGrp="1"/>
          </p:cNvSpPr>
          <p:nvPr>
            <p:ph type="sldNum" sz="quarter" idx="4"/>
          </p:nvPr>
        </p:nvSpPr>
        <p:spPr/>
        <p:txBody>
          <a:bodyPr/>
          <a:lstStyle/>
          <a:p>
            <a:fld id="{9BFB3A76-8619-A843-8C67-B9C7C140DBAC}" type="slidenum">
              <a:rPr lang="en-US" smtClean="0"/>
              <a:t>10</a:t>
            </a:fld>
            <a:endParaRPr lang="en-US"/>
          </a:p>
        </p:txBody>
      </p:sp>
      <p:sp>
        <p:nvSpPr>
          <p:cNvPr id="5" name="Segnaposto data 4">
            <a:extLst>
              <a:ext uri="{FF2B5EF4-FFF2-40B4-BE49-F238E27FC236}">
                <a16:creationId xmlns:a16="http://schemas.microsoft.com/office/drawing/2014/main" id="{78C05E91-6F0E-36F4-BA4B-F6C9C28A0DF8}"/>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D40803B7-5DD0-48B6-BA5A-8713D82B8C5B}"/>
              </a:ext>
            </a:extLst>
          </p:cNvPr>
          <p:cNvSpPr>
            <a:spLocks noGrp="1"/>
          </p:cNvSpPr>
          <p:nvPr>
            <p:ph type="ftr" sz="quarter" idx="3"/>
          </p:nvPr>
        </p:nvSpPr>
        <p:spPr/>
        <p:txBody>
          <a:bodyPr/>
          <a:lstStyle/>
          <a:p>
            <a:r>
              <a:rPr lang="en-US"/>
              <a:t>paolo.bocciarelli@uniroma2.it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Effect transition="in" filter="dissolve">
                                      <p:cBhvr>
                                        <p:cTn id="7" dur="500"/>
                                        <p:tgtEl>
                                          <p:spTgt spid="180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0227">
                                            <p:txEl>
                                              <p:pRg st="1" end="1"/>
                                            </p:txEl>
                                          </p:spTgt>
                                        </p:tgtEl>
                                        <p:attrNameLst>
                                          <p:attrName>style.visibility</p:attrName>
                                        </p:attrNameLst>
                                      </p:cBhvr>
                                      <p:to>
                                        <p:strVal val="visible"/>
                                      </p:to>
                                    </p:set>
                                    <p:animEffect transition="in" filter="dissolve">
                                      <p:cBhvr>
                                        <p:cTn id="12" dur="500"/>
                                        <p:tgtEl>
                                          <p:spTgt spid="180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0227">
                                            <p:txEl>
                                              <p:pRg st="2" end="2"/>
                                            </p:txEl>
                                          </p:spTgt>
                                        </p:tgtEl>
                                        <p:attrNameLst>
                                          <p:attrName>style.visibility</p:attrName>
                                        </p:attrNameLst>
                                      </p:cBhvr>
                                      <p:to>
                                        <p:strVal val="visible"/>
                                      </p:to>
                                    </p:set>
                                    <p:animEffect transition="in" filter="dissolve">
                                      <p:cBhvr>
                                        <p:cTn id="17" dur="500"/>
                                        <p:tgtEl>
                                          <p:spTgt spid="180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0227">
                                            <p:txEl>
                                              <p:pRg st="3" end="3"/>
                                            </p:txEl>
                                          </p:spTgt>
                                        </p:tgtEl>
                                        <p:attrNameLst>
                                          <p:attrName>style.visibility</p:attrName>
                                        </p:attrNameLst>
                                      </p:cBhvr>
                                      <p:to>
                                        <p:strVal val="visible"/>
                                      </p:to>
                                    </p:set>
                                    <p:animEffect transition="in" filter="dissolve">
                                      <p:cBhvr>
                                        <p:cTn id="22" dur="500"/>
                                        <p:tgtEl>
                                          <p:spTgt spid="1802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0227">
                                            <p:txEl>
                                              <p:pRg st="4" end="4"/>
                                            </p:txEl>
                                          </p:spTgt>
                                        </p:tgtEl>
                                        <p:attrNameLst>
                                          <p:attrName>style.visibility</p:attrName>
                                        </p:attrNameLst>
                                      </p:cBhvr>
                                      <p:to>
                                        <p:strVal val="visible"/>
                                      </p:to>
                                    </p:set>
                                    <p:animEffect transition="in" filter="dissolve">
                                      <p:cBhvr>
                                        <p:cTn id="27" dur="500"/>
                                        <p:tgtEl>
                                          <p:spTgt spid="1802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0227">
                                            <p:txEl>
                                              <p:pRg st="5" end="5"/>
                                            </p:txEl>
                                          </p:spTgt>
                                        </p:tgtEl>
                                        <p:attrNameLst>
                                          <p:attrName>style.visibility</p:attrName>
                                        </p:attrNameLst>
                                      </p:cBhvr>
                                      <p:to>
                                        <p:strVal val="visible"/>
                                      </p:to>
                                    </p:set>
                                    <p:animEffect transition="in" filter="dissolve">
                                      <p:cBhvr>
                                        <p:cTn id="32" dur="500"/>
                                        <p:tgtEl>
                                          <p:spTgt spid="18022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80227">
                                            <p:txEl>
                                              <p:pRg st="6" end="6"/>
                                            </p:txEl>
                                          </p:spTgt>
                                        </p:tgtEl>
                                        <p:attrNameLst>
                                          <p:attrName>style.visibility</p:attrName>
                                        </p:attrNameLst>
                                      </p:cBhvr>
                                      <p:to>
                                        <p:strVal val="visible"/>
                                      </p:to>
                                    </p:set>
                                    <p:animEffect transition="in" filter="dissolve">
                                      <p:cBhvr>
                                        <p:cTn id="37" dur="500"/>
                                        <p:tgtEl>
                                          <p:spTgt spid="1802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en-US" altLang="it-IT"/>
              <a:t>Outline</a:t>
            </a:r>
          </a:p>
        </p:txBody>
      </p:sp>
      <p:sp>
        <p:nvSpPr>
          <p:cNvPr id="183299" name="Rectangle 3"/>
          <p:cNvSpPr>
            <a:spLocks noGrp="1" noChangeArrowheads="1"/>
          </p:cNvSpPr>
          <p:nvPr>
            <p:ph type="body" idx="1"/>
          </p:nvPr>
        </p:nvSpPr>
        <p:spPr>
          <a:xfrm>
            <a:off x="471488" y="990600"/>
            <a:ext cx="8353425" cy="3732213"/>
          </a:xfrm>
        </p:spPr>
        <p:txBody>
          <a:bodyPr/>
          <a:lstStyle/>
          <a:p>
            <a:r>
              <a:rPr lang="en-US" altLang="it-IT"/>
              <a:t>Air Traffic Network Example</a:t>
            </a:r>
          </a:p>
          <a:p>
            <a:r>
              <a:rPr lang="en-US" altLang="it-IT"/>
              <a:t>Parallel Discrete Event Simulation</a:t>
            </a:r>
          </a:p>
          <a:p>
            <a:pPr lvl="1"/>
            <a:r>
              <a:rPr lang="en-US" altLang="it-IT"/>
              <a:t>Logical processes</a:t>
            </a:r>
          </a:p>
          <a:p>
            <a:pPr lvl="1"/>
            <a:r>
              <a:rPr lang="en-US" altLang="it-IT"/>
              <a:t>Local causality constraint</a:t>
            </a:r>
          </a:p>
          <a:p>
            <a:r>
              <a:rPr lang="en-US" altLang="it-IT">
                <a:solidFill>
                  <a:srgbClr val="CC0000"/>
                </a:solidFill>
              </a:rPr>
              <a:t>Chandy/</a:t>
            </a:r>
            <a:r>
              <a:rPr lang="en-US" altLang="it-IT" err="1">
                <a:solidFill>
                  <a:srgbClr val="CC0000"/>
                </a:solidFill>
              </a:rPr>
              <a:t>Misra</a:t>
            </a:r>
            <a:r>
              <a:rPr lang="en-US" altLang="it-IT">
                <a:solidFill>
                  <a:srgbClr val="CC0000"/>
                </a:solidFill>
              </a:rPr>
              <a:t>/Bryant Null Message Algorithm</a:t>
            </a:r>
          </a:p>
          <a:p>
            <a:pPr lvl="1"/>
            <a:r>
              <a:rPr lang="en-US" altLang="it-IT">
                <a:solidFill>
                  <a:srgbClr val="CC0000"/>
                </a:solidFill>
              </a:rPr>
              <a:t>Ground rules</a:t>
            </a:r>
          </a:p>
          <a:p>
            <a:pPr lvl="1"/>
            <a:r>
              <a:rPr lang="en-US" altLang="it-IT">
                <a:solidFill>
                  <a:srgbClr val="CC0000"/>
                </a:solidFill>
              </a:rPr>
              <a:t>An algorithm that doesn’t work</a:t>
            </a:r>
          </a:p>
          <a:p>
            <a:pPr lvl="1"/>
            <a:r>
              <a:rPr lang="en-US" altLang="it-IT">
                <a:solidFill>
                  <a:srgbClr val="CC0000"/>
                </a:solidFill>
              </a:rPr>
              <a:t>Deadlock avoidance using null messages</a:t>
            </a:r>
            <a:endParaRPr lang="en-US" altLang="it-IT"/>
          </a:p>
        </p:txBody>
      </p:sp>
      <p:sp>
        <p:nvSpPr>
          <p:cNvPr id="4" name="Segnaposto numero diapositiva 3">
            <a:extLst>
              <a:ext uri="{FF2B5EF4-FFF2-40B4-BE49-F238E27FC236}">
                <a16:creationId xmlns:a16="http://schemas.microsoft.com/office/drawing/2014/main" id="{B3DCE5BF-F682-B341-9A09-582F5067DCBF}"/>
              </a:ext>
            </a:extLst>
          </p:cNvPr>
          <p:cNvSpPr>
            <a:spLocks noGrp="1"/>
          </p:cNvSpPr>
          <p:nvPr>
            <p:ph type="sldNum" sz="quarter" idx="4"/>
          </p:nvPr>
        </p:nvSpPr>
        <p:spPr/>
        <p:txBody>
          <a:bodyPr/>
          <a:lstStyle/>
          <a:p>
            <a:fld id="{9BFB3A76-8619-A843-8C67-B9C7C140DBAC}" type="slidenum">
              <a:rPr lang="en-US" smtClean="0"/>
              <a:t>11</a:t>
            </a:fld>
            <a:endParaRPr lang="en-US"/>
          </a:p>
        </p:txBody>
      </p:sp>
      <p:sp>
        <p:nvSpPr>
          <p:cNvPr id="5" name="Segnaposto data 4">
            <a:extLst>
              <a:ext uri="{FF2B5EF4-FFF2-40B4-BE49-F238E27FC236}">
                <a16:creationId xmlns:a16="http://schemas.microsoft.com/office/drawing/2014/main" id="{0547BDFB-9073-9A1E-DDDD-17DD5AE68C0E}"/>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5C5FABDE-BC2B-E55A-CD74-E31CE8CC3923}"/>
              </a:ext>
            </a:extLst>
          </p:cNvPr>
          <p:cNvSpPr>
            <a:spLocks noGrp="1"/>
          </p:cNvSpPr>
          <p:nvPr>
            <p:ph type="ftr" sz="quarter" idx="3"/>
          </p:nvPr>
        </p:nvSpPr>
        <p:spPr/>
        <p:txBody>
          <a:bodyPr/>
          <a:lstStyle/>
          <a:p>
            <a:r>
              <a:rPr lang="en-US"/>
              <a:t>paolo.bocciarelli@uniroma2.it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7" name="Rectangle 3"/>
          <p:cNvSpPr>
            <a:spLocks noGrp="1" noChangeArrowheads="1"/>
          </p:cNvSpPr>
          <p:nvPr>
            <p:ph type="title"/>
          </p:nvPr>
        </p:nvSpPr>
        <p:spPr>
          <a:xfrm>
            <a:off x="234950" y="228600"/>
            <a:ext cx="8750300" cy="469900"/>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2800"/>
              <a:t>Chandy/</a:t>
            </a:r>
            <a:r>
              <a:rPr lang="en-US" altLang="it-IT" sz="2800" err="1"/>
              <a:t>Misra</a:t>
            </a:r>
            <a:r>
              <a:rPr lang="en-US" altLang="it-IT" sz="2800"/>
              <a:t>/Bryant “Null Message” Algorithm</a:t>
            </a:r>
          </a:p>
        </p:txBody>
      </p:sp>
      <p:sp>
        <p:nvSpPr>
          <p:cNvPr id="164868" name="Rectangle 4"/>
          <p:cNvSpPr>
            <a:spLocks noGrp="1" noChangeArrowheads="1"/>
          </p:cNvSpPr>
          <p:nvPr>
            <p:ph type="body" idx="1"/>
          </p:nvPr>
        </p:nvSpPr>
        <p:spPr>
          <a:xfrm>
            <a:off x="234950" y="889000"/>
            <a:ext cx="8750300" cy="1854200"/>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pPr>
              <a:buFontTx/>
              <a:buNone/>
            </a:pPr>
            <a:r>
              <a:rPr lang="en-US" altLang="it-IT" sz="2000" b="1" dirty="0"/>
              <a:t>Assumptions</a:t>
            </a:r>
            <a:endParaRPr lang="en-US" altLang="it-IT" sz="2000" dirty="0"/>
          </a:p>
          <a:p>
            <a:r>
              <a:rPr lang="en-US" altLang="it-IT" sz="2000" dirty="0"/>
              <a:t>logical processes (LPs) exchanging time stamped events (messages)</a:t>
            </a:r>
          </a:p>
          <a:p>
            <a:r>
              <a:rPr lang="en-US" altLang="it-IT" sz="2000" dirty="0"/>
              <a:t>static network topology, no dynamic creation of LPs</a:t>
            </a:r>
          </a:p>
          <a:p>
            <a:r>
              <a:rPr lang="en-US" altLang="it-IT" sz="2000" dirty="0"/>
              <a:t>messages sent on each link are sent in time stamp order</a:t>
            </a:r>
          </a:p>
          <a:p>
            <a:r>
              <a:rPr lang="en-US" altLang="it-IT" sz="2000" dirty="0"/>
              <a:t>network provides reliable delivery, preserves order</a:t>
            </a:r>
          </a:p>
        </p:txBody>
      </p:sp>
      <p:sp>
        <p:nvSpPr>
          <p:cNvPr id="164869" name="Rectangle 5"/>
          <p:cNvSpPr>
            <a:spLocks noChangeArrowheads="1"/>
          </p:cNvSpPr>
          <p:nvPr/>
        </p:nvSpPr>
        <p:spPr bwMode="auto">
          <a:xfrm>
            <a:off x="234950" y="6165304"/>
            <a:ext cx="8750300" cy="409575"/>
          </a:xfrm>
          <a:prstGeom prst="rect">
            <a:avLst/>
          </a:prstGeom>
          <a:solidFill>
            <a:srgbClr val="FFC5C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2000" b="1">
                <a:latin typeface="Helvetica" charset="0"/>
              </a:rPr>
              <a:t>Goal: </a:t>
            </a:r>
            <a:r>
              <a:rPr lang="en-US" altLang="it-IT" sz="2000">
                <a:latin typeface="Helvetica" charset="0"/>
              </a:rPr>
              <a:t>Ensure LP processes events in time stamp order</a:t>
            </a:r>
          </a:p>
        </p:txBody>
      </p:sp>
      <p:grpSp>
        <p:nvGrpSpPr>
          <p:cNvPr id="164889" name="Group 25"/>
          <p:cNvGrpSpPr>
            <a:grpSpLocks/>
          </p:cNvGrpSpPr>
          <p:nvPr/>
        </p:nvGrpSpPr>
        <p:grpSpPr bwMode="auto">
          <a:xfrm>
            <a:off x="850900" y="4203700"/>
            <a:ext cx="2108200" cy="1574800"/>
            <a:chOff x="536" y="2648"/>
            <a:chExt cx="1328" cy="992"/>
          </a:xfrm>
        </p:grpSpPr>
        <p:sp>
          <p:nvSpPr>
            <p:cNvPr id="164879" name="Rectangle 15"/>
            <p:cNvSpPr>
              <a:spLocks noChangeArrowheads="1"/>
            </p:cNvSpPr>
            <p:nvPr/>
          </p:nvSpPr>
          <p:spPr bwMode="auto">
            <a:xfrm>
              <a:off x="1544" y="3368"/>
              <a:ext cx="320" cy="272"/>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600"/>
                <a:t>JFK</a:t>
              </a:r>
            </a:p>
          </p:txBody>
        </p:sp>
        <p:sp>
          <p:nvSpPr>
            <p:cNvPr id="164880" name="Rectangle 16"/>
            <p:cNvSpPr>
              <a:spLocks noChangeArrowheads="1"/>
            </p:cNvSpPr>
            <p:nvPr/>
          </p:nvSpPr>
          <p:spPr bwMode="auto">
            <a:xfrm>
              <a:off x="536" y="3368"/>
              <a:ext cx="320" cy="272"/>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600"/>
                <a:t>SFO</a:t>
              </a:r>
            </a:p>
          </p:txBody>
        </p:sp>
        <p:sp>
          <p:nvSpPr>
            <p:cNvPr id="164881" name="Rectangle 17"/>
            <p:cNvSpPr>
              <a:spLocks noChangeArrowheads="1"/>
            </p:cNvSpPr>
            <p:nvPr/>
          </p:nvSpPr>
          <p:spPr bwMode="auto">
            <a:xfrm>
              <a:off x="1064" y="2648"/>
              <a:ext cx="320" cy="272"/>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600"/>
                <a:t>ORD</a:t>
              </a:r>
            </a:p>
          </p:txBody>
        </p:sp>
        <p:sp>
          <p:nvSpPr>
            <p:cNvPr id="164882" name="Line 18"/>
            <p:cNvSpPr>
              <a:spLocks noChangeShapeType="1"/>
            </p:cNvSpPr>
            <p:nvPr/>
          </p:nvSpPr>
          <p:spPr bwMode="auto">
            <a:xfrm>
              <a:off x="1400" y="2936"/>
              <a:ext cx="272" cy="4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3" name="Line 19"/>
            <p:cNvSpPr>
              <a:spLocks noChangeShapeType="1"/>
            </p:cNvSpPr>
            <p:nvPr/>
          </p:nvSpPr>
          <p:spPr bwMode="auto">
            <a:xfrm>
              <a:off x="872" y="3504"/>
              <a:ext cx="65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4" name="Line 20"/>
            <p:cNvSpPr>
              <a:spLocks noChangeShapeType="1"/>
            </p:cNvSpPr>
            <p:nvPr/>
          </p:nvSpPr>
          <p:spPr bwMode="auto">
            <a:xfrm flipH="1">
              <a:off x="720" y="2936"/>
              <a:ext cx="336" cy="4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64888" name="Rectangle 24"/>
          <p:cNvSpPr>
            <a:spLocks noChangeArrowheads="1"/>
          </p:cNvSpPr>
          <p:nvPr/>
        </p:nvSpPr>
        <p:spPr bwMode="auto">
          <a:xfrm>
            <a:off x="228600" y="2743200"/>
            <a:ext cx="8750300" cy="1016000"/>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sz="2000" b="1"/>
              <a:t>Observation: </a:t>
            </a:r>
            <a:r>
              <a:rPr lang="en-US" altLang="it-IT" sz="2000"/>
              <a:t>The above assumptions imply the time stamp of the last message received on a link is a </a:t>
            </a:r>
            <a:r>
              <a:rPr lang="en-US" altLang="it-IT" sz="2000" b="1"/>
              <a:t>lower bound on the time stamp (LBTS)</a:t>
            </a:r>
            <a:r>
              <a:rPr lang="en-US" altLang="it-IT" sz="2000"/>
              <a:t> of subsequent messages received on that link</a:t>
            </a:r>
          </a:p>
        </p:txBody>
      </p:sp>
      <p:grpSp>
        <p:nvGrpSpPr>
          <p:cNvPr id="5" name="Gruppo 4">
            <a:extLst>
              <a:ext uri="{FF2B5EF4-FFF2-40B4-BE49-F238E27FC236}">
                <a16:creationId xmlns:a16="http://schemas.microsoft.com/office/drawing/2014/main" id="{729FA69D-0ED2-1FB9-D75C-EF5C8A666D62}"/>
              </a:ext>
            </a:extLst>
          </p:cNvPr>
          <p:cNvGrpSpPr/>
          <p:nvPr/>
        </p:nvGrpSpPr>
        <p:grpSpPr>
          <a:xfrm>
            <a:off x="3054350" y="4038600"/>
            <a:ext cx="5908675" cy="2051050"/>
            <a:chOff x="3054350" y="4038600"/>
            <a:chExt cx="5908675" cy="2051050"/>
          </a:xfrm>
        </p:grpSpPr>
        <p:grpSp>
          <p:nvGrpSpPr>
            <p:cNvPr id="164890" name="Group 26"/>
            <p:cNvGrpSpPr>
              <a:grpSpLocks/>
            </p:cNvGrpSpPr>
            <p:nvPr/>
          </p:nvGrpSpPr>
          <p:grpSpPr bwMode="auto">
            <a:xfrm>
              <a:off x="3054350" y="4038600"/>
              <a:ext cx="5908675" cy="2051050"/>
              <a:chOff x="1924" y="2544"/>
              <a:chExt cx="3722" cy="1292"/>
            </a:xfrm>
          </p:grpSpPr>
          <p:sp>
            <p:nvSpPr>
              <p:cNvPr id="164866" name="Rectangle 2"/>
              <p:cNvSpPr>
                <a:spLocks noChangeArrowheads="1"/>
              </p:cNvSpPr>
              <p:nvPr/>
            </p:nvSpPr>
            <p:spPr bwMode="auto">
              <a:xfrm>
                <a:off x="3320" y="2552"/>
                <a:ext cx="1424" cy="1280"/>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0" name="Rectangle 6"/>
              <p:cNvSpPr>
                <a:spLocks noChangeArrowheads="1"/>
              </p:cNvSpPr>
              <p:nvPr/>
            </p:nvSpPr>
            <p:spPr bwMode="auto">
              <a:xfrm>
                <a:off x="3412" y="2740"/>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9</a:t>
                </a:r>
              </a:p>
            </p:txBody>
          </p:sp>
          <p:sp>
            <p:nvSpPr>
              <p:cNvPr id="164871" name="Rectangle 7"/>
              <p:cNvSpPr>
                <a:spLocks noChangeArrowheads="1"/>
              </p:cNvSpPr>
              <p:nvPr/>
            </p:nvSpPr>
            <p:spPr bwMode="auto">
              <a:xfrm>
                <a:off x="3556" y="2740"/>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8</a:t>
                </a:r>
              </a:p>
            </p:txBody>
          </p:sp>
          <p:sp>
            <p:nvSpPr>
              <p:cNvPr id="164872" name="Rectangle 8"/>
              <p:cNvSpPr>
                <a:spLocks noChangeArrowheads="1"/>
              </p:cNvSpPr>
              <p:nvPr/>
            </p:nvSpPr>
            <p:spPr bwMode="auto">
              <a:xfrm>
                <a:off x="3700" y="2740"/>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2</a:t>
                </a:r>
              </a:p>
            </p:txBody>
          </p:sp>
          <p:sp>
            <p:nvSpPr>
              <p:cNvPr id="164873" name="Line 9"/>
              <p:cNvSpPr>
                <a:spLocks noChangeShapeType="1"/>
              </p:cNvSpPr>
              <p:nvPr/>
            </p:nvSpPr>
            <p:spPr bwMode="auto">
              <a:xfrm>
                <a:off x="2856" y="2880"/>
                <a:ext cx="528"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4" name="Line 10"/>
              <p:cNvSpPr>
                <a:spLocks noChangeShapeType="1"/>
              </p:cNvSpPr>
              <p:nvPr/>
            </p:nvSpPr>
            <p:spPr bwMode="auto">
              <a:xfrm>
                <a:off x="2856" y="3504"/>
                <a:ext cx="528"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5" name="Rectangle 11"/>
              <p:cNvSpPr>
                <a:spLocks noChangeArrowheads="1"/>
              </p:cNvSpPr>
              <p:nvPr/>
            </p:nvSpPr>
            <p:spPr bwMode="auto">
              <a:xfrm flipH="1">
                <a:off x="3556" y="3364"/>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4</a:t>
                </a:r>
              </a:p>
            </p:txBody>
          </p:sp>
          <p:sp>
            <p:nvSpPr>
              <p:cNvPr id="164876" name="Rectangle 12"/>
              <p:cNvSpPr>
                <a:spLocks noChangeArrowheads="1"/>
              </p:cNvSpPr>
              <p:nvPr/>
            </p:nvSpPr>
            <p:spPr bwMode="auto">
              <a:xfrm flipH="1">
                <a:off x="3412" y="3364"/>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5</a:t>
                </a:r>
              </a:p>
            </p:txBody>
          </p:sp>
          <p:sp>
            <p:nvSpPr>
              <p:cNvPr id="164877" name="Rectangle 13"/>
              <p:cNvSpPr>
                <a:spLocks noChangeArrowheads="1"/>
              </p:cNvSpPr>
              <p:nvPr/>
            </p:nvSpPr>
            <p:spPr bwMode="auto">
              <a:xfrm>
                <a:off x="3797" y="2900"/>
                <a:ext cx="728"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2000" b="1"/>
                  <a:t>JFK</a:t>
                </a:r>
              </a:p>
              <a:p>
                <a:pPr algn="ctr"/>
                <a:r>
                  <a:rPr lang="en-US" altLang="it-IT" sz="2000" b="1"/>
                  <a:t>logical</a:t>
                </a:r>
              </a:p>
              <a:p>
                <a:pPr algn="ctr"/>
                <a:r>
                  <a:rPr lang="en-US" altLang="it-IT" sz="2000" b="1"/>
                  <a:t>process</a:t>
                </a:r>
              </a:p>
            </p:txBody>
          </p:sp>
          <p:sp>
            <p:nvSpPr>
              <p:cNvPr id="164878" name="Rectangle 14"/>
              <p:cNvSpPr>
                <a:spLocks noChangeArrowheads="1"/>
              </p:cNvSpPr>
              <p:nvPr/>
            </p:nvSpPr>
            <p:spPr bwMode="auto">
              <a:xfrm>
                <a:off x="4794" y="3312"/>
                <a:ext cx="85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a:t>one FIFO</a:t>
                </a:r>
              </a:p>
              <a:p>
                <a:pPr algn="ctr"/>
                <a:r>
                  <a:rPr lang="en-US" altLang="it-IT" sz="1600"/>
                  <a:t>queue per</a:t>
                </a:r>
              </a:p>
              <a:p>
                <a:pPr algn="ctr"/>
                <a:r>
                  <a:rPr lang="en-US" altLang="it-IT" sz="1600"/>
                  <a:t>incoming link</a:t>
                </a:r>
              </a:p>
            </p:txBody>
          </p:sp>
          <p:sp>
            <p:nvSpPr>
              <p:cNvPr id="164885" name="Line 21"/>
              <p:cNvSpPr>
                <a:spLocks noChangeShapeType="1"/>
              </p:cNvSpPr>
              <p:nvPr/>
            </p:nvSpPr>
            <p:spPr bwMode="auto">
              <a:xfrm flipV="1">
                <a:off x="1924" y="2544"/>
                <a:ext cx="1336"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6" name="Line 22"/>
              <p:cNvSpPr>
                <a:spLocks noChangeShapeType="1"/>
              </p:cNvSpPr>
              <p:nvPr/>
            </p:nvSpPr>
            <p:spPr bwMode="auto">
              <a:xfrm>
                <a:off x="1924" y="3652"/>
                <a:ext cx="1336" cy="1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 name="Rectangle 1039">
              <a:extLst>
                <a:ext uri="{FF2B5EF4-FFF2-40B4-BE49-F238E27FC236}">
                  <a16:creationId xmlns:a16="http://schemas.microsoft.com/office/drawing/2014/main" id="{EC31F7A3-7CD6-EF0E-0ECD-559D507627C3}"/>
                </a:ext>
              </a:extLst>
            </p:cNvPr>
            <p:cNvSpPr>
              <a:spLocks noChangeArrowheads="1"/>
            </p:cNvSpPr>
            <p:nvPr/>
          </p:nvSpPr>
          <p:spPr bwMode="auto">
            <a:xfrm>
              <a:off x="3757613" y="5378450"/>
              <a:ext cx="74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2000" b="1"/>
                <a:t>ORD</a:t>
              </a:r>
            </a:p>
          </p:txBody>
        </p:sp>
        <p:sp>
          <p:nvSpPr>
            <p:cNvPr id="4" name="Rectangle 1040">
              <a:extLst>
                <a:ext uri="{FF2B5EF4-FFF2-40B4-BE49-F238E27FC236}">
                  <a16:creationId xmlns:a16="http://schemas.microsoft.com/office/drawing/2014/main" id="{AF64D7DD-AF34-1B9D-0BA1-2DE7BEAE2397}"/>
                </a:ext>
              </a:extLst>
            </p:cNvPr>
            <p:cNvSpPr>
              <a:spLocks noChangeArrowheads="1"/>
            </p:cNvSpPr>
            <p:nvPr/>
          </p:nvSpPr>
          <p:spPr bwMode="auto">
            <a:xfrm>
              <a:off x="3802063" y="4397375"/>
              <a:ext cx="703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2000" b="1"/>
                <a:t>SFO</a:t>
              </a:r>
            </a:p>
          </p:txBody>
        </p:sp>
      </p:grpSp>
      <p:sp>
        <p:nvSpPr>
          <p:cNvPr id="7" name="Segnaposto numero diapositiva 6">
            <a:extLst>
              <a:ext uri="{FF2B5EF4-FFF2-40B4-BE49-F238E27FC236}">
                <a16:creationId xmlns:a16="http://schemas.microsoft.com/office/drawing/2014/main" id="{25CBAF92-49D4-EC82-3400-29DFC7392ADD}"/>
              </a:ext>
            </a:extLst>
          </p:cNvPr>
          <p:cNvSpPr>
            <a:spLocks noGrp="1"/>
          </p:cNvSpPr>
          <p:nvPr>
            <p:ph type="sldNum" sz="quarter" idx="4"/>
          </p:nvPr>
        </p:nvSpPr>
        <p:spPr/>
        <p:txBody>
          <a:bodyPr/>
          <a:lstStyle/>
          <a:p>
            <a:fld id="{9BFB3A76-8619-A843-8C67-B9C7C140DBAC}" type="slidenum">
              <a:rPr lang="en-US" smtClean="0"/>
              <a:t>12</a:t>
            </a:fld>
            <a:endParaRPr lang="en-US"/>
          </a:p>
        </p:txBody>
      </p:sp>
      <p:sp>
        <p:nvSpPr>
          <p:cNvPr id="8" name="Segnaposto data 7">
            <a:extLst>
              <a:ext uri="{FF2B5EF4-FFF2-40B4-BE49-F238E27FC236}">
                <a16:creationId xmlns:a16="http://schemas.microsoft.com/office/drawing/2014/main" id="{E9021D45-190B-4B24-9032-4D54CD0B8AA8}"/>
              </a:ext>
            </a:extLst>
          </p:cNvPr>
          <p:cNvSpPr>
            <a:spLocks noGrp="1"/>
          </p:cNvSpPr>
          <p:nvPr>
            <p:ph type="dt" sz="half" idx="2"/>
          </p:nvPr>
        </p:nvSpPr>
        <p:spPr/>
        <p:txBody>
          <a:bodyPr/>
          <a:lstStyle/>
          <a:p>
            <a:r>
              <a:rPr lang="it-IT"/>
              <a:t>Distributed Simulation Systems</a:t>
            </a:r>
            <a:endParaRPr lang="en-US"/>
          </a:p>
        </p:txBody>
      </p:sp>
      <p:sp>
        <p:nvSpPr>
          <p:cNvPr id="9" name="Segnaposto piè di pagina 8">
            <a:extLst>
              <a:ext uri="{FF2B5EF4-FFF2-40B4-BE49-F238E27FC236}">
                <a16:creationId xmlns:a16="http://schemas.microsoft.com/office/drawing/2014/main" id="{3ED895A9-8E70-419C-A330-529010A4474B}"/>
              </a:ext>
            </a:extLst>
          </p:cNvPr>
          <p:cNvSpPr>
            <a:spLocks noGrp="1"/>
          </p:cNvSpPr>
          <p:nvPr>
            <p:ph type="ftr" sz="quarter" idx="3"/>
          </p:nvPr>
        </p:nvSpPr>
        <p:spPr/>
        <p:txBody>
          <a:bodyPr/>
          <a:lstStyle/>
          <a:p>
            <a:r>
              <a:rPr lang="en-US"/>
              <a:t>paolo.bocciarelli@uniroma2.it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4868">
                                            <p:txEl>
                                              <p:pRg st="0" end="0"/>
                                            </p:txEl>
                                          </p:spTgt>
                                        </p:tgtEl>
                                        <p:attrNameLst>
                                          <p:attrName>style.visibility</p:attrName>
                                        </p:attrNameLst>
                                      </p:cBhvr>
                                      <p:to>
                                        <p:strVal val="visible"/>
                                      </p:to>
                                    </p:set>
                                    <p:animEffect transition="in" filter="dissolve">
                                      <p:cBhvr>
                                        <p:cTn id="7" dur="500"/>
                                        <p:tgtEl>
                                          <p:spTgt spid="16486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4868">
                                            <p:txEl>
                                              <p:pRg st="1" end="1"/>
                                            </p:txEl>
                                          </p:spTgt>
                                        </p:tgtEl>
                                        <p:attrNameLst>
                                          <p:attrName>style.visibility</p:attrName>
                                        </p:attrNameLst>
                                      </p:cBhvr>
                                      <p:to>
                                        <p:strVal val="visible"/>
                                      </p:to>
                                    </p:set>
                                    <p:animEffect transition="in" filter="dissolve">
                                      <p:cBhvr>
                                        <p:cTn id="12" dur="500"/>
                                        <p:tgtEl>
                                          <p:spTgt spid="16486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4868">
                                            <p:txEl>
                                              <p:pRg st="2" end="2"/>
                                            </p:txEl>
                                          </p:spTgt>
                                        </p:tgtEl>
                                        <p:attrNameLst>
                                          <p:attrName>style.visibility</p:attrName>
                                        </p:attrNameLst>
                                      </p:cBhvr>
                                      <p:to>
                                        <p:strVal val="visible"/>
                                      </p:to>
                                    </p:set>
                                    <p:animEffect transition="in" filter="dissolve">
                                      <p:cBhvr>
                                        <p:cTn id="17" dur="500"/>
                                        <p:tgtEl>
                                          <p:spTgt spid="16486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4868">
                                            <p:txEl>
                                              <p:pRg st="3" end="3"/>
                                            </p:txEl>
                                          </p:spTgt>
                                        </p:tgtEl>
                                        <p:attrNameLst>
                                          <p:attrName>style.visibility</p:attrName>
                                        </p:attrNameLst>
                                      </p:cBhvr>
                                      <p:to>
                                        <p:strVal val="visible"/>
                                      </p:to>
                                    </p:set>
                                    <p:animEffect transition="in" filter="dissolve">
                                      <p:cBhvr>
                                        <p:cTn id="22" dur="500"/>
                                        <p:tgtEl>
                                          <p:spTgt spid="16486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4868">
                                            <p:txEl>
                                              <p:pRg st="4" end="4"/>
                                            </p:txEl>
                                          </p:spTgt>
                                        </p:tgtEl>
                                        <p:attrNameLst>
                                          <p:attrName>style.visibility</p:attrName>
                                        </p:attrNameLst>
                                      </p:cBhvr>
                                      <p:to>
                                        <p:strVal val="visible"/>
                                      </p:to>
                                    </p:set>
                                    <p:animEffect transition="in" filter="dissolve">
                                      <p:cBhvr>
                                        <p:cTn id="27" dur="500"/>
                                        <p:tgtEl>
                                          <p:spTgt spid="16486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4888">
                                            <p:txEl>
                                              <p:pRg st="0" end="0"/>
                                            </p:txEl>
                                          </p:spTgt>
                                        </p:tgtEl>
                                        <p:attrNameLst>
                                          <p:attrName>style.visibility</p:attrName>
                                        </p:attrNameLst>
                                      </p:cBhvr>
                                      <p:to>
                                        <p:strVal val="visible"/>
                                      </p:to>
                                    </p:set>
                                    <p:animEffect transition="in" filter="dissolve">
                                      <p:cBhvr>
                                        <p:cTn id="32" dur="500"/>
                                        <p:tgtEl>
                                          <p:spTgt spid="16488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4869"/>
                                        </p:tgtEl>
                                        <p:attrNameLst>
                                          <p:attrName>style.visibility</p:attrName>
                                        </p:attrNameLst>
                                      </p:cBhvr>
                                      <p:to>
                                        <p:strVal val="visible"/>
                                      </p:to>
                                    </p:set>
                                    <p:animEffect transition="in" filter="dissolve">
                                      <p:cBhvr>
                                        <p:cTn id="42" dur="500"/>
                                        <p:tgtEl>
                                          <p:spTgt spid="164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uiExpand="1" build="p" autoUpdateAnimBg="0"/>
      <p:bldP spid="164869" grpId="0" animBg="1" autoUpdateAnimBg="0"/>
      <p:bldP spid="164888"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6" name="Rectangle 1030"/>
          <p:cNvSpPr>
            <a:spLocks noChangeArrowheads="1"/>
          </p:cNvSpPr>
          <p:nvPr/>
        </p:nvSpPr>
        <p:spPr bwMode="auto">
          <a:xfrm>
            <a:off x="1841500" y="4140200"/>
            <a:ext cx="2260599" cy="2032000"/>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4327" name="Rectangle 1031"/>
          <p:cNvSpPr>
            <a:spLocks noChangeArrowheads="1"/>
          </p:cNvSpPr>
          <p:nvPr/>
        </p:nvSpPr>
        <p:spPr bwMode="auto">
          <a:xfrm>
            <a:off x="1987550" y="4438650"/>
            <a:ext cx="215900" cy="44450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9</a:t>
            </a:r>
          </a:p>
        </p:txBody>
      </p:sp>
      <p:sp>
        <p:nvSpPr>
          <p:cNvPr id="184328" name="Rectangle 1032"/>
          <p:cNvSpPr>
            <a:spLocks noChangeArrowheads="1"/>
          </p:cNvSpPr>
          <p:nvPr/>
        </p:nvSpPr>
        <p:spPr bwMode="auto">
          <a:xfrm>
            <a:off x="2216149" y="4438650"/>
            <a:ext cx="215900" cy="44450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8</a:t>
            </a:r>
          </a:p>
        </p:txBody>
      </p:sp>
      <p:sp>
        <p:nvSpPr>
          <p:cNvPr id="184329" name="Rectangle 1033"/>
          <p:cNvSpPr>
            <a:spLocks noChangeArrowheads="1"/>
          </p:cNvSpPr>
          <p:nvPr/>
        </p:nvSpPr>
        <p:spPr bwMode="auto">
          <a:xfrm>
            <a:off x="2444749" y="4438650"/>
            <a:ext cx="215900" cy="44450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2</a:t>
            </a:r>
          </a:p>
        </p:txBody>
      </p:sp>
      <p:sp>
        <p:nvSpPr>
          <p:cNvPr id="184330" name="Line 1034"/>
          <p:cNvSpPr>
            <a:spLocks noChangeShapeType="1"/>
          </p:cNvSpPr>
          <p:nvPr/>
        </p:nvSpPr>
        <p:spPr bwMode="auto">
          <a:xfrm>
            <a:off x="1104900" y="4660900"/>
            <a:ext cx="83820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4331" name="Line 1035"/>
          <p:cNvSpPr>
            <a:spLocks noChangeShapeType="1"/>
          </p:cNvSpPr>
          <p:nvPr/>
        </p:nvSpPr>
        <p:spPr bwMode="auto">
          <a:xfrm>
            <a:off x="1104900" y="5651500"/>
            <a:ext cx="83820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4332" name="Rectangle 1036"/>
          <p:cNvSpPr>
            <a:spLocks noChangeArrowheads="1"/>
          </p:cNvSpPr>
          <p:nvPr/>
        </p:nvSpPr>
        <p:spPr bwMode="auto">
          <a:xfrm flipH="1">
            <a:off x="2216149" y="5429250"/>
            <a:ext cx="215900" cy="44450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4</a:t>
            </a:r>
          </a:p>
        </p:txBody>
      </p:sp>
      <p:sp>
        <p:nvSpPr>
          <p:cNvPr id="184333" name="Rectangle 1037"/>
          <p:cNvSpPr>
            <a:spLocks noChangeArrowheads="1"/>
          </p:cNvSpPr>
          <p:nvPr/>
        </p:nvSpPr>
        <p:spPr bwMode="auto">
          <a:xfrm flipH="1">
            <a:off x="1987550" y="5429250"/>
            <a:ext cx="215900" cy="44450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5</a:t>
            </a:r>
          </a:p>
        </p:txBody>
      </p:sp>
      <p:sp>
        <p:nvSpPr>
          <p:cNvPr id="184334" name="Rectangle 1038"/>
          <p:cNvSpPr>
            <a:spLocks noChangeArrowheads="1"/>
          </p:cNvSpPr>
          <p:nvPr/>
        </p:nvSpPr>
        <p:spPr bwMode="auto">
          <a:xfrm>
            <a:off x="2598737" y="4692650"/>
            <a:ext cx="1155700"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2000" b="1"/>
              <a:t>JFK</a:t>
            </a:r>
          </a:p>
          <a:p>
            <a:pPr algn="ctr"/>
            <a:r>
              <a:rPr lang="en-US" altLang="it-IT" sz="2000" b="1"/>
              <a:t>logical</a:t>
            </a:r>
          </a:p>
          <a:p>
            <a:pPr algn="ctr"/>
            <a:r>
              <a:rPr lang="en-US" altLang="it-IT" sz="2000" b="1"/>
              <a:t>process</a:t>
            </a:r>
          </a:p>
        </p:txBody>
      </p:sp>
      <p:sp>
        <p:nvSpPr>
          <p:cNvPr id="184335" name="Rectangle 1039"/>
          <p:cNvSpPr>
            <a:spLocks noChangeArrowheads="1"/>
          </p:cNvSpPr>
          <p:nvPr/>
        </p:nvSpPr>
        <p:spPr bwMode="auto">
          <a:xfrm>
            <a:off x="320675" y="5427663"/>
            <a:ext cx="74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2000" b="1"/>
              <a:t>ORD</a:t>
            </a:r>
          </a:p>
        </p:txBody>
      </p:sp>
      <p:sp>
        <p:nvSpPr>
          <p:cNvPr id="184336" name="Rectangle 1040"/>
          <p:cNvSpPr>
            <a:spLocks noChangeArrowheads="1"/>
          </p:cNvSpPr>
          <p:nvPr/>
        </p:nvSpPr>
        <p:spPr bwMode="auto">
          <a:xfrm>
            <a:off x="365125" y="4446588"/>
            <a:ext cx="703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2000" b="1"/>
              <a:t>SFO</a:t>
            </a:r>
          </a:p>
        </p:txBody>
      </p:sp>
      <p:sp>
        <p:nvSpPr>
          <p:cNvPr id="184322" name="Rectangle 1026"/>
          <p:cNvSpPr>
            <a:spLocks noGrp="1" noChangeArrowheads="1"/>
          </p:cNvSpPr>
          <p:nvPr>
            <p:ph type="title"/>
          </p:nvPr>
        </p:nvSpPr>
        <p:spPr>
          <a:xfrm>
            <a:off x="234950" y="139700"/>
            <a:ext cx="8750300" cy="469900"/>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A Simple Conservative Algorithm</a:t>
            </a:r>
          </a:p>
        </p:txBody>
      </p:sp>
      <p:sp>
        <p:nvSpPr>
          <p:cNvPr id="184323" name="Rectangle 1027"/>
          <p:cNvSpPr>
            <a:spLocks noGrp="1" noChangeArrowheads="1"/>
          </p:cNvSpPr>
          <p:nvPr>
            <p:ph type="body" idx="1"/>
          </p:nvPr>
        </p:nvSpPr>
        <p:spPr>
          <a:xfrm>
            <a:off x="234950" y="6115769"/>
            <a:ext cx="8750300" cy="409575"/>
          </a:xfrm>
          <a:noFill/>
          <a:ln/>
          <a:extLst>
            <a:ext uri="{909E8E84-426E-40DD-AFC4-6F175D3DCCD1}">
              <a14:hiddenFill xmlns:a14="http://schemas.microsoft.com/office/drawing/2010/main">
                <a:solidFill>
                  <a:srgbClr val="FFC5CF"/>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pPr>
              <a:buFontTx/>
              <a:buNone/>
            </a:pPr>
            <a:r>
              <a:rPr lang="en-US" altLang="it-IT" b="1"/>
              <a:t>Observation: Algorithm A is prone to deadlock!</a:t>
            </a:r>
          </a:p>
        </p:txBody>
      </p:sp>
      <p:sp>
        <p:nvSpPr>
          <p:cNvPr id="184324" name="Rectangle 1028"/>
          <p:cNvSpPr>
            <a:spLocks noChangeArrowheads="1"/>
          </p:cNvSpPr>
          <p:nvPr/>
        </p:nvSpPr>
        <p:spPr bwMode="auto">
          <a:xfrm>
            <a:off x="457200" y="920750"/>
            <a:ext cx="8382000" cy="2965450"/>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2000" b="1">
                <a:latin typeface="Helvetica" charset="0"/>
              </a:rPr>
              <a:t>Algorithm A </a:t>
            </a:r>
            <a:r>
              <a:rPr lang="en-US" altLang="it-IT" sz="2000">
                <a:latin typeface="Helvetica" charset="0"/>
              </a:rPr>
              <a:t>(executed by each LP):</a:t>
            </a:r>
            <a:endParaRPr lang="en-US" altLang="it-IT" sz="2000" b="1">
              <a:latin typeface="Helvetica" charset="0"/>
            </a:endParaRPr>
          </a:p>
          <a:p>
            <a:pPr>
              <a:spcBef>
                <a:spcPct val="20000"/>
              </a:spcBef>
            </a:pPr>
            <a:r>
              <a:rPr lang="en-US" altLang="it-IT" sz="2000" b="1">
                <a:latin typeface="Helvetica" charset="0"/>
              </a:rPr>
              <a:t>Goal: Ensure events are processed in time stamp order:</a:t>
            </a:r>
            <a:endParaRPr lang="en-US" altLang="it-IT" sz="2000">
              <a:latin typeface="Helvetica" charset="0"/>
            </a:endParaRPr>
          </a:p>
          <a:p>
            <a:pPr>
              <a:spcBef>
                <a:spcPct val="20000"/>
              </a:spcBef>
            </a:pPr>
            <a:endParaRPr lang="en-US" altLang="it-IT" sz="2000">
              <a:latin typeface="Helvetica" charset="0"/>
            </a:endParaRPr>
          </a:p>
          <a:p>
            <a:pPr>
              <a:spcBef>
                <a:spcPct val="20000"/>
              </a:spcBef>
            </a:pPr>
            <a:r>
              <a:rPr lang="en-US" altLang="it-IT" sz="2000" b="1">
                <a:latin typeface="Helvetica" charset="0"/>
              </a:rPr>
              <a:t>WHILE </a:t>
            </a:r>
            <a:r>
              <a:rPr lang="en-US" altLang="it-IT" sz="2000">
                <a:latin typeface="Helvetica" charset="0"/>
              </a:rPr>
              <a:t>(simulation is not over)</a:t>
            </a:r>
          </a:p>
          <a:p>
            <a:pPr>
              <a:spcBef>
                <a:spcPct val="20000"/>
              </a:spcBef>
            </a:pPr>
            <a:r>
              <a:rPr lang="en-US" altLang="it-IT" sz="2000">
                <a:latin typeface="Helvetica" charset="0"/>
              </a:rPr>
              <a:t>	wait until each FIFO contains at least one message</a:t>
            </a:r>
          </a:p>
          <a:p>
            <a:pPr>
              <a:spcBef>
                <a:spcPct val="20000"/>
              </a:spcBef>
            </a:pPr>
            <a:r>
              <a:rPr lang="en-US" altLang="it-IT" sz="2000">
                <a:latin typeface="Helvetica" charset="0"/>
              </a:rPr>
              <a:t>	remove smallest time stamped event from its FIFO</a:t>
            </a:r>
          </a:p>
          <a:p>
            <a:pPr>
              <a:spcBef>
                <a:spcPct val="20000"/>
              </a:spcBef>
            </a:pPr>
            <a:r>
              <a:rPr lang="en-US" altLang="it-IT" sz="2000">
                <a:latin typeface="Helvetica" charset="0"/>
              </a:rPr>
              <a:t>	process that event</a:t>
            </a:r>
          </a:p>
          <a:p>
            <a:pPr>
              <a:spcBef>
                <a:spcPct val="20000"/>
              </a:spcBef>
            </a:pPr>
            <a:r>
              <a:rPr lang="en-US" altLang="it-IT" sz="2000" b="1">
                <a:latin typeface="Helvetica" charset="0"/>
              </a:rPr>
              <a:t>END-LOOP</a:t>
            </a:r>
          </a:p>
        </p:txBody>
      </p:sp>
      <p:sp>
        <p:nvSpPr>
          <p:cNvPr id="184337" name="Rectangle 1041"/>
          <p:cNvSpPr>
            <a:spLocks noChangeArrowheads="1"/>
          </p:cNvSpPr>
          <p:nvPr/>
        </p:nvSpPr>
        <p:spPr bwMode="auto">
          <a:xfrm>
            <a:off x="4343400" y="5181600"/>
            <a:ext cx="464820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buFontTx/>
              <a:buChar char="•"/>
            </a:pPr>
            <a:r>
              <a:rPr lang="en-US" altLang="it-IT" sz="2000"/>
              <a:t> wait </a:t>
            </a:r>
            <a:r>
              <a:rPr lang="en-US" altLang="it-IT" sz="2000" err="1"/>
              <a:t>til</a:t>
            </a:r>
            <a:r>
              <a:rPr lang="en-US" altLang="it-IT" sz="2000"/>
              <a:t> message is received from ORD</a:t>
            </a:r>
          </a:p>
        </p:txBody>
      </p:sp>
      <p:grpSp>
        <p:nvGrpSpPr>
          <p:cNvPr id="184347" name="Group 1051"/>
          <p:cNvGrpSpPr>
            <a:grpSpLocks/>
          </p:cNvGrpSpPr>
          <p:nvPr/>
        </p:nvGrpSpPr>
        <p:grpSpPr bwMode="auto">
          <a:xfrm>
            <a:off x="2438400" y="4267200"/>
            <a:ext cx="5345113" cy="673100"/>
            <a:chOff x="1536" y="2688"/>
            <a:chExt cx="3367" cy="424"/>
          </a:xfrm>
        </p:grpSpPr>
        <p:sp>
          <p:nvSpPr>
            <p:cNvPr id="184339" name="Rectangle 1043"/>
            <p:cNvSpPr>
              <a:spLocks noChangeArrowheads="1"/>
            </p:cNvSpPr>
            <p:nvPr/>
          </p:nvSpPr>
          <p:spPr bwMode="auto">
            <a:xfrm>
              <a:off x="2736" y="2688"/>
              <a:ext cx="216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buFontTx/>
                <a:buChar char="•"/>
              </a:pPr>
              <a:r>
                <a:rPr lang="en-US" altLang="it-IT" sz="2000"/>
                <a:t> process time stamp 2 event</a:t>
              </a:r>
            </a:p>
          </p:txBody>
        </p:sp>
        <p:sp>
          <p:nvSpPr>
            <p:cNvPr id="184340" name="Rectangle 1044"/>
            <p:cNvSpPr>
              <a:spLocks noChangeArrowheads="1"/>
            </p:cNvSpPr>
            <p:nvPr/>
          </p:nvSpPr>
          <p:spPr bwMode="auto">
            <a:xfrm>
              <a:off x="1536" y="2744"/>
              <a:ext cx="176" cy="368"/>
            </a:xfrm>
            <a:prstGeom prst="rect">
              <a:avLst/>
            </a:prstGeom>
            <a:solidFill>
              <a:srgbClr val="FCFEB9"/>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grpSp>
      <p:grpSp>
        <p:nvGrpSpPr>
          <p:cNvPr id="184348" name="Group 1052"/>
          <p:cNvGrpSpPr>
            <a:grpSpLocks/>
          </p:cNvGrpSpPr>
          <p:nvPr/>
        </p:nvGrpSpPr>
        <p:grpSpPr bwMode="auto">
          <a:xfrm>
            <a:off x="2209800" y="4572000"/>
            <a:ext cx="5573713" cy="1358900"/>
            <a:chOff x="1392" y="2880"/>
            <a:chExt cx="3511" cy="856"/>
          </a:xfrm>
        </p:grpSpPr>
        <p:sp>
          <p:nvSpPr>
            <p:cNvPr id="184342" name="Rectangle 1046"/>
            <p:cNvSpPr>
              <a:spLocks noChangeArrowheads="1"/>
            </p:cNvSpPr>
            <p:nvPr/>
          </p:nvSpPr>
          <p:spPr bwMode="auto">
            <a:xfrm>
              <a:off x="2736" y="2880"/>
              <a:ext cx="216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buFontTx/>
                <a:buChar char="•"/>
              </a:pPr>
              <a:r>
                <a:rPr lang="en-US" altLang="it-IT" sz="2000"/>
                <a:t> process time stamp 4 event</a:t>
              </a:r>
            </a:p>
          </p:txBody>
        </p:sp>
        <p:sp>
          <p:nvSpPr>
            <p:cNvPr id="184343" name="Rectangle 1047"/>
            <p:cNvSpPr>
              <a:spLocks noChangeArrowheads="1"/>
            </p:cNvSpPr>
            <p:nvPr/>
          </p:nvSpPr>
          <p:spPr bwMode="auto">
            <a:xfrm>
              <a:off x="1392" y="3368"/>
              <a:ext cx="176" cy="368"/>
            </a:xfrm>
            <a:prstGeom prst="rect">
              <a:avLst/>
            </a:prstGeom>
            <a:solidFill>
              <a:srgbClr val="FCFEB9"/>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grpSp>
      <p:grpSp>
        <p:nvGrpSpPr>
          <p:cNvPr id="184349" name="Group 1053"/>
          <p:cNvGrpSpPr>
            <a:grpSpLocks/>
          </p:cNvGrpSpPr>
          <p:nvPr/>
        </p:nvGrpSpPr>
        <p:grpSpPr bwMode="auto">
          <a:xfrm>
            <a:off x="1981200" y="4876800"/>
            <a:ext cx="5802313" cy="1054100"/>
            <a:chOff x="1248" y="3072"/>
            <a:chExt cx="3655" cy="664"/>
          </a:xfrm>
        </p:grpSpPr>
        <p:sp>
          <p:nvSpPr>
            <p:cNvPr id="184345" name="Rectangle 1049"/>
            <p:cNvSpPr>
              <a:spLocks noChangeArrowheads="1"/>
            </p:cNvSpPr>
            <p:nvPr/>
          </p:nvSpPr>
          <p:spPr bwMode="auto">
            <a:xfrm>
              <a:off x="2736" y="3072"/>
              <a:ext cx="216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buFontTx/>
                <a:buChar char="•"/>
              </a:pPr>
              <a:r>
                <a:rPr lang="en-US" altLang="it-IT" sz="2000"/>
                <a:t> process time stamp 5 event</a:t>
              </a:r>
            </a:p>
          </p:txBody>
        </p:sp>
        <p:sp>
          <p:nvSpPr>
            <p:cNvPr id="184346" name="Rectangle 1050"/>
            <p:cNvSpPr>
              <a:spLocks noChangeArrowheads="1"/>
            </p:cNvSpPr>
            <p:nvPr/>
          </p:nvSpPr>
          <p:spPr bwMode="auto">
            <a:xfrm>
              <a:off x="1248" y="3368"/>
              <a:ext cx="176" cy="368"/>
            </a:xfrm>
            <a:prstGeom prst="rect">
              <a:avLst/>
            </a:prstGeom>
            <a:solidFill>
              <a:srgbClr val="FCFEB9"/>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grpSp>
      <p:sp>
        <p:nvSpPr>
          <p:cNvPr id="4" name="Segnaposto numero diapositiva 3">
            <a:extLst>
              <a:ext uri="{FF2B5EF4-FFF2-40B4-BE49-F238E27FC236}">
                <a16:creationId xmlns:a16="http://schemas.microsoft.com/office/drawing/2014/main" id="{8828AD1A-32A6-1278-98B1-86C0FC4F72A1}"/>
              </a:ext>
            </a:extLst>
          </p:cNvPr>
          <p:cNvSpPr>
            <a:spLocks noGrp="1"/>
          </p:cNvSpPr>
          <p:nvPr>
            <p:ph type="sldNum" sz="quarter" idx="4"/>
          </p:nvPr>
        </p:nvSpPr>
        <p:spPr/>
        <p:txBody>
          <a:bodyPr/>
          <a:lstStyle/>
          <a:p>
            <a:fld id="{9BFB3A76-8619-A843-8C67-B9C7C140DBAC}" type="slidenum">
              <a:rPr lang="en-US" smtClean="0"/>
              <a:t>13</a:t>
            </a:fld>
            <a:endParaRPr lang="en-US"/>
          </a:p>
        </p:txBody>
      </p:sp>
      <p:sp>
        <p:nvSpPr>
          <p:cNvPr id="5" name="Segnaposto data 4">
            <a:extLst>
              <a:ext uri="{FF2B5EF4-FFF2-40B4-BE49-F238E27FC236}">
                <a16:creationId xmlns:a16="http://schemas.microsoft.com/office/drawing/2014/main" id="{5826A88A-8595-776C-6C46-4A261B039BB1}"/>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2DB75EB3-8C69-EF52-BB4C-0F104C450C37}"/>
              </a:ext>
            </a:extLst>
          </p:cNvPr>
          <p:cNvSpPr>
            <a:spLocks noGrp="1"/>
          </p:cNvSpPr>
          <p:nvPr>
            <p:ph type="ftr" sz="quarter" idx="3"/>
          </p:nvPr>
        </p:nvSpPr>
        <p:spPr/>
        <p:txBody>
          <a:bodyPr/>
          <a:lstStyle/>
          <a:p>
            <a:r>
              <a:rPr lang="en-US"/>
              <a:t>paolo.bocciarelli@uniroma2.it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4347"/>
                                        </p:tgtEl>
                                        <p:attrNameLst>
                                          <p:attrName>style.visibility</p:attrName>
                                        </p:attrNameLst>
                                      </p:cBhvr>
                                      <p:to>
                                        <p:strVal val="visible"/>
                                      </p:to>
                                    </p:set>
                                    <p:animEffect transition="in" filter="dissolve">
                                      <p:cBhvr>
                                        <p:cTn id="7" dur="500"/>
                                        <p:tgtEl>
                                          <p:spTgt spid="184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4348"/>
                                        </p:tgtEl>
                                        <p:attrNameLst>
                                          <p:attrName>style.visibility</p:attrName>
                                        </p:attrNameLst>
                                      </p:cBhvr>
                                      <p:to>
                                        <p:strVal val="visible"/>
                                      </p:to>
                                    </p:set>
                                    <p:animEffect transition="in" filter="dissolve">
                                      <p:cBhvr>
                                        <p:cTn id="12" dur="500"/>
                                        <p:tgtEl>
                                          <p:spTgt spid="1843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84349"/>
                                        </p:tgtEl>
                                        <p:attrNameLst>
                                          <p:attrName>style.visibility</p:attrName>
                                        </p:attrNameLst>
                                      </p:cBhvr>
                                      <p:to>
                                        <p:strVal val="visible"/>
                                      </p:to>
                                    </p:set>
                                    <p:animEffect transition="in" filter="dissolve">
                                      <p:cBhvr>
                                        <p:cTn id="17" dur="500"/>
                                        <p:tgtEl>
                                          <p:spTgt spid="184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4337"/>
                                        </p:tgtEl>
                                        <p:attrNameLst>
                                          <p:attrName>style.visibility</p:attrName>
                                        </p:attrNameLst>
                                      </p:cBhvr>
                                      <p:to>
                                        <p:strVal val="visible"/>
                                      </p:to>
                                    </p:set>
                                    <p:animEffect transition="in" filter="dissolve">
                                      <p:cBhvr>
                                        <p:cTn id="22" dur="500"/>
                                        <p:tgtEl>
                                          <p:spTgt spid="1843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4323"/>
                                        </p:tgtEl>
                                        <p:attrNameLst>
                                          <p:attrName>style.visibility</p:attrName>
                                        </p:attrNameLst>
                                      </p:cBhvr>
                                      <p:to>
                                        <p:strVal val="visible"/>
                                      </p:to>
                                    </p:set>
                                    <p:animEffect transition="in" filter="dissolve">
                                      <p:cBhvr>
                                        <p:cTn id="27" dur="500"/>
                                        <p:tgtEl>
                                          <p:spTgt spid="184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autoUpdateAnimBg="0"/>
      <p:bldP spid="18433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312738" y="23813"/>
            <a:ext cx="84423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Deadlock Example</a:t>
            </a:r>
          </a:p>
        </p:txBody>
      </p:sp>
      <p:sp>
        <p:nvSpPr>
          <p:cNvPr id="166915" name="Rectangle 3"/>
          <p:cNvSpPr>
            <a:spLocks noGrp="1" noChangeArrowheads="1"/>
          </p:cNvSpPr>
          <p:nvPr>
            <p:ph type="body" idx="1"/>
          </p:nvPr>
        </p:nvSpPr>
        <p:spPr>
          <a:xfrm>
            <a:off x="304800" y="5229200"/>
            <a:ext cx="8442325" cy="1270000"/>
          </a:xfrm>
          <a:solidFill>
            <a:srgbClr val="FFC5CF"/>
          </a:solidFill>
          <a:ln w="12700" cap="flat">
            <a:solidFill>
              <a:schemeClr val="tx1"/>
            </a:solidFill>
            <a:miter lim="800000"/>
            <a:headEnd/>
            <a:tailEnd/>
          </a:ln>
        </p:spPr>
        <p:txBody>
          <a:bodyPr/>
          <a:lstStyle/>
          <a:p>
            <a:pPr>
              <a:buFontTx/>
              <a:buNone/>
            </a:pPr>
            <a:r>
              <a:rPr lang="en-US" altLang="it-IT" sz="2400"/>
              <a:t>A cycle of LPs forms where each is waiting on the next LP in the cycle.</a:t>
            </a:r>
          </a:p>
          <a:p>
            <a:pPr>
              <a:buFontTx/>
              <a:buNone/>
            </a:pPr>
            <a:r>
              <a:rPr lang="en-US" altLang="it-IT" sz="2400"/>
              <a:t>No LP can advance; the simulation is deadlocked.</a:t>
            </a:r>
          </a:p>
        </p:txBody>
      </p:sp>
      <p:grpSp>
        <p:nvGrpSpPr>
          <p:cNvPr id="166933" name="Group 21"/>
          <p:cNvGrpSpPr>
            <a:grpSpLocks/>
          </p:cNvGrpSpPr>
          <p:nvPr/>
        </p:nvGrpSpPr>
        <p:grpSpPr bwMode="auto">
          <a:xfrm>
            <a:off x="1689100" y="1066800"/>
            <a:ext cx="5842000" cy="3937000"/>
            <a:chOff x="1064" y="872"/>
            <a:chExt cx="3680" cy="2480"/>
          </a:xfrm>
        </p:grpSpPr>
        <p:sp>
          <p:nvSpPr>
            <p:cNvPr id="166916" name="Rectangle 4"/>
            <p:cNvSpPr>
              <a:spLocks noChangeArrowheads="1"/>
            </p:cNvSpPr>
            <p:nvPr/>
          </p:nvSpPr>
          <p:spPr bwMode="auto">
            <a:xfrm>
              <a:off x="3656" y="2264"/>
              <a:ext cx="1088" cy="1088"/>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17" name="Rectangle 5"/>
            <p:cNvSpPr>
              <a:spLocks noChangeArrowheads="1"/>
            </p:cNvSpPr>
            <p:nvPr/>
          </p:nvSpPr>
          <p:spPr bwMode="auto">
            <a:xfrm>
              <a:off x="3700" y="2884"/>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9</a:t>
              </a:r>
            </a:p>
          </p:txBody>
        </p:sp>
        <p:sp>
          <p:nvSpPr>
            <p:cNvPr id="166918" name="Rectangle 6"/>
            <p:cNvSpPr>
              <a:spLocks noChangeArrowheads="1"/>
            </p:cNvSpPr>
            <p:nvPr/>
          </p:nvSpPr>
          <p:spPr bwMode="auto">
            <a:xfrm>
              <a:off x="3844" y="2884"/>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8</a:t>
              </a:r>
            </a:p>
          </p:txBody>
        </p:sp>
        <p:sp>
          <p:nvSpPr>
            <p:cNvPr id="166919" name="Line 7"/>
            <p:cNvSpPr>
              <a:spLocks noChangeShapeType="1"/>
            </p:cNvSpPr>
            <p:nvPr/>
          </p:nvSpPr>
          <p:spPr bwMode="auto">
            <a:xfrm flipV="1">
              <a:off x="1408" y="1200"/>
              <a:ext cx="880" cy="105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20" name="Line 8"/>
            <p:cNvSpPr>
              <a:spLocks noChangeShapeType="1"/>
            </p:cNvSpPr>
            <p:nvPr/>
          </p:nvSpPr>
          <p:spPr bwMode="auto">
            <a:xfrm>
              <a:off x="2176" y="3024"/>
              <a:ext cx="145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21" name="Rectangle 9"/>
            <p:cNvSpPr>
              <a:spLocks noChangeArrowheads="1"/>
            </p:cNvSpPr>
            <p:nvPr/>
          </p:nvSpPr>
          <p:spPr bwMode="auto">
            <a:xfrm>
              <a:off x="3837" y="2276"/>
              <a:ext cx="745"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2000" b="1"/>
                <a:t>JFK</a:t>
              </a:r>
            </a:p>
            <a:p>
              <a:pPr algn="ctr"/>
              <a:r>
                <a:rPr lang="en-US" altLang="it-IT" sz="2000" i="1"/>
                <a:t>(waiting</a:t>
              </a:r>
            </a:p>
            <a:p>
              <a:pPr algn="ctr"/>
              <a:r>
                <a:rPr lang="en-US" altLang="it-IT" sz="2000" i="1"/>
                <a:t>on ORD)</a:t>
              </a:r>
            </a:p>
          </p:txBody>
        </p:sp>
        <p:sp>
          <p:nvSpPr>
            <p:cNvPr id="166922" name="Rectangle 10"/>
            <p:cNvSpPr>
              <a:spLocks noChangeArrowheads="1"/>
            </p:cNvSpPr>
            <p:nvPr/>
          </p:nvSpPr>
          <p:spPr bwMode="auto">
            <a:xfrm>
              <a:off x="2312" y="872"/>
              <a:ext cx="1088" cy="1088"/>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23" name="Rectangle 11"/>
            <p:cNvSpPr>
              <a:spLocks noChangeArrowheads="1"/>
            </p:cNvSpPr>
            <p:nvPr/>
          </p:nvSpPr>
          <p:spPr bwMode="auto">
            <a:xfrm>
              <a:off x="3220" y="1060"/>
              <a:ext cx="136" cy="280"/>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7</a:t>
              </a:r>
            </a:p>
          </p:txBody>
        </p:sp>
        <p:sp>
          <p:nvSpPr>
            <p:cNvPr id="166924" name="Rectangle 12"/>
            <p:cNvSpPr>
              <a:spLocks noChangeArrowheads="1"/>
            </p:cNvSpPr>
            <p:nvPr/>
          </p:nvSpPr>
          <p:spPr bwMode="auto">
            <a:xfrm>
              <a:off x="2505" y="1028"/>
              <a:ext cx="718"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2000" b="1"/>
                <a:t>ORD</a:t>
              </a:r>
            </a:p>
            <a:p>
              <a:pPr algn="ctr"/>
              <a:r>
                <a:rPr lang="en-US" altLang="it-IT" sz="2000" i="1"/>
                <a:t>(waiting</a:t>
              </a:r>
            </a:p>
            <a:p>
              <a:pPr algn="ctr"/>
              <a:r>
                <a:rPr lang="en-US" altLang="it-IT" sz="2000" i="1"/>
                <a:t>on SFO)</a:t>
              </a:r>
            </a:p>
          </p:txBody>
        </p:sp>
        <p:sp>
          <p:nvSpPr>
            <p:cNvPr id="166925" name="Rectangle 13"/>
            <p:cNvSpPr>
              <a:spLocks noChangeArrowheads="1"/>
            </p:cNvSpPr>
            <p:nvPr/>
          </p:nvSpPr>
          <p:spPr bwMode="auto">
            <a:xfrm>
              <a:off x="1064" y="2264"/>
              <a:ext cx="1088" cy="1088"/>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26" name="Rectangle 14"/>
            <p:cNvSpPr>
              <a:spLocks noChangeArrowheads="1"/>
            </p:cNvSpPr>
            <p:nvPr/>
          </p:nvSpPr>
          <p:spPr bwMode="auto">
            <a:xfrm>
              <a:off x="1232" y="2660"/>
              <a:ext cx="674"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2000" b="1"/>
                <a:t>SFO</a:t>
              </a:r>
            </a:p>
            <a:p>
              <a:pPr algn="ctr"/>
              <a:r>
                <a:rPr lang="en-US" altLang="it-IT" sz="2000" i="1"/>
                <a:t>(waiting</a:t>
              </a:r>
            </a:p>
            <a:p>
              <a:pPr algn="ctr"/>
              <a:r>
                <a:rPr lang="en-US" altLang="it-IT" sz="2000" i="1"/>
                <a:t>on JFK)</a:t>
              </a:r>
            </a:p>
          </p:txBody>
        </p:sp>
        <p:sp>
          <p:nvSpPr>
            <p:cNvPr id="166927" name="Line 15"/>
            <p:cNvSpPr>
              <a:spLocks noChangeShapeType="1"/>
            </p:cNvSpPr>
            <p:nvPr/>
          </p:nvSpPr>
          <p:spPr bwMode="auto">
            <a:xfrm flipV="1">
              <a:off x="1744" y="1536"/>
              <a:ext cx="544" cy="72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28" name="Line 16"/>
            <p:cNvSpPr>
              <a:spLocks noChangeShapeType="1"/>
            </p:cNvSpPr>
            <p:nvPr/>
          </p:nvSpPr>
          <p:spPr bwMode="auto">
            <a:xfrm>
              <a:off x="2176" y="2736"/>
              <a:ext cx="1456" cy="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29" name="Line 17"/>
            <p:cNvSpPr>
              <a:spLocks noChangeShapeType="1"/>
            </p:cNvSpPr>
            <p:nvPr/>
          </p:nvSpPr>
          <p:spPr bwMode="auto">
            <a:xfrm flipH="1" flipV="1">
              <a:off x="3408" y="1200"/>
              <a:ext cx="912" cy="105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30" name="Line 18"/>
            <p:cNvSpPr>
              <a:spLocks noChangeShapeType="1"/>
            </p:cNvSpPr>
            <p:nvPr/>
          </p:nvSpPr>
          <p:spPr bwMode="auto">
            <a:xfrm flipH="1" flipV="1">
              <a:off x="3408" y="1536"/>
              <a:ext cx="576" cy="72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6931" name="Rectangle 19"/>
            <p:cNvSpPr>
              <a:spLocks noChangeArrowheads="1"/>
            </p:cNvSpPr>
            <p:nvPr/>
          </p:nvSpPr>
          <p:spPr bwMode="auto">
            <a:xfrm>
              <a:off x="1588" y="2308"/>
              <a:ext cx="280" cy="13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15</a:t>
              </a:r>
            </a:p>
          </p:txBody>
        </p:sp>
        <p:sp>
          <p:nvSpPr>
            <p:cNvPr id="166932" name="Rectangle 20"/>
            <p:cNvSpPr>
              <a:spLocks noChangeArrowheads="1"/>
            </p:cNvSpPr>
            <p:nvPr/>
          </p:nvSpPr>
          <p:spPr bwMode="auto">
            <a:xfrm>
              <a:off x="1588" y="2452"/>
              <a:ext cx="280" cy="13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10</a:t>
              </a:r>
            </a:p>
          </p:txBody>
        </p:sp>
      </p:grpSp>
      <p:sp>
        <p:nvSpPr>
          <p:cNvPr id="4" name="Segnaposto numero diapositiva 3">
            <a:extLst>
              <a:ext uri="{FF2B5EF4-FFF2-40B4-BE49-F238E27FC236}">
                <a16:creationId xmlns:a16="http://schemas.microsoft.com/office/drawing/2014/main" id="{3477B275-1D3C-8DF1-DC71-2E0CF2EB9886}"/>
              </a:ext>
            </a:extLst>
          </p:cNvPr>
          <p:cNvSpPr>
            <a:spLocks noGrp="1"/>
          </p:cNvSpPr>
          <p:nvPr>
            <p:ph type="sldNum" sz="quarter" idx="4"/>
          </p:nvPr>
        </p:nvSpPr>
        <p:spPr/>
        <p:txBody>
          <a:bodyPr/>
          <a:lstStyle/>
          <a:p>
            <a:fld id="{9BFB3A76-8619-A843-8C67-B9C7C140DBAC}" type="slidenum">
              <a:rPr lang="en-US" smtClean="0"/>
              <a:t>14</a:t>
            </a:fld>
            <a:endParaRPr lang="en-US"/>
          </a:p>
        </p:txBody>
      </p:sp>
      <p:sp>
        <p:nvSpPr>
          <p:cNvPr id="5" name="Segnaposto data 4">
            <a:extLst>
              <a:ext uri="{FF2B5EF4-FFF2-40B4-BE49-F238E27FC236}">
                <a16:creationId xmlns:a16="http://schemas.microsoft.com/office/drawing/2014/main" id="{509A353D-6E3A-F81B-EA6E-73DB5149C455}"/>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877F613F-4B15-0880-9E28-871DF21CAD1E}"/>
              </a:ext>
            </a:extLst>
          </p:cNvPr>
          <p:cNvSpPr>
            <a:spLocks noGrp="1"/>
          </p:cNvSpPr>
          <p:nvPr>
            <p:ph type="ftr" sz="quarter" idx="3"/>
          </p:nvPr>
        </p:nvSpPr>
        <p:spPr/>
        <p:txBody>
          <a:bodyPr/>
          <a:lstStyle/>
          <a:p>
            <a:r>
              <a:rPr lang="en-US"/>
              <a:t>paolo.bocciarelli@uniroma2.it</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1026"/>
          <p:cNvSpPr>
            <a:spLocks noGrp="1" noChangeArrowheads="1"/>
          </p:cNvSpPr>
          <p:nvPr>
            <p:ph type="title"/>
          </p:nvPr>
        </p:nvSpPr>
        <p:spPr>
          <a:xfrm>
            <a:off x="234950" y="69850"/>
            <a:ext cx="8597900" cy="469900"/>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t>Deadlock Avoidance Using Null Messages</a:t>
            </a:r>
          </a:p>
        </p:txBody>
      </p:sp>
      <p:sp>
        <p:nvSpPr>
          <p:cNvPr id="167939" name="Rectangle 1027"/>
          <p:cNvSpPr>
            <a:spLocks noChangeArrowheads="1"/>
          </p:cNvSpPr>
          <p:nvPr/>
        </p:nvSpPr>
        <p:spPr bwMode="auto">
          <a:xfrm>
            <a:off x="304800" y="814388"/>
            <a:ext cx="8610600" cy="862012"/>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p>
            <a:pPr>
              <a:spcBef>
                <a:spcPct val="20000"/>
              </a:spcBef>
            </a:pPr>
            <a:r>
              <a:rPr lang="en-US" altLang="it-IT" sz="2400" b="1"/>
              <a:t>Break deadlock: each LP send “null” messages indicating a lower bound on the time stamp of future messages.</a:t>
            </a:r>
          </a:p>
        </p:txBody>
      </p:sp>
      <p:grpSp>
        <p:nvGrpSpPr>
          <p:cNvPr id="167964" name="Group 1052"/>
          <p:cNvGrpSpPr>
            <a:grpSpLocks/>
          </p:cNvGrpSpPr>
          <p:nvPr/>
        </p:nvGrpSpPr>
        <p:grpSpPr bwMode="auto">
          <a:xfrm>
            <a:off x="1917700" y="1712913"/>
            <a:ext cx="5232400" cy="3240087"/>
            <a:chOff x="1208" y="1031"/>
            <a:chExt cx="3296" cy="2041"/>
          </a:xfrm>
        </p:grpSpPr>
        <p:sp>
          <p:nvSpPr>
            <p:cNvPr id="167941" name="Rectangle 1029"/>
            <p:cNvSpPr>
              <a:spLocks noChangeArrowheads="1"/>
            </p:cNvSpPr>
            <p:nvPr/>
          </p:nvSpPr>
          <p:spPr bwMode="auto">
            <a:xfrm>
              <a:off x="3531" y="2167"/>
              <a:ext cx="973"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42" name="Rectangle 1030"/>
            <p:cNvSpPr>
              <a:spLocks noChangeArrowheads="1"/>
            </p:cNvSpPr>
            <p:nvPr/>
          </p:nvSpPr>
          <p:spPr bwMode="auto">
            <a:xfrm>
              <a:off x="3570" y="2720"/>
              <a:ext cx="120"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9</a:t>
              </a:r>
            </a:p>
          </p:txBody>
        </p:sp>
        <p:sp>
          <p:nvSpPr>
            <p:cNvPr id="167943" name="Rectangle 1031"/>
            <p:cNvSpPr>
              <a:spLocks noChangeArrowheads="1"/>
            </p:cNvSpPr>
            <p:nvPr/>
          </p:nvSpPr>
          <p:spPr bwMode="auto">
            <a:xfrm>
              <a:off x="3698" y="2720"/>
              <a:ext cx="122"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8</a:t>
              </a:r>
            </a:p>
          </p:txBody>
        </p:sp>
        <p:sp>
          <p:nvSpPr>
            <p:cNvPr id="167944" name="Line 1032"/>
            <p:cNvSpPr>
              <a:spLocks noChangeShapeType="1"/>
            </p:cNvSpPr>
            <p:nvPr/>
          </p:nvSpPr>
          <p:spPr bwMode="auto">
            <a:xfrm flipV="1">
              <a:off x="1517" y="1296"/>
              <a:ext cx="785" cy="863"/>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45" name="Line 1033"/>
            <p:cNvSpPr>
              <a:spLocks noChangeShapeType="1"/>
            </p:cNvSpPr>
            <p:nvPr/>
          </p:nvSpPr>
          <p:spPr bwMode="auto">
            <a:xfrm>
              <a:off x="2205" y="2833"/>
              <a:ext cx="130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46" name="Rectangle 1034"/>
            <p:cNvSpPr>
              <a:spLocks noChangeArrowheads="1"/>
            </p:cNvSpPr>
            <p:nvPr/>
          </p:nvSpPr>
          <p:spPr bwMode="auto">
            <a:xfrm>
              <a:off x="3685" y="2184"/>
              <a:ext cx="682"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t>JFK</a:t>
              </a:r>
            </a:p>
            <a:p>
              <a:pPr algn="ctr"/>
              <a:r>
                <a:rPr lang="en-US" altLang="it-IT" i="1"/>
                <a:t>(waiting</a:t>
              </a:r>
            </a:p>
            <a:p>
              <a:pPr algn="ctr"/>
              <a:r>
                <a:rPr lang="en-US" altLang="it-IT" i="1"/>
                <a:t>on ORD)</a:t>
              </a:r>
            </a:p>
          </p:txBody>
        </p:sp>
        <p:sp>
          <p:nvSpPr>
            <p:cNvPr id="167947" name="Rectangle 1035"/>
            <p:cNvSpPr>
              <a:spLocks noChangeArrowheads="1"/>
            </p:cNvSpPr>
            <p:nvPr/>
          </p:nvSpPr>
          <p:spPr bwMode="auto">
            <a:xfrm>
              <a:off x="2326" y="1031"/>
              <a:ext cx="974"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49" name="Rectangle 1037"/>
            <p:cNvSpPr>
              <a:spLocks noChangeArrowheads="1"/>
            </p:cNvSpPr>
            <p:nvPr/>
          </p:nvSpPr>
          <p:spPr bwMode="auto">
            <a:xfrm>
              <a:off x="2491" y="1166"/>
              <a:ext cx="658"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t>ORD</a:t>
              </a:r>
            </a:p>
            <a:p>
              <a:pPr algn="ctr"/>
              <a:r>
                <a:rPr lang="en-US" altLang="it-IT" i="1"/>
                <a:t>(waiting</a:t>
              </a:r>
            </a:p>
            <a:p>
              <a:pPr algn="ctr"/>
              <a:r>
                <a:rPr lang="en-US" altLang="it-IT" i="1"/>
                <a:t>on SFO)</a:t>
              </a:r>
            </a:p>
          </p:txBody>
        </p:sp>
        <p:sp>
          <p:nvSpPr>
            <p:cNvPr id="167950" name="Rectangle 1038"/>
            <p:cNvSpPr>
              <a:spLocks noChangeArrowheads="1"/>
            </p:cNvSpPr>
            <p:nvPr/>
          </p:nvSpPr>
          <p:spPr bwMode="auto">
            <a:xfrm>
              <a:off x="1208" y="2167"/>
              <a:ext cx="973"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51" name="Rectangle 1039"/>
            <p:cNvSpPr>
              <a:spLocks noChangeArrowheads="1"/>
            </p:cNvSpPr>
            <p:nvPr/>
          </p:nvSpPr>
          <p:spPr bwMode="auto">
            <a:xfrm>
              <a:off x="1351" y="2497"/>
              <a:ext cx="618"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t>SFO</a:t>
              </a:r>
            </a:p>
            <a:p>
              <a:pPr algn="ctr"/>
              <a:r>
                <a:rPr lang="en-US" altLang="it-IT" i="1"/>
                <a:t>(waiting</a:t>
              </a:r>
            </a:p>
            <a:p>
              <a:pPr algn="ctr"/>
              <a:r>
                <a:rPr lang="en-US" altLang="it-IT" i="1"/>
                <a:t>on JFK)</a:t>
              </a:r>
            </a:p>
          </p:txBody>
        </p:sp>
        <p:sp>
          <p:nvSpPr>
            <p:cNvPr id="167952" name="Line 1040"/>
            <p:cNvSpPr>
              <a:spLocks noChangeShapeType="1"/>
            </p:cNvSpPr>
            <p:nvPr/>
          </p:nvSpPr>
          <p:spPr bwMode="auto">
            <a:xfrm flipV="1">
              <a:off x="1818" y="1571"/>
              <a:ext cx="484" cy="588"/>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53" name="Line 1041"/>
            <p:cNvSpPr>
              <a:spLocks noChangeShapeType="1"/>
            </p:cNvSpPr>
            <p:nvPr/>
          </p:nvSpPr>
          <p:spPr bwMode="auto">
            <a:xfrm>
              <a:off x="2205" y="2502"/>
              <a:ext cx="1302" cy="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54" name="Line 1042"/>
            <p:cNvSpPr>
              <a:spLocks noChangeShapeType="1"/>
            </p:cNvSpPr>
            <p:nvPr/>
          </p:nvSpPr>
          <p:spPr bwMode="auto">
            <a:xfrm flipH="1" flipV="1">
              <a:off x="3308" y="1296"/>
              <a:ext cx="817" cy="863"/>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55" name="Line 1043"/>
            <p:cNvSpPr>
              <a:spLocks noChangeShapeType="1"/>
            </p:cNvSpPr>
            <p:nvPr/>
          </p:nvSpPr>
          <p:spPr bwMode="auto">
            <a:xfrm flipH="1" flipV="1">
              <a:off x="3308" y="1571"/>
              <a:ext cx="516" cy="588"/>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956" name="Rectangle 1044"/>
            <p:cNvSpPr>
              <a:spLocks noChangeArrowheads="1"/>
            </p:cNvSpPr>
            <p:nvPr/>
          </p:nvSpPr>
          <p:spPr bwMode="auto">
            <a:xfrm>
              <a:off x="1678" y="2202"/>
              <a:ext cx="249" cy="109"/>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15</a:t>
              </a:r>
            </a:p>
          </p:txBody>
        </p:sp>
        <p:sp>
          <p:nvSpPr>
            <p:cNvPr id="167957" name="Rectangle 1045"/>
            <p:cNvSpPr>
              <a:spLocks noChangeArrowheads="1"/>
            </p:cNvSpPr>
            <p:nvPr/>
          </p:nvSpPr>
          <p:spPr bwMode="auto">
            <a:xfrm>
              <a:off x="1678" y="2319"/>
              <a:ext cx="249" cy="109"/>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10</a:t>
              </a:r>
            </a:p>
          </p:txBody>
        </p:sp>
        <p:sp>
          <p:nvSpPr>
            <p:cNvPr id="167948" name="Rectangle 1036"/>
            <p:cNvSpPr>
              <a:spLocks noChangeArrowheads="1"/>
            </p:cNvSpPr>
            <p:nvPr/>
          </p:nvSpPr>
          <p:spPr bwMode="auto">
            <a:xfrm>
              <a:off x="3120" y="1200"/>
              <a:ext cx="122"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7</a:t>
              </a:r>
            </a:p>
          </p:txBody>
        </p:sp>
      </p:grpSp>
      <p:sp>
        <p:nvSpPr>
          <p:cNvPr id="167960" name="Rectangle 1048"/>
          <p:cNvSpPr>
            <a:spLocks noChangeArrowheads="1"/>
          </p:cNvSpPr>
          <p:nvPr/>
        </p:nvSpPr>
        <p:spPr bwMode="auto">
          <a:xfrm>
            <a:off x="228600" y="5029200"/>
            <a:ext cx="8594725" cy="693738"/>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a:t>Assume minimum delay between airports is 3 units of time</a:t>
            </a:r>
          </a:p>
          <a:p>
            <a:pPr>
              <a:spcBef>
                <a:spcPct val="20000"/>
              </a:spcBef>
              <a:buFontTx/>
              <a:buChar char="•"/>
            </a:pPr>
            <a:r>
              <a:rPr lang="en-US" altLang="it-IT"/>
              <a:t> JFK initially at time 5</a:t>
            </a:r>
          </a:p>
        </p:txBody>
      </p:sp>
      <p:grpSp>
        <p:nvGrpSpPr>
          <p:cNvPr id="167968" name="Group 1056"/>
          <p:cNvGrpSpPr>
            <a:grpSpLocks/>
          </p:cNvGrpSpPr>
          <p:nvPr/>
        </p:nvGrpSpPr>
        <p:grpSpPr bwMode="auto">
          <a:xfrm>
            <a:off x="228600" y="3429000"/>
            <a:ext cx="6781800" cy="2649538"/>
            <a:chOff x="144" y="2160"/>
            <a:chExt cx="4272" cy="1669"/>
          </a:xfrm>
        </p:grpSpPr>
        <p:sp>
          <p:nvSpPr>
            <p:cNvPr id="167958" name="Rectangle 1046"/>
            <p:cNvSpPr>
              <a:spLocks noChangeArrowheads="1"/>
            </p:cNvSpPr>
            <p:nvPr/>
          </p:nvSpPr>
          <p:spPr bwMode="auto">
            <a:xfrm>
              <a:off x="2752" y="2160"/>
              <a:ext cx="208" cy="188"/>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8</a:t>
              </a:r>
            </a:p>
          </p:txBody>
        </p:sp>
        <p:sp>
          <p:nvSpPr>
            <p:cNvPr id="167965" name="Rectangle 1053"/>
            <p:cNvSpPr>
              <a:spLocks noChangeArrowheads="1"/>
            </p:cNvSpPr>
            <p:nvPr/>
          </p:nvSpPr>
          <p:spPr bwMode="auto">
            <a:xfrm>
              <a:off x="144" y="3600"/>
              <a:ext cx="4272"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buFontTx/>
                <a:buChar char="•"/>
              </a:pPr>
              <a:r>
                <a:rPr lang="en-US" altLang="it-IT"/>
                <a:t> JFK sends null message to SFO with time stamp 8</a:t>
              </a:r>
            </a:p>
          </p:txBody>
        </p:sp>
      </p:grpSp>
      <p:grpSp>
        <p:nvGrpSpPr>
          <p:cNvPr id="167969" name="Group 1057"/>
          <p:cNvGrpSpPr>
            <a:grpSpLocks/>
          </p:cNvGrpSpPr>
          <p:nvPr/>
        </p:nvGrpSpPr>
        <p:grpSpPr bwMode="auto">
          <a:xfrm>
            <a:off x="228600" y="2262188"/>
            <a:ext cx="6172200" cy="4197350"/>
            <a:chOff x="144" y="1425"/>
            <a:chExt cx="3888" cy="2644"/>
          </a:xfrm>
        </p:grpSpPr>
        <p:sp>
          <p:nvSpPr>
            <p:cNvPr id="167959" name="Rectangle 1047"/>
            <p:cNvSpPr>
              <a:spLocks noChangeArrowheads="1"/>
            </p:cNvSpPr>
            <p:nvPr/>
          </p:nvSpPr>
          <p:spPr bwMode="auto">
            <a:xfrm>
              <a:off x="1633" y="1425"/>
              <a:ext cx="208" cy="189"/>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11</a:t>
              </a:r>
            </a:p>
          </p:txBody>
        </p:sp>
        <p:sp>
          <p:nvSpPr>
            <p:cNvPr id="167966" name="Rectangle 1054"/>
            <p:cNvSpPr>
              <a:spLocks noChangeArrowheads="1"/>
            </p:cNvSpPr>
            <p:nvPr/>
          </p:nvSpPr>
          <p:spPr bwMode="auto">
            <a:xfrm>
              <a:off x="144" y="3840"/>
              <a:ext cx="3888"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buFontTx/>
                <a:buChar char="•"/>
              </a:pPr>
              <a:r>
                <a:rPr lang="en-US" altLang="it-IT"/>
                <a:t> SFO sends null message to ORD with time stamp 11</a:t>
              </a:r>
            </a:p>
          </p:txBody>
        </p:sp>
      </p:grpSp>
      <p:grpSp>
        <p:nvGrpSpPr>
          <p:cNvPr id="167970" name="Group 1058"/>
          <p:cNvGrpSpPr>
            <a:grpSpLocks/>
          </p:cNvGrpSpPr>
          <p:nvPr/>
        </p:nvGrpSpPr>
        <p:grpSpPr bwMode="auto">
          <a:xfrm>
            <a:off x="228600" y="1981200"/>
            <a:ext cx="6248400" cy="4800600"/>
            <a:chOff x="144" y="1248"/>
            <a:chExt cx="3936" cy="3024"/>
          </a:xfrm>
        </p:grpSpPr>
        <p:sp>
          <p:nvSpPr>
            <p:cNvPr id="167962" name="Rectangle 1050"/>
            <p:cNvSpPr>
              <a:spLocks noChangeArrowheads="1"/>
            </p:cNvSpPr>
            <p:nvPr/>
          </p:nvSpPr>
          <p:spPr bwMode="auto">
            <a:xfrm>
              <a:off x="3120" y="1248"/>
              <a:ext cx="122" cy="226"/>
            </a:xfrm>
            <a:prstGeom prst="rect">
              <a:avLst/>
            </a:prstGeom>
            <a:solidFill>
              <a:srgbClr val="008000"/>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7</a:t>
              </a:r>
            </a:p>
          </p:txBody>
        </p:sp>
        <p:sp>
          <p:nvSpPr>
            <p:cNvPr id="167967" name="Rectangle 1055"/>
            <p:cNvSpPr>
              <a:spLocks noChangeArrowheads="1"/>
            </p:cNvSpPr>
            <p:nvPr/>
          </p:nvSpPr>
          <p:spPr bwMode="auto">
            <a:xfrm>
              <a:off x="144" y="4043"/>
              <a:ext cx="3936"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buFontTx/>
                <a:buChar char="•"/>
              </a:pPr>
              <a:r>
                <a:rPr lang="en-US" altLang="it-IT"/>
                <a:t> ORD may now process message with time stamp 7</a:t>
              </a:r>
            </a:p>
          </p:txBody>
        </p:sp>
      </p:grpSp>
      <p:sp>
        <p:nvSpPr>
          <p:cNvPr id="4" name="Segnaposto numero diapositiva 3">
            <a:extLst>
              <a:ext uri="{FF2B5EF4-FFF2-40B4-BE49-F238E27FC236}">
                <a16:creationId xmlns:a16="http://schemas.microsoft.com/office/drawing/2014/main" id="{BB8E1BA1-3F7F-8AB3-221D-8F5241D456DA}"/>
              </a:ext>
            </a:extLst>
          </p:cNvPr>
          <p:cNvSpPr>
            <a:spLocks noGrp="1"/>
          </p:cNvSpPr>
          <p:nvPr>
            <p:ph type="sldNum" sz="quarter" idx="4"/>
          </p:nvPr>
        </p:nvSpPr>
        <p:spPr/>
        <p:txBody>
          <a:bodyPr/>
          <a:lstStyle/>
          <a:p>
            <a:fld id="{9BFB3A76-8619-A843-8C67-B9C7C140DBAC}" type="slidenum">
              <a:rPr lang="en-US" smtClean="0"/>
              <a:t>15</a:t>
            </a:fld>
            <a:endParaRPr lang="en-US"/>
          </a:p>
        </p:txBody>
      </p:sp>
      <p:sp>
        <p:nvSpPr>
          <p:cNvPr id="5" name="Segnaposto data 4">
            <a:extLst>
              <a:ext uri="{FF2B5EF4-FFF2-40B4-BE49-F238E27FC236}">
                <a16:creationId xmlns:a16="http://schemas.microsoft.com/office/drawing/2014/main" id="{F70C9C33-4D24-2755-1A10-8BE87978F878}"/>
              </a:ext>
            </a:extLst>
          </p:cNvPr>
          <p:cNvSpPr>
            <a:spLocks noGrp="1"/>
          </p:cNvSpPr>
          <p:nvPr>
            <p:ph type="dt" sz="half" idx="2"/>
          </p:nvPr>
        </p:nvSpPr>
        <p:spPr/>
        <p:txBody>
          <a:bodyPr/>
          <a:lstStyle/>
          <a:p>
            <a:r>
              <a:rPr lang="it-IT"/>
              <a:t>Distributed Simulation Systems</a:t>
            </a:r>
            <a:endParaRPr lang="en-US"/>
          </a:p>
        </p:txBody>
      </p:sp>
      <p:sp>
        <p:nvSpPr>
          <p:cNvPr id="6" name="Segnaposto piè di pagina 5">
            <a:extLst>
              <a:ext uri="{FF2B5EF4-FFF2-40B4-BE49-F238E27FC236}">
                <a16:creationId xmlns:a16="http://schemas.microsoft.com/office/drawing/2014/main" id="{5216226B-D8DB-EC05-D4E7-FAF436C4EF38}"/>
              </a:ext>
            </a:extLst>
          </p:cNvPr>
          <p:cNvSpPr>
            <a:spLocks noGrp="1"/>
          </p:cNvSpPr>
          <p:nvPr>
            <p:ph type="ftr" sz="quarter" idx="3"/>
          </p:nvPr>
        </p:nvSpPr>
        <p:spPr/>
        <p:txBody>
          <a:bodyPr/>
          <a:lstStyle/>
          <a:p>
            <a:r>
              <a:rPr lang="en-US"/>
              <a:t>paolo.bocciarelli@uniroma2.it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7960"/>
                                        </p:tgtEl>
                                        <p:attrNameLst>
                                          <p:attrName>style.visibility</p:attrName>
                                        </p:attrNameLst>
                                      </p:cBhvr>
                                      <p:to>
                                        <p:strVal val="visible"/>
                                      </p:to>
                                    </p:set>
                                    <p:animEffect transition="in" filter="dissolve">
                                      <p:cBhvr>
                                        <p:cTn id="7" dur="500"/>
                                        <p:tgtEl>
                                          <p:spTgt spid="1679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7968"/>
                                        </p:tgtEl>
                                        <p:attrNameLst>
                                          <p:attrName>style.visibility</p:attrName>
                                        </p:attrNameLst>
                                      </p:cBhvr>
                                      <p:to>
                                        <p:strVal val="visible"/>
                                      </p:to>
                                    </p:set>
                                    <p:animEffect transition="in" filter="dissolve">
                                      <p:cBhvr>
                                        <p:cTn id="12" dur="500"/>
                                        <p:tgtEl>
                                          <p:spTgt spid="1679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7969"/>
                                        </p:tgtEl>
                                        <p:attrNameLst>
                                          <p:attrName>style.visibility</p:attrName>
                                        </p:attrNameLst>
                                      </p:cBhvr>
                                      <p:to>
                                        <p:strVal val="visible"/>
                                      </p:to>
                                    </p:set>
                                    <p:animEffect transition="in" filter="dissolve">
                                      <p:cBhvr>
                                        <p:cTn id="17" dur="500"/>
                                        <p:tgtEl>
                                          <p:spTgt spid="1679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67970"/>
                                        </p:tgtEl>
                                        <p:attrNameLst>
                                          <p:attrName>style.visibility</p:attrName>
                                        </p:attrNameLst>
                                      </p:cBhvr>
                                      <p:to>
                                        <p:strVal val="visible"/>
                                      </p:to>
                                    </p:set>
                                    <p:animEffect transition="in" filter="dissolve">
                                      <p:cBhvr>
                                        <p:cTn id="22" dur="500"/>
                                        <p:tgtEl>
                                          <p:spTgt spid="167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236538" y="152400"/>
            <a:ext cx="8670925" cy="57626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t>Deadlock Avoidance Using Null Messages</a:t>
            </a:r>
          </a:p>
        </p:txBody>
      </p:sp>
      <p:sp>
        <p:nvSpPr>
          <p:cNvPr id="168963" name="Rectangle 3"/>
          <p:cNvSpPr>
            <a:spLocks noChangeArrowheads="1"/>
          </p:cNvSpPr>
          <p:nvPr/>
        </p:nvSpPr>
        <p:spPr bwMode="auto">
          <a:xfrm>
            <a:off x="236538" y="1379538"/>
            <a:ext cx="8670925" cy="4241800"/>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2000" b="1">
                <a:latin typeface="Helvetica" charset="0"/>
              </a:rPr>
              <a:t>Null Message Algorithm </a:t>
            </a:r>
            <a:r>
              <a:rPr lang="en-US" altLang="it-IT" sz="2000">
                <a:latin typeface="Helvetica" charset="0"/>
              </a:rPr>
              <a:t>(executed by each LP):</a:t>
            </a:r>
            <a:endParaRPr lang="en-US" altLang="it-IT" sz="2000" b="1">
              <a:latin typeface="Helvetica" charset="0"/>
            </a:endParaRPr>
          </a:p>
          <a:p>
            <a:pPr>
              <a:spcBef>
                <a:spcPct val="20000"/>
              </a:spcBef>
            </a:pPr>
            <a:r>
              <a:rPr lang="en-US" altLang="it-IT" sz="2000" b="1">
                <a:latin typeface="Helvetica" charset="0"/>
              </a:rPr>
              <a:t>Goal: Ensure events are processed in time stamp order and avoid deadlock</a:t>
            </a:r>
            <a:endParaRPr lang="en-US" altLang="it-IT" sz="2000">
              <a:latin typeface="Helvetica" charset="0"/>
            </a:endParaRPr>
          </a:p>
          <a:p>
            <a:pPr>
              <a:spcBef>
                <a:spcPct val="20000"/>
              </a:spcBef>
            </a:pPr>
            <a:endParaRPr lang="en-US" altLang="it-IT" sz="2000">
              <a:latin typeface="Helvetica" charset="0"/>
            </a:endParaRPr>
          </a:p>
          <a:p>
            <a:pPr>
              <a:spcBef>
                <a:spcPct val="20000"/>
              </a:spcBef>
            </a:pPr>
            <a:r>
              <a:rPr lang="en-US" altLang="it-IT" sz="2000" b="1">
                <a:latin typeface="Helvetica" charset="0"/>
              </a:rPr>
              <a:t>WHILE </a:t>
            </a:r>
            <a:r>
              <a:rPr lang="en-US" altLang="it-IT" sz="2000">
                <a:latin typeface="Helvetica" charset="0"/>
              </a:rPr>
              <a:t>(simulation is not over)</a:t>
            </a:r>
          </a:p>
          <a:p>
            <a:pPr>
              <a:spcBef>
                <a:spcPct val="20000"/>
              </a:spcBef>
            </a:pPr>
            <a:r>
              <a:rPr lang="en-US" altLang="it-IT" sz="2000">
                <a:latin typeface="Helvetica" charset="0"/>
              </a:rPr>
              <a:t>	wait until each FIFO contains at least one message</a:t>
            </a:r>
          </a:p>
          <a:p>
            <a:pPr>
              <a:spcBef>
                <a:spcPct val="20000"/>
              </a:spcBef>
            </a:pPr>
            <a:r>
              <a:rPr lang="en-US" altLang="it-IT" sz="2000">
                <a:latin typeface="Helvetica" charset="0"/>
              </a:rPr>
              <a:t>	remove smallest time stamped event from its FIFO</a:t>
            </a:r>
          </a:p>
          <a:p>
            <a:pPr>
              <a:spcBef>
                <a:spcPct val="20000"/>
              </a:spcBef>
            </a:pPr>
            <a:r>
              <a:rPr lang="en-US" altLang="it-IT" sz="2000">
                <a:latin typeface="Helvetica" charset="0"/>
              </a:rPr>
              <a:t>	process that event</a:t>
            </a:r>
          </a:p>
          <a:p>
            <a:pPr>
              <a:spcBef>
                <a:spcPct val="20000"/>
              </a:spcBef>
            </a:pPr>
            <a:r>
              <a:rPr lang="en-US" altLang="it-IT" sz="2000" i="1">
                <a:solidFill>
                  <a:schemeClr val="hlink"/>
                </a:solidFill>
                <a:latin typeface="Helvetica" charset="0"/>
              </a:rPr>
              <a:t>	send null messages to neighboring LPs with time stamp indicating a 		lower bound on future messages sent to that LP (current time plus 	lookahead)</a:t>
            </a:r>
            <a:endParaRPr lang="en-US" altLang="it-IT" sz="2000">
              <a:latin typeface="Helvetica" charset="0"/>
            </a:endParaRPr>
          </a:p>
          <a:p>
            <a:pPr>
              <a:spcBef>
                <a:spcPct val="20000"/>
              </a:spcBef>
            </a:pPr>
            <a:r>
              <a:rPr lang="en-US" altLang="it-IT" sz="2000" b="1">
                <a:latin typeface="Helvetica" charset="0"/>
              </a:rPr>
              <a:t>END-LOOP</a:t>
            </a:r>
          </a:p>
        </p:txBody>
      </p:sp>
      <p:sp>
        <p:nvSpPr>
          <p:cNvPr id="168964" name="Rectangle 4"/>
          <p:cNvSpPr>
            <a:spLocks noChangeArrowheads="1"/>
          </p:cNvSpPr>
          <p:nvPr/>
        </p:nvSpPr>
        <p:spPr bwMode="auto">
          <a:xfrm>
            <a:off x="236538" y="5616575"/>
            <a:ext cx="8670925" cy="406400"/>
          </a:xfrm>
          <a:prstGeom prst="rect">
            <a:avLst/>
          </a:prstGeom>
          <a:solidFill>
            <a:srgbClr val="FFC5C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sz="2000"/>
              <a:t>The null message algorithm relies on a “lookahead” ability.</a:t>
            </a:r>
          </a:p>
        </p:txBody>
      </p:sp>
      <p:sp>
        <p:nvSpPr>
          <p:cNvPr id="3" name="Segnaposto data 2">
            <a:extLst>
              <a:ext uri="{FF2B5EF4-FFF2-40B4-BE49-F238E27FC236}">
                <a16:creationId xmlns:a16="http://schemas.microsoft.com/office/drawing/2014/main" id="{E6038599-DD63-F353-B252-24CDA7F25768}"/>
              </a:ext>
            </a:extLst>
          </p:cNvPr>
          <p:cNvSpPr>
            <a:spLocks noGrp="1"/>
          </p:cNvSpPr>
          <p:nvPr>
            <p:ph type="dt" sz="half" idx="2"/>
          </p:nvPr>
        </p:nvSpPr>
        <p:spPr/>
        <p:txBody>
          <a:bodyPr/>
          <a:lstStyle/>
          <a:p>
            <a:r>
              <a:rPr lang="it-IT"/>
              <a:t>Distributed Simulation Systems</a:t>
            </a:r>
            <a:endParaRPr lang="en-US"/>
          </a:p>
        </p:txBody>
      </p:sp>
      <p:sp>
        <p:nvSpPr>
          <p:cNvPr id="4" name="Segnaposto numero diapositiva 3">
            <a:extLst>
              <a:ext uri="{FF2B5EF4-FFF2-40B4-BE49-F238E27FC236}">
                <a16:creationId xmlns:a16="http://schemas.microsoft.com/office/drawing/2014/main" id="{0AD177BD-9AC3-C3E9-B136-2D221376F405}"/>
              </a:ext>
            </a:extLst>
          </p:cNvPr>
          <p:cNvSpPr>
            <a:spLocks noGrp="1"/>
          </p:cNvSpPr>
          <p:nvPr>
            <p:ph type="sldNum" sz="quarter" idx="4"/>
          </p:nvPr>
        </p:nvSpPr>
        <p:spPr/>
        <p:txBody>
          <a:bodyPr/>
          <a:lstStyle/>
          <a:p>
            <a:fld id="{9BFB3A76-8619-A843-8C67-B9C7C140DBAC}" type="slidenum">
              <a:rPr lang="en-US" smtClean="0"/>
              <a:t>16</a:t>
            </a:fld>
            <a:endParaRPr lang="en-US"/>
          </a:p>
        </p:txBody>
      </p:sp>
      <p:sp>
        <p:nvSpPr>
          <p:cNvPr id="5" name="Segnaposto piè di pagina 4">
            <a:extLst>
              <a:ext uri="{FF2B5EF4-FFF2-40B4-BE49-F238E27FC236}">
                <a16:creationId xmlns:a16="http://schemas.microsoft.com/office/drawing/2014/main" id="{377A86A6-D019-38D0-4134-ECB99486EEE6}"/>
              </a:ext>
            </a:extLst>
          </p:cNvPr>
          <p:cNvSpPr>
            <a:spLocks noGrp="1"/>
          </p:cNvSpPr>
          <p:nvPr>
            <p:ph type="ftr" sz="quarter" idx="3"/>
          </p:nvPr>
        </p:nvSpPr>
        <p:spPr/>
        <p:txBody>
          <a:bodyPr/>
          <a:lstStyle/>
          <a:p>
            <a:r>
              <a:rPr lang="en-US"/>
              <a:t>paolo.bocciarelli@uniroma2.it</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ltLang="it-IT"/>
              <a:t>Summary</a:t>
            </a:r>
          </a:p>
        </p:txBody>
      </p:sp>
      <p:sp>
        <p:nvSpPr>
          <p:cNvPr id="154627" name="Rectangle 3"/>
          <p:cNvSpPr>
            <a:spLocks noGrp="1" noChangeArrowheads="1"/>
          </p:cNvSpPr>
          <p:nvPr>
            <p:ph type="body" idx="1"/>
          </p:nvPr>
        </p:nvSpPr>
        <p:spPr>
          <a:xfrm>
            <a:off x="471488" y="1076325"/>
            <a:ext cx="8353425" cy="3876675"/>
          </a:xfrm>
        </p:spPr>
        <p:txBody>
          <a:bodyPr/>
          <a:lstStyle/>
          <a:p>
            <a:r>
              <a:rPr lang="en-US" altLang="it-IT"/>
              <a:t>Parallel Discrete Event Simulation</a:t>
            </a:r>
          </a:p>
          <a:p>
            <a:pPr lvl="1"/>
            <a:r>
              <a:rPr lang="en-US" altLang="it-IT"/>
              <a:t>Collection of sequential simulators (LPs) possibly running on different processors</a:t>
            </a:r>
          </a:p>
          <a:p>
            <a:pPr lvl="1"/>
            <a:r>
              <a:rPr lang="en-US" altLang="it-IT"/>
              <a:t>Logical processes communicating exclusively by exchanging messages</a:t>
            </a:r>
          </a:p>
          <a:p>
            <a:r>
              <a:rPr lang="en-US" altLang="it-IT"/>
              <a:t>Chandy/</a:t>
            </a:r>
            <a:r>
              <a:rPr lang="en-US" altLang="it-IT" err="1"/>
              <a:t>Misra</a:t>
            </a:r>
            <a:r>
              <a:rPr lang="en-US" altLang="it-IT"/>
              <a:t>/Bryant Null Message Algorithm</a:t>
            </a:r>
          </a:p>
          <a:p>
            <a:pPr lvl="1"/>
            <a:r>
              <a:rPr lang="en-US" altLang="it-IT"/>
              <a:t>Null messages: Lower bound on the time stamp of future messages the LP will send</a:t>
            </a:r>
          </a:p>
          <a:p>
            <a:pPr lvl="1"/>
            <a:r>
              <a:rPr lang="en-US" altLang="it-IT"/>
              <a:t>Null messages avoid deadlock</a:t>
            </a:r>
          </a:p>
        </p:txBody>
      </p:sp>
      <p:sp>
        <p:nvSpPr>
          <p:cNvPr id="2" name="Segnaposto piè di pagina 1"/>
          <p:cNvSpPr>
            <a:spLocks noGrp="1"/>
          </p:cNvSpPr>
          <p:nvPr>
            <p:ph type="ftr" sz="quarter" idx="3"/>
          </p:nvPr>
        </p:nvSpPr>
        <p:spPr>
          <a:xfrm>
            <a:off x="2760551" y="6628429"/>
            <a:ext cx="3775298" cy="228297"/>
          </a:xfrm>
        </p:spPr>
        <p:txBody>
          <a:bodyPr/>
          <a:lstStyle/>
          <a:p>
            <a:r>
              <a:rPr lang="en-US"/>
              <a:t>paolo.bocciarelli@uniroma2.it</a:t>
            </a:r>
          </a:p>
        </p:txBody>
      </p:sp>
      <p:sp>
        <p:nvSpPr>
          <p:cNvPr id="3" name="Segnaposto data 2">
            <a:extLst>
              <a:ext uri="{FF2B5EF4-FFF2-40B4-BE49-F238E27FC236}">
                <a16:creationId xmlns:a16="http://schemas.microsoft.com/office/drawing/2014/main" id="{5E119B18-6334-E197-FF9C-A2ABDDCE2594}"/>
              </a:ext>
            </a:extLst>
          </p:cNvPr>
          <p:cNvSpPr>
            <a:spLocks noGrp="1"/>
          </p:cNvSpPr>
          <p:nvPr>
            <p:ph type="dt" sz="half" idx="2"/>
          </p:nvPr>
        </p:nvSpPr>
        <p:spPr/>
        <p:txBody>
          <a:bodyPr/>
          <a:lstStyle/>
          <a:p>
            <a:r>
              <a:rPr lang="it-IT"/>
              <a:t>Distributed Simulation Systems</a:t>
            </a:r>
            <a:endParaRPr lang="en-US"/>
          </a:p>
        </p:txBody>
      </p:sp>
      <p:sp>
        <p:nvSpPr>
          <p:cNvPr id="4" name="Segnaposto numero diapositiva 3">
            <a:extLst>
              <a:ext uri="{FF2B5EF4-FFF2-40B4-BE49-F238E27FC236}">
                <a16:creationId xmlns:a16="http://schemas.microsoft.com/office/drawing/2014/main" id="{B0005A75-DFCE-F61D-D681-6FC83EC215DB}"/>
              </a:ext>
            </a:extLst>
          </p:cNvPr>
          <p:cNvSpPr>
            <a:spLocks noGrp="1"/>
          </p:cNvSpPr>
          <p:nvPr>
            <p:ph type="sldNum" sz="quarter" idx="4"/>
          </p:nvPr>
        </p:nvSpPr>
        <p:spPr/>
        <p:txBody>
          <a:bodyPr/>
          <a:lstStyle/>
          <a:p>
            <a:fld id="{9BFB3A76-8619-A843-8C67-B9C7C140DBAC}" type="slidenum">
              <a:rPr lang="en-US" smtClean="0"/>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dissolve">
                                      <p:cBhvr>
                                        <p:cTn id="7" dur="500"/>
                                        <p:tgtEl>
                                          <p:spTgt spid="15462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4627">
                                            <p:txEl>
                                              <p:pRg st="1" end="1"/>
                                            </p:txEl>
                                          </p:spTgt>
                                        </p:tgtEl>
                                        <p:attrNameLst>
                                          <p:attrName>style.visibility</p:attrName>
                                        </p:attrNameLst>
                                      </p:cBhvr>
                                      <p:to>
                                        <p:strVal val="visible"/>
                                      </p:to>
                                    </p:set>
                                    <p:animEffect transition="in" filter="dissolve">
                                      <p:cBhvr>
                                        <p:cTn id="10" dur="500"/>
                                        <p:tgtEl>
                                          <p:spTgt spid="15462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54627">
                                            <p:txEl>
                                              <p:pRg st="2" end="2"/>
                                            </p:txEl>
                                          </p:spTgt>
                                        </p:tgtEl>
                                        <p:attrNameLst>
                                          <p:attrName>style.visibility</p:attrName>
                                        </p:attrNameLst>
                                      </p:cBhvr>
                                      <p:to>
                                        <p:strVal val="visible"/>
                                      </p:to>
                                    </p:set>
                                    <p:animEffect transition="in" filter="dissolve">
                                      <p:cBhvr>
                                        <p:cTn id="13" dur="500"/>
                                        <p:tgtEl>
                                          <p:spTgt spid="15462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54627">
                                            <p:txEl>
                                              <p:pRg st="3" end="3"/>
                                            </p:txEl>
                                          </p:spTgt>
                                        </p:tgtEl>
                                        <p:attrNameLst>
                                          <p:attrName>style.visibility</p:attrName>
                                        </p:attrNameLst>
                                      </p:cBhvr>
                                      <p:to>
                                        <p:strVal val="visible"/>
                                      </p:to>
                                    </p:set>
                                    <p:animEffect transition="in" filter="dissolve">
                                      <p:cBhvr>
                                        <p:cTn id="18" dur="500"/>
                                        <p:tgtEl>
                                          <p:spTgt spid="154627">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54627">
                                            <p:txEl>
                                              <p:pRg st="4" end="4"/>
                                            </p:txEl>
                                          </p:spTgt>
                                        </p:tgtEl>
                                        <p:attrNameLst>
                                          <p:attrName>style.visibility</p:attrName>
                                        </p:attrNameLst>
                                      </p:cBhvr>
                                      <p:to>
                                        <p:strVal val="visible"/>
                                      </p:to>
                                    </p:set>
                                    <p:animEffect transition="in" filter="dissolve">
                                      <p:cBhvr>
                                        <p:cTn id="21" dur="500"/>
                                        <p:tgtEl>
                                          <p:spTgt spid="154627">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54627">
                                            <p:txEl>
                                              <p:pRg st="5" end="5"/>
                                            </p:txEl>
                                          </p:spTgt>
                                        </p:tgtEl>
                                        <p:attrNameLst>
                                          <p:attrName>style.visibility</p:attrName>
                                        </p:attrNameLst>
                                      </p:cBhvr>
                                      <p:to>
                                        <p:strVal val="visible"/>
                                      </p:to>
                                    </p:set>
                                    <p:animEffect transition="in" filter="dissolve">
                                      <p:cBhvr>
                                        <p:cTn id="24" dur="500"/>
                                        <p:tgtEl>
                                          <p:spTgt spid="154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ctrTitle"/>
          </p:nvPr>
        </p:nvSpPr>
        <p:spPr>
          <a:xfrm>
            <a:off x="685800" y="2538413"/>
            <a:ext cx="7772400" cy="638175"/>
          </a:xfrm>
        </p:spPr>
        <p:txBody>
          <a:bodyPr anchor="ctr"/>
          <a:lstStyle/>
          <a:p>
            <a:r>
              <a:rPr lang="en-US" altLang="it-IT" sz="3600"/>
              <a:t>Parallel and Distributed Simulation</a:t>
            </a:r>
          </a:p>
        </p:txBody>
      </p:sp>
      <p:sp>
        <p:nvSpPr>
          <p:cNvPr id="151555" name="Rectangle 3"/>
          <p:cNvSpPr>
            <a:spLocks noGrp="1" noChangeArrowheads="1"/>
          </p:cNvSpPr>
          <p:nvPr>
            <p:ph type="subTitle" idx="1"/>
          </p:nvPr>
        </p:nvSpPr>
        <p:spPr>
          <a:xfrm>
            <a:off x="1066800" y="3886200"/>
            <a:ext cx="7010400" cy="520655"/>
          </a:xfrm>
        </p:spPr>
        <p:txBody>
          <a:bodyPr/>
          <a:lstStyle/>
          <a:p>
            <a:r>
              <a:rPr lang="en-US" altLang="it-IT" sz="2800" err="1"/>
              <a:t>Lookahead</a:t>
            </a:r>
            <a:endParaRPr lang="en-US" altLang="it-IT" sz="2800"/>
          </a:p>
        </p:txBody>
      </p:sp>
      <p:sp>
        <p:nvSpPr>
          <p:cNvPr id="151556" name="Line 4"/>
          <p:cNvSpPr>
            <a:spLocks noChangeShapeType="1"/>
          </p:cNvSpPr>
          <p:nvPr/>
        </p:nvSpPr>
        <p:spPr bwMode="auto">
          <a:xfrm>
            <a:off x="457200" y="6019800"/>
            <a:ext cx="8382000" cy="0"/>
          </a:xfrm>
          <a:prstGeom prst="line">
            <a:avLst/>
          </a:prstGeom>
          <a:noFill/>
          <a:ln w="57150" cmpd="thickThin">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Tree>
    <p:extLst>
      <p:ext uri="{BB962C8B-B14F-4D97-AF65-F5344CB8AC3E}">
        <p14:creationId xmlns:p14="http://schemas.microsoft.com/office/powerpoint/2010/main" val="1978770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it-IT"/>
              <a:t>Outline</a:t>
            </a:r>
          </a:p>
        </p:txBody>
      </p:sp>
      <p:sp>
        <p:nvSpPr>
          <p:cNvPr id="142339" name="Rectangle 3"/>
          <p:cNvSpPr>
            <a:spLocks noGrp="1" noChangeArrowheads="1"/>
          </p:cNvSpPr>
          <p:nvPr>
            <p:ph type="body" idx="1"/>
          </p:nvPr>
        </p:nvSpPr>
        <p:spPr>
          <a:xfrm>
            <a:off x="471488" y="990600"/>
            <a:ext cx="8353425" cy="2736647"/>
          </a:xfrm>
        </p:spPr>
        <p:txBody>
          <a:bodyPr/>
          <a:lstStyle/>
          <a:p>
            <a:r>
              <a:rPr lang="en-US" altLang="it-IT"/>
              <a:t>Null message algorithm: Time Creep</a:t>
            </a:r>
          </a:p>
          <a:p>
            <a:r>
              <a:rPr lang="en-US" altLang="it-IT" err="1"/>
              <a:t>Lookahead</a:t>
            </a:r>
            <a:endParaRPr lang="en-US" altLang="it-IT"/>
          </a:p>
          <a:p>
            <a:pPr lvl="1"/>
            <a:r>
              <a:rPr lang="en-US" altLang="it-IT"/>
              <a:t>What is it and why is it important?</a:t>
            </a:r>
          </a:p>
          <a:p>
            <a:pPr lvl="1"/>
            <a:r>
              <a:rPr lang="en-US" altLang="it-IT"/>
              <a:t>Changing lookahead</a:t>
            </a:r>
          </a:p>
          <a:p>
            <a:pPr lvl="1"/>
            <a:r>
              <a:rPr lang="en-US" altLang="it-IT"/>
              <a:t>Deadlock Detection and Recovery Algorithm (Chandy and </a:t>
            </a:r>
            <a:r>
              <a:rPr lang="en-US" altLang="it-IT" err="1"/>
              <a:t>Misra</a:t>
            </a:r>
            <a:r>
              <a:rPr lang="en-US" altLang="it-IT"/>
              <a:t>)</a:t>
            </a:r>
          </a:p>
        </p:txBody>
      </p:sp>
      <p:sp>
        <p:nvSpPr>
          <p:cNvPr id="2" name="Segnaposto data 1">
            <a:extLst>
              <a:ext uri="{FF2B5EF4-FFF2-40B4-BE49-F238E27FC236}">
                <a16:creationId xmlns:a16="http://schemas.microsoft.com/office/drawing/2014/main" id="{9EFD73DC-F2B9-4A18-9DDF-604E1C938D13}"/>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3BD654A2-4FED-8F1D-2B35-016C933516CD}"/>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2B7448DE-F08A-A291-CE8A-138861B7E088}"/>
              </a:ext>
            </a:extLst>
          </p:cNvPr>
          <p:cNvSpPr>
            <a:spLocks noGrp="1"/>
          </p:cNvSpPr>
          <p:nvPr>
            <p:ph type="sldNum" sz="quarter" idx="4"/>
          </p:nvPr>
        </p:nvSpPr>
        <p:spPr/>
        <p:txBody>
          <a:bodyPr/>
          <a:lstStyle/>
          <a:p>
            <a:fld id="{9BFB3A76-8619-A843-8C67-B9C7C140DBAC}" type="slidenum">
              <a:rPr lang="en-US" smtClean="0"/>
              <a:t>19</a:t>
            </a:fld>
            <a:endParaRPr lang="en-US"/>
          </a:p>
        </p:txBody>
      </p:sp>
    </p:spTree>
    <p:extLst>
      <p:ext uri="{BB962C8B-B14F-4D97-AF65-F5344CB8AC3E}">
        <p14:creationId xmlns:p14="http://schemas.microsoft.com/office/powerpoint/2010/main" val="1943557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236538" y="152400"/>
            <a:ext cx="8670925" cy="57626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t>Deadlock Avoidance Using Null Messages</a:t>
            </a:r>
          </a:p>
        </p:txBody>
      </p:sp>
      <p:sp>
        <p:nvSpPr>
          <p:cNvPr id="168963" name="Rectangle 3"/>
          <p:cNvSpPr>
            <a:spLocks noChangeArrowheads="1"/>
          </p:cNvSpPr>
          <p:nvPr/>
        </p:nvSpPr>
        <p:spPr bwMode="auto">
          <a:xfrm>
            <a:off x="236538" y="838200"/>
            <a:ext cx="8670925" cy="4267200"/>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2000" b="1">
                <a:solidFill>
                  <a:srgbClr val="000000"/>
                </a:solidFill>
                <a:latin typeface="Helvetica" charset="0"/>
              </a:rPr>
              <a:t>Null Message Algorithm </a:t>
            </a:r>
            <a:r>
              <a:rPr lang="en-US" altLang="it-IT" sz="2000">
                <a:solidFill>
                  <a:srgbClr val="000000"/>
                </a:solidFill>
                <a:latin typeface="Helvetica" charset="0"/>
              </a:rPr>
              <a:t>(executed by each LP):</a:t>
            </a:r>
            <a:endParaRPr lang="en-US" altLang="it-IT" sz="2000" b="1">
              <a:solidFill>
                <a:srgbClr val="000000"/>
              </a:solidFill>
              <a:latin typeface="Helvetica" charset="0"/>
            </a:endParaRPr>
          </a:p>
          <a:p>
            <a:pPr>
              <a:spcBef>
                <a:spcPct val="20000"/>
              </a:spcBef>
            </a:pPr>
            <a:r>
              <a:rPr lang="en-US" altLang="it-IT" sz="2000" b="1">
                <a:solidFill>
                  <a:srgbClr val="000000"/>
                </a:solidFill>
                <a:latin typeface="Helvetica" charset="0"/>
              </a:rPr>
              <a:t>Goal: Ensure events are processed in time stamp order and avoid deadlock</a:t>
            </a:r>
            <a:endParaRPr lang="en-US" altLang="it-IT" sz="2000">
              <a:solidFill>
                <a:srgbClr val="000000"/>
              </a:solidFill>
              <a:latin typeface="Helvetica" charset="0"/>
            </a:endParaRPr>
          </a:p>
          <a:p>
            <a:pPr>
              <a:spcBef>
                <a:spcPct val="20000"/>
              </a:spcBef>
            </a:pPr>
            <a:endParaRPr lang="en-US" altLang="it-IT" sz="2000">
              <a:solidFill>
                <a:srgbClr val="000000"/>
              </a:solidFill>
              <a:latin typeface="Helvetica" charset="0"/>
            </a:endParaRPr>
          </a:p>
          <a:p>
            <a:pPr>
              <a:spcBef>
                <a:spcPct val="20000"/>
              </a:spcBef>
            </a:pPr>
            <a:r>
              <a:rPr lang="en-US" altLang="it-IT" sz="2000" b="1">
                <a:solidFill>
                  <a:srgbClr val="000000"/>
                </a:solidFill>
                <a:latin typeface="Helvetica" charset="0"/>
              </a:rPr>
              <a:t>WHILE </a:t>
            </a:r>
            <a:r>
              <a:rPr lang="en-US" altLang="it-IT" sz="2000">
                <a:solidFill>
                  <a:srgbClr val="000000"/>
                </a:solidFill>
                <a:latin typeface="Helvetica" charset="0"/>
              </a:rPr>
              <a:t>(simulation is not over)</a:t>
            </a:r>
          </a:p>
          <a:p>
            <a:pPr>
              <a:spcBef>
                <a:spcPct val="20000"/>
              </a:spcBef>
            </a:pPr>
            <a:r>
              <a:rPr lang="en-US" altLang="it-IT" sz="2000">
                <a:solidFill>
                  <a:srgbClr val="000000"/>
                </a:solidFill>
                <a:latin typeface="Helvetica" charset="0"/>
              </a:rPr>
              <a:t>	wait until each FIFO contains at least one message</a:t>
            </a:r>
          </a:p>
          <a:p>
            <a:pPr>
              <a:spcBef>
                <a:spcPct val="20000"/>
              </a:spcBef>
            </a:pPr>
            <a:r>
              <a:rPr lang="en-US" altLang="it-IT" sz="2000">
                <a:solidFill>
                  <a:srgbClr val="000000"/>
                </a:solidFill>
                <a:latin typeface="Helvetica" charset="0"/>
              </a:rPr>
              <a:t>	remove smallest time stamped event from its FIFO</a:t>
            </a:r>
          </a:p>
          <a:p>
            <a:pPr>
              <a:spcBef>
                <a:spcPct val="20000"/>
              </a:spcBef>
            </a:pPr>
            <a:r>
              <a:rPr lang="en-US" altLang="it-IT" sz="2000">
                <a:solidFill>
                  <a:srgbClr val="000000"/>
                </a:solidFill>
                <a:latin typeface="Helvetica" charset="0"/>
              </a:rPr>
              <a:t>	process that event</a:t>
            </a:r>
          </a:p>
          <a:p>
            <a:pPr>
              <a:spcBef>
                <a:spcPct val="20000"/>
              </a:spcBef>
            </a:pPr>
            <a:r>
              <a:rPr lang="en-US" altLang="it-IT" sz="2000" i="1">
                <a:solidFill>
                  <a:srgbClr val="FC0128"/>
                </a:solidFill>
                <a:latin typeface="Helvetica" charset="0"/>
              </a:rPr>
              <a:t>	send null messages to neighboring LPs with time stamp indicating a 		lower bound on future messages sent to that LP (current time plus 	minimum transit time between airports)</a:t>
            </a:r>
            <a:endParaRPr lang="en-US" altLang="it-IT" sz="2000">
              <a:solidFill>
                <a:srgbClr val="000000"/>
              </a:solidFill>
              <a:latin typeface="Helvetica" charset="0"/>
            </a:endParaRPr>
          </a:p>
          <a:p>
            <a:pPr>
              <a:spcBef>
                <a:spcPct val="20000"/>
              </a:spcBef>
            </a:pPr>
            <a:r>
              <a:rPr lang="en-US" altLang="it-IT" sz="2000" b="1">
                <a:solidFill>
                  <a:srgbClr val="000000"/>
                </a:solidFill>
                <a:latin typeface="Helvetica" charset="0"/>
              </a:rPr>
              <a:t>END-LOOP</a:t>
            </a:r>
          </a:p>
        </p:txBody>
      </p:sp>
      <p:sp>
        <p:nvSpPr>
          <p:cNvPr id="168964" name="Rectangle 4"/>
          <p:cNvSpPr>
            <a:spLocks noChangeArrowheads="1"/>
          </p:cNvSpPr>
          <p:nvPr/>
        </p:nvSpPr>
        <p:spPr bwMode="auto">
          <a:xfrm>
            <a:off x="236538" y="5105400"/>
            <a:ext cx="8670925" cy="1631950"/>
          </a:xfrm>
          <a:prstGeom prst="rect">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a:solidFill>
                  <a:srgbClr val="000000"/>
                </a:solidFill>
                <a:latin typeface="Helvetica" charset="0"/>
              </a:rPr>
              <a:t>Variation: LP requests null message when FIFO becomes empty</a:t>
            </a:r>
          </a:p>
          <a:p>
            <a:pPr>
              <a:spcBef>
                <a:spcPct val="20000"/>
              </a:spcBef>
              <a:buFontTx/>
              <a:buChar char="•"/>
            </a:pPr>
            <a:r>
              <a:rPr lang="en-US" altLang="it-IT">
                <a:solidFill>
                  <a:srgbClr val="000000"/>
                </a:solidFill>
                <a:latin typeface="Helvetica" charset="0"/>
              </a:rPr>
              <a:t>Fewer null messages</a:t>
            </a:r>
          </a:p>
          <a:p>
            <a:pPr>
              <a:spcBef>
                <a:spcPct val="20000"/>
              </a:spcBef>
              <a:buFontTx/>
              <a:buChar char="•"/>
            </a:pPr>
            <a:r>
              <a:rPr lang="en-US" altLang="it-IT">
                <a:solidFill>
                  <a:srgbClr val="000000"/>
                </a:solidFill>
                <a:latin typeface="Helvetica" charset="0"/>
              </a:rPr>
              <a:t>Delay to get time stamp information</a:t>
            </a:r>
          </a:p>
        </p:txBody>
      </p:sp>
      <p:sp>
        <p:nvSpPr>
          <p:cNvPr id="4" name="Segnaposto numero diapositiva 3">
            <a:extLst>
              <a:ext uri="{FF2B5EF4-FFF2-40B4-BE49-F238E27FC236}">
                <a16:creationId xmlns:a16="http://schemas.microsoft.com/office/drawing/2014/main" id="{8090E302-0A76-5E21-D1BC-6A0C905DC148}"/>
              </a:ext>
            </a:extLst>
          </p:cNvPr>
          <p:cNvSpPr>
            <a:spLocks noGrp="1"/>
          </p:cNvSpPr>
          <p:nvPr>
            <p:ph type="sldNum" sz="quarter" idx="4"/>
          </p:nvPr>
        </p:nvSpPr>
        <p:spPr/>
        <p:txBody>
          <a:bodyPr/>
          <a:lstStyle/>
          <a:p>
            <a:fld id="{9BFB3A76-8619-A843-8C67-B9C7C140DBAC}" type="slidenum">
              <a:rPr lang="en-US" smtClean="0"/>
              <a:t>20</a:t>
            </a:fld>
            <a:endParaRPr lang="en-US"/>
          </a:p>
        </p:txBody>
      </p:sp>
    </p:spTree>
    <p:extLst>
      <p:ext uri="{BB962C8B-B14F-4D97-AF65-F5344CB8AC3E}">
        <p14:creationId xmlns:p14="http://schemas.microsoft.com/office/powerpoint/2010/main" val="21393878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8964">
                                            <p:bg/>
                                          </p:spTgt>
                                        </p:tgtEl>
                                        <p:attrNameLst>
                                          <p:attrName>style.visibility</p:attrName>
                                        </p:attrNameLst>
                                      </p:cBhvr>
                                      <p:to>
                                        <p:strVal val="visible"/>
                                      </p:to>
                                    </p:set>
                                    <p:animEffect transition="in" filter="dissolve">
                                      <p:cBhvr>
                                        <p:cTn id="7" dur="500"/>
                                        <p:tgtEl>
                                          <p:spTgt spid="168964">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8964">
                                            <p:txEl>
                                              <p:pRg st="0" end="0"/>
                                            </p:txEl>
                                          </p:spTgt>
                                        </p:tgtEl>
                                        <p:attrNameLst>
                                          <p:attrName>style.visibility</p:attrName>
                                        </p:attrNameLst>
                                      </p:cBhvr>
                                      <p:to>
                                        <p:strVal val="visible"/>
                                      </p:to>
                                    </p:set>
                                    <p:animEffect transition="in" filter="dissolve">
                                      <p:cBhvr>
                                        <p:cTn id="12" dur="500"/>
                                        <p:tgtEl>
                                          <p:spTgt spid="16896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8964">
                                            <p:txEl>
                                              <p:pRg st="1" end="1"/>
                                            </p:txEl>
                                          </p:spTgt>
                                        </p:tgtEl>
                                        <p:attrNameLst>
                                          <p:attrName>style.visibility</p:attrName>
                                        </p:attrNameLst>
                                      </p:cBhvr>
                                      <p:to>
                                        <p:strVal val="visible"/>
                                      </p:to>
                                    </p:set>
                                    <p:animEffect transition="in" filter="dissolve">
                                      <p:cBhvr>
                                        <p:cTn id="17" dur="500"/>
                                        <p:tgtEl>
                                          <p:spTgt spid="16896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8964">
                                            <p:txEl>
                                              <p:pRg st="2" end="2"/>
                                            </p:txEl>
                                          </p:spTgt>
                                        </p:tgtEl>
                                        <p:attrNameLst>
                                          <p:attrName>style.visibility</p:attrName>
                                        </p:attrNameLst>
                                      </p:cBhvr>
                                      <p:to>
                                        <p:strVal val="visible"/>
                                      </p:to>
                                    </p:set>
                                    <p:animEffect transition="in" filter="dissolve">
                                      <p:cBhvr>
                                        <p:cTn id="22" dur="500"/>
                                        <p:tgtEl>
                                          <p:spTgt spid="1689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build="p"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84138" y="123825"/>
            <a:ext cx="88995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The Time Creep Problem</a:t>
            </a:r>
          </a:p>
        </p:txBody>
      </p:sp>
      <p:sp>
        <p:nvSpPr>
          <p:cNvPr id="169987" name="Rectangle 3"/>
          <p:cNvSpPr>
            <a:spLocks noGrp="1" noChangeArrowheads="1"/>
          </p:cNvSpPr>
          <p:nvPr>
            <p:ph type="body" idx="1"/>
          </p:nvPr>
        </p:nvSpPr>
        <p:spPr>
          <a:xfrm>
            <a:off x="84138" y="6096000"/>
            <a:ext cx="8899525" cy="533400"/>
          </a:xfrm>
          <a:solidFill>
            <a:srgbClr val="FFC5CF"/>
          </a:solidFill>
          <a:ln w="12700" cap="flat">
            <a:solidFill>
              <a:schemeClr val="tx1"/>
            </a:solidFill>
            <a:miter lim="800000"/>
            <a:headEnd/>
            <a:tailEnd/>
          </a:ln>
        </p:spPr>
        <p:txBody>
          <a:bodyPr/>
          <a:lstStyle/>
          <a:p>
            <a:pPr>
              <a:buFontTx/>
              <a:buNone/>
            </a:pPr>
            <a:r>
              <a:rPr lang="en-US" altLang="it-IT" sz="2400" b="1"/>
              <a:t>Many null messages if minimum flight time is small!</a:t>
            </a:r>
          </a:p>
        </p:txBody>
      </p:sp>
      <p:grpSp>
        <p:nvGrpSpPr>
          <p:cNvPr id="170035" name="Group 51"/>
          <p:cNvGrpSpPr>
            <a:grpSpLocks/>
          </p:cNvGrpSpPr>
          <p:nvPr/>
        </p:nvGrpSpPr>
        <p:grpSpPr bwMode="auto">
          <a:xfrm>
            <a:off x="558800" y="1027113"/>
            <a:ext cx="5232400" cy="3240087"/>
            <a:chOff x="352" y="647"/>
            <a:chExt cx="3296" cy="2041"/>
          </a:xfrm>
        </p:grpSpPr>
        <p:sp>
          <p:nvSpPr>
            <p:cNvPr id="169989" name="Rectangle 5"/>
            <p:cNvSpPr>
              <a:spLocks noChangeArrowheads="1"/>
            </p:cNvSpPr>
            <p:nvPr/>
          </p:nvSpPr>
          <p:spPr bwMode="auto">
            <a:xfrm>
              <a:off x="2675" y="1783"/>
              <a:ext cx="973"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69990" name="Rectangle 6"/>
            <p:cNvSpPr>
              <a:spLocks noChangeArrowheads="1"/>
            </p:cNvSpPr>
            <p:nvPr/>
          </p:nvSpPr>
          <p:spPr bwMode="auto">
            <a:xfrm>
              <a:off x="2714" y="2336"/>
              <a:ext cx="120"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9</a:t>
              </a:r>
            </a:p>
          </p:txBody>
        </p:sp>
        <p:sp>
          <p:nvSpPr>
            <p:cNvPr id="169991" name="Rectangle 7"/>
            <p:cNvSpPr>
              <a:spLocks noChangeArrowheads="1"/>
            </p:cNvSpPr>
            <p:nvPr/>
          </p:nvSpPr>
          <p:spPr bwMode="auto">
            <a:xfrm>
              <a:off x="2842" y="2336"/>
              <a:ext cx="122"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8</a:t>
              </a:r>
            </a:p>
          </p:txBody>
        </p:sp>
        <p:sp>
          <p:nvSpPr>
            <p:cNvPr id="169992" name="Line 8"/>
            <p:cNvSpPr>
              <a:spLocks noChangeShapeType="1"/>
            </p:cNvSpPr>
            <p:nvPr/>
          </p:nvSpPr>
          <p:spPr bwMode="auto">
            <a:xfrm flipV="1">
              <a:off x="661" y="912"/>
              <a:ext cx="785" cy="863"/>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69993" name="Line 9"/>
            <p:cNvSpPr>
              <a:spLocks noChangeShapeType="1"/>
            </p:cNvSpPr>
            <p:nvPr/>
          </p:nvSpPr>
          <p:spPr bwMode="auto">
            <a:xfrm>
              <a:off x="1349" y="2449"/>
              <a:ext cx="130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69994" name="Rectangle 10"/>
            <p:cNvSpPr>
              <a:spLocks noChangeArrowheads="1"/>
            </p:cNvSpPr>
            <p:nvPr/>
          </p:nvSpPr>
          <p:spPr bwMode="auto">
            <a:xfrm>
              <a:off x="2829" y="1800"/>
              <a:ext cx="682"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solidFill>
                    <a:srgbClr val="000000"/>
                  </a:solidFill>
                </a:rPr>
                <a:t>JFK</a:t>
              </a:r>
            </a:p>
            <a:p>
              <a:pPr algn="ctr"/>
              <a:r>
                <a:rPr lang="en-US" altLang="it-IT" i="1">
                  <a:solidFill>
                    <a:srgbClr val="000000"/>
                  </a:solidFill>
                </a:rPr>
                <a:t>(waiting</a:t>
              </a:r>
            </a:p>
            <a:p>
              <a:pPr algn="ctr"/>
              <a:r>
                <a:rPr lang="en-US" altLang="it-IT" i="1">
                  <a:solidFill>
                    <a:srgbClr val="000000"/>
                  </a:solidFill>
                </a:rPr>
                <a:t>on ORD)</a:t>
              </a:r>
            </a:p>
          </p:txBody>
        </p:sp>
        <p:sp>
          <p:nvSpPr>
            <p:cNvPr id="169995" name="Rectangle 11"/>
            <p:cNvSpPr>
              <a:spLocks noChangeArrowheads="1"/>
            </p:cNvSpPr>
            <p:nvPr/>
          </p:nvSpPr>
          <p:spPr bwMode="auto">
            <a:xfrm>
              <a:off x="1470" y="647"/>
              <a:ext cx="974"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69997" name="Rectangle 13"/>
            <p:cNvSpPr>
              <a:spLocks noChangeArrowheads="1"/>
            </p:cNvSpPr>
            <p:nvPr/>
          </p:nvSpPr>
          <p:spPr bwMode="auto">
            <a:xfrm>
              <a:off x="1635" y="782"/>
              <a:ext cx="658"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solidFill>
                    <a:srgbClr val="000000"/>
                  </a:solidFill>
                </a:rPr>
                <a:t>ORD</a:t>
              </a:r>
            </a:p>
            <a:p>
              <a:pPr algn="ctr"/>
              <a:r>
                <a:rPr lang="en-US" altLang="it-IT" i="1">
                  <a:solidFill>
                    <a:srgbClr val="000000"/>
                  </a:solidFill>
                </a:rPr>
                <a:t>(waiting</a:t>
              </a:r>
            </a:p>
            <a:p>
              <a:pPr algn="ctr"/>
              <a:r>
                <a:rPr lang="en-US" altLang="it-IT" i="1">
                  <a:solidFill>
                    <a:srgbClr val="000000"/>
                  </a:solidFill>
                </a:rPr>
                <a:t>on SFO)</a:t>
              </a:r>
            </a:p>
          </p:txBody>
        </p:sp>
        <p:sp>
          <p:nvSpPr>
            <p:cNvPr id="169998" name="Rectangle 14"/>
            <p:cNvSpPr>
              <a:spLocks noChangeArrowheads="1"/>
            </p:cNvSpPr>
            <p:nvPr/>
          </p:nvSpPr>
          <p:spPr bwMode="auto">
            <a:xfrm>
              <a:off x="352" y="1783"/>
              <a:ext cx="973"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69999" name="Rectangle 15"/>
            <p:cNvSpPr>
              <a:spLocks noChangeArrowheads="1"/>
            </p:cNvSpPr>
            <p:nvPr/>
          </p:nvSpPr>
          <p:spPr bwMode="auto">
            <a:xfrm>
              <a:off x="495" y="2113"/>
              <a:ext cx="618"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solidFill>
                    <a:srgbClr val="000000"/>
                  </a:solidFill>
                </a:rPr>
                <a:t>SFO</a:t>
              </a:r>
            </a:p>
            <a:p>
              <a:pPr algn="ctr"/>
              <a:r>
                <a:rPr lang="en-US" altLang="it-IT" i="1">
                  <a:solidFill>
                    <a:srgbClr val="000000"/>
                  </a:solidFill>
                </a:rPr>
                <a:t>(waiting</a:t>
              </a:r>
            </a:p>
            <a:p>
              <a:pPr algn="ctr"/>
              <a:r>
                <a:rPr lang="en-US" altLang="it-IT" i="1">
                  <a:solidFill>
                    <a:srgbClr val="000000"/>
                  </a:solidFill>
                </a:rPr>
                <a:t>on JFK)</a:t>
              </a:r>
            </a:p>
          </p:txBody>
        </p:sp>
        <p:sp>
          <p:nvSpPr>
            <p:cNvPr id="170000" name="Line 16"/>
            <p:cNvSpPr>
              <a:spLocks noChangeShapeType="1"/>
            </p:cNvSpPr>
            <p:nvPr/>
          </p:nvSpPr>
          <p:spPr bwMode="auto">
            <a:xfrm flipV="1">
              <a:off x="962" y="1187"/>
              <a:ext cx="484" cy="588"/>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0001" name="Line 17"/>
            <p:cNvSpPr>
              <a:spLocks noChangeShapeType="1"/>
            </p:cNvSpPr>
            <p:nvPr/>
          </p:nvSpPr>
          <p:spPr bwMode="auto">
            <a:xfrm>
              <a:off x="1349" y="2118"/>
              <a:ext cx="1302" cy="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0002" name="Line 18"/>
            <p:cNvSpPr>
              <a:spLocks noChangeShapeType="1"/>
            </p:cNvSpPr>
            <p:nvPr/>
          </p:nvSpPr>
          <p:spPr bwMode="auto">
            <a:xfrm flipH="1" flipV="1">
              <a:off x="2452" y="912"/>
              <a:ext cx="817" cy="863"/>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0003" name="Line 19"/>
            <p:cNvSpPr>
              <a:spLocks noChangeShapeType="1"/>
            </p:cNvSpPr>
            <p:nvPr/>
          </p:nvSpPr>
          <p:spPr bwMode="auto">
            <a:xfrm flipH="1" flipV="1">
              <a:off x="2452" y="1187"/>
              <a:ext cx="516" cy="588"/>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0004" name="Rectangle 20"/>
            <p:cNvSpPr>
              <a:spLocks noChangeArrowheads="1"/>
            </p:cNvSpPr>
            <p:nvPr/>
          </p:nvSpPr>
          <p:spPr bwMode="auto">
            <a:xfrm>
              <a:off x="822" y="1818"/>
              <a:ext cx="249" cy="109"/>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15</a:t>
              </a:r>
            </a:p>
          </p:txBody>
        </p:sp>
        <p:sp>
          <p:nvSpPr>
            <p:cNvPr id="170005" name="Rectangle 21"/>
            <p:cNvSpPr>
              <a:spLocks noChangeArrowheads="1"/>
            </p:cNvSpPr>
            <p:nvPr/>
          </p:nvSpPr>
          <p:spPr bwMode="auto">
            <a:xfrm>
              <a:off x="822" y="1935"/>
              <a:ext cx="249" cy="109"/>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10</a:t>
              </a:r>
            </a:p>
          </p:txBody>
        </p:sp>
        <p:sp>
          <p:nvSpPr>
            <p:cNvPr id="169996" name="Rectangle 12"/>
            <p:cNvSpPr>
              <a:spLocks noChangeArrowheads="1"/>
            </p:cNvSpPr>
            <p:nvPr/>
          </p:nvSpPr>
          <p:spPr bwMode="auto">
            <a:xfrm>
              <a:off x="2304" y="768"/>
              <a:ext cx="122"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7</a:t>
              </a:r>
            </a:p>
          </p:txBody>
        </p:sp>
      </p:grpSp>
      <p:grpSp>
        <p:nvGrpSpPr>
          <p:cNvPr id="170018" name="Group 34"/>
          <p:cNvGrpSpPr>
            <a:grpSpLocks/>
          </p:cNvGrpSpPr>
          <p:nvPr/>
        </p:nvGrpSpPr>
        <p:grpSpPr bwMode="auto">
          <a:xfrm>
            <a:off x="84138" y="5029200"/>
            <a:ext cx="8899525" cy="1066800"/>
            <a:chOff x="53" y="3168"/>
            <a:chExt cx="5606" cy="672"/>
          </a:xfrm>
        </p:grpSpPr>
        <p:sp>
          <p:nvSpPr>
            <p:cNvPr id="170012" name="Rectangle 28"/>
            <p:cNvSpPr>
              <a:spLocks noChangeArrowheads="1"/>
            </p:cNvSpPr>
            <p:nvPr/>
          </p:nvSpPr>
          <p:spPr bwMode="auto">
            <a:xfrm>
              <a:off x="53" y="3367"/>
              <a:ext cx="5606" cy="473"/>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p>
              <a:pPr>
                <a:spcBef>
                  <a:spcPct val="20000"/>
                </a:spcBef>
              </a:pPr>
              <a:r>
                <a:rPr lang="en-US" altLang="it-IT">
                  <a:solidFill>
                    <a:srgbClr val="000000"/>
                  </a:solidFill>
                </a:rPr>
                <a:t>Assume minimum delay between airports is 3 units of time</a:t>
              </a:r>
            </a:p>
            <a:p>
              <a:pPr>
                <a:spcBef>
                  <a:spcPct val="20000"/>
                </a:spcBef>
              </a:pPr>
              <a:r>
                <a:rPr lang="en-US" altLang="it-IT">
                  <a:solidFill>
                    <a:srgbClr val="000000"/>
                  </a:solidFill>
                </a:rPr>
                <a:t>JFK initially at time 5</a:t>
              </a:r>
            </a:p>
          </p:txBody>
        </p:sp>
        <p:sp>
          <p:nvSpPr>
            <p:cNvPr id="170013" name="Line 29"/>
            <p:cNvSpPr>
              <a:spLocks noChangeShapeType="1"/>
            </p:cNvSpPr>
            <p:nvPr/>
          </p:nvSpPr>
          <p:spPr bwMode="auto">
            <a:xfrm>
              <a:off x="2883" y="3382"/>
              <a:ext cx="150" cy="202"/>
            </a:xfrm>
            <a:prstGeom prst="line">
              <a:avLst/>
            </a:prstGeom>
            <a:noFill/>
            <a:ln w="127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0014" name="Line 30"/>
            <p:cNvSpPr>
              <a:spLocks noChangeShapeType="1"/>
            </p:cNvSpPr>
            <p:nvPr/>
          </p:nvSpPr>
          <p:spPr bwMode="auto">
            <a:xfrm flipH="1">
              <a:off x="2882" y="3387"/>
              <a:ext cx="158" cy="202"/>
            </a:xfrm>
            <a:prstGeom prst="line">
              <a:avLst/>
            </a:prstGeom>
            <a:noFill/>
            <a:ln w="127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0015" name="Rectangle 31"/>
            <p:cNvSpPr>
              <a:spLocks noChangeArrowheads="1"/>
            </p:cNvSpPr>
            <p:nvPr/>
          </p:nvSpPr>
          <p:spPr bwMode="auto">
            <a:xfrm>
              <a:off x="2914" y="3168"/>
              <a:ext cx="315"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r>
                <a:rPr lang="en-US" altLang="it-IT" b="1">
                  <a:solidFill>
                    <a:srgbClr val="FC0128"/>
                  </a:solidFill>
                </a:rPr>
                <a:t>0.5</a:t>
              </a:r>
            </a:p>
          </p:txBody>
        </p:sp>
      </p:grpSp>
      <p:grpSp>
        <p:nvGrpSpPr>
          <p:cNvPr id="170027" name="Group 43"/>
          <p:cNvGrpSpPr>
            <a:grpSpLocks/>
          </p:cNvGrpSpPr>
          <p:nvPr/>
        </p:nvGrpSpPr>
        <p:grpSpPr bwMode="auto">
          <a:xfrm>
            <a:off x="3009900" y="1371600"/>
            <a:ext cx="5829300" cy="1922463"/>
            <a:chOff x="1896" y="864"/>
            <a:chExt cx="3672" cy="1211"/>
          </a:xfrm>
        </p:grpSpPr>
        <p:sp>
          <p:nvSpPr>
            <p:cNvPr id="170006" name="Rectangle 22"/>
            <p:cNvSpPr>
              <a:spLocks noChangeArrowheads="1"/>
            </p:cNvSpPr>
            <p:nvPr/>
          </p:nvSpPr>
          <p:spPr bwMode="auto">
            <a:xfrm>
              <a:off x="1896" y="1887"/>
              <a:ext cx="208" cy="188"/>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5.5</a:t>
              </a:r>
            </a:p>
          </p:txBody>
        </p:sp>
        <p:sp>
          <p:nvSpPr>
            <p:cNvPr id="170016" name="Rectangle 32"/>
            <p:cNvSpPr>
              <a:spLocks noChangeArrowheads="1"/>
            </p:cNvSpPr>
            <p:nvPr/>
          </p:nvSpPr>
          <p:spPr bwMode="auto">
            <a:xfrm>
              <a:off x="3792" y="1163"/>
              <a:ext cx="1776"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a:solidFill>
                    <a:srgbClr val="000000"/>
                  </a:solidFill>
                </a:rPr>
                <a:t> JFK: timestamp = 5.5</a:t>
              </a:r>
            </a:p>
          </p:txBody>
        </p:sp>
        <p:sp>
          <p:nvSpPr>
            <p:cNvPr id="170019" name="Text Box 35"/>
            <p:cNvSpPr txBox="1">
              <a:spLocks noChangeArrowheads="1"/>
            </p:cNvSpPr>
            <p:nvPr/>
          </p:nvSpPr>
          <p:spPr bwMode="auto">
            <a:xfrm>
              <a:off x="3936" y="864"/>
              <a:ext cx="11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b="1">
                  <a:solidFill>
                    <a:srgbClr val="000000"/>
                  </a:solidFill>
                </a:rPr>
                <a:t>Null messages:</a:t>
              </a:r>
            </a:p>
          </p:txBody>
        </p:sp>
      </p:grpSp>
      <p:grpSp>
        <p:nvGrpSpPr>
          <p:cNvPr id="170028" name="Group 44"/>
          <p:cNvGrpSpPr>
            <a:grpSpLocks/>
          </p:cNvGrpSpPr>
          <p:nvPr/>
        </p:nvGrpSpPr>
        <p:grpSpPr bwMode="auto">
          <a:xfrm>
            <a:off x="1309688" y="1828800"/>
            <a:ext cx="7529512" cy="762000"/>
            <a:chOff x="825" y="1152"/>
            <a:chExt cx="4743" cy="480"/>
          </a:xfrm>
        </p:grpSpPr>
        <p:sp>
          <p:nvSpPr>
            <p:cNvPr id="170007" name="Rectangle 23"/>
            <p:cNvSpPr>
              <a:spLocks noChangeArrowheads="1"/>
            </p:cNvSpPr>
            <p:nvPr/>
          </p:nvSpPr>
          <p:spPr bwMode="auto">
            <a:xfrm>
              <a:off x="825" y="1152"/>
              <a:ext cx="208" cy="189"/>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6.0</a:t>
              </a:r>
            </a:p>
          </p:txBody>
        </p:sp>
        <p:sp>
          <p:nvSpPr>
            <p:cNvPr id="170021" name="Rectangle 37"/>
            <p:cNvSpPr>
              <a:spLocks noChangeArrowheads="1"/>
            </p:cNvSpPr>
            <p:nvPr/>
          </p:nvSpPr>
          <p:spPr bwMode="auto">
            <a:xfrm>
              <a:off x="3792" y="1403"/>
              <a:ext cx="1776"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a:solidFill>
                    <a:srgbClr val="000000"/>
                  </a:solidFill>
                </a:rPr>
                <a:t> SFO: timestamp = 6.0</a:t>
              </a:r>
            </a:p>
          </p:txBody>
        </p:sp>
      </p:grpSp>
      <p:grpSp>
        <p:nvGrpSpPr>
          <p:cNvPr id="170029" name="Group 45"/>
          <p:cNvGrpSpPr>
            <a:grpSpLocks/>
          </p:cNvGrpSpPr>
          <p:nvPr/>
        </p:nvGrpSpPr>
        <p:grpSpPr bwMode="auto">
          <a:xfrm>
            <a:off x="3900488" y="2362200"/>
            <a:ext cx="4938712" cy="609600"/>
            <a:chOff x="2457" y="1488"/>
            <a:chExt cx="3111" cy="384"/>
          </a:xfrm>
        </p:grpSpPr>
        <p:sp>
          <p:nvSpPr>
            <p:cNvPr id="170008" name="Rectangle 24"/>
            <p:cNvSpPr>
              <a:spLocks noChangeArrowheads="1"/>
            </p:cNvSpPr>
            <p:nvPr/>
          </p:nvSpPr>
          <p:spPr bwMode="auto">
            <a:xfrm>
              <a:off x="2457" y="1488"/>
              <a:ext cx="208" cy="189"/>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6.5</a:t>
              </a:r>
            </a:p>
          </p:txBody>
        </p:sp>
        <p:sp>
          <p:nvSpPr>
            <p:cNvPr id="170022" name="Rectangle 38"/>
            <p:cNvSpPr>
              <a:spLocks noChangeArrowheads="1"/>
            </p:cNvSpPr>
            <p:nvPr/>
          </p:nvSpPr>
          <p:spPr bwMode="auto">
            <a:xfrm>
              <a:off x="3792" y="1643"/>
              <a:ext cx="1776"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a:solidFill>
                    <a:srgbClr val="000000"/>
                  </a:solidFill>
                </a:rPr>
                <a:t> ORD: timestamp = 6.5</a:t>
              </a:r>
            </a:p>
          </p:txBody>
        </p:sp>
      </p:grpSp>
      <p:grpSp>
        <p:nvGrpSpPr>
          <p:cNvPr id="170030" name="Group 46"/>
          <p:cNvGrpSpPr>
            <a:grpSpLocks/>
          </p:cNvGrpSpPr>
          <p:nvPr/>
        </p:nvGrpSpPr>
        <p:grpSpPr bwMode="auto">
          <a:xfrm>
            <a:off x="3443288" y="2989263"/>
            <a:ext cx="5395912" cy="363537"/>
            <a:chOff x="2169" y="1883"/>
            <a:chExt cx="3399" cy="229"/>
          </a:xfrm>
        </p:grpSpPr>
        <p:sp>
          <p:nvSpPr>
            <p:cNvPr id="170009" name="Rectangle 25"/>
            <p:cNvSpPr>
              <a:spLocks noChangeArrowheads="1"/>
            </p:cNvSpPr>
            <p:nvPr/>
          </p:nvSpPr>
          <p:spPr bwMode="auto">
            <a:xfrm>
              <a:off x="2169" y="1886"/>
              <a:ext cx="208" cy="189"/>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7.0</a:t>
              </a:r>
            </a:p>
          </p:txBody>
        </p:sp>
        <p:sp>
          <p:nvSpPr>
            <p:cNvPr id="170023" name="Rectangle 39"/>
            <p:cNvSpPr>
              <a:spLocks noChangeArrowheads="1"/>
            </p:cNvSpPr>
            <p:nvPr/>
          </p:nvSpPr>
          <p:spPr bwMode="auto">
            <a:xfrm>
              <a:off x="3792" y="1883"/>
              <a:ext cx="1776"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a:solidFill>
                    <a:srgbClr val="000000"/>
                  </a:solidFill>
                </a:rPr>
                <a:t> JFK: timestamp = 7.0</a:t>
              </a:r>
            </a:p>
          </p:txBody>
        </p:sp>
      </p:grpSp>
      <p:grpSp>
        <p:nvGrpSpPr>
          <p:cNvPr id="170031" name="Group 47"/>
          <p:cNvGrpSpPr>
            <a:grpSpLocks/>
          </p:cNvGrpSpPr>
          <p:nvPr/>
        </p:nvGrpSpPr>
        <p:grpSpPr bwMode="auto">
          <a:xfrm>
            <a:off x="928688" y="2133600"/>
            <a:ext cx="7910512" cy="1600200"/>
            <a:chOff x="585" y="1344"/>
            <a:chExt cx="4983" cy="1008"/>
          </a:xfrm>
        </p:grpSpPr>
        <p:sp>
          <p:nvSpPr>
            <p:cNvPr id="170010" name="Rectangle 26"/>
            <p:cNvSpPr>
              <a:spLocks noChangeArrowheads="1"/>
            </p:cNvSpPr>
            <p:nvPr/>
          </p:nvSpPr>
          <p:spPr bwMode="auto">
            <a:xfrm>
              <a:off x="585" y="1344"/>
              <a:ext cx="208" cy="189"/>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7.5</a:t>
              </a:r>
            </a:p>
          </p:txBody>
        </p:sp>
        <p:sp>
          <p:nvSpPr>
            <p:cNvPr id="170024" name="Rectangle 40"/>
            <p:cNvSpPr>
              <a:spLocks noChangeArrowheads="1"/>
            </p:cNvSpPr>
            <p:nvPr/>
          </p:nvSpPr>
          <p:spPr bwMode="auto">
            <a:xfrm>
              <a:off x="3792" y="2123"/>
              <a:ext cx="1776" cy="229"/>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a:solidFill>
                    <a:srgbClr val="000000"/>
                  </a:solidFill>
                </a:rPr>
                <a:t> SFO: timestamp = 7.5</a:t>
              </a:r>
            </a:p>
          </p:txBody>
        </p:sp>
      </p:grpSp>
      <p:sp>
        <p:nvSpPr>
          <p:cNvPr id="170025" name="Rectangle 41"/>
          <p:cNvSpPr>
            <a:spLocks noChangeArrowheads="1"/>
          </p:cNvSpPr>
          <p:nvPr/>
        </p:nvSpPr>
        <p:spPr bwMode="auto">
          <a:xfrm>
            <a:off x="1066800" y="4648200"/>
            <a:ext cx="6172200" cy="393700"/>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sz="2000" b="1">
                <a:solidFill>
                  <a:srgbClr val="000000"/>
                </a:solidFill>
              </a:rPr>
              <a:t>Five null messages to process a single event!</a:t>
            </a:r>
            <a:endParaRPr lang="en-US" altLang="it-IT" sz="2000">
              <a:solidFill>
                <a:srgbClr val="000000"/>
              </a:solidFill>
            </a:endParaRPr>
          </a:p>
        </p:txBody>
      </p:sp>
      <p:grpSp>
        <p:nvGrpSpPr>
          <p:cNvPr id="170036" name="Group 52"/>
          <p:cNvGrpSpPr>
            <a:grpSpLocks/>
          </p:cNvGrpSpPr>
          <p:nvPr/>
        </p:nvGrpSpPr>
        <p:grpSpPr bwMode="auto">
          <a:xfrm>
            <a:off x="3657600" y="1219200"/>
            <a:ext cx="4953000" cy="3289300"/>
            <a:chOff x="2304" y="768"/>
            <a:chExt cx="3120" cy="2072"/>
          </a:xfrm>
        </p:grpSpPr>
        <p:sp>
          <p:nvSpPr>
            <p:cNvPr id="170032" name="Rectangle 48"/>
            <p:cNvSpPr>
              <a:spLocks noChangeArrowheads="1"/>
            </p:cNvSpPr>
            <p:nvPr/>
          </p:nvSpPr>
          <p:spPr bwMode="auto">
            <a:xfrm>
              <a:off x="3840" y="2400"/>
              <a:ext cx="1584" cy="440"/>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pPr>
                <a:spcBef>
                  <a:spcPct val="20000"/>
                </a:spcBef>
              </a:pPr>
              <a:r>
                <a:rPr lang="en-US" altLang="it-IT" sz="2000">
                  <a:solidFill>
                    <a:srgbClr val="000000"/>
                  </a:solidFill>
                </a:rPr>
                <a:t>ORD: process time stamp 7 message</a:t>
              </a:r>
            </a:p>
          </p:txBody>
        </p:sp>
        <p:sp>
          <p:nvSpPr>
            <p:cNvPr id="170034" name="Rectangle 50"/>
            <p:cNvSpPr>
              <a:spLocks noChangeArrowheads="1"/>
            </p:cNvSpPr>
            <p:nvPr/>
          </p:nvSpPr>
          <p:spPr bwMode="auto">
            <a:xfrm>
              <a:off x="2304" y="768"/>
              <a:ext cx="122" cy="226"/>
            </a:xfrm>
            <a:prstGeom prst="rect">
              <a:avLst/>
            </a:prstGeom>
            <a:solidFill>
              <a:srgbClr val="008000"/>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7</a:t>
              </a:r>
            </a:p>
          </p:txBody>
        </p:sp>
      </p:grpSp>
      <p:sp>
        <p:nvSpPr>
          <p:cNvPr id="2" name="Segnaposto data 1">
            <a:extLst>
              <a:ext uri="{FF2B5EF4-FFF2-40B4-BE49-F238E27FC236}">
                <a16:creationId xmlns:a16="http://schemas.microsoft.com/office/drawing/2014/main" id="{E88B84EB-C2CE-9040-E3AE-88036124B7C6}"/>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DBF72FF3-B62E-7AAE-72A3-34B44DB35ED2}"/>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C1927508-093E-EED9-B1B2-41126DCAB7F5}"/>
              </a:ext>
            </a:extLst>
          </p:cNvPr>
          <p:cNvSpPr>
            <a:spLocks noGrp="1"/>
          </p:cNvSpPr>
          <p:nvPr>
            <p:ph type="sldNum" sz="quarter" idx="4"/>
          </p:nvPr>
        </p:nvSpPr>
        <p:spPr/>
        <p:txBody>
          <a:bodyPr/>
          <a:lstStyle/>
          <a:p>
            <a:fld id="{9BFB3A76-8619-A843-8C67-B9C7C140DBAC}" type="slidenum">
              <a:rPr lang="en-US" smtClean="0"/>
              <a:t>21</a:t>
            </a:fld>
            <a:endParaRPr lang="en-US"/>
          </a:p>
        </p:txBody>
      </p:sp>
    </p:spTree>
    <p:extLst>
      <p:ext uri="{BB962C8B-B14F-4D97-AF65-F5344CB8AC3E}">
        <p14:creationId xmlns:p14="http://schemas.microsoft.com/office/powerpoint/2010/main" val="13728260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0027"/>
                                        </p:tgtEl>
                                        <p:attrNameLst>
                                          <p:attrName>style.visibility</p:attrName>
                                        </p:attrNameLst>
                                      </p:cBhvr>
                                      <p:to>
                                        <p:strVal val="visible"/>
                                      </p:to>
                                    </p:set>
                                    <p:animEffect transition="in" filter="dissolve">
                                      <p:cBhvr>
                                        <p:cTn id="7" dur="500"/>
                                        <p:tgtEl>
                                          <p:spTgt spid="1700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0028"/>
                                        </p:tgtEl>
                                        <p:attrNameLst>
                                          <p:attrName>style.visibility</p:attrName>
                                        </p:attrNameLst>
                                      </p:cBhvr>
                                      <p:to>
                                        <p:strVal val="visible"/>
                                      </p:to>
                                    </p:set>
                                    <p:animEffect transition="in" filter="dissolve">
                                      <p:cBhvr>
                                        <p:cTn id="12" dur="500"/>
                                        <p:tgtEl>
                                          <p:spTgt spid="1700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70029"/>
                                        </p:tgtEl>
                                        <p:attrNameLst>
                                          <p:attrName>style.visibility</p:attrName>
                                        </p:attrNameLst>
                                      </p:cBhvr>
                                      <p:to>
                                        <p:strVal val="visible"/>
                                      </p:to>
                                    </p:set>
                                    <p:animEffect transition="in" filter="dissolve">
                                      <p:cBhvr>
                                        <p:cTn id="17" dur="500"/>
                                        <p:tgtEl>
                                          <p:spTgt spid="1700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70030"/>
                                        </p:tgtEl>
                                        <p:attrNameLst>
                                          <p:attrName>style.visibility</p:attrName>
                                        </p:attrNameLst>
                                      </p:cBhvr>
                                      <p:to>
                                        <p:strVal val="visible"/>
                                      </p:to>
                                    </p:set>
                                    <p:animEffect transition="in" filter="dissolve">
                                      <p:cBhvr>
                                        <p:cTn id="22" dur="500"/>
                                        <p:tgtEl>
                                          <p:spTgt spid="1700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70031"/>
                                        </p:tgtEl>
                                        <p:attrNameLst>
                                          <p:attrName>style.visibility</p:attrName>
                                        </p:attrNameLst>
                                      </p:cBhvr>
                                      <p:to>
                                        <p:strVal val="visible"/>
                                      </p:to>
                                    </p:set>
                                    <p:animEffect transition="in" filter="dissolve">
                                      <p:cBhvr>
                                        <p:cTn id="27" dur="500"/>
                                        <p:tgtEl>
                                          <p:spTgt spid="1700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70036"/>
                                        </p:tgtEl>
                                        <p:attrNameLst>
                                          <p:attrName>style.visibility</p:attrName>
                                        </p:attrNameLst>
                                      </p:cBhvr>
                                      <p:to>
                                        <p:strVal val="visible"/>
                                      </p:to>
                                    </p:set>
                                    <p:animEffect transition="in" filter="dissolve">
                                      <p:cBhvr>
                                        <p:cTn id="32" dur="500"/>
                                        <p:tgtEl>
                                          <p:spTgt spid="1700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0025"/>
                                        </p:tgtEl>
                                        <p:attrNameLst>
                                          <p:attrName>style.visibility</p:attrName>
                                        </p:attrNameLst>
                                      </p:cBhvr>
                                      <p:to>
                                        <p:strVal val="visible"/>
                                      </p:to>
                                    </p:set>
                                    <p:animEffect transition="in" filter="dissolve">
                                      <p:cBhvr>
                                        <p:cTn id="37" dur="500"/>
                                        <p:tgtEl>
                                          <p:spTgt spid="1700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9987">
                                            <p:bg/>
                                          </p:spTgt>
                                        </p:tgtEl>
                                        <p:attrNameLst>
                                          <p:attrName>style.visibility</p:attrName>
                                        </p:attrNameLst>
                                      </p:cBhvr>
                                      <p:to>
                                        <p:strVal val="visible"/>
                                      </p:to>
                                    </p:set>
                                    <p:animEffect transition="in" filter="dissolve">
                                      <p:cBhvr>
                                        <p:cTn id="42" dur="500"/>
                                        <p:tgtEl>
                                          <p:spTgt spid="169987">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9987">
                                            <p:txEl>
                                              <p:pRg st="0" end="0"/>
                                            </p:txEl>
                                          </p:spTgt>
                                        </p:tgtEl>
                                        <p:attrNameLst>
                                          <p:attrName>style.visibility</p:attrName>
                                        </p:attrNameLst>
                                      </p:cBhvr>
                                      <p:to>
                                        <p:strVal val="visible"/>
                                      </p:to>
                                    </p:set>
                                    <p:animEffect transition="in" filter="dissolve">
                                      <p:cBhvr>
                                        <p:cTn id="47" dur="500"/>
                                        <p:tgtEl>
                                          <p:spTgt spid="169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animBg="1" autoUpdateAnimBg="0"/>
      <p:bldP spid="17002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84138" y="123825"/>
            <a:ext cx="88995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err="1"/>
              <a:t>Livelock</a:t>
            </a:r>
            <a:r>
              <a:rPr lang="en-US" altLang="it-IT"/>
              <a:t> Can Occur!</a:t>
            </a:r>
          </a:p>
        </p:txBody>
      </p:sp>
      <p:grpSp>
        <p:nvGrpSpPr>
          <p:cNvPr id="185378" name="Group 34"/>
          <p:cNvGrpSpPr>
            <a:grpSpLocks/>
          </p:cNvGrpSpPr>
          <p:nvPr/>
        </p:nvGrpSpPr>
        <p:grpSpPr bwMode="auto">
          <a:xfrm>
            <a:off x="2514600" y="1295400"/>
            <a:ext cx="4927600" cy="3130550"/>
            <a:chOff x="1440" y="960"/>
            <a:chExt cx="3296" cy="2069"/>
          </a:xfrm>
        </p:grpSpPr>
        <p:sp>
          <p:nvSpPr>
            <p:cNvPr id="185349" name="Rectangle 5"/>
            <p:cNvSpPr>
              <a:spLocks noChangeArrowheads="1"/>
            </p:cNvSpPr>
            <p:nvPr/>
          </p:nvSpPr>
          <p:spPr bwMode="auto">
            <a:xfrm>
              <a:off x="3763" y="2096"/>
              <a:ext cx="973"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50" name="Rectangle 6"/>
            <p:cNvSpPr>
              <a:spLocks noChangeArrowheads="1"/>
            </p:cNvSpPr>
            <p:nvPr/>
          </p:nvSpPr>
          <p:spPr bwMode="auto">
            <a:xfrm>
              <a:off x="3802" y="2649"/>
              <a:ext cx="120"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9</a:t>
              </a:r>
            </a:p>
          </p:txBody>
        </p:sp>
        <p:sp>
          <p:nvSpPr>
            <p:cNvPr id="185351" name="Rectangle 7"/>
            <p:cNvSpPr>
              <a:spLocks noChangeArrowheads="1"/>
            </p:cNvSpPr>
            <p:nvPr/>
          </p:nvSpPr>
          <p:spPr bwMode="auto">
            <a:xfrm>
              <a:off x="3930" y="2649"/>
              <a:ext cx="122"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8</a:t>
              </a:r>
            </a:p>
          </p:txBody>
        </p:sp>
        <p:sp>
          <p:nvSpPr>
            <p:cNvPr id="185352" name="Line 8"/>
            <p:cNvSpPr>
              <a:spLocks noChangeShapeType="1"/>
            </p:cNvSpPr>
            <p:nvPr/>
          </p:nvSpPr>
          <p:spPr bwMode="auto">
            <a:xfrm flipV="1">
              <a:off x="1749" y="1225"/>
              <a:ext cx="785" cy="863"/>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53" name="Line 9"/>
            <p:cNvSpPr>
              <a:spLocks noChangeShapeType="1"/>
            </p:cNvSpPr>
            <p:nvPr/>
          </p:nvSpPr>
          <p:spPr bwMode="auto">
            <a:xfrm>
              <a:off x="2437" y="2762"/>
              <a:ext cx="130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54" name="Rectangle 10"/>
            <p:cNvSpPr>
              <a:spLocks noChangeArrowheads="1"/>
            </p:cNvSpPr>
            <p:nvPr/>
          </p:nvSpPr>
          <p:spPr bwMode="auto">
            <a:xfrm>
              <a:off x="3896" y="2113"/>
              <a:ext cx="724"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solidFill>
                    <a:srgbClr val="000000"/>
                  </a:solidFill>
                </a:rPr>
                <a:t>JFK</a:t>
              </a:r>
            </a:p>
            <a:p>
              <a:pPr algn="ctr"/>
              <a:r>
                <a:rPr lang="en-US" altLang="it-IT" i="1">
                  <a:solidFill>
                    <a:srgbClr val="000000"/>
                  </a:solidFill>
                </a:rPr>
                <a:t>(waiting</a:t>
              </a:r>
            </a:p>
            <a:p>
              <a:pPr algn="ctr"/>
              <a:r>
                <a:rPr lang="en-US" altLang="it-IT" i="1">
                  <a:solidFill>
                    <a:srgbClr val="000000"/>
                  </a:solidFill>
                </a:rPr>
                <a:t>on ORD)</a:t>
              </a:r>
            </a:p>
          </p:txBody>
        </p:sp>
        <p:sp>
          <p:nvSpPr>
            <p:cNvPr id="185355" name="Rectangle 11"/>
            <p:cNvSpPr>
              <a:spLocks noChangeArrowheads="1"/>
            </p:cNvSpPr>
            <p:nvPr/>
          </p:nvSpPr>
          <p:spPr bwMode="auto">
            <a:xfrm>
              <a:off x="2558" y="960"/>
              <a:ext cx="974"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56" name="Rectangle 12"/>
            <p:cNvSpPr>
              <a:spLocks noChangeArrowheads="1"/>
            </p:cNvSpPr>
            <p:nvPr/>
          </p:nvSpPr>
          <p:spPr bwMode="auto">
            <a:xfrm>
              <a:off x="3371" y="1113"/>
              <a:ext cx="122" cy="226"/>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7</a:t>
              </a:r>
            </a:p>
          </p:txBody>
        </p:sp>
        <p:sp>
          <p:nvSpPr>
            <p:cNvPr id="185357" name="Rectangle 13"/>
            <p:cNvSpPr>
              <a:spLocks noChangeArrowheads="1"/>
            </p:cNvSpPr>
            <p:nvPr/>
          </p:nvSpPr>
          <p:spPr bwMode="auto">
            <a:xfrm>
              <a:off x="2703" y="1095"/>
              <a:ext cx="698"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solidFill>
                    <a:srgbClr val="000000"/>
                  </a:solidFill>
                </a:rPr>
                <a:t>ORD</a:t>
              </a:r>
            </a:p>
            <a:p>
              <a:pPr algn="ctr"/>
              <a:r>
                <a:rPr lang="en-US" altLang="it-IT" i="1">
                  <a:solidFill>
                    <a:srgbClr val="000000"/>
                  </a:solidFill>
                </a:rPr>
                <a:t>(waiting</a:t>
              </a:r>
            </a:p>
            <a:p>
              <a:pPr algn="ctr"/>
              <a:r>
                <a:rPr lang="en-US" altLang="it-IT" i="1">
                  <a:solidFill>
                    <a:srgbClr val="000000"/>
                  </a:solidFill>
                </a:rPr>
                <a:t>on SFO)</a:t>
              </a:r>
            </a:p>
          </p:txBody>
        </p:sp>
        <p:sp>
          <p:nvSpPr>
            <p:cNvPr id="185358" name="Rectangle 14"/>
            <p:cNvSpPr>
              <a:spLocks noChangeArrowheads="1"/>
            </p:cNvSpPr>
            <p:nvPr/>
          </p:nvSpPr>
          <p:spPr bwMode="auto">
            <a:xfrm>
              <a:off x="1440" y="2096"/>
              <a:ext cx="973" cy="885"/>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59" name="Rectangle 15"/>
            <p:cNvSpPr>
              <a:spLocks noChangeArrowheads="1"/>
            </p:cNvSpPr>
            <p:nvPr/>
          </p:nvSpPr>
          <p:spPr bwMode="auto">
            <a:xfrm>
              <a:off x="1564" y="2426"/>
              <a:ext cx="656"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solidFill>
                    <a:srgbClr val="000000"/>
                  </a:solidFill>
                </a:rPr>
                <a:t>SFO</a:t>
              </a:r>
            </a:p>
            <a:p>
              <a:pPr algn="ctr"/>
              <a:r>
                <a:rPr lang="en-US" altLang="it-IT" i="1">
                  <a:solidFill>
                    <a:srgbClr val="000000"/>
                  </a:solidFill>
                </a:rPr>
                <a:t>(waiting</a:t>
              </a:r>
            </a:p>
            <a:p>
              <a:pPr algn="ctr"/>
              <a:r>
                <a:rPr lang="en-US" altLang="it-IT" i="1">
                  <a:solidFill>
                    <a:srgbClr val="000000"/>
                  </a:solidFill>
                </a:rPr>
                <a:t>on JFK)</a:t>
              </a:r>
            </a:p>
          </p:txBody>
        </p:sp>
        <p:sp>
          <p:nvSpPr>
            <p:cNvPr id="185360" name="Line 16"/>
            <p:cNvSpPr>
              <a:spLocks noChangeShapeType="1"/>
            </p:cNvSpPr>
            <p:nvPr/>
          </p:nvSpPr>
          <p:spPr bwMode="auto">
            <a:xfrm flipV="1">
              <a:off x="2050" y="1500"/>
              <a:ext cx="484" cy="588"/>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61" name="Line 17"/>
            <p:cNvSpPr>
              <a:spLocks noChangeShapeType="1"/>
            </p:cNvSpPr>
            <p:nvPr/>
          </p:nvSpPr>
          <p:spPr bwMode="auto">
            <a:xfrm>
              <a:off x="2437" y="2431"/>
              <a:ext cx="1302" cy="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62" name="Line 18"/>
            <p:cNvSpPr>
              <a:spLocks noChangeShapeType="1"/>
            </p:cNvSpPr>
            <p:nvPr/>
          </p:nvSpPr>
          <p:spPr bwMode="auto">
            <a:xfrm flipH="1" flipV="1">
              <a:off x="3540" y="1225"/>
              <a:ext cx="817" cy="863"/>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63" name="Line 19"/>
            <p:cNvSpPr>
              <a:spLocks noChangeShapeType="1"/>
            </p:cNvSpPr>
            <p:nvPr/>
          </p:nvSpPr>
          <p:spPr bwMode="auto">
            <a:xfrm flipH="1" flipV="1">
              <a:off x="3540" y="1500"/>
              <a:ext cx="516" cy="588"/>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85364" name="Rectangle 20"/>
            <p:cNvSpPr>
              <a:spLocks noChangeArrowheads="1"/>
            </p:cNvSpPr>
            <p:nvPr/>
          </p:nvSpPr>
          <p:spPr bwMode="auto">
            <a:xfrm>
              <a:off x="1910" y="2131"/>
              <a:ext cx="249" cy="109"/>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15</a:t>
              </a:r>
            </a:p>
          </p:txBody>
        </p:sp>
        <p:sp>
          <p:nvSpPr>
            <p:cNvPr id="185365" name="Rectangle 21"/>
            <p:cNvSpPr>
              <a:spLocks noChangeArrowheads="1"/>
            </p:cNvSpPr>
            <p:nvPr/>
          </p:nvSpPr>
          <p:spPr bwMode="auto">
            <a:xfrm>
              <a:off x="1910" y="2248"/>
              <a:ext cx="249" cy="109"/>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rgbClr val="FFFFFF"/>
                  </a:solidFill>
                </a:rPr>
                <a:t>10</a:t>
              </a:r>
            </a:p>
          </p:txBody>
        </p:sp>
      </p:grpSp>
      <p:sp>
        <p:nvSpPr>
          <p:cNvPr id="185366" name="Rectangle 22"/>
          <p:cNvSpPr>
            <a:spLocks noChangeArrowheads="1"/>
          </p:cNvSpPr>
          <p:nvPr/>
        </p:nvSpPr>
        <p:spPr bwMode="auto">
          <a:xfrm>
            <a:off x="4660900" y="3111500"/>
            <a:ext cx="330200" cy="29845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5.0</a:t>
            </a:r>
          </a:p>
        </p:txBody>
      </p:sp>
      <p:sp>
        <p:nvSpPr>
          <p:cNvPr id="185367" name="Rectangle 23"/>
          <p:cNvSpPr>
            <a:spLocks noChangeArrowheads="1"/>
          </p:cNvSpPr>
          <p:nvPr/>
        </p:nvSpPr>
        <p:spPr bwMode="auto">
          <a:xfrm>
            <a:off x="3124200" y="1981200"/>
            <a:ext cx="330200" cy="300038"/>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5.0</a:t>
            </a:r>
          </a:p>
        </p:txBody>
      </p:sp>
      <p:sp>
        <p:nvSpPr>
          <p:cNvPr id="185368" name="Rectangle 24"/>
          <p:cNvSpPr>
            <a:spLocks noChangeArrowheads="1"/>
          </p:cNvSpPr>
          <p:nvPr/>
        </p:nvSpPr>
        <p:spPr bwMode="auto">
          <a:xfrm>
            <a:off x="5715000" y="2590800"/>
            <a:ext cx="330200" cy="300038"/>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5.0</a:t>
            </a:r>
          </a:p>
        </p:txBody>
      </p:sp>
      <p:sp>
        <p:nvSpPr>
          <p:cNvPr id="185369" name="Rectangle 25"/>
          <p:cNvSpPr>
            <a:spLocks noChangeArrowheads="1"/>
          </p:cNvSpPr>
          <p:nvPr/>
        </p:nvSpPr>
        <p:spPr bwMode="auto">
          <a:xfrm>
            <a:off x="5094288" y="3109913"/>
            <a:ext cx="330200" cy="300037"/>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solidFill>
                  <a:srgbClr val="000000"/>
                </a:solidFill>
              </a:rPr>
              <a:t>5.0</a:t>
            </a:r>
          </a:p>
        </p:txBody>
      </p:sp>
      <p:sp>
        <p:nvSpPr>
          <p:cNvPr id="185372" name="Rectangle 28"/>
          <p:cNvSpPr>
            <a:spLocks noChangeArrowheads="1"/>
          </p:cNvSpPr>
          <p:nvPr/>
        </p:nvSpPr>
        <p:spPr bwMode="auto">
          <a:xfrm>
            <a:off x="244475" y="4429125"/>
            <a:ext cx="8594725" cy="2352675"/>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a:solidFill>
                  <a:srgbClr val="000000"/>
                </a:solidFill>
                <a:latin typeface="Helvetica" charset="0"/>
              </a:rPr>
              <a:t>Livelock: un-ending cycle of null messages where no LP can advance its simulation time</a:t>
            </a:r>
          </a:p>
          <a:p>
            <a:pPr>
              <a:spcBef>
                <a:spcPct val="20000"/>
              </a:spcBef>
            </a:pPr>
            <a:r>
              <a:rPr lang="en-US" altLang="it-IT">
                <a:solidFill>
                  <a:srgbClr val="000000"/>
                </a:solidFill>
                <a:latin typeface="Helvetica" charset="0"/>
              </a:rPr>
              <a:t>There cannot be a cycle where for each LP in the cycle, an incoming message with time stamp T results in a new message sent to the next LP in the cycle with time stamp T (zero lookahead cycle)</a:t>
            </a:r>
          </a:p>
        </p:txBody>
      </p:sp>
      <p:sp>
        <p:nvSpPr>
          <p:cNvPr id="185377" name="Text Box 33"/>
          <p:cNvSpPr txBox="1">
            <a:spLocks noChangeArrowheads="1"/>
          </p:cNvSpPr>
          <p:nvPr/>
        </p:nvSpPr>
        <p:spPr bwMode="auto">
          <a:xfrm>
            <a:off x="304800" y="838200"/>
            <a:ext cx="7986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400" b="1">
                <a:solidFill>
                  <a:srgbClr val="000000"/>
                </a:solidFill>
              </a:rPr>
              <a:t>Suppose the minimum delay between airports is zero!</a:t>
            </a:r>
          </a:p>
        </p:txBody>
      </p:sp>
      <p:sp>
        <p:nvSpPr>
          <p:cNvPr id="2" name="Segnaposto data 1">
            <a:extLst>
              <a:ext uri="{FF2B5EF4-FFF2-40B4-BE49-F238E27FC236}">
                <a16:creationId xmlns:a16="http://schemas.microsoft.com/office/drawing/2014/main" id="{61AA605F-4CD0-9121-0D63-690B5F86514A}"/>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364C7D7A-75F8-F839-1445-05CCE5C49572}"/>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4D36AF9D-3553-C86B-5D14-FF2BCC6F8C30}"/>
              </a:ext>
            </a:extLst>
          </p:cNvPr>
          <p:cNvSpPr>
            <a:spLocks noGrp="1"/>
          </p:cNvSpPr>
          <p:nvPr>
            <p:ph type="sldNum" sz="quarter" idx="4"/>
          </p:nvPr>
        </p:nvSpPr>
        <p:spPr/>
        <p:txBody>
          <a:bodyPr/>
          <a:lstStyle/>
          <a:p>
            <a:fld id="{9BFB3A76-8619-A843-8C67-B9C7C140DBAC}" type="slidenum">
              <a:rPr lang="en-US" smtClean="0"/>
              <a:t>22</a:t>
            </a:fld>
            <a:endParaRPr lang="en-US"/>
          </a:p>
        </p:txBody>
      </p:sp>
    </p:spTree>
    <p:extLst>
      <p:ext uri="{BB962C8B-B14F-4D97-AF65-F5344CB8AC3E}">
        <p14:creationId xmlns:p14="http://schemas.microsoft.com/office/powerpoint/2010/main" val="5222954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5366"/>
                                        </p:tgtEl>
                                        <p:attrNameLst>
                                          <p:attrName>style.visibility</p:attrName>
                                        </p:attrNameLst>
                                      </p:cBhvr>
                                      <p:to>
                                        <p:strVal val="visible"/>
                                      </p:to>
                                    </p:set>
                                    <p:animEffect transition="in" filter="dissolve">
                                      <p:cBhvr>
                                        <p:cTn id="7" dur="500"/>
                                        <p:tgtEl>
                                          <p:spTgt spid="1853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5367"/>
                                        </p:tgtEl>
                                        <p:attrNameLst>
                                          <p:attrName>style.visibility</p:attrName>
                                        </p:attrNameLst>
                                      </p:cBhvr>
                                      <p:to>
                                        <p:strVal val="visible"/>
                                      </p:to>
                                    </p:set>
                                    <p:animEffect transition="in" filter="dissolve">
                                      <p:cBhvr>
                                        <p:cTn id="12" dur="500"/>
                                        <p:tgtEl>
                                          <p:spTgt spid="1853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5368"/>
                                        </p:tgtEl>
                                        <p:attrNameLst>
                                          <p:attrName>style.visibility</p:attrName>
                                        </p:attrNameLst>
                                      </p:cBhvr>
                                      <p:to>
                                        <p:strVal val="visible"/>
                                      </p:to>
                                    </p:set>
                                    <p:animEffect transition="in" filter="dissolve">
                                      <p:cBhvr>
                                        <p:cTn id="17" dur="500"/>
                                        <p:tgtEl>
                                          <p:spTgt spid="1853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5369"/>
                                        </p:tgtEl>
                                        <p:attrNameLst>
                                          <p:attrName>style.visibility</p:attrName>
                                        </p:attrNameLst>
                                      </p:cBhvr>
                                      <p:to>
                                        <p:strVal val="visible"/>
                                      </p:to>
                                    </p:set>
                                    <p:animEffect transition="in" filter="dissolve">
                                      <p:cBhvr>
                                        <p:cTn id="22" dur="500"/>
                                        <p:tgtEl>
                                          <p:spTgt spid="1853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5372">
                                            <p:txEl>
                                              <p:pRg st="0" end="0"/>
                                            </p:txEl>
                                          </p:spTgt>
                                        </p:tgtEl>
                                        <p:attrNameLst>
                                          <p:attrName>style.visibility</p:attrName>
                                        </p:attrNameLst>
                                      </p:cBhvr>
                                      <p:to>
                                        <p:strVal val="visible"/>
                                      </p:to>
                                    </p:set>
                                    <p:animEffect transition="in" filter="dissolve">
                                      <p:cBhvr>
                                        <p:cTn id="27" dur="500"/>
                                        <p:tgtEl>
                                          <p:spTgt spid="18537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5372">
                                            <p:txEl>
                                              <p:pRg st="1" end="1"/>
                                            </p:txEl>
                                          </p:spTgt>
                                        </p:tgtEl>
                                        <p:attrNameLst>
                                          <p:attrName>style.visibility</p:attrName>
                                        </p:attrNameLst>
                                      </p:cBhvr>
                                      <p:to>
                                        <p:strVal val="visible"/>
                                      </p:to>
                                    </p:set>
                                    <p:animEffect transition="in" filter="dissolve">
                                      <p:cBhvr>
                                        <p:cTn id="32" dur="500"/>
                                        <p:tgtEl>
                                          <p:spTgt spid="1853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66" grpId="0" animBg="1" autoUpdateAnimBg="0"/>
      <p:bldP spid="185367" grpId="0" animBg="1" autoUpdateAnimBg="0"/>
      <p:bldP spid="185368" grpId="0" animBg="1" autoUpdateAnimBg="0"/>
      <p:bldP spid="185369" grpId="0" animBg="1" autoUpdateAnimBg="0"/>
      <p:bldP spid="185372"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en-US" altLang="it-IT"/>
              <a:t>Lookahead</a:t>
            </a:r>
          </a:p>
        </p:txBody>
      </p:sp>
      <p:sp>
        <p:nvSpPr>
          <p:cNvPr id="186371" name="Rectangle 3"/>
          <p:cNvSpPr>
            <a:spLocks noGrp="1" noChangeArrowheads="1"/>
          </p:cNvSpPr>
          <p:nvPr>
            <p:ph type="body" idx="1"/>
          </p:nvPr>
        </p:nvSpPr>
        <p:spPr>
          <a:xfrm>
            <a:off x="471488" y="762000"/>
            <a:ext cx="8353425" cy="5870575"/>
          </a:xfrm>
        </p:spPr>
        <p:txBody>
          <a:bodyPr/>
          <a:lstStyle/>
          <a:p>
            <a:pPr>
              <a:buFontTx/>
              <a:buNone/>
            </a:pPr>
            <a:r>
              <a:rPr lang="en-US" altLang="it-IT" sz="2400"/>
              <a:t>The null message algorithm relies on a “prediction” ability referred to as </a:t>
            </a:r>
            <a:r>
              <a:rPr lang="en-US" altLang="it-IT" sz="2400" i="1"/>
              <a:t>lookahead</a:t>
            </a:r>
            <a:r>
              <a:rPr lang="en-US" altLang="it-IT" sz="2400"/>
              <a:t> </a:t>
            </a:r>
          </a:p>
          <a:p>
            <a:r>
              <a:rPr lang="en-US" altLang="it-IT" sz="2400"/>
              <a:t>“ORD at simulation time 5, minimum transit time between airports is 3, so the next message sent by ORD must have a time stamp of </a:t>
            </a:r>
            <a:r>
              <a:rPr lang="en-US" altLang="it-IT" sz="2400" i="1"/>
              <a:t>at least</a:t>
            </a:r>
            <a:r>
              <a:rPr lang="en-US" altLang="it-IT" sz="2400"/>
              <a:t> 8”</a:t>
            </a:r>
          </a:p>
          <a:p>
            <a:pPr>
              <a:buFontTx/>
              <a:buNone/>
            </a:pPr>
            <a:endParaRPr lang="en-US" altLang="it-IT" sz="2400"/>
          </a:p>
          <a:p>
            <a:pPr>
              <a:buFontTx/>
              <a:buNone/>
            </a:pPr>
            <a:r>
              <a:rPr lang="en-US" altLang="it-IT" sz="2400"/>
              <a:t>Lookahead is a constraint on LP’s behavior</a:t>
            </a:r>
          </a:p>
          <a:p>
            <a:r>
              <a:rPr lang="en-US" altLang="it-IT" sz="2400" b="1">
                <a:solidFill>
                  <a:srgbClr val="CC0000"/>
                </a:solidFill>
              </a:rPr>
              <a:t>Link lookahead</a:t>
            </a:r>
            <a:r>
              <a:rPr lang="en-US" altLang="it-IT" sz="2400"/>
              <a:t>: If an LP is at simulation time T, and an outgoing link has lookahead L</a:t>
            </a:r>
            <a:r>
              <a:rPr lang="en-US" altLang="it-IT" sz="2400" baseline="-25000"/>
              <a:t>i</a:t>
            </a:r>
            <a:r>
              <a:rPr lang="en-US" altLang="it-IT" sz="2400"/>
              <a:t>, then any message sent on that link must have a time stamp of at least </a:t>
            </a:r>
            <a:r>
              <a:rPr lang="en-US" altLang="it-IT" sz="2400" err="1"/>
              <a:t>T+L</a:t>
            </a:r>
            <a:r>
              <a:rPr lang="en-US" altLang="it-IT" sz="2400" baseline="-25000" err="1"/>
              <a:t>i</a:t>
            </a:r>
            <a:endParaRPr lang="en-US" altLang="it-IT" sz="2400"/>
          </a:p>
          <a:p>
            <a:r>
              <a:rPr lang="en-US" altLang="it-IT" sz="2400" b="1">
                <a:solidFill>
                  <a:srgbClr val="CC0000"/>
                </a:solidFill>
              </a:rPr>
              <a:t>LP Lookahead</a:t>
            </a:r>
            <a:r>
              <a:rPr lang="en-US" altLang="it-IT" sz="2400"/>
              <a:t>: If an LP is at simulation time T, and has a lookahead of L, then any message sent by that LP must will have a time stamp of at least T+L</a:t>
            </a:r>
          </a:p>
          <a:p>
            <a:pPr lvl="1"/>
            <a:r>
              <a:rPr lang="en-US" altLang="it-IT" sz="2000"/>
              <a:t>Equivalent to link lookahead where the lookahead on each outgoing link is the same</a:t>
            </a:r>
          </a:p>
        </p:txBody>
      </p:sp>
      <p:sp>
        <p:nvSpPr>
          <p:cNvPr id="2" name="Segnaposto data 1">
            <a:extLst>
              <a:ext uri="{FF2B5EF4-FFF2-40B4-BE49-F238E27FC236}">
                <a16:creationId xmlns:a16="http://schemas.microsoft.com/office/drawing/2014/main" id="{392FE994-F779-35F3-77C7-CBF287D53657}"/>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858B0156-2398-FED1-288B-E39E10E94440}"/>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6FB82744-C8BF-D85E-50E5-4915C409D5F7}"/>
              </a:ext>
            </a:extLst>
          </p:cNvPr>
          <p:cNvSpPr>
            <a:spLocks noGrp="1"/>
          </p:cNvSpPr>
          <p:nvPr>
            <p:ph type="sldNum" sz="quarter" idx="4"/>
          </p:nvPr>
        </p:nvSpPr>
        <p:spPr/>
        <p:txBody>
          <a:bodyPr/>
          <a:lstStyle/>
          <a:p>
            <a:fld id="{9BFB3A76-8619-A843-8C67-B9C7C140DBAC}" type="slidenum">
              <a:rPr lang="en-US" smtClean="0"/>
              <a:t>23</a:t>
            </a:fld>
            <a:endParaRPr lang="en-US"/>
          </a:p>
        </p:txBody>
      </p:sp>
    </p:spTree>
    <p:extLst>
      <p:ext uri="{BB962C8B-B14F-4D97-AF65-F5344CB8AC3E}">
        <p14:creationId xmlns:p14="http://schemas.microsoft.com/office/powerpoint/2010/main" val="1453777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dissolve">
                                      <p:cBhvr>
                                        <p:cTn id="7" dur="500"/>
                                        <p:tgtEl>
                                          <p:spTgt spid="186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6371">
                                            <p:txEl>
                                              <p:pRg st="1" end="1"/>
                                            </p:txEl>
                                          </p:spTgt>
                                        </p:tgtEl>
                                        <p:attrNameLst>
                                          <p:attrName>style.visibility</p:attrName>
                                        </p:attrNameLst>
                                      </p:cBhvr>
                                      <p:to>
                                        <p:strVal val="visible"/>
                                      </p:to>
                                    </p:set>
                                    <p:animEffect transition="in" filter="dissolve">
                                      <p:cBhvr>
                                        <p:cTn id="12" dur="500"/>
                                        <p:tgtEl>
                                          <p:spTgt spid="186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6371">
                                            <p:txEl>
                                              <p:pRg st="3" end="3"/>
                                            </p:txEl>
                                          </p:spTgt>
                                        </p:tgtEl>
                                        <p:attrNameLst>
                                          <p:attrName>style.visibility</p:attrName>
                                        </p:attrNameLst>
                                      </p:cBhvr>
                                      <p:to>
                                        <p:strVal val="visible"/>
                                      </p:to>
                                    </p:set>
                                    <p:animEffect transition="in" filter="dissolve">
                                      <p:cBhvr>
                                        <p:cTn id="17" dur="500"/>
                                        <p:tgtEl>
                                          <p:spTgt spid="1863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6371">
                                            <p:txEl>
                                              <p:pRg st="4" end="4"/>
                                            </p:txEl>
                                          </p:spTgt>
                                        </p:tgtEl>
                                        <p:attrNameLst>
                                          <p:attrName>style.visibility</p:attrName>
                                        </p:attrNameLst>
                                      </p:cBhvr>
                                      <p:to>
                                        <p:strVal val="visible"/>
                                      </p:to>
                                    </p:set>
                                    <p:animEffect transition="in" filter="dissolve">
                                      <p:cBhvr>
                                        <p:cTn id="22" dur="500"/>
                                        <p:tgtEl>
                                          <p:spTgt spid="18637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6371">
                                            <p:txEl>
                                              <p:pRg st="5" end="5"/>
                                            </p:txEl>
                                          </p:spTgt>
                                        </p:tgtEl>
                                        <p:attrNameLst>
                                          <p:attrName>style.visibility</p:attrName>
                                        </p:attrNameLst>
                                      </p:cBhvr>
                                      <p:to>
                                        <p:strVal val="visible"/>
                                      </p:to>
                                    </p:set>
                                    <p:animEffect transition="in" filter="dissolve">
                                      <p:cBhvr>
                                        <p:cTn id="27" dur="500"/>
                                        <p:tgtEl>
                                          <p:spTgt spid="186371">
                                            <p:txEl>
                                              <p:pRg st="5" end="5"/>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86371">
                                            <p:txEl>
                                              <p:pRg st="6" end="6"/>
                                            </p:txEl>
                                          </p:spTgt>
                                        </p:tgtEl>
                                        <p:attrNameLst>
                                          <p:attrName>style.visibility</p:attrName>
                                        </p:attrNameLst>
                                      </p:cBhvr>
                                      <p:to>
                                        <p:strVal val="visible"/>
                                      </p:to>
                                    </p:set>
                                    <p:animEffect transition="in" filter="dissolve">
                                      <p:cBhvr>
                                        <p:cTn id="30" dur="500"/>
                                        <p:tgtEl>
                                          <p:spTgt spid="186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en-US" altLang="it-IT"/>
              <a:t>Lookahead</a:t>
            </a:r>
          </a:p>
        </p:txBody>
      </p:sp>
      <p:sp>
        <p:nvSpPr>
          <p:cNvPr id="186371" name="Rectangle 3"/>
          <p:cNvSpPr>
            <a:spLocks noGrp="1" noChangeArrowheads="1"/>
          </p:cNvSpPr>
          <p:nvPr>
            <p:ph type="body" idx="1"/>
          </p:nvPr>
        </p:nvSpPr>
        <p:spPr>
          <a:xfrm>
            <a:off x="471488" y="762000"/>
            <a:ext cx="8353425" cy="5211170"/>
          </a:xfrm>
        </p:spPr>
        <p:txBody>
          <a:bodyPr/>
          <a:lstStyle/>
          <a:p>
            <a:pPr>
              <a:buFontTx/>
              <a:buNone/>
            </a:pPr>
            <a:r>
              <a:rPr lang="en-US" altLang="it-IT" sz="2600"/>
              <a:t>Lookahead is used to solve this problem: </a:t>
            </a:r>
          </a:p>
          <a:p>
            <a:pPr marL="363538"/>
            <a:r>
              <a:rPr lang="en-US" altLang="it-IT" sz="2600"/>
              <a:t>Let Ts be the current time of the LP with the </a:t>
            </a:r>
            <a:r>
              <a:rPr lang="en-US" altLang="it-IT" sz="2600" b="1" i="1">
                <a:solidFill>
                  <a:srgbClr val="C00000"/>
                </a:solidFill>
              </a:rPr>
              <a:t>smallest clock </a:t>
            </a:r>
            <a:r>
              <a:rPr lang="en-US" altLang="it-IT" sz="2600"/>
              <a:t>value in the entire simulation. </a:t>
            </a:r>
          </a:p>
          <a:p>
            <a:pPr marL="363538"/>
            <a:r>
              <a:rPr lang="en-US" altLang="it-IT" sz="2600"/>
              <a:t>If each LP has a lookahead of L, then this </a:t>
            </a:r>
            <a:r>
              <a:rPr lang="en-US" altLang="it-IT" sz="2600" b="1">
                <a:solidFill>
                  <a:srgbClr val="C00000"/>
                </a:solidFill>
              </a:rPr>
              <a:t>guarantees</a:t>
            </a:r>
            <a:r>
              <a:rPr lang="en-US" altLang="it-IT" sz="2600"/>
              <a:t> that any new message sent by an LP must have a time stamp of </a:t>
            </a:r>
            <a:r>
              <a:rPr lang="en-US" altLang="it-IT" sz="2600" b="1" u="sng"/>
              <a:t>at least</a:t>
            </a:r>
            <a:r>
              <a:rPr lang="en-US" altLang="it-IT" sz="2600" b="1">
                <a:solidFill>
                  <a:srgbClr val="C00000"/>
                </a:solidFill>
              </a:rPr>
              <a:t> Ts + L</a:t>
            </a:r>
            <a:r>
              <a:rPr lang="en-US" altLang="it-IT" sz="2600"/>
              <a:t>. </a:t>
            </a:r>
          </a:p>
          <a:p>
            <a:pPr marL="363538"/>
            <a:r>
              <a:rPr lang="en-US" altLang="it-IT" sz="2600"/>
              <a:t>This in turn </a:t>
            </a:r>
            <a:r>
              <a:rPr lang="en-US" altLang="it-IT" sz="2600" b="1">
                <a:solidFill>
                  <a:srgbClr val="C00000"/>
                </a:solidFill>
              </a:rPr>
              <a:t>implies</a:t>
            </a:r>
            <a:r>
              <a:rPr lang="en-US" altLang="it-IT" sz="2600"/>
              <a:t> that all events with time stamp in the interval </a:t>
            </a:r>
            <a:r>
              <a:rPr lang="en-US" altLang="it-IT" sz="2600" b="1">
                <a:solidFill>
                  <a:srgbClr val="C00000"/>
                </a:solidFill>
              </a:rPr>
              <a:t>[Ts, Ts +L</a:t>
            </a:r>
            <a:r>
              <a:rPr lang="en-US" altLang="it-IT" sz="2600">
                <a:solidFill>
                  <a:srgbClr val="C00000"/>
                </a:solidFill>
              </a:rPr>
              <a:t>] </a:t>
            </a:r>
            <a:r>
              <a:rPr lang="en-US" altLang="it-IT" sz="2600" b="1" u="sng"/>
              <a:t>can be safely processed</a:t>
            </a:r>
            <a:r>
              <a:rPr lang="en-US" altLang="it-IT" sz="2600"/>
              <a:t>. </a:t>
            </a:r>
          </a:p>
          <a:p>
            <a:pPr marL="363538"/>
            <a:r>
              <a:rPr lang="en-US" altLang="it-IT" sz="2600"/>
              <a:t>L is referred to as the </a:t>
            </a:r>
            <a:r>
              <a:rPr lang="en-US" altLang="it-IT" sz="2600" b="1">
                <a:solidFill>
                  <a:srgbClr val="C00000"/>
                </a:solidFill>
              </a:rPr>
              <a:t>lookahead</a:t>
            </a:r>
            <a:r>
              <a:rPr lang="en-US" altLang="it-IT" sz="2600"/>
              <a:t> for the LP because it must be able to </a:t>
            </a:r>
            <a:r>
              <a:rPr lang="en-US" altLang="it-IT" sz="2600" b="1" i="1"/>
              <a:t>"look ahead" </a:t>
            </a:r>
            <a:r>
              <a:rPr lang="en-US" altLang="it-IT" sz="2600"/>
              <a:t>L time units into the future and schedule the events at least L time units prior to when they actually happen.</a:t>
            </a:r>
          </a:p>
        </p:txBody>
      </p:sp>
      <p:sp>
        <p:nvSpPr>
          <p:cNvPr id="2" name="Segnaposto data 1">
            <a:extLst>
              <a:ext uri="{FF2B5EF4-FFF2-40B4-BE49-F238E27FC236}">
                <a16:creationId xmlns:a16="http://schemas.microsoft.com/office/drawing/2014/main" id="{A429E930-3EC0-E334-DEBF-00DBB08B1F3D}"/>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C1130508-2EAC-A33B-BF0D-A0CA53AE5EC1}"/>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FFA1BFA7-549B-12E0-6823-5714F61EA9A5}"/>
              </a:ext>
            </a:extLst>
          </p:cNvPr>
          <p:cNvSpPr>
            <a:spLocks noGrp="1"/>
          </p:cNvSpPr>
          <p:nvPr>
            <p:ph type="sldNum" sz="quarter" idx="4"/>
          </p:nvPr>
        </p:nvSpPr>
        <p:spPr/>
        <p:txBody>
          <a:bodyPr/>
          <a:lstStyle/>
          <a:p>
            <a:fld id="{9BFB3A76-8619-A843-8C67-B9C7C140DBAC}" type="slidenum">
              <a:rPr lang="en-US" smtClean="0"/>
              <a:t>24</a:t>
            </a:fld>
            <a:endParaRPr lang="en-US"/>
          </a:p>
        </p:txBody>
      </p:sp>
    </p:spTree>
    <p:extLst>
      <p:ext uri="{BB962C8B-B14F-4D97-AF65-F5344CB8AC3E}">
        <p14:creationId xmlns:p14="http://schemas.microsoft.com/office/powerpoint/2010/main" val="37135164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dissolve">
                                      <p:cBhvr>
                                        <p:cTn id="7" dur="500"/>
                                        <p:tgtEl>
                                          <p:spTgt spid="186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6371">
                                            <p:txEl>
                                              <p:pRg st="1" end="1"/>
                                            </p:txEl>
                                          </p:spTgt>
                                        </p:tgtEl>
                                        <p:attrNameLst>
                                          <p:attrName>style.visibility</p:attrName>
                                        </p:attrNameLst>
                                      </p:cBhvr>
                                      <p:to>
                                        <p:strVal val="visible"/>
                                      </p:to>
                                    </p:set>
                                    <p:animEffect transition="in" filter="dissolve">
                                      <p:cBhvr>
                                        <p:cTn id="12" dur="500"/>
                                        <p:tgtEl>
                                          <p:spTgt spid="186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6371">
                                            <p:txEl>
                                              <p:pRg st="2" end="2"/>
                                            </p:txEl>
                                          </p:spTgt>
                                        </p:tgtEl>
                                        <p:attrNameLst>
                                          <p:attrName>style.visibility</p:attrName>
                                        </p:attrNameLst>
                                      </p:cBhvr>
                                      <p:to>
                                        <p:strVal val="visible"/>
                                      </p:to>
                                    </p:set>
                                    <p:animEffect transition="in" filter="dissolve">
                                      <p:cBhvr>
                                        <p:cTn id="17" dur="500"/>
                                        <p:tgtEl>
                                          <p:spTgt spid="186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6371">
                                            <p:txEl>
                                              <p:pRg st="3" end="3"/>
                                            </p:txEl>
                                          </p:spTgt>
                                        </p:tgtEl>
                                        <p:attrNameLst>
                                          <p:attrName>style.visibility</p:attrName>
                                        </p:attrNameLst>
                                      </p:cBhvr>
                                      <p:to>
                                        <p:strVal val="visible"/>
                                      </p:to>
                                    </p:set>
                                    <p:animEffect transition="in" filter="dissolve">
                                      <p:cBhvr>
                                        <p:cTn id="22" dur="500"/>
                                        <p:tgtEl>
                                          <p:spTgt spid="186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6371">
                                            <p:txEl>
                                              <p:pRg st="4" end="4"/>
                                            </p:txEl>
                                          </p:spTgt>
                                        </p:tgtEl>
                                        <p:attrNameLst>
                                          <p:attrName>style.visibility</p:attrName>
                                        </p:attrNameLst>
                                      </p:cBhvr>
                                      <p:to>
                                        <p:strVal val="visible"/>
                                      </p:to>
                                    </p:set>
                                    <p:animEffect transition="in" filter="dissolve">
                                      <p:cBhvr>
                                        <p:cTn id="27" dur="500"/>
                                        <p:tgtEl>
                                          <p:spTgt spid="186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312738" y="100013"/>
            <a:ext cx="85185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Lookahead and the Simulation Model</a:t>
            </a:r>
          </a:p>
        </p:txBody>
      </p:sp>
      <p:sp>
        <p:nvSpPr>
          <p:cNvPr id="188419" name="Rectangle 3"/>
          <p:cNvSpPr>
            <a:spLocks noChangeArrowheads="1"/>
          </p:cNvSpPr>
          <p:nvPr/>
        </p:nvSpPr>
        <p:spPr bwMode="auto">
          <a:xfrm>
            <a:off x="312738" y="844550"/>
            <a:ext cx="8518525" cy="4718050"/>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1800" i="1">
                <a:solidFill>
                  <a:srgbClr val="000000"/>
                </a:solidFill>
                <a:latin typeface="Helvetica" charset="0"/>
              </a:rPr>
              <a:t>Lookahead is clearly dependent on the simulation model</a:t>
            </a:r>
            <a:endParaRPr lang="en-US" altLang="it-IT" sz="1800">
              <a:solidFill>
                <a:srgbClr val="000000"/>
              </a:solidFill>
              <a:latin typeface="Helvetica" charset="0"/>
            </a:endParaRPr>
          </a:p>
          <a:p>
            <a:pPr>
              <a:spcBef>
                <a:spcPct val="20000"/>
              </a:spcBef>
              <a:buFontTx/>
              <a:buChar char="•"/>
            </a:pPr>
            <a:r>
              <a:rPr lang="en-US" altLang="it-IT" sz="1800">
                <a:solidFill>
                  <a:srgbClr val="000000"/>
                </a:solidFill>
                <a:latin typeface="Helvetica" charset="0"/>
              </a:rPr>
              <a:t>could be derived from physical constraints in the system being modeled, such as minimum simulation time for one entity to affect another (e.g., an aircraft leaving an airport requires L units of time to reach another airport, or maximum speed of the aircraft places lower bound on the time to affect another entity)</a:t>
            </a:r>
          </a:p>
          <a:p>
            <a:pPr>
              <a:spcBef>
                <a:spcPct val="20000"/>
              </a:spcBef>
              <a:buFontTx/>
              <a:buChar char="•"/>
            </a:pPr>
            <a:r>
              <a:rPr lang="en-US" altLang="it-IT" sz="1800">
                <a:solidFill>
                  <a:srgbClr val="000000"/>
                </a:solidFill>
                <a:latin typeface="Helvetica" charset="0"/>
              </a:rPr>
              <a:t>could be derived from characteristics of the simulation entities, such as </a:t>
            </a:r>
            <a:r>
              <a:rPr lang="en-US" altLang="it-IT" sz="1800" i="1">
                <a:solidFill>
                  <a:srgbClr val="000000"/>
                </a:solidFill>
                <a:latin typeface="Helvetica" charset="0"/>
              </a:rPr>
              <a:t>non-preemptable</a:t>
            </a:r>
            <a:r>
              <a:rPr lang="en-US" altLang="it-IT" sz="1800">
                <a:solidFill>
                  <a:srgbClr val="000000"/>
                </a:solidFill>
                <a:latin typeface="Helvetica" charset="0"/>
              </a:rPr>
              <a:t> behavior (e.g., a car is traveling north at 30 mph, and nothing in the federation model can cause its behavior to change over the next 10 minutes, so all output from the car simulator can be generated immediately up to time “local clock + 10 minutes”)</a:t>
            </a:r>
          </a:p>
          <a:p>
            <a:pPr>
              <a:spcBef>
                <a:spcPct val="20000"/>
              </a:spcBef>
              <a:buFontTx/>
              <a:buChar char="•"/>
            </a:pPr>
            <a:r>
              <a:rPr lang="en-US" altLang="it-IT" sz="1800">
                <a:solidFill>
                  <a:srgbClr val="000000"/>
                </a:solidFill>
                <a:latin typeface="Helvetica" charset="0"/>
              </a:rPr>
              <a:t>could be derived from tolerance to temporal inaccuracies (e.g., users cannot perceive temporal difference of 100 milliseconds, so messages may be timestamped 100 milliseconds into the future).</a:t>
            </a:r>
          </a:p>
          <a:p>
            <a:pPr>
              <a:spcBef>
                <a:spcPct val="20000"/>
              </a:spcBef>
              <a:buFontTx/>
              <a:buChar char="•"/>
            </a:pPr>
            <a:r>
              <a:rPr lang="en-US" altLang="it-IT" sz="1800">
                <a:solidFill>
                  <a:srgbClr val="000000"/>
                </a:solidFill>
                <a:latin typeface="Helvetica" charset="0"/>
              </a:rPr>
              <a:t>simulations may be able to </a:t>
            </a:r>
            <a:r>
              <a:rPr lang="en-US" altLang="it-IT" sz="1800" i="1">
                <a:solidFill>
                  <a:srgbClr val="000000"/>
                </a:solidFill>
                <a:latin typeface="Helvetica" charset="0"/>
              </a:rPr>
              <a:t>precompute </a:t>
            </a:r>
            <a:r>
              <a:rPr lang="en-US" altLang="it-IT" sz="1800">
                <a:solidFill>
                  <a:srgbClr val="000000"/>
                </a:solidFill>
                <a:latin typeface="Helvetica" charset="0"/>
              </a:rPr>
              <a:t>when its next interaction with another simulation will be (e.g., if time until next interaction is stochastic, pre-sample random number generator to determine time of next interaction).</a:t>
            </a:r>
          </a:p>
        </p:txBody>
      </p:sp>
      <p:sp>
        <p:nvSpPr>
          <p:cNvPr id="188420" name="Rectangle 4"/>
          <p:cNvSpPr>
            <a:spLocks noChangeArrowheads="1"/>
          </p:cNvSpPr>
          <p:nvPr/>
        </p:nvSpPr>
        <p:spPr bwMode="auto">
          <a:xfrm>
            <a:off x="312738" y="5562600"/>
            <a:ext cx="8531225" cy="1041400"/>
          </a:xfrm>
          <a:prstGeom prst="rect">
            <a:avLst/>
          </a:prstGeom>
          <a:solidFill>
            <a:srgbClr val="FFC5C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p>
            <a:r>
              <a:rPr lang="en-US" altLang="it-IT" sz="2000">
                <a:solidFill>
                  <a:srgbClr val="000000"/>
                </a:solidFill>
              </a:rPr>
              <a:t>Observation: time-stepped simulations implicitly use lookahead; events in current time step are considered independent (and can be processed concurrently), new events are generated for the next time step, or later.</a:t>
            </a:r>
          </a:p>
        </p:txBody>
      </p:sp>
      <p:sp>
        <p:nvSpPr>
          <p:cNvPr id="2" name="Segnaposto data 1">
            <a:extLst>
              <a:ext uri="{FF2B5EF4-FFF2-40B4-BE49-F238E27FC236}">
                <a16:creationId xmlns:a16="http://schemas.microsoft.com/office/drawing/2014/main" id="{623B74BA-D14E-0196-D807-72BA62A4BF29}"/>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EE686303-7AC5-C1DB-C466-5108E61EB754}"/>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A5815BC1-58DF-D53F-E244-E29E4EEC4D61}"/>
              </a:ext>
            </a:extLst>
          </p:cNvPr>
          <p:cNvSpPr>
            <a:spLocks noGrp="1"/>
          </p:cNvSpPr>
          <p:nvPr>
            <p:ph type="sldNum" sz="quarter" idx="4"/>
          </p:nvPr>
        </p:nvSpPr>
        <p:spPr/>
        <p:txBody>
          <a:bodyPr/>
          <a:lstStyle/>
          <a:p>
            <a:fld id="{9BFB3A76-8619-A843-8C67-B9C7C140DBAC}" type="slidenum">
              <a:rPr lang="en-US" smtClean="0"/>
              <a:t>25</a:t>
            </a:fld>
            <a:endParaRPr lang="en-US"/>
          </a:p>
        </p:txBody>
      </p:sp>
    </p:spTree>
    <p:extLst>
      <p:ext uri="{BB962C8B-B14F-4D97-AF65-F5344CB8AC3E}">
        <p14:creationId xmlns:p14="http://schemas.microsoft.com/office/powerpoint/2010/main" val="17251251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8419">
                                            <p:bg/>
                                          </p:spTgt>
                                        </p:tgtEl>
                                        <p:attrNameLst>
                                          <p:attrName>style.visibility</p:attrName>
                                        </p:attrNameLst>
                                      </p:cBhvr>
                                      <p:to>
                                        <p:strVal val="visible"/>
                                      </p:to>
                                    </p:set>
                                    <p:animEffect transition="in" filter="dissolve">
                                      <p:cBhvr>
                                        <p:cTn id="7" dur="500"/>
                                        <p:tgtEl>
                                          <p:spTgt spid="18841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8419">
                                            <p:txEl>
                                              <p:pRg st="0" end="0"/>
                                            </p:txEl>
                                          </p:spTgt>
                                        </p:tgtEl>
                                        <p:attrNameLst>
                                          <p:attrName>style.visibility</p:attrName>
                                        </p:attrNameLst>
                                      </p:cBhvr>
                                      <p:to>
                                        <p:strVal val="visible"/>
                                      </p:to>
                                    </p:set>
                                    <p:animEffect transition="in" filter="dissolve">
                                      <p:cBhvr>
                                        <p:cTn id="12" dur="500"/>
                                        <p:tgtEl>
                                          <p:spTgt spid="1884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8419">
                                            <p:txEl>
                                              <p:pRg st="1" end="1"/>
                                            </p:txEl>
                                          </p:spTgt>
                                        </p:tgtEl>
                                        <p:attrNameLst>
                                          <p:attrName>style.visibility</p:attrName>
                                        </p:attrNameLst>
                                      </p:cBhvr>
                                      <p:to>
                                        <p:strVal val="visible"/>
                                      </p:to>
                                    </p:set>
                                    <p:animEffect transition="in" filter="dissolve">
                                      <p:cBhvr>
                                        <p:cTn id="17" dur="500"/>
                                        <p:tgtEl>
                                          <p:spTgt spid="18841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8419">
                                            <p:txEl>
                                              <p:pRg st="2" end="2"/>
                                            </p:txEl>
                                          </p:spTgt>
                                        </p:tgtEl>
                                        <p:attrNameLst>
                                          <p:attrName>style.visibility</p:attrName>
                                        </p:attrNameLst>
                                      </p:cBhvr>
                                      <p:to>
                                        <p:strVal val="visible"/>
                                      </p:to>
                                    </p:set>
                                    <p:animEffect transition="in" filter="dissolve">
                                      <p:cBhvr>
                                        <p:cTn id="22" dur="500"/>
                                        <p:tgtEl>
                                          <p:spTgt spid="18841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8419">
                                            <p:txEl>
                                              <p:pRg st="3" end="3"/>
                                            </p:txEl>
                                          </p:spTgt>
                                        </p:tgtEl>
                                        <p:attrNameLst>
                                          <p:attrName>style.visibility</p:attrName>
                                        </p:attrNameLst>
                                      </p:cBhvr>
                                      <p:to>
                                        <p:strVal val="visible"/>
                                      </p:to>
                                    </p:set>
                                    <p:animEffect transition="in" filter="dissolve">
                                      <p:cBhvr>
                                        <p:cTn id="27" dur="500"/>
                                        <p:tgtEl>
                                          <p:spTgt spid="18841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8419">
                                            <p:txEl>
                                              <p:pRg st="4" end="4"/>
                                            </p:txEl>
                                          </p:spTgt>
                                        </p:tgtEl>
                                        <p:attrNameLst>
                                          <p:attrName>style.visibility</p:attrName>
                                        </p:attrNameLst>
                                      </p:cBhvr>
                                      <p:to>
                                        <p:strVal val="visible"/>
                                      </p:to>
                                    </p:set>
                                    <p:animEffect transition="in" filter="dissolve">
                                      <p:cBhvr>
                                        <p:cTn id="32" dur="500"/>
                                        <p:tgtEl>
                                          <p:spTgt spid="18841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88420">
                                            <p:bg/>
                                          </p:spTgt>
                                        </p:tgtEl>
                                        <p:attrNameLst>
                                          <p:attrName>style.visibility</p:attrName>
                                        </p:attrNameLst>
                                      </p:cBhvr>
                                      <p:to>
                                        <p:strVal val="visible"/>
                                      </p:to>
                                    </p:set>
                                    <p:animEffect transition="in" filter="dissolve">
                                      <p:cBhvr>
                                        <p:cTn id="37" dur="500"/>
                                        <p:tgtEl>
                                          <p:spTgt spid="188420">
                                            <p:bg/>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88420">
                                            <p:txEl>
                                              <p:pRg st="0" end="0"/>
                                            </p:txEl>
                                          </p:spTgt>
                                        </p:tgtEl>
                                        <p:attrNameLst>
                                          <p:attrName>style.visibility</p:attrName>
                                        </p:attrNameLst>
                                      </p:cBhvr>
                                      <p:to>
                                        <p:strVal val="visible"/>
                                      </p:to>
                                    </p:set>
                                    <p:animEffect transition="in" filter="dissolve">
                                      <p:cBhvr>
                                        <p:cTn id="42" dur="500"/>
                                        <p:tgtEl>
                                          <p:spTgt spid="1884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animBg="1" autoUpdateAnimBg="0"/>
      <p:bldP spid="188420" grpId="0" build="p"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3151" name="Group 95"/>
          <p:cNvGrpSpPr>
            <a:grpSpLocks/>
          </p:cNvGrpSpPr>
          <p:nvPr/>
        </p:nvGrpSpPr>
        <p:grpSpPr bwMode="auto">
          <a:xfrm>
            <a:off x="158750" y="893763"/>
            <a:ext cx="8826500" cy="3678237"/>
            <a:chOff x="100" y="563"/>
            <a:chExt cx="5560" cy="2317"/>
          </a:xfrm>
        </p:grpSpPr>
        <p:sp>
          <p:nvSpPr>
            <p:cNvPr id="173059" name="Rectangle 3"/>
            <p:cNvSpPr>
              <a:spLocks noChangeArrowheads="1"/>
            </p:cNvSpPr>
            <p:nvPr/>
          </p:nvSpPr>
          <p:spPr bwMode="auto">
            <a:xfrm>
              <a:off x="100" y="576"/>
              <a:ext cx="5560" cy="2304"/>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60" name="Rectangle 4"/>
            <p:cNvSpPr>
              <a:spLocks noChangeArrowheads="1"/>
            </p:cNvSpPr>
            <p:nvPr/>
          </p:nvSpPr>
          <p:spPr bwMode="auto">
            <a:xfrm>
              <a:off x="3796" y="1021"/>
              <a:ext cx="1864" cy="151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61" name="Line 5"/>
            <p:cNvSpPr>
              <a:spLocks noChangeShapeType="1"/>
            </p:cNvSpPr>
            <p:nvPr/>
          </p:nvSpPr>
          <p:spPr bwMode="auto">
            <a:xfrm>
              <a:off x="1072" y="2568"/>
              <a:ext cx="2464"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62" name="Line 6"/>
            <p:cNvSpPr>
              <a:spLocks noChangeShapeType="1"/>
            </p:cNvSpPr>
            <p:nvPr/>
          </p:nvSpPr>
          <p:spPr bwMode="auto">
            <a:xfrm flipV="1">
              <a:off x="1056" y="964"/>
              <a:ext cx="0" cy="1604"/>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63" name="Rectangle 7"/>
            <p:cNvSpPr>
              <a:spLocks noChangeArrowheads="1"/>
            </p:cNvSpPr>
            <p:nvPr/>
          </p:nvSpPr>
          <p:spPr bwMode="auto">
            <a:xfrm>
              <a:off x="411" y="2245"/>
              <a:ext cx="42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i="1">
                  <a:solidFill>
                    <a:srgbClr val="000000"/>
                  </a:solidFill>
                </a:rPr>
                <a:t>LP A</a:t>
              </a:r>
            </a:p>
          </p:txBody>
        </p:sp>
        <p:sp>
          <p:nvSpPr>
            <p:cNvPr id="173064" name="Rectangle 8"/>
            <p:cNvSpPr>
              <a:spLocks noChangeArrowheads="1"/>
            </p:cNvSpPr>
            <p:nvPr/>
          </p:nvSpPr>
          <p:spPr bwMode="auto">
            <a:xfrm>
              <a:off x="411" y="1876"/>
              <a:ext cx="42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i="1">
                  <a:solidFill>
                    <a:srgbClr val="000000"/>
                  </a:solidFill>
                </a:rPr>
                <a:t>LP B</a:t>
              </a:r>
            </a:p>
          </p:txBody>
        </p:sp>
        <p:sp>
          <p:nvSpPr>
            <p:cNvPr id="173065" name="Rectangle 9"/>
            <p:cNvSpPr>
              <a:spLocks noChangeArrowheads="1"/>
            </p:cNvSpPr>
            <p:nvPr/>
          </p:nvSpPr>
          <p:spPr bwMode="auto">
            <a:xfrm>
              <a:off x="407" y="1466"/>
              <a:ext cx="434"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i="1">
                  <a:solidFill>
                    <a:srgbClr val="000000"/>
                  </a:solidFill>
                </a:rPr>
                <a:t>LP C</a:t>
              </a:r>
            </a:p>
          </p:txBody>
        </p:sp>
        <p:sp>
          <p:nvSpPr>
            <p:cNvPr id="173066" name="Rectangle 10"/>
            <p:cNvSpPr>
              <a:spLocks noChangeArrowheads="1"/>
            </p:cNvSpPr>
            <p:nvPr/>
          </p:nvSpPr>
          <p:spPr bwMode="auto">
            <a:xfrm>
              <a:off x="407" y="1097"/>
              <a:ext cx="434"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i="1">
                  <a:solidFill>
                    <a:srgbClr val="000000"/>
                  </a:solidFill>
                </a:rPr>
                <a:t>LP D</a:t>
              </a:r>
            </a:p>
          </p:txBody>
        </p:sp>
        <p:sp>
          <p:nvSpPr>
            <p:cNvPr id="173067" name="Line 11"/>
            <p:cNvSpPr>
              <a:spLocks noChangeShapeType="1"/>
            </p:cNvSpPr>
            <p:nvPr/>
          </p:nvSpPr>
          <p:spPr bwMode="auto">
            <a:xfrm>
              <a:off x="1060" y="1182"/>
              <a:ext cx="2536"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68" name="Line 12"/>
            <p:cNvSpPr>
              <a:spLocks noChangeShapeType="1"/>
            </p:cNvSpPr>
            <p:nvPr/>
          </p:nvSpPr>
          <p:spPr bwMode="auto">
            <a:xfrm>
              <a:off x="1060" y="1571"/>
              <a:ext cx="2536"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69" name="Line 13"/>
            <p:cNvSpPr>
              <a:spLocks noChangeShapeType="1"/>
            </p:cNvSpPr>
            <p:nvPr/>
          </p:nvSpPr>
          <p:spPr bwMode="auto">
            <a:xfrm>
              <a:off x="1060" y="1961"/>
              <a:ext cx="2536"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70" name="Line 14"/>
            <p:cNvSpPr>
              <a:spLocks noChangeShapeType="1"/>
            </p:cNvSpPr>
            <p:nvPr/>
          </p:nvSpPr>
          <p:spPr bwMode="auto">
            <a:xfrm>
              <a:off x="1060" y="2351"/>
              <a:ext cx="2536"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71" name="Rectangle 15"/>
            <p:cNvSpPr>
              <a:spLocks noChangeArrowheads="1"/>
            </p:cNvSpPr>
            <p:nvPr/>
          </p:nvSpPr>
          <p:spPr bwMode="auto">
            <a:xfrm>
              <a:off x="2941" y="2591"/>
              <a:ext cx="994"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i="1">
                  <a:solidFill>
                    <a:srgbClr val="000000"/>
                  </a:solidFill>
                </a:rPr>
                <a:t>Logical Time</a:t>
              </a:r>
            </a:p>
          </p:txBody>
        </p:sp>
        <p:sp>
          <p:nvSpPr>
            <p:cNvPr id="173072" name="Rectangle 16"/>
            <p:cNvSpPr>
              <a:spLocks noChangeArrowheads="1"/>
            </p:cNvSpPr>
            <p:nvPr/>
          </p:nvSpPr>
          <p:spPr bwMode="auto">
            <a:xfrm>
              <a:off x="131" y="563"/>
              <a:ext cx="3753" cy="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2000" i="1">
                  <a:solidFill>
                    <a:srgbClr val="000000"/>
                  </a:solidFill>
                </a:rPr>
                <a:t>problem: limited concurrency</a:t>
              </a:r>
            </a:p>
            <a:p>
              <a:r>
                <a:rPr lang="en-US" altLang="it-IT" sz="2000" i="1">
                  <a:solidFill>
                    <a:srgbClr val="000000"/>
                  </a:solidFill>
                </a:rPr>
                <a:t>each LP must process events in time stamp order   </a:t>
              </a:r>
            </a:p>
          </p:txBody>
        </p:sp>
        <p:sp>
          <p:nvSpPr>
            <p:cNvPr id="173073" name="Line 17"/>
            <p:cNvSpPr>
              <a:spLocks noChangeShapeType="1"/>
            </p:cNvSpPr>
            <p:nvPr/>
          </p:nvSpPr>
          <p:spPr bwMode="auto">
            <a:xfrm>
              <a:off x="1344" y="2528"/>
              <a:ext cx="0" cy="7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74" name="Rectangle 18"/>
            <p:cNvSpPr>
              <a:spLocks noChangeArrowheads="1"/>
            </p:cNvSpPr>
            <p:nvPr/>
          </p:nvSpPr>
          <p:spPr bwMode="auto">
            <a:xfrm>
              <a:off x="1171" y="2591"/>
              <a:ext cx="34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solidFill>
                    <a:srgbClr val="000000"/>
                  </a:solidFill>
                </a:rPr>
                <a:t>LT</a:t>
              </a:r>
              <a:r>
                <a:rPr lang="en-US" altLang="it-IT" baseline="-25000">
                  <a:solidFill>
                    <a:srgbClr val="000000"/>
                  </a:solidFill>
                </a:rPr>
                <a:t>A</a:t>
              </a:r>
            </a:p>
          </p:txBody>
        </p:sp>
        <p:sp>
          <p:nvSpPr>
            <p:cNvPr id="173076" name="Line 20"/>
            <p:cNvSpPr>
              <a:spLocks noChangeShapeType="1"/>
            </p:cNvSpPr>
            <p:nvPr/>
          </p:nvSpPr>
          <p:spPr bwMode="auto">
            <a:xfrm>
              <a:off x="2448" y="2528"/>
              <a:ext cx="0" cy="7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79" name="Rectangle 23"/>
            <p:cNvSpPr>
              <a:spLocks noChangeArrowheads="1"/>
            </p:cNvSpPr>
            <p:nvPr/>
          </p:nvSpPr>
          <p:spPr bwMode="auto">
            <a:xfrm>
              <a:off x="2644" y="2311"/>
              <a:ext cx="88" cy="8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0" name="Rectangle 24"/>
            <p:cNvSpPr>
              <a:spLocks noChangeArrowheads="1"/>
            </p:cNvSpPr>
            <p:nvPr/>
          </p:nvSpPr>
          <p:spPr bwMode="auto">
            <a:xfrm>
              <a:off x="2980" y="2311"/>
              <a:ext cx="88" cy="8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1" name="Rectangle 25"/>
            <p:cNvSpPr>
              <a:spLocks noChangeArrowheads="1"/>
            </p:cNvSpPr>
            <p:nvPr/>
          </p:nvSpPr>
          <p:spPr bwMode="auto">
            <a:xfrm>
              <a:off x="3316" y="2311"/>
              <a:ext cx="88" cy="8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4" name="Rectangle 28"/>
            <p:cNvSpPr>
              <a:spLocks noChangeArrowheads="1"/>
            </p:cNvSpPr>
            <p:nvPr/>
          </p:nvSpPr>
          <p:spPr bwMode="auto">
            <a:xfrm>
              <a:off x="2788" y="1921"/>
              <a:ext cx="88" cy="8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5" name="Rectangle 29"/>
            <p:cNvSpPr>
              <a:spLocks noChangeArrowheads="1"/>
            </p:cNvSpPr>
            <p:nvPr/>
          </p:nvSpPr>
          <p:spPr bwMode="auto">
            <a:xfrm>
              <a:off x="3412" y="1921"/>
              <a:ext cx="88" cy="8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9" name="Rectangle 33"/>
            <p:cNvSpPr>
              <a:spLocks noChangeArrowheads="1"/>
            </p:cNvSpPr>
            <p:nvPr/>
          </p:nvSpPr>
          <p:spPr bwMode="auto">
            <a:xfrm>
              <a:off x="2836" y="1531"/>
              <a:ext cx="88" cy="8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0" name="Rectangle 34"/>
            <p:cNvSpPr>
              <a:spLocks noChangeArrowheads="1"/>
            </p:cNvSpPr>
            <p:nvPr/>
          </p:nvSpPr>
          <p:spPr bwMode="auto">
            <a:xfrm>
              <a:off x="2980" y="1531"/>
              <a:ext cx="88" cy="8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grpSp>
          <p:nvGrpSpPr>
            <p:cNvPr id="173136" name="Group 80"/>
            <p:cNvGrpSpPr>
              <a:grpSpLocks/>
            </p:cNvGrpSpPr>
            <p:nvPr/>
          </p:nvGrpSpPr>
          <p:grpSpPr bwMode="auto">
            <a:xfrm>
              <a:off x="1440" y="1152"/>
              <a:ext cx="904" cy="1232"/>
              <a:chOff x="1440" y="1008"/>
              <a:chExt cx="904" cy="1232"/>
            </a:xfrm>
          </p:grpSpPr>
          <p:sp>
            <p:nvSpPr>
              <p:cNvPr id="173077" name="Rectangle 21"/>
              <p:cNvSpPr>
                <a:spLocks noChangeArrowheads="1"/>
              </p:cNvSpPr>
              <p:nvPr/>
            </p:nvSpPr>
            <p:spPr bwMode="auto">
              <a:xfrm>
                <a:off x="1680" y="2160"/>
                <a:ext cx="88" cy="8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78" name="Rectangle 22"/>
              <p:cNvSpPr>
                <a:spLocks noChangeArrowheads="1"/>
              </p:cNvSpPr>
              <p:nvPr/>
            </p:nvSpPr>
            <p:spPr bwMode="auto">
              <a:xfrm>
                <a:off x="2064" y="2160"/>
                <a:ext cx="88" cy="8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2" name="Rectangle 26"/>
              <p:cNvSpPr>
                <a:spLocks noChangeArrowheads="1"/>
              </p:cNvSpPr>
              <p:nvPr/>
            </p:nvSpPr>
            <p:spPr bwMode="auto">
              <a:xfrm>
                <a:off x="1440" y="1776"/>
                <a:ext cx="88" cy="8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3" name="Rectangle 27"/>
              <p:cNvSpPr>
                <a:spLocks noChangeArrowheads="1"/>
              </p:cNvSpPr>
              <p:nvPr/>
            </p:nvSpPr>
            <p:spPr bwMode="auto">
              <a:xfrm>
                <a:off x="2112" y="1776"/>
                <a:ext cx="88" cy="8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6" name="Rectangle 30"/>
              <p:cNvSpPr>
                <a:spLocks noChangeArrowheads="1"/>
              </p:cNvSpPr>
              <p:nvPr/>
            </p:nvSpPr>
            <p:spPr bwMode="auto">
              <a:xfrm>
                <a:off x="1728" y="1392"/>
                <a:ext cx="88" cy="8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7" name="Rectangle 31"/>
              <p:cNvSpPr>
                <a:spLocks noChangeArrowheads="1"/>
              </p:cNvSpPr>
              <p:nvPr/>
            </p:nvSpPr>
            <p:spPr bwMode="auto">
              <a:xfrm>
                <a:off x="2112" y="1392"/>
                <a:ext cx="88" cy="8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88" name="Rectangle 32"/>
              <p:cNvSpPr>
                <a:spLocks noChangeArrowheads="1"/>
              </p:cNvSpPr>
              <p:nvPr/>
            </p:nvSpPr>
            <p:spPr bwMode="auto">
              <a:xfrm>
                <a:off x="2256" y="1392"/>
                <a:ext cx="88" cy="8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1" name="Rectangle 35"/>
              <p:cNvSpPr>
                <a:spLocks noChangeArrowheads="1"/>
              </p:cNvSpPr>
              <p:nvPr/>
            </p:nvSpPr>
            <p:spPr bwMode="auto">
              <a:xfrm>
                <a:off x="1488" y="1008"/>
                <a:ext cx="88" cy="78"/>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2" name="Rectangle 36"/>
              <p:cNvSpPr>
                <a:spLocks noChangeArrowheads="1"/>
              </p:cNvSpPr>
              <p:nvPr/>
            </p:nvSpPr>
            <p:spPr bwMode="auto">
              <a:xfrm>
                <a:off x="2208" y="1008"/>
                <a:ext cx="88" cy="78"/>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grpSp>
        <p:sp>
          <p:nvSpPr>
            <p:cNvPr id="173093" name="Rectangle 37"/>
            <p:cNvSpPr>
              <a:spLocks noChangeArrowheads="1"/>
            </p:cNvSpPr>
            <p:nvPr/>
          </p:nvSpPr>
          <p:spPr bwMode="auto">
            <a:xfrm>
              <a:off x="3076" y="1142"/>
              <a:ext cx="88" cy="7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4" name="Rectangle 38"/>
            <p:cNvSpPr>
              <a:spLocks noChangeArrowheads="1"/>
            </p:cNvSpPr>
            <p:nvPr/>
          </p:nvSpPr>
          <p:spPr bwMode="auto">
            <a:xfrm>
              <a:off x="3268" y="1142"/>
              <a:ext cx="88" cy="7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5" name="Rectangle 39"/>
            <p:cNvSpPr>
              <a:spLocks noChangeArrowheads="1"/>
            </p:cNvSpPr>
            <p:nvPr/>
          </p:nvSpPr>
          <p:spPr bwMode="auto">
            <a:xfrm>
              <a:off x="3412" y="1142"/>
              <a:ext cx="88" cy="7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6" name="Line 40"/>
            <p:cNvSpPr>
              <a:spLocks noChangeShapeType="1"/>
            </p:cNvSpPr>
            <p:nvPr/>
          </p:nvSpPr>
          <p:spPr bwMode="auto">
            <a:xfrm flipV="1">
              <a:off x="1344" y="964"/>
              <a:ext cx="0" cy="1560"/>
            </a:xfrm>
            <a:prstGeom prst="line">
              <a:avLst/>
            </a:prstGeom>
            <a:noFill/>
            <a:ln w="12700">
              <a:solidFill>
                <a:srgbClr val="081D58"/>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8" name="Rectangle 42"/>
            <p:cNvSpPr>
              <a:spLocks noChangeArrowheads="1"/>
            </p:cNvSpPr>
            <p:nvPr/>
          </p:nvSpPr>
          <p:spPr bwMode="auto">
            <a:xfrm>
              <a:off x="1300" y="2311"/>
              <a:ext cx="88" cy="80"/>
            </a:xfrm>
            <a:prstGeom prst="rect">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099" name="Line 43"/>
            <p:cNvSpPr>
              <a:spLocks noChangeShapeType="1"/>
            </p:cNvSpPr>
            <p:nvPr/>
          </p:nvSpPr>
          <p:spPr bwMode="auto">
            <a:xfrm flipV="1">
              <a:off x="1360" y="1571"/>
              <a:ext cx="1" cy="388"/>
            </a:xfrm>
            <a:prstGeom prst="line">
              <a:avLst/>
            </a:prstGeom>
            <a:noFill/>
            <a:ln w="127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0" name="Line 44"/>
            <p:cNvSpPr>
              <a:spLocks noChangeShapeType="1"/>
            </p:cNvSpPr>
            <p:nvPr/>
          </p:nvSpPr>
          <p:spPr bwMode="auto">
            <a:xfrm flipV="1">
              <a:off x="1358" y="1182"/>
              <a:ext cx="9" cy="386"/>
            </a:xfrm>
            <a:prstGeom prst="line">
              <a:avLst/>
            </a:prstGeom>
            <a:noFill/>
            <a:ln w="127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1" name="Line 45"/>
            <p:cNvSpPr>
              <a:spLocks noChangeShapeType="1"/>
            </p:cNvSpPr>
            <p:nvPr/>
          </p:nvSpPr>
          <p:spPr bwMode="auto">
            <a:xfrm flipV="1">
              <a:off x="1348" y="1959"/>
              <a:ext cx="9" cy="348"/>
            </a:xfrm>
            <a:prstGeom prst="line">
              <a:avLst/>
            </a:prstGeom>
            <a:noFill/>
            <a:ln w="127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2" name="Line 46"/>
            <p:cNvSpPr>
              <a:spLocks noChangeShapeType="1"/>
            </p:cNvSpPr>
            <p:nvPr/>
          </p:nvSpPr>
          <p:spPr bwMode="auto">
            <a:xfrm>
              <a:off x="3892" y="1320"/>
              <a:ext cx="232" cy="0"/>
            </a:xfrm>
            <a:prstGeom prst="line">
              <a:avLst/>
            </a:prstGeom>
            <a:noFill/>
            <a:ln w="127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3" name="Rectangle 47"/>
            <p:cNvSpPr>
              <a:spLocks noChangeArrowheads="1"/>
            </p:cNvSpPr>
            <p:nvPr/>
          </p:nvSpPr>
          <p:spPr bwMode="auto">
            <a:xfrm>
              <a:off x="4115" y="1215"/>
              <a:ext cx="126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solidFill>
                    <a:srgbClr val="000000"/>
                  </a:solidFill>
                </a:rPr>
                <a:t>possible message</a:t>
              </a:r>
            </a:p>
          </p:txBody>
        </p:sp>
        <p:sp>
          <p:nvSpPr>
            <p:cNvPr id="173109" name="Rectangle 53"/>
            <p:cNvSpPr>
              <a:spLocks noChangeArrowheads="1"/>
            </p:cNvSpPr>
            <p:nvPr/>
          </p:nvSpPr>
          <p:spPr bwMode="auto">
            <a:xfrm>
              <a:off x="4036" y="1454"/>
              <a:ext cx="88" cy="80"/>
            </a:xfrm>
            <a:prstGeom prst="rect">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10" name="Rectangle 54"/>
            <p:cNvSpPr>
              <a:spLocks noChangeArrowheads="1"/>
            </p:cNvSpPr>
            <p:nvPr/>
          </p:nvSpPr>
          <p:spPr bwMode="auto">
            <a:xfrm>
              <a:off x="4115" y="1388"/>
              <a:ext cx="102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solidFill>
                    <a:srgbClr val="000000"/>
                  </a:solidFill>
                </a:rPr>
                <a:t>OK to process</a:t>
              </a:r>
            </a:p>
          </p:txBody>
        </p:sp>
        <p:sp>
          <p:nvSpPr>
            <p:cNvPr id="173114" name="Rectangle 58"/>
            <p:cNvSpPr>
              <a:spLocks noChangeArrowheads="1"/>
            </p:cNvSpPr>
            <p:nvPr/>
          </p:nvSpPr>
          <p:spPr bwMode="auto">
            <a:xfrm>
              <a:off x="1803" y="914"/>
              <a:ext cx="4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i="1">
                  <a:solidFill>
                    <a:srgbClr val="000000"/>
                  </a:solidFill>
                </a:rPr>
                <a:t>event</a:t>
              </a:r>
            </a:p>
          </p:txBody>
        </p:sp>
        <p:sp>
          <p:nvSpPr>
            <p:cNvPr id="173115" name="Line 59"/>
            <p:cNvSpPr>
              <a:spLocks noChangeShapeType="1"/>
            </p:cNvSpPr>
            <p:nvPr/>
          </p:nvSpPr>
          <p:spPr bwMode="auto">
            <a:xfrm flipH="1">
              <a:off x="1632" y="1012"/>
              <a:ext cx="192" cy="12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16" name="Rectangle 60"/>
            <p:cNvSpPr>
              <a:spLocks noChangeArrowheads="1"/>
            </p:cNvSpPr>
            <p:nvPr/>
          </p:nvSpPr>
          <p:spPr bwMode="auto">
            <a:xfrm>
              <a:off x="4036" y="2365"/>
              <a:ext cx="88" cy="7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17" name="Rectangle 61"/>
            <p:cNvSpPr>
              <a:spLocks noChangeArrowheads="1"/>
            </p:cNvSpPr>
            <p:nvPr/>
          </p:nvSpPr>
          <p:spPr bwMode="auto">
            <a:xfrm>
              <a:off x="4115" y="2297"/>
              <a:ext cx="149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solidFill>
                    <a:srgbClr val="000000"/>
                  </a:solidFill>
                </a:rPr>
                <a:t>not OK to process yet</a:t>
              </a:r>
            </a:p>
          </p:txBody>
        </p:sp>
        <p:sp>
          <p:nvSpPr>
            <p:cNvPr id="173118" name="Rectangle 62"/>
            <p:cNvSpPr>
              <a:spLocks noChangeArrowheads="1"/>
            </p:cNvSpPr>
            <p:nvPr/>
          </p:nvSpPr>
          <p:spPr bwMode="auto">
            <a:xfrm>
              <a:off x="3971" y="1037"/>
              <a:ext cx="137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b="1" i="1">
                  <a:solidFill>
                    <a:srgbClr val="000000"/>
                  </a:solidFill>
                </a:rPr>
                <a:t>without lookahead</a:t>
              </a:r>
            </a:p>
          </p:txBody>
        </p:sp>
      </p:grpSp>
      <p:sp>
        <p:nvSpPr>
          <p:cNvPr id="173122" name="Rectangle 66"/>
          <p:cNvSpPr>
            <a:spLocks noChangeArrowheads="1"/>
          </p:cNvSpPr>
          <p:nvPr/>
        </p:nvSpPr>
        <p:spPr bwMode="auto">
          <a:xfrm>
            <a:off x="158750" y="4572000"/>
            <a:ext cx="8826500" cy="1441450"/>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buFont typeface="Arial" panose="020B0604020202020204" pitchFamily="34" charset="0"/>
              <a:buChar char="•"/>
            </a:pPr>
            <a:r>
              <a:rPr lang="en-US" altLang="it-IT" sz="2000">
                <a:solidFill>
                  <a:srgbClr val="000000"/>
                </a:solidFill>
                <a:latin typeface="Helvetica" charset="0"/>
              </a:rPr>
              <a:t>LP A using logical time LT</a:t>
            </a:r>
            <a:r>
              <a:rPr lang="en-US" altLang="it-IT" sz="2000" baseline="-25000">
                <a:solidFill>
                  <a:srgbClr val="000000"/>
                </a:solidFill>
                <a:latin typeface="Helvetica" charset="0"/>
              </a:rPr>
              <a:t>A</a:t>
            </a:r>
            <a:r>
              <a:rPr lang="en-US" altLang="it-IT" sz="2000">
                <a:solidFill>
                  <a:srgbClr val="000000"/>
                </a:solidFill>
                <a:latin typeface="Helvetica" charset="0"/>
              </a:rPr>
              <a:t> declares a </a:t>
            </a:r>
            <a:r>
              <a:rPr lang="en-US" altLang="it-IT" sz="2000" err="1">
                <a:solidFill>
                  <a:srgbClr val="000000"/>
                </a:solidFill>
                <a:latin typeface="Helvetica" charset="0"/>
              </a:rPr>
              <a:t>lookahead</a:t>
            </a:r>
            <a:r>
              <a:rPr lang="en-US" altLang="it-IT" sz="2000">
                <a:solidFill>
                  <a:srgbClr val="000000"/>
                </a:solidFill>
                <a:latin typeface="Helvetica" charset="0"/>
              </a:rPr>
              <a:t> value L</a:t>
            </a:r>
            <a:r>
              <a:rPr lang="en-US" altLang="it-IT" sz="2000" baseline="-25000">
                <a:solidFill>
                  <a:srgbClr val="000000"/>
                </a:solidFill>
                <a:latin typeface="Helvetica" charset="0"/>
              </a:rPr>
              <a:t>A</a:t>
            </a:r>
            <a:r>
              <a:rPr lang="en-US" altLang="it-IT" sz="2000">
                <a:solidFill>
                  <a:srgbClr val="000000"/>
                </a:solidFill>
                <a:latin typeface="Helvetica" charset="0"/>
              </a:rPr>
              <a:t>; the time stamp of any event generated by the LP must be ≥ LT</a:t>
            </a:r>
            <a:r>
              <a:rPr lang="en-US" altLang="it-IT" sz="2000" baseline="-25000">
                <a:solidFill>
                  <a:srgbClr val="000000"/>
                </a:solidFill>
                <a:latin typeface="Helvetica" charset="0"/>
              </a:rPr>
              <a:t>A</a:t>
            </a:r>
            <a:r>
              <a:rPr lang="en-US" altLang="it-IT" sz="2000">
                <a:solidFill>
                  <a:srgbClr val="000000"/>
                </a:solidFill>
                <a:latin typeface="Helvetica" charset="0"/>
              </a:rPr>
              <a:t>+ L</a:t>
            </a:r>
            <a:r>
              <a:rPr lang="en-US" altLang="it-IT" sz="2000" baseline="-25000">
                <a:solidFill>
                  <a:srgbClr val="000000"/>
                </a:solidFill>
                <a:latin typeface="Helvetica" charset="0"/>
              </a:rPr>
              <a:t>A</a:t>
            </a:r>
            <a:endParaRPr lang="en-US" altLang="it-IT" sz="2000">
              <a:solidFill>
                <a:srgbClr val="000000"/>
              </a:solidFill>
              <a:latin typeface="Helvetica" charset="0"/>
            </a:endParaRPr>
          </a:p>
        </p:txBody>
      </p:sp>
      <p:sp>
        <p:nvSpPr>
          <p:cNvPr id="173123" name="Rectangle 67"/>
          <p:cNvSpPr>
            <a:spLocks noChangeArrowheads="1"/>
          </p:cNvSpPr>
          <p:nvPr/>
        </p:nvSpPr>
        <p:spPr bwMode="auto">
          <a:xfrm>
            <a:off x="152400" y="6015038"/>
            <a:ext cx="8831263" cy="711200"/>
          </a:xfrm>
          <a:prstGeom prst="rect">
            <a:avLst/>
          </a:prstGeom>
          <a:solidFill>
            <a:srgbClr val="FFC5C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15875" indent="-15875">
              <a:spcBef>
                <a:spcPct val="20000"/>
              </a:spcBef>
            </a:pPr>
            <a:r>
              <a:rPr lang="en-US" altLang="it-IT" sz="2000" err="1">
                <a:solidFill>
                  <a:srgbClr val="000000"/>
                </a:solidFill>
                <a:latin typeface="Helvetica" charset="0"/>
              </a:rPr>
              <a:t>Lookahead</a:t>
            </a:r>
            <a:r>
              <a:rPr lang="en-US" altLang="it-IT" sz="2000">
                <a:solidFill>
                  <a:srgbClr val="000000"/>
                </a:solidFill>
                <a:latin typeface="Helvetica" charset="0"/>
              </a:rPr>
              <a:t> is necessary to allow concurrent processing of events with different time stamps (unless optimistic event processing is used)</a:t>
            </a:r>
          </a:p>
        </p:txBody>
      </p:sp>
      <p:sp>
        <p:nvSpPr>
          <p:cNvPr id="173124" name="Rectangle 68"/>
          <p:cNvSpPr>
            <a:spLocks noChangeArrowheads="1"/>
          </p:cNvSpPr>
          <p:nvPr/>
        </p:nvSpPr>
        <p:spPr bwMode="auto">
          <a:xfrm>
            <a:off x="158750" y="82550"/>
            <a:ext cx="8826500" cy="444500"/>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nchor="ctr"/>
          <a:lstStyle>
            <a:lvl1pPr algn="ctr">
              <a:defRPr sz="3600" b="1">
                <a:solidFill>
                  <a:schemeClr val="tx2"/>
                </a:solidFill>
                <a:latin typeface="Helvetica" charset="0"/>
              </a:defRPr>
            </a:lvl1pPr>
            <a:lvl2pPr algn="ctr">
              <a:defRPr sz="3600" b="1">
                <a:solidFill>
                  <a:schemeClr val="tx2"/>
                </a:solidFill>
                <a:latin typeface="Helvetica" charset="0"/>
              </a:defRPr>
            </a:lvl2pPr>
            <a:lvl3pPr algn="ctr">
              <a:defRPr sz="3600" b="1">
                <a:solidFill>
                  <a:schemeClr val="tx2"/>
                </a:solidFill>
                <a:latin typeface="Helvetica" charset="0"/>
              </a:defRPr>
            </a:lvl3pPr>
            <a:lvl4pPr algn="ctr">
              <a:defRPr sz="3600" b="1">
                <a:solidFill>
                  <a:schemeClr val="tx2"/>
                </a:solidFill>
                <a:latin typeface="Helvetica" charset="0"/>
              </a:defRPr>
            </a:lvl4pPr>
            <a:lvl5pPr algn="ctr">
              <a:defRPr sz="3600" b="1">
                <a:solidFill>
                  <a:schemeClr val="tx2"/>
                </a:solidFill>
                <a:latin typeface="Helvetica" charset="0"/>
              </a:defRPr>
            </a:lvl5pPr>
            <a:lvl6pPr marL="457200" algn="ctr" eaLnBrk="0" fontAlgn="base" hangingPunct="0">
              <a:spcBef>
                <a:spcPct val="0"/>
              </a:spcBef>
              <a:spcAft>
                <a:spcPct val="0"/>
              </a:spcAft>
              <a:defRPr sz="3600" b="1">
                <a:solidFill>
                  <a:schemeClr val="tx2"/>
                </a:solidFill>
                <a:latin typeface="Helvetica" charset="0"/>
              </a:defRPr>
            </a:lvl6pPr>
            <a:lvl7pPr marL="914400" algn="ctr" eaLnBrk="0" fontAlgn="base" hangingPunct="0">
              <a:spcBef>
                <a:spcPct val="0"/>
              </a:spcBef>
              <a:spcAft>
                <a:spcPct val="0"/>
              </a:spcAft>
              <a:defRPr sz="3600" b="1">
                <a:solidFill>
                  <a:schemeClr val="tx2"/>
                </a:solidFill>
                <a:latin typeface="Helvetica" charset="0"/>
              </a:defRPr>
            </a:lvl7pPr>
            <a:lvl8pPr marL="1371600" algn="ctr" eaLnBrk="0" fontAlgn="base" hangingPunct="0">
              <a:spcBef>
                <a:spcPct val="0"/>
              </a:spcBef>
              <a:spcAft>
                <a:spcPct val="0"/>
              </a:spcAft>
              <a:defRPr sz="3600" b="1">
                <a:solidFill>
                  <a:schemeClr val="tx2"/>
                </a:solidFill>
                <a:latin typeface="Helvetica" charset="0"/>
              </a:defRPr>
            </a:lvl8pPr>
            <a:lvl9pPr marL="1828800" algn="ctr" eaLnBrk="0" fontAlgn="base" hangingPunct="0">
              <a:spcBef>
                <a:spcPct val="0"/>
              </a:spcBef>
              <a:spcAft>
                <a:spcPct val="0"/>
              </a:spcAft>
              <a:defRPr sz="3600" b="1">
                <a:solidFill>
                  <a:schemeClr val="tx2"/>
                </a:solidFill>
                <a:latin typeface="Helvetica" charset="0"/>
              </a:defRPr>
            </a:lvl9pPr>
          </a:lstStyle>
          <a:p>
            <a:r>
              <a:rPr lang="en-US" altLang="it-IT">
                <a:solidFill>
                  <a:srgbClr val="000000"/>
                </a:solidFill>
              </a:rPr>
              <a:t>Why Lookahead is Important</a:t>
            </a:r>
          </a:p>
        </p:txBody>
      </p:sp>
      <p:grpSp>
        <p:nvGrpSpPr>
          <p:cNvPr id="173148" name="Group 92"/>
          <p:cNvGrpSpPr>
            <a:grpSpLocks/>
          </p:cNvGrpSpPr>
          <p:nvPr/>
        </p:nvGrpSpPr>
        <p:grpSpPr bwMode="auto">
          <a:xfrm>
            <a:off x="2139950" y="1600200"/>
            <a:ext cx="6845300" cy="2876550"/>
            <a:chOff x="1348" y="864"/>
            <a:chExt cx="4312" cy="1812"/>
          </a:xfrm>
        </p:grpSpPr>
        <p:sp>
          <p:nvSpPr>
            <p:cNvPr id="173107" name="Line 51"/>
            <p:cNvSpPr>
              <a:spLocks noChangeShapeType="1"/>
            </p:cNvSpPr>
            <p:nvPr/>
          </p:nvSpPr>
          <p:spPr bwMode="auto">
            <a:xfrm>
              <a:off x="3892" y="1784"/>
              <a:ext cx="232" cy="0"/>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8" name="Rectangle 52"/>
            <p:cNvSpPr>
              <a:spLocks noChangeArrowheads="1"/>
            </p:cNvSpPr>
            <p:nvPr/>
          </p:nvSpPr>
          <p:spPr bwMode="auto">
            <a:xfrm>
              <a:off x="4115" y="1678"/>
              <a:ext cx="126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solidFill>
                    <a:srgbClr val="000000"/>
                  </a:solidFill>
                </a:rPr>
                <a:t>possible message</a:t>
              </a:r>
            </a:p>
          </p:txBody>
        </p:sp>
        <p:sp>
          <p:nvSpPr>
            <p:cNvPr id="173111" name="Rectangle 55"/>
            <p:cNvSpPr>
              <a:spLocks noChangeArrowheads="1"/>
            </p:cNvSpPr>
            <p:nvPr/>
          </p:nvSpPr>
          <p:spPr bwMode="auto">
            <a:xfrm>
              <a:off x="3892" y="1961"/>
              <a:ext cx="88" cy="78"/>
            </a:xfrm>
            <a:prstGeom prst="rect">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12" name="Rectangle 56"/>
            <p:cNvSpPr>
              <a:spLocks noChangeArrowheads="1"/>
            </p:cNvSpPr>
            <p:nvPr/>
          </p:nvSpPr>
          <p:spPr bwMode="auto">
            <a:xfrm>
              <a:off x="4115" y="1894"/>
              <a:ext cx="102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solidFill>
                    <a:srgbClr val="000000"/>
                  </a:solidFill>
                </a:rPr>
                <a:t>OK to process</a:t>
              </a:r>
            </a:p>
          </p:txBody>
        </p:sp>
        <p:sp>
          <p:nvSpPr>
            <p:cNvPr id="173113" name="Rectangle 57"/>
            <p:cNvSpPr>
              <a:spLocks noChangeArrowheads="1"/>
            </p:cNvSpPr>
            <p:nvPr/>
          </p:nvSpPr>
          <p:spPr bwMode="auto">
            <a:xfrm>
              <a:off x="4036" y="1961"/>
              <a:ext cx="88" cy="78"/>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19" name="Rectangle 63"/>
            <p:cNvSpPr>
              <a:spLocks noChangeArrowheads="1"/>
            </p:cNvSpPr>
            <p:nvPr/>
          </p:nvSpPr>
          <p:spPr bwMode="auto">
            <a:xfrm>
              <a:off x="3971" y="1500"/>
              <a:ext cx="1154"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b="1" i="1">
                  <a:solidFill>
                    <a:srgbClr val="000000"/>
                  </a:solidFill>
                </a:rPr>
                <a:t>with lookahead</a:t>
              </a:r>
            </a:p>
          </p:txBody>
        </p:sp>
        <p:sp>
          <p:nvSpPr>
            <p:cNvPr id="173120" name="Line 64"/>
            <p:cNvSpPr>
              <a:spLocks noChangeShapeType="1"/>
            </p:cNvSpPr>
            <p:nvPr/>
          </p:nvSpPr>
          <p:spPr bwMode="auto">
            <a:xfrm>
              <a:off x="3796" y="1479"/>
              <a:ext cx="1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21" name="Line 65"/>
            <p:cNvSpPr>
              <a:spLocks noChangeShapeType="1"/>
            </p:cNvSpPr>
            <p:nvPr/>
          </p:nvSpPr>
          <p:spPr bwMode="auto">
            <a:xfrm>
              <a:off x="3796" y="2129"/>
              <a:ext cx="1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grpSp>
          <p:nvGrpSpPr>
            <p:cNvPr id="173147" name="Group 91"/>
            <p:cNvGrpSpPr>
              <a:grpSpLocks/>
            </p:cNvGrpSpPr>
            <p:nvPr/>
          </p:nvGrpSpPr>
          <p:grpSpPr bwMode="auto">
            <a:xfrm>
              <a:off x="1348" y="864"/>
              <a:ext cx="1387" cy="1812"/>
              <a:chOff x="1348" y="864"/>
              <a:chExt cx="1387" cy="1812"/>
            </a:xfrm>
          </p:grpSpPr>
          <p:sp>
            <p:nvSpPr>
              <p:cNvPr id="173075" name="Rectangle 19"/>
              <p:cNvSpPr>
                <a:spLocks noChangeArrowheads="1"/>
              </p:cNvSpPr>
              <p:nvPr/>
            </p:nvSpPr>
            <p:spPr bwMode="auto">
              <a:xfrm>
                <a:off x="2161" y="2447"/>
                <a:ext cx="574"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solidFill>
                      <a:srgbClr val="000000"/>
                    </a:solidFill>
                  </a:rPr>
                  <a:t>LT</a:t>
                </a:r>
                <a:r>
                  <a:rPr lang="en-US" altLang="it-IT" baseline="-25000">
                    <a:solidFill>
                      <a:srgbClr val="000000"/>
                    </a:solidFill>
                  </a:rPr>
                  <a:t>A</a:t>
                </a:r>
                <a:r>
                  <a:rPr lang="en-US" altLang="it-IT">
                    <a:solidFill>
                      <a:srgbClr val="000000"/>
                    </a:solidFill>
                  </a:rPr>
                  <a:t>+L</a:t>
                </a:r>
                <a:r>
                  <a:rPr lang="en-US" altLang="it-IT" baseline="-25000">
                    <a:solidFill>
                      <a:srgbClr val="000000"/>
                    </a:solidFill>
                  </a:rPr>
                  <a:t>A</a:t>
                </a:r>
              </a:p>
            </p:txBody>
          </p:sp>
          <p:sp>
            <p:nvSpPr>
              <p:cNvPr id="173097" name="Line 41"/>
              <p:cNvSpPr>
                <a:spLocks noChangeShapeType="1"/>
              </p:cNvSpPr>
              <p:nvPr/>
            </p:nvSpPr>
            <p:spPr bwMode="auto">
              <a:xfrm flipV="1">
                <a:off x="2448" y="864"/>
                <a:ext cx="0" cy="1560"/>
              </a:xfrm>
              <a:prstGeom prst="line">
                <a:avLst/>
              </a:prstGeom>
              <a:noFill/>
              <a:ln w="12700">
                <a:solidFill>
                  <a:srgbClr val="081D58"/>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4" name="Line 48"/>
              <p:cNvSpPr>
                <a:spLocks noChangeShapeType="1"/>
              </p:cNvSpPr>
              <p:nvPr/>
            </p:nvSpPr>
            <p:spPr bwMode="auto">
              <a:xfrm flipV="1">
                <a:off x="1348" y="1038"/>
                <a:ext cx="1096" cy="1125"/>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5" name="Line 49"/>
              <p:cNvSpPr>
                <a:spLocks noChangeShapeType="1"/>
              </p:cNvSpPr>
              <p:nvPr/>
            </p:nvSpPr>
            <p:spPr bwMode="auto">
              <a:xfrm flipV="1">
                <a:off x="1348" y="1427"/>
                <a:ext cx="1096" cy="736"/>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06" name="Line 50"/>
              <p:cNvSpPr>
                <a:spLocks noChangeShapeType="1"/>
              </p:cNvSpPr>
              <p:nvPr/>
            </p:nvSpPr>
            <p:spPr bwMode="auto">
              <a:xfrm flipV="1">
                <a:off x="1348" y="1817"/>
                <a:ext cx="1096" cy="346"/>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grpSp>
            <p:nvGrpSpPr>
              <p:cNvPr id="173137" name="Group 81"/>
              <p:cNvGrpSpPr>
                <a:grpSpLocks/>
              </p:cNvGrpSpPr>
              <p:nvPr/>
            </p:nvGrpSpPr>
            <p:grpSpPr bwMode="auto">
              <a:xfrm>
                <a:off x="1440" y="1008"/>
                <a:ext cx="904" cy="1232"/>
                <a:chOff x="1440" y="1008"/>
                <a:chExt cx="904" cy="1232"/>
              </a:xfrm>
            </p:grpSpPr>
            <p:sp>
              <p:nvSpPr>
                <p:cNvPr id="173138" name="Rectangle 82"/>
                <p:cNvSpPr>
                  <a:spLocks noChangeArrowheads="1"/>
                </p:cNvSpPr>
                <p:nvPr/>
              </p:nvSpPr>
              <p:spPr bwMode="auto">
                <a:xfrm>
                  <a:off x="1680" y="2160"/>
                  <a:ext cx="88" cy="80"/>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39" name="Rectangle 83"/>
                <p:cNvSpPr>
                  <a:spLocks noChangeArrowheads="1"/>
                </p:cNvSpPr>
                <p:nvPr/>
              </p:nvSpPr>
              <p:spPr bwMode="auto">
                <a:xfrm>
                  <a:off x="2064" y="2160"/>
                  <a:ext cx="88" cy="80"/>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40" name="Rectangle 84"/>
                <p:cNvSpPr>
                  <a:spLocks noChangeArrowheads="1"/>
                </p:cNvSpPr>
                <p:nvPr/>
              </p:nvSpPr>
              <p:spPr bwMode="auto">
                <a:xfrm>
                  <a:off x="1440" y="1776"/>
                  <a:ext cx="88" cy="80"/>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41" name="Rectangle 85"/>
                <p:cNvSpPr>
                  <a:spLocks noChangeArrowheads="1"/>
                </p:cNvSpPr>
                <p:nvPr/>
              </p:nvSpPr>
              <p:spPr bwMode="auto">
                <a:xfrm>
                  <a:off x="2112" y="1776"/>
                  <a:ext cx="88" cy="80"/>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42" name="Rectangle 86"/>
                <p:cNvSpPr>
                  <a:spLocks noChangeArrowheads="1"/>
                </p:cNvSpPr>
                <p:nvPr/>
              </p:nvSpPr>
              <p:spPr bwMode="auto">
                <a:xfrm>
                  <a:off x="1728" y="1392"/>
                  <a:ext cx="88" cy="80"/>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43" name="Rectangle 87"/>
                <p:cNvSpPr>
                  <a:spLocks noChangeArrowheads="1"/>
                </p:cNvSpPr>
                <p:nvPr/>
              </p:nvSpPr>
              <p:spPr bwMode="auto">
                <a:xfrm>
                  <a:off x="2112" y="1392"/>
                  <a:ext cx="88" cy="80"/>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44" name="Rectangle 88"/>
                <p:cNvSpPr>
                  <a:spLocks noChangeArrowheads="1"/>
                </p:cNvSpPr>
                <p:nvPr/>
              </p:nvSpPr>
              <p:spPr bwMode="auto">
                <a:xfrm>
                  <a:off x="2256" y="1392"/>
                  <a:ext cx="88" cy="80"/>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45" name="Rectangle 89"/>
                <p:cNvSpPr>
                  <a:spLocks noChangeArrowheads="1"/>
                </p:cNvSpPr>
                <p:nvPr/>
              </p:nvSpPr>
              <p:spPr bwMode="auto">
                <a:xfrm>
                  <a:off x="1488" y="1008"/>
                  <a:ext cx="88" cy="78"/>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73146" name="Rectangle 90"/>
                <p:cNvSpPr>
                  <a:spLocks noChangeArrowheads="1"/>
                </p:cNvSpPr>
                <p:nvPr/>
              </p:nvSpPr>
              <p:spPr bwMode="auto">
                <a:xfrm>
                  <a:off x="2208" y="1008"/>
                  <a:ext cx="88" cy="78"/>
                </a:xfrm>
                <a:prstGeom prst="rect">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grpSp>
        </p:grpSp>
      </p:grpSp>
      <p:sp>
        <p:nvSpPr>
          <p:cNvPr id="173150" name="Rectangle 94"/>
          <p:cNvSpPr>
            <a:spLocks noChangeArrowheads="1"/>
          </p:cNvSpPr>
          <p:nvPr/>
        </p:nvSpPr>
        <p:spPr bwMode="auto">
          <a:xfrm>
            <a:off x="152400" y="5257800"/>
            <a:ext cx="8826500" cy="762000"/>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buFontTx/>
              <a:buChar char="•"/>
            </a:pPr>
            <a:r>
              <a:rPr lang="en-US" altLang="it-IT" sz="2000">
                <a:solidFill>
                  <a:srgbClr val="000000"/>
                </a:solidFill>
                <a:latin typeface="Helvetica" charset="0"/>
              </a:rPr>
              <a:t>Lookahead is used in virtually all conservative synchronization protocols</a:t>
            </a:r>
          </a:p>
          <a:p>
            <a:pPr>
              <a:spcBef>
                <a:spcPct val="20000"/>
              </a:spcBef>
              <a:buFontTx/>
              <a:buChar char="•"/>
            </a:pPr>
            <a:r>
              <a:rPr lang="en-US" altLang="it-IT" sz="2000">
                <a:solidFill>
                  <a:srgbClr val="000000"/>
                </a:solidFill>
                <a:latin typeface="Helvetica" charset="0"/>
              </a:rPr>
              <a:t>Essential to allow concurrent processing of events</a:t>
            </a:r>
          </a:p>
        </p:txBody>
      </p:sp>
      <p:sp>
        <p:nvSpPr>
          <p:cNvPr id="2" name="Segnaposto data 1">
            <a:extLst>
              <a:ext uri="{FF2B5EF4-FFF2-40B4-BE49-F238E27FC236}">
                <a16:creationId xmlns:a16="http://schemas.microsoft.com/office/drawing/2014/main" id="{35C05E50-BEE8-0A7C-CAC9-3C0067D92A3E}"/>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B8347DE1-D408-6AF1-5AC3-2365D67E40C3}"/>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B67C6C76-5996-949A-6BC4-E844C8902FAA}"/>
              </a:ext>
            </a:extLst>
          </p:cNvPr>
          <p:cNvSpPr>
            <a:spLocks noGrp="1"/>
          </p:cNvSpPr>
          <p:nvPr>
            <p:ph type="sldNum" sz="quarter" idx="4"/>
          </p:nvPr>
        </p:nvSpPr>
        <p:spPr/>
        <p:txBody>
          <a:bodyPr/>
          <a:lstStyle/>
          <a:p>
            <a:fld id="{9BFB3A76-8619-A843-8C67-B9C7C140DBAC}" type="slidenum">
              <a:rPr lang="en-US" smtClean="0"/>
              <a:t>26</a:t>
            </a:fld>
            <a:endParaRPr lang="en-US"/>
          </a:p>
        </p:txBody>
      </p:sp>
    </p:spTree>
    <p:extLst>
      <p:ext uri="{BB962C8B-B14F-4D97-AF65-F5344CB8AC3E}">
        <p14:creationId xmlns:p14="http://schemas.microsoft.com/office/powerpoint/2010/main" val="1001997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3122"/>
                                        </p:tgtEl>
                                        <p:attrNameLst>
                                          <p:attrName>style.visibility</p:attrName>
                                        </p:attrNameLst>
                                      </p:cBhvr>
                                      <p:to>
                                        <p:strVal val="visible"/>
                                      </p:to>
                                    </p:set>
                                    <p:animEffect transition="in" filter="dissolve">
                                      <p:cBhvr>
                                        <p:cTn id="7" dur="500"/>
                                        <p:tgtEl>
                                          <p:spTgt spid="173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3148"/>
                                        </p:tgtEl>
                                        <p:attrNameLst>
                                          <p:attrName>style.visibility</p:attrName>
                                        </p:attrNameLst>
                                      </p:cBhvr>
                                      <p:to>
                                        <p:strVal val="visible"/>
                                      </p:to>
                                    </p:set>
                                    <p:animEffect transition="in" filter="dissolve">
                                      <p:cBhvr>
                                        <p:cTn id="12" dur="500"/>
                                        <p:tgtEl>
                                          <p:spTgt spid="1731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3150">
                                            <p:txEl>
                                              <p:pRg st="0" end="0"/>
                                            </p:txEl>
                                          </p:spTgt>
                                        </p:tgtEl>
                                        <p:attrNameLst>
                                          <p:attrName>style.visibility</p:attrName>
                                        </p:attrNameLst>
                                      </p:cBhvr>
                                      <p:to>
                                        <p:strVal val="visible"/>
                                      </p:to>
                                    </p:set>
                                    <p:animEffect transition="in" filter="dissolve">
                                      <p:cBhvr>
                                        <p:cTn id="17" dur="500"/>
                                        <p:tgtEl>
                                          <p:spTgt spid="17315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3150">
                                            <p:txEl>
                                              <p:pRg st="1" end="1"/>
                                            </p:txEl>
                                          </p:spTgt>
                                        </p:tgtEl>
                                        <p:attrNameLst>
                                          <p:attrName>style.visibility</p:attrName>
                                        </p:attrNameLst>
                                      </p:cBhvr>
                                      <p:to>
                                        <p:strVal val="visible"/>
                                      </p:to>
                                    </p:set>
                                    <p:animEffect transition="in" filter="dissolve">
                                      <p:cBhvr>
                                        <p:cTn id="22" dur="500"/>
                                        <p:tgtEl>
                                          <p:spTgt spid="173150">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3123"/>
                                        </p:tgtEl>
                                        <p:attrNameLst>
                                          <p:attrName>style.visibility</p:attrName>
                                        </p:attrNameLst>
                                      </p:cBhvr>
                                      <p:to>
                                        <p:strVal val="visible"/>
                                      </p:to>
                                    </p:set>
                                    <p:animEffect transition="in" filter="dissolve">
                                      <p:cBhvr>
                                        <p:cTn id="27" dur="500"/>
                                        <p:tgtEl>
                                          <p:spTgt spid="173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22" grpId="0" animBg="1" autoUpdateAnimBg="0"/>
      <p:bldP spid="173123" grpId="0" animBg="1" autoUpdateAnimBg="0"/>
      <p:bldP spid="173150"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en-US" altLang="it-IT"/>
              <a:t>Outline</a:t>
            </a:r>
          </a:p>
        </p:txBody>
      </p:sp>
      <p:sp>
        <p:nvSpPr>
          <p:cNvPr id="194563" name="Rectangle 3"/>
          <p:cNvSpPr>
            <a:spLocks noGrp="1" noChangeArrowheads="1"/>
          </p:cNvSpPr>
          <p:nvPr>
            <p:ph type="body" idx="1"/>
          </p:nvPr>
        </p:nvSpPr>
        <p:spPr>
          <a:xfrm>
            <a:off x="471488" y="990600"/>
            <a:ext cx="8353425" cy="2844800"/>
          </a:xfrm>
        </p:spPr>
        <p:txBody>
          <a:bodyPr/>
          <a:lstStyle/>
          <a:p>
            <a:r>
              <a:rPr lang="en-US" altLang="it-IT"/>
              <a:t>Null message algorithm: Time Creep</a:t>
            </a:r>
          </a:p>
          <a:p>
            <a:r>
              <a:rPr lang="en-US" altLang="it-IT"/>
              <a:t>Lookahead</a:t>
            </a:r>
          </a:p>
          <a:p>
            <a:pPr lvl="1"/>
            <a:r>
              <a:rPr lang="en-US" altLang="it-IT"/>
              <a:t>What is it and why is it important?</a:t>
            </a:r>
          </a:p>
          <a:p>
            <a:pPr lvl="1"/>
            <a:r>
              <a:rPr lang="en-US" altLang="it-IT">
                <a:solidFill>
                  <a:srgbClr val="CC0000"/>
                </a:solidFill>
              </a:rPr>
              <a:t>Changing lookahead</a:t>
            </a:r>
            <a:endParaRPr lang="en-US" altLang="it-IT"/>
          </a:p>
          <a:p>
            <a:r>
              <a:rPr lang="en-US" altLang="it-IT"/>
              <a:t>Deadlock Detection and Recovery Algorithm (Chandy and </a:t>
            </a:r>
            <a:r>
              <a:rPr lang="en-US" altLang="it-IT" err="1"/>
              <a:t>Misra</a:t>
            </a:r>
            <a:r>
              <a:rPr lang="en-US" altLang="it-IT"/>
              <a:t>)</a:t>
            </a:r>
          </a:p>
        </p:txBody>
      </p:sp>
      <p:sp>
        <p:nvSpPr>
          <p:cNvPr id="2" name="Segnaposto data 1">
            <a:extLst>
              <a:ext uri="{FF2B5EF4-FFF2-40B4-BE49-F238E27FC236}">
                <a16:creationId xmlns:a16="http://schemas.microsoft.com/office/drawing/2014/main" id="{1ED32733-326F-602A-A230-7772DBDC4EBF}"/>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8963F123-788A-457A-6ABD-B49AFF71A81A}"/>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E161F437-1F83-E540-5213-2303FC75FC19}"/>
              </a:ext>
            </a:extLst>
          </p:cNvPr>
          <p:cNvSpPr>
            <a:spLocks noGrp="1"/>
          </p:cNvSpPr>
          <p:nvPr>
            <p:ph type="sldNum" sz="quarter" idx="4"/>
          </p:nvPr>
        </p:nvSpPr>
        <p:spPr/>
        <p:txBody>
          <a:bodyPr/>
          <a:lstStyle/>
          <a:p>
            <a:fld id="{9BFB3A76-8619-A843-8C67-B9C7C140DBAC}" type="slidenum">
              <a:rPr lang="en-US" smtClean="0"/>
              <a:t>27</a:t>
            </a:fld>
            <a:endParaRPr lang="en-US"/>
          </a:p>
        </p:txBody>
      </p:sp>
    </p:spTree>
    <p:extLst>
      <p:ext uri="{BB962C8B-B14F-4D97-AF65-F5344CB8AC3E}">
        <p14:creationId xmlns:p14="http://schemas.microsoft.com/office/powerpoint/2010/main" val="747355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en-US" altLang="it-IT"/>
              <a:t>Changing Lookahead Values</a:t>
            </a:r>
          </a:p>
        </p:txBody>
      </p:sp>
      <p:sp>
        <p:nvSpPr>
          <p:cNvPr id="191491" name="Rectangle 3"/>
          <p:cNvSpPr>
            <a:spLocks noGrp="1" noChangeArrowheads="1"/>
          </p:cNvSpPr>
          <p:nvPr>
            <p:ph type="body" idx="1"/>
          </p:nvPr>
        </p:nvSpPr>
        <p:spPr>
          <a:xfrm>
            <a:off x="381000" y="1000125"/>
            <a:ext cx="8443913" cy="5211170"/>
          </a:xfrm>
        </p:spPr>
        <p:txBody>
          <a:bodyPr/>
          <a:lstStyle/>
          <a:p>
            <a:r>
              <a:rPr lang="en-US" altLang="it-IT"/>
              <a:t>Increasing lookahead</a:t>
            </a:r>
          </a:p>
          <a:p>
            <a:pPr lvl="1"/>
            <a:r>
              <a:rPr lang="en-US" altLang="it-IT"/>
              <a:t>No problem; lookahead can immediately be changed</a:t>
            </a:r>
          </a:p>
          <a:p>
            <a:r>
              <a:rPr lang="en-US" altLang="it-IT"/>
              <a:t>Decreasing lookahead</a:t>
            </a:r>
          </a:p>
          <a:p>
            <a:pPr lvl="1"/>
            <a:r>
              <a:rPr lang="en-US" altLang="it-IT"/>
              <a:t>Previous time stamp guarantees must be honored</a:t>
            </a:r>
          </a:p>
          <a:p>
            <a:pPr lvl="1"/>
            <a:r>
              <a:rPr lang="en-US" altLang="it-IT"/>
              <a:t>Lookahead cannot immediately be decreased</a:t>
            </a:r>
          </a:p>
          <a:p>
            <a:pPr lvl="2"/>
            <a:r>
              <a:rPr lang="en-US" altLang="it-IT"/>
              <a:t>If an LP is at simulation time 10 and lookahead is 5, it has promised subsequent messages will have a time stamp of at least 15</a:t>
            </a:r>
          </a:p>
          <a:p>
            <a:pPr lvl="2"/>
            <a:r>
              <a:rPr lang="en-US" altLang="it-IT"/>
              <a:t>If lookahead were </a:t>
            </a:r>
            <a:r>
              <a:rPr lang="en-US" altLang="it-IT" i="1"/>
              <a:t>immediately</a:t>
            </a:r>
            <a:r>
              <a:rPr lang="en-US" altLang="it-IT"/>
              <a:t> set to 1, it could generate a message with time stamp 11</a:t>
            </a:r>
          </a:p>
          <a:p>
            <a:pPr lvl="1"/>
            <a:r>
              <a:rPr lang="en-US" altLang="it-IT"/>
              <a:t>Lookahead can decrease by k units of simulation time only after the LP </a:t>
            </a:r>
            <a:r>
              <a:rPr lang="en-US" altLang="it-IT" b="1"/>
              <a:t>has advanced k units of simulation time</a:t>
            </a:r>
          </a:p>
        </p:txBody>
      </p:sp>
      <p:sp>
        <p:nvSpPr>
          <p:cNvPr id="2" name="Segnaposto data 1">
            <a:extLst>
              <a:ext uri="{FF2B5EF4-FFF2-40B4-BE49-F238E27FC236}">
                <a16:creationId xmlns:a16="http://schemas.microsoft.com/office/drawing/2014/main" id="{6491AB33-EEB9-325C-FDA6-F134FB2AA123}"/>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F24E76E7-D0EB-06E7-56AC-B2197F7955D3}"/>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A42823C5-783F-F9D4-A62C-7134C82234FD}"/>
              </a:ext>
            </a:extLst>
          </p:cNvPr>
          <p:cNvSpPr>
            <a:spLocks noGrp="1"/>
          </p:cNvSpPr>
          <p:nvPr>
            <p:ph type="sldNum" sz="quarter" idx="4"/>
          </p:nvPr>
        </p:nvSpPr>
        <p:spPr/>
        <p:txBody>
          <a:bodyPr/>
          <a:lstStyle/>
          <a:p>
            <a:fld id="{9BFB3A76-8619-A843-8C67-B9C7C140DBAC}" type="slidenum">
              <a:rPr lang="en-US" smtClean="0"/>
              <a:t>28</a:t>
            </a:fld>
            <a:endParaRPr lang="en-US"/>
          </a:p>
        </p:txBody>
      </p:sp>
    </p:spTree>
    <p:extLst>
      <p:ext uri="{BB962C8B-B14F-4D97-AF65-F5344CB8AC3E}">
        <p14:creationId xmlns:p14="http://schemas.microsoft.com/office/powerpoint/2010/main" val="319988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animEffect transition="in" filter="dissolve">
                                      <p:cBhvr>
                                        <p:cTn id="7" dur="500"/>
                                        <p:tgtEl>
                                          <p:spTgt spid="1914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491">
                                            <p:txEl>
                                              <p:pRg st="1" end="1"/>
                                            </p:txEl>
                                          </p:spTgt>
                                        </p:tgtEl>
                                        <p:attrNameLst>
                                          <p:attrName>style.visibility</p:attrName>
                                        </p:attrNameLst>
                                      </p:cBhvr>
                                      <p:to>
                                        <p:strVal val="visible"/>
                                      </p:to>
                                    </p:set>
                                    <p:animEffect transition="in" filter="dissolve">
                                      <p:cBhvr>
                                        <p:cTn id="12" dur="500"/>
                                        <p:tgtEl>
                                          <p:spTgt spid="1914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1491">
                                            <p:txEl>
                                              <p:pRg st="2" end="2"/>
                                            </p:txEl>
                                          </p:spTgt>
                                        </p:tgtEl>
                                        <p:attrNameLst>
                                          <p:attrName>style.visibility</p:attrName>
                                        </p:attrNameLst>
                                      </p:cBhvr>
                                      <p:to>
                                        <p:strVal val="visible"/>
                                      </p:to>
                                    </p:set>
                                    <p:animEffect transition="in" filter="dissolve">
                                      <p:cBhvr>
                                        <p:cTn id="17" dur="500"/>
                                        <p:tgtEl>
                                          <p:spTgt spid="1914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1491">
                                            <p:txEl>
                                              <p:pRg st="3" end="3"/>
                                            </p:txEl>
                                          </p:spTgt>
                                        </p:tgtEl>
                                        <p:attrNameLst>
                                          <p:attrName>style.visibility</p:attrName>
                                        </p:attrNameLst>
                                      </p:cBhvr>
                                      <p:to>
                                        <p:strVal val="visible"/>
                                      </p:to>
                                    </p:set>
                                    <p:animEffect transition="in" filter="dissolve">
                                      <p:cBhvr>
                                        <p:cTn id="22" dur="500"/>
                                        <p:tgtEl>
                                          <p:spTgt spid="1914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1491">
                                            <p:txEl>
                                              <p:pRg st="4" end="4"/>
                                            </p:txEl>
                                          </p:spTgt>
                                        </p:tgtEl>
                                        <p:attrNameLst>
                                          <p:attrName>style.visibility</p:attrName>
                                        </p:attrNameLst>
                                      </p:cBhvr>
                                      <p:to>
                                        <p:strVal val="visible"/>
                                      </p:to>
                                    </p:set>
                                    <p:animEffect transition="in" filter="dissolve">
                                      <p:cBhvr>
                                        <p:cTn id="27" dur="500"/>
                                        <p:tgtEl>
                                          <p:spTgt spid="1914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1491">
                                            <p:txEl>
                                              <p:pRg st="5" end="5"/>
                                            </p:txEl>
                                          </p:spTgt>
                                        </p:tgtEl>
                                        <p:attrNameLst>
                                          <p:attrName>style.visibility</p:attrName>
                                        </p:attrNameLst>
                                      </p:cBhvr>
                                      <p:to>
                                        <p:strVal val="visible"/>
                                      </p:to>
                                    </p:set>
                                    <p:animEffect transition="in" filter="dissolve">
                                      <p:cBhvr>
                                        <p:cTn id="32" dur="500"/>
                                        <p:tgtEl>
                                          <p:spTgt spid="1914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1491">
                                            <p:txEl>
                                              <p:pRg st="6" end="6"/>
                                            </p:txEl>
                                          </p:spTgt>
                                        </p:tgtEl>
                                        <p:attrNameLst>
                                          <p:attrName>style.visibility</p:attrName>
                                        </p:attrNameLst>
                                      </p:cBhvr>
                                      <p:to>
                                        <p:strVal val="visible"/>
                                      </p:to>
                                    </p:set>
                                    <p:animEffect transition="in" filter="dissolve">
                                      <p:cBhvr>
                                        <p:cTn id="37" dur="500"/>
                                        <p:tgtEl>
                                          <p:spTgt spid="1914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1491">
                                            <p:txEl>
                                              <p:pRg st="7" end="7"/>
                                            </p:txEl>
                                          </p:spTgt>
                                        </p:tgtEl>
                                        <p:attrNameLst>
                                          <p:attrName>style.visibility</p:attrName>
                                        </p:attrNameLst>
                                      </p:cBhvr>
                                      <p:to>
                                        <p:strVal val="visible"/>
                                      </p:to>
                                    </p:set>
                                    <p:animEffect transition="in" filter="dissolve">
                                      <p:cBhvr>
                                        <p:cTn id="42" dur="500"/>
                                        <p:tgtEl>
                                          <p:spTgt spid="1914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bldLvl="3"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altLang="it-IT"/>
              <a:t>Example: Decreasing Lookahead</a:t>
            </a:r>
          </a:p>
        </p:txBody>
      </p:sp>
      <p:sp>
        <p:nvSpPr>
          <p:cNvPr id="192515" name="Rectangle 3"/>
          <p:cNvSpPr>
            <a:spLocks noGrp="1" noChangeArrowheads="1"/>
          </p:cNvSpPr>
          <p:nvPr>
            <p:ph type="body" idx="1"/>
          </p:nvPr>
        </p:nvSpPr>
        <p:spPr>
          <a:xfrm>
            <a:off x="457200" y="1066800"/>
            <a:ext cx="8353425" cy="1330325"/>
          </a:xfrm>
        </p:spPr>
        <p:txBody>
          <a:bodyPr/>
          <a:lstStyle/>
          <a:p>
            <a:r>
              <a:rPr lang="en-US" altLang="it-IT" sz="2400"/>
              <a:t>SFO: simulation time = 10, lookahead = 5</a:t>
            </a:r>
          </a:p>
          <a:p>
            <a:r>
              <a:rPr lang="en-US" altLang="it-IT" sz="2400"/>
              <a:t>Future messages sent on link must have time stamp ≥ 15</a:t>
            </a:r>
          </a:p>
          <a:p>
            <a:r>
              <a:rPr lang="en-US" altLang="it-IT" sz="2400"/>
              <a:t>SFO: request its lookahead be reduced to 1</a:t>
            </a:r>
            <a:endParaRPr lang="en-US" altLang="it-IT" sz="3200"/>
          </a:p>
        </p:txBody>
      </p:sp>
      <p:grpSp>
        <p:nvGrpSpPr>
          <p:cNvPr id="192569" name="Group 57"/>
          <p:cNvGrpSpPr>
            <a:grpSpLocks/>
          </p:cNvGrpSpPr>
          <p:nvPr/>
        </p:nvGrpSpPr>
        <p:grpSpPr bwMode="auto">
          <a:xfrm>
            <a:off x="1219200" y="3124200"/>
            <a:ext cx="5575300" cy="2362200"/>
            <a:chOff x="768" y="1968"/>
            <a:chExt cx="3512" cy="1488"/>
          </a:xfrm>
        </p:grpSpPr>
        <p:sp>
          <p:nvSpPr>
            <p:cNvPr id="192516" name="Line 4"/>
            <p:cNvSpPr>
              <a:spLocks noChangeShapeType="1"/>
            </p:cNvSpPr>
            <p:nvPr/>
          </p:nvSpPr>
          <p:spPr bwMode="auto">
            <a:xfrm>
              <a:off x="1964" y="3168"/>
              <a:ext cx="16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17" name="Line 5"/>
            <p:cNvSpPr>
              <a:spLocks noChangeShapeType="1"/>
            </p:cNvSpPr>
            <p:nvPr/>
          </p:nvSpPr>
          <p:spPr bwMode="auto">
            <a:xfrm flipV="1">
              <a:off x="1964" y="1968"/>
              <a:ext cx="0" cy="12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18" name="Line 6"/>
            <p:cNvSpPr>
              <a:spLocks noChangeShapeType="1"/>
            </p:cNvSpPr>
            <p:nvPr/>
          </p:nvSpPr>
          <p:spPr bwMode="auto">
            <a:xfrm>
              <a:off x="196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19" name="Line 7"/>
            <p:cNvSpPr>
              <a:spLocks noChangeShapeType="1"/>
            </p:cNvSpPr>
            <p:nvPr/>
          </p:nvSpPr>
          <p:spPr bwMode="auto">
            <a:xfrm>
              <a:off x="220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20" name="Line 8"/>
            <p:cNvSpPr>
              <a:spLocks noChangeShapeType="1"/>
            </p:cNvSpPr>
            <p:nvPr/>
          </p:nvSpPr>
          <p:spPr bwMode="auto">
            <a:xfrm>
              <a:off x="244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21" name="Line 9"/>
            <p:cNvSpPr>
              <a:spLocks noChangeShapeType="1"/>
            </p:cNvSpPr>
            <p:nvPr/>
          </p:nvSpPr>
          <p:spPr bwMode="auto">
            <a:xfrm>
              <a:off x="268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22" name="Line 10"/>
            <p:cNvSpPr>
              <a:spLocks noChangeShapeType="1"/>
            </p:cNvSpPr>
            <p:nvPr/>
          </p:nvSpPr>
          <p:spPr bwMode="auto">
            <a:xfrm>
              <a:off x="292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23" name="Line 11"/>
            <p:cNvSpPr>
              <a:spLocks noChangeShapeType="1"/>
            </p:cNvSpPr>
            <p:nvPr/>
          </p:nvSpPr>
          <p:spPr bwMode="auto">
            <a:xfrm>
              <a:off x="316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24" name="Line 12"/>
            <p:cNvSpPr>
              <a:spLocks noChangeShapeType="1"/>
            </p:cNvSpPr>
            <p:nvPr/>
          </p:nvSpPr>
          <p:spPr bwMode="auto">
            <a:xfrm>
              <a:off x="340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25" name="Line 13"/>
            <p:cNvSpPr>
              <a:spLocks noChangeShapeType="1"/>
            </p:cNvSpPr>
            <p:nvPr/>
          </p:nvSpPr>
          <p:spPr bwMode="auto">
            <a:xfrm>
              <a:off x="3644" y="3120"/>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26" name="Text Box 14"/>
            <p:cNvSpPr txBox="1">
              <a:spLocks noChangeArrowheads="1"/>
            </p:cNvSpPr>
            <p:nvPr/>
          </p:nvSpPr>
          <p:spPr bwMode="auto">
            <a:xfrm>
              <a:off x="3572" y="3216"/>
              <a:ext cx="7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b="1">
                  <a:solidFill>
                    <a:srgbClr val="000000"/>
                  </a:solidFill>
                </a:rPr>
                <a:t>LP clock</a:t>
              </a:r>
            </a:p>
          </p:txBody>
        </p:sp>
        <p:sp>
          <p:nvSpPr>
            <p:cNvPr id="192527" name="Text Box 15"/>
            <p:cNvSpPr txBox="1">
              <a:spLocks noChangeArrowheads="1"/>
            </p:cNvSpPr>
            <p:nvPr/>
          </p:nvSpPr>
          <p:spPr bwMode="auto">
            <a:xfrm>
              <a:off x="2075" y="3244"/>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0000"/>
                  </a:solidFill>
                </a:rPr>
                <a:t>10</a:t>
              </a:r>
            </a:p>
          </p:txBody>
        </p:sp>
        <p:sp>
          <p:nvSpPr>
            <p:cNvPr id="192528" name="Text Box 16"/>
            <p:cNvSpPr txBox="1">
              <a:spLocks noChangeArrowheads="1"/>
            </p:cNvSpPr>
            <p:nvPr/>
          </p:nvSpPr>
          <p:spPr bwMode="auto">
            <a:xfrm>
              <a:off x="3290" y="3244"/>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0000"/>
                  </a:solidFill>
                </a:rPr>
                <a:t>15</a:t>
              </a:r>
            </a:p>
          </p:txBody>
        </p:sp>
        <p:sp>
          <p:nvSpPr>
            <p:cNvPr id="192529" name="Line 17"/>
            <p:cNvSpPr>
              <a:spLocks noChangeShapeType="1"/>
            </p:cNvSpPr>
            <p:nvPr/>
          </p:nvSpPr>
          <p:spPr bwMode="auto">
            <a:xfrm>
              <a:off x="1916" y="3024"/>
              <a:ext cx="96" cy="0"/>
            </a:xfrm>
            <a:prstGeom prst="line">
              <a:avLst/>
            </a:prstGeom>
            <a:noFill/>
            <a:ln w="127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30" name="Line 18"/>
            <p:cNvSpPr>
              <a:spLocks noChangeShapeType="1"/>
            </p:cNvSpPr>
            <p:nvPr/>
          </p:nvSpPr>
          <p:spPr bwMode="auto">
            <a:xfrm>
              <a:off x="1916" y="2880"/>
              <a:ext cx="96" cy="0"/>
            </a:xfrm>
            <a:prstGeom prst="line">
              <a:avLst/>
            </a:prstGeom>
            <a:noFill/>
            <a:ln w="127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31" name="Line 19"/>
            <p:cNvSpPr>
              <a:spLocks noChangeShapeType="1"/>
            </p:cNvSpPr>
            <p:nvPr/>
          </p:nvSpPr>
          <p:spPr bwMode="auto">
            <a:xfrm>
              <a:off x="1916" y="2736"/>
              <a:ext cx="96" cy="0"/>
            </a:xfrm>
            <a:prstGeom prst="line">
              <a:avLst/>
            </a:prstGeom>
            <a:noFill/>
            <a:ln w="127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32" name="Line 20"/>
            <p:cNvSpPr>
              <a:spLocks noChangeShapeType="1"/>
            </p:cNvSpPr>
            <p:nvPr/>
          </p:nvSpPr>
          <p:spPr bwMode="auto">
            <a:xfrm>
              <a:off x="1916" y="2592"/>
              <a:ext cx="96" cy="0"/>
            </a:xfrm>
            <a:prstGeom prst="line">
              <a:avLst/>
            </a:prstGeom>
            <a:noFill/>
            <a:ln w="127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33" name="Line 21"/>
            <p:cNvSpPr>
              <a:spLocks noChangeShapeType="1"/>
            </p:cNvSpPr>
            <p:nvPr/>
          </p:nvSpPr>
          <p:spPr bwMode="auto">
            <a:xfrm>
              <a:off x="1916" y="2448"/>
              <a:ext cx="96" cy="0"/>
            </a:xfrm>
            <a:prstGeom prst="line">
              <a:avLst/>
            </a:prstGeom>
            <a:noFill/>
            <a:ln w="127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34" name="Line 22"/>
            <p:cNvSpPr>
              <a:spLocks noChangeShapeType="1"/>
            </p:cNvSpPr>
            <p:nvPr/>
          </p:nvSpPr>
          <p:spPr bwMode="auto">
            <a:xfrm>
              <a:off x="1916" y="2304"/>
              <a:ext cx="96" cy="0"/>
            </a:xfrm>
            <a:prstGeom prst="line">
              <a:avLst/>
            </a:prstGeom>
            <a:noFill/>
            <a:ln w="127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35" name="Text Box 23"/>
            <p:cNvSpPr txBox="1">
              <a:spLocks noChangeArrowheads="1"/>
            </p:cNvSpPr>
            <p:nvPr/>
          </p:nvSpPr>
          <p:spPr bwMode="auto">
            <a:xfrm>
              <a:off x="1724" y="2352"/>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CC0000"/>
                  </a:solidFill>
                </a:rPr>
                <a:t>5</a:t>
              </a:r>
            </a:p>
          </p:txBody>
        </p:sp>
        <p:sp>
          <p:nvSpPr>
            <p:cNvPr id="192536" name="Text Box 24"/>
            <p:cNvSpPr txBox="1">
              <a:spLocks noChangeArrowheads="1"/>
            </p:cNvSpPr>
            <p:nvPr/>
          </p:nvSpPr>
          <p:spPr bwMode="auto">
            <a:xfrm>
              <a:off x="1724" y="2476"/>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CC0000"/>
                  </a:solidFill>
                </a:rPr>
                <a:t>4</a:t>
              </a:r>
            </a:p>
          </p:txBody>
        </p:sp>
        <p:sp>
          <p:nvSpPr>
            <p:cNvPr id="192537" name="Text Box 25"/>
            <p:cNvSpPr txBox="1">
              <a:spLocks noChangeArrowheads="1"/>
            </p:cNvSpPr>
            <p:nvPr/>
          </p:nvSpPr>
          <p:spPr bwMode="auto">
            <a:xfrm>
              <a:off x="1724" y="2620"/>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CC0000"/>
                  </a:solidFill>
                </a:rPr>
                <a:t>3</a:t>
              </a:r>
            </a:p>
          </p:txBody>
        </p:sp>
        <p:sp>
          <p:nvSpPr>
            <p:cNvPr id="192538" name="Text Box 26"/>
            <p:cNvSpPr txBox="1">
              <a:spLocks noChangeArrowheads="1"/>
            </p:cNvSpPr>
            <p:nvPr/>
          </p:nvSpPr>
          <p:spPr bwMode="auto">
            <a:xfrm>
              <a:off x="1724" y="2764"/>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CC0000"/>
                  </a:solidFill>
                </a:rPr>
                <a:t>2</a:t>
              </a:r>
            </a:p>
          </p:txBody>
        </p:sp>
        <p:sp>
          <p:nvSpPr>
            <p:cNvPr id="192539" name="Text Box 27"/>
            <p:cNvSpPr txBox="1">
              <a:spLocks noChangeArrowheads="1"/>
            </p:cNvSpPr>
            <p:nvPr/>
          </p:nvSpPr>
          <p:spPr bwMode="auto">
            <a:xfrm>
              <a:off x="1724" y="2908"/>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CC0000"/>
                  </a:solidFill>
                </a:rPr>
                <a:t>1</a:t>
              </a:r>
            </a:p>
          </p:txBody>
        </p:sp>
        <p:sp>
          <p:nvSpPr>
            <p:cNvPr id="192540" name="Text Box 28"/>
            <p:cNvSpPr txBox="1">
              <a:spLocks noChangeArrowheads="1"/>
            </p:cNvSpPr>
            <p:nvPr/>
          </p:nvSpPr>
          <p:spPr bwMode="auto">
            <a:xfrm>
              <a:off x="1724" y="2208"/>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CC0000"/>
                  </a:solidFill>
                </a:rPr>
                <a:t>6</a:t>
              </a:r>
            </a:p>
          </p:txBody>
        </p:sp>
        <p:sp>
          <p:nvSpPr>
            <p:cNvPr id="192541" name="Line 29"/>
            <p:cNvSpPr>
              <a:spLocks noChangeShapeType="1"/>
            </p:cNvSpPr>
            <p:nvPr/>
          </p:nvSpPr>
          <p:spPr bwMode="auto">
            <a:xfrm>
              <a:off x="1964" y="2448"/>
              <a:ext cx="192"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42" name="Line 30"/>
            <p:cNvSpPr>
              <a:spLocks noChangeShapeType="1"/>
            </p:cNvSpPr>
            <p:nvPr/>
          </p:nvSpPr>
          <p:spPr bwMode="auto">
            <a:xfrm>
              <a:off x="2156" y="2448"/>
              <a:ext cx="1008" cy="576"/>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43" name="Line 31"/>
            <p:cNvSpPr>
              <a:spLocks noChangeShapeType="1"/>
            </p:cNvSpPr>
            <p:nvPr/>
          </p:nvSpPr>
          <p:spPr bwMode="auto">
            <a:xfrm>
              <a:off x="3164" y="3024"/>
              <a:ext cx="480"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44" name="Text Box 32"/>
            <p:cNvSpPr txBox="1">
              <a:spLocks noChangeArrowheads="1"/>
            </p:cNvSpPr>
            <p:nvPr/>
          </p:nvSpPr>
          <p:spPr bwMode="auto">
            <a:xfrm>
              <a:off x="768" y="2400"/>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b="1">
                  <a:solidFill>
                    <a:srgbClr val="CC0000"/>
                  </a:solidFill>
                </a:rPr>
                <a:t>Lookahead</a:t>
              </a:r>
            </a:p>
          </p:txBody>
        </p:sp>
        <p:sp>
          <p:nvSpPr>
            <p:cNvPr id="192563" name="Line 51"/>
            <p:cNvSpPr>
              <a:spLocks noChangeShapeType="1"/>
            </p:cNvSpPr>
            <p:nvPr/>
          </p:nvSpPr>
          <p:spPr bwMode="auto">
            <a:xfrm>
              <a:off x="1916" y="2140"/>
              <a:ext cx="96" cy="0"/>
            </a:xfrm>
            <a:prstGeom prst="line">
              <a:avLst/>
            </a:prstGeom>
            <a:noFill/>
            <a:ln w="127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64" name="Text Box 52"/>
            <p:cNvSpPr txBox="1">
              <a:spLocks noChangeArrowheads="1"/>
            </p:cNvSpPr>
            <p:nvPr/>
          </p:nvSpPr>
          <p:spPr bwMode="auto">
            <a:xfrm>
              <a:off x="1724" y="2044"/>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CC0000"/>
                  </a:solidFill>
                </a:rPr>
                <a:t>7</a:t>
              </a:r>
            </a:p>
          </p:txBody>
        </p:sp>
      </p:grpSp>
      <p:grpSp>
        <p:nvGrpSpPr>
          <p:cNvPr id="192568" name="Group 56"/>
          <p:cNvGrpSpPr>
            <a:grpSpLocks/>
          </p:cNvGrpSpPr>
          <p:nvPr/>
        </p:nvGrpSpPr>
        <p:grpSpPr bwMode="auto">
          <a:xfrm>
            <a:off x="3117850" y="3124200"/>
            <a:ext cx="5264150" cy="1905000"/>
            <a:chOff x="1964" y="1968"/>
            <a:chExt cx="3316" cy="1200"/>
          </a:xfrm>
        </p:grpSpPr>
        <p:sp>
          <p:nvSpPr>
            <p:cNvPr id="192556" name="Text Box 44"/>
            <p:cNvSpPr txBox="1">
              <a:spLocks noChangeArrowheads="1"/>
            </p:cNvSpPr>
            <p:nvPr/>
          </p:nvSpPr>
          <p:spPr bwMode="auto">
            <a:xfrm>
              <a:off x="3674" y="2908"/>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8000"/>
                  </a:solidFill>
                </a:rPr>
                <a:t>11</a:t>
              </a:r>
            </a:p>
          </p:txBody>
        </p:sp>
        <p:sp>
          <p:nvSpPr>
            <p:cNvPr id="192545" name="Line 33"/>
            <p:cNvSpPr>
              <a:spLocks noChangeShapeType="1"/>
            </p:cNvSpPr>
            <p:nvPr/>
          </p:nvSpPr>
          <p:spPr bwMode="auto">
            <a:xfrm flipV="1">
              <a:off x="3656" y="1968"/>
              <a:ext cx="0" cy="12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46" name="Line 34"/>
            <p:cNvSpPr>
              <a:spLocks noChangeShapeType="1"/>
            </p:cNvSpPr>
            <p:nvPr/>
          </p:nvSpPr>
          <p:spPr bwMode="auto">
            <a:xfrm>
              <a:off x="3608" y="3024"/>
              <a:ext cx="9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47" name="Line 35"/>
            <p:cNvSpPr>
              <a:spLocks noChangeShapeType="1"/>
            </p:cNvSpPr>
            <p:nvPr/>
          </p:nvSpPr>
          <p:spPr bwMode="auto">
            <a:xfrm>
              <a:off x="3608" y="2880"/>
              <a:ext cx="9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48" name="Line 36"/>
            <p:cNvSpPr>
              <a:spLocks noChangeShapeType="1"/>
            </p:cNvSpPr>
            <p:nvPr/>
          </p:nvSpPr>
          <p:spPr bwMode="auto">
            <a:xfrm>
              <a:off x="3608" y="2736"/>
              <a:ext cx="9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49" name="Line 37"/>
            <p:cNvSpPr>
              <a:spLocks noChangeShapeType="1"/>
            </p:cNvSpPr>
            <p:nvPr/>
          </p:nvSpPr>
          <p:spPr bwMode="auto">
            <a:xfrm>
              <a:off x="3608" y="2592"/>
              <a:ext cx="9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50" name="Line 38"/>
            <p:cNvSpPr>
              <a:spLocks noChangeShapeType="1"/>
            </p:cNvSpPr>
            <p:nvPr/>
          </p:nvSpPr>
          <p:spPr bwMode="auto">
            <a:xfrm>
              <a:off x="3608" y="2448"/>
              <a:ext cx="9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51" name="Line 39"/>
            <p:cNvSpPr>
              <a:spLocks noChangeShapeType="1"/>
            </p:cNvSpPr>
            <p:nvPr/>
          </p:nvSpPr>
          <p:spPr bwMode="auto">
            <a:xfrm>
              <a:off x="3608" y="2304"/>
              <a:ext cx="9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52" name="Text Box 40"/>
            <p:cNvSpPr txBox="1">
              <a:spLocks noChangeArrowheads="1"/>
            </p:cNvSpPr>
            <p:nvPr/>
          </p:nvSpPr>
          <p:spPr bwMode="auto">
            <a:xfrm>
              <a:off x="3674" y="2352"/>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8000"/>
                  </a:solidFill>
                </a:rPr>
                <a:t>15</a:t>
              </a:r>
            </a:p>
          </p:txBody>
        </p:sp>
        <p:sp>
          <p:nvSpPr>
            <p:cNvPr id="192553" name="Text Box 41"/>
            <p:cNvSpPr txBox="1">
              <a:spLocks noChangeArrowheads="1"/>
            </p:cNvSpPr>
            <p:nvPr/>
          </p:nvSpPr>
          <p:spPr bwMode="auto">
            <a:xfrm>
              <a:off x="3674" y="2476"/>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8000"/>
                  </a:solidFill>
                </a:rPr>
                <a:t>14</a:t>
              </a:r>
            </a:p>
          </p:txBody>
        </p:sp>
        <p:sp>
          <p:nvSpPr>
            <p:cNvPr id="192554" name="Text Box 42"/>
            <p:cNvSpPr txBox="1">
              <a:spLocks noChangeArrowheads="1"/>
            </p:cNvSpPr>
            <p:nvPr/>
          </p:nvSpPr>
          <p:spPr bwMode="auto">
            <a:xfrm>
              <a:off x="3674" y="2620"/>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8000"/>
                  </a:solidFill>
                </a:rPr>
                <a:t>13</a:t>
              </a:r>
            </a:p>
          </p:txBody>
        </p:sp>
        <p:sp>
          <p:nvSpPr>
            <p:cNvPr id="192555" name="Text Box 43"/>
            <p:cNvSpPr txBox="1">
              <a:spLocks noChangeArrowheads="1"/>
            </p:cNvSpPr>
            <p:nvPr/>
          </p:nvSpPr>
          <p:spPr bwMode="auto">
            <a:xfrm>
              <a:off x="3674" y="2764"/>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8000"/>
                  </a:solidFill>
                </a:rPr>
                <a:t>12</a:t>
              </a:r>
            </a:p>
          </p:txBody>
        </p:sp>
        <p:sp>
          <p:nvSpPr>
            <p:cNvPr id="192557" name="Text Box 45"/>
            <p:cNvSpPr txBox="1">
              <a:spLocks noChangeArrowheads="1"/>
            </p:cNvSpPr>
            <p:nvPr/>
          </p:nvSpPr>
          <p:spPr bwMode="auto">
            <a:xfrm>
              <a:off x="3674" y="2208"/>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8000"/>
                  </a:solidFill>
                </a:rPr>
                <a:t>16</a:t>
              </a:r>
            </a:p>
          </p:txBody>
        </p:sp>
        <p:sp>
          <p:nvSpPr>
            <p:cNvPr id="192558" name="Text Box 46"/>
            <p:cNvSpPr txBox="1">
              <a:spLocks noChangeArrowheads="1"/>
            </p:cNvSpPr>
            <p:nvPr/>
          </p:nvSpPr>
          <p:spPr bwMode="auto">
            <a:xfrm>
              <a:off x="3892" y="2304"/>
              <a:ext cx="1388"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b="1">
                  <a:solidFill>
                    <a:srgbClr val="008000"/>
                  </a:solidFill>
                </a:rPr>
                <a:t>Minimum time</a:t>
              </a:r>
            </a:p>
            <a:p>
              <a:pPr algn="ctr"/>
              <a:r>
                <a:rPr lang="en-US" altLang="it-IT" b="1">
                  <a:solidFill>
                    <a:srgbClr val="008000"/>
                  </a:solidFill>
                </a:rPr>
                <a:t>Stamp of outgoing</a:t>
              </a:r>
            </a:p>
            <a:p>
              <a:pPr algn="ctr"/>
              <a:r>
                <a:rPr lang="en-US" altLang="it-IT" b="1">
                  <a:solidFill>
                    <a:srgbClr val="008000"/>
                  </a:solidFill>
                </a:rPr>
                <a:t>messages</a:t>
              </a:r>
            </a:p>
          </p:txBody>
        </p:sp>
        <p:sp>
          <p:nvSpPr>
            <p:cNvPr id="192561" name="Line 49"/>
            <p:cNvSpPr>
              <a:spLocks noChangeShapeType="1"/>
            </p:cNvSpPr>
            <p:nvPr/>
          </p:nvSpPr>
          <p:spPr bwMode="auto">
            <a:xfrm>
              <a:off x="1964" y="2448"/>
              <a:ext cx="1200"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62" name="Line 50"/>
            <p:cNvSpPr>
              <a:spLocks noChangeShapeType="1"/>
            </p:cNvSpPr>
            <p:nvPr/>
          </p:nvSpPr>
          <p:spPr bwMode="auto">
            <a:xfrm flipH="1">
              <a:off x="3164" y="2160"/>
              <a:ext cx="480" cy="288"/>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65" name="Line 53"/>
            <p:cNvSpPr>
              <a:spLocks noChangeShapeType="1"/>
            </p:cNvSpPr>
            <p:nvPr/>
          </p:nvSpPr>
          <p:spPr bwMode="auto">
            <a:xfrm>
              <a:off x="3608" y="2140"/>
              <a:ext cx="9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000000"/>
                </a:solidFill>
              </a:endParaRPr>
            </a:p>
          </p:txBody>
        </p:sp>
        <p:sp>
          <p:nvSpPr>
            <p:cNvPr id="192566" name="Text Box 54"/>
            <p:cNvSpPr txBox="1">
              <a:spLocks noChangeArrowheads="1"/>
            </p:cNvSpPr>
            <p:nvPr/>
          </p:nvSpPr>
          <p:spPr bwMode="auto">
            <a:xfrm>
              <a:off x="3674" y="2044"/>
              <a:ext cx="2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sz="1600">
                  <a:solidFill>
                    <a:srgbClr val="008000"/>
                  </a:solidFill>
                </a:rPr>
                <a:t>17</a:t>
              </a:r>
            </a:p>
          </p:txBody>
        </p:sp>
      </p:grpSp>
      <p:sp>
        <p:nvSpPr>
          <p:cNvPr id="2" name="Segnaposto data 1">
            <a:extLst>
              <a:ext uri="{FF2B5EF4-FFF2-40B4-BE49-F238E27FC236}">
                <a16:creationId xmlns:a16="http://schemas.microsoft.com/office/drawing/2014/main" id="{21845D3D-625F-E78C-EB6A-A988A9A18092}"/>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0CAF1D6E-4DE6-58A6-1E3D-4A2DF8407AB2}"/>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85B7AAEE-4D68-F49E-835F-9B18B27E586B}"/>
              </a:ext>
            </a:extLst>
          </p:cNvPr>
          <p:cNvSpPr>
            <a:spLocks noGrp="1"/>
          </p:cNvSpPr>
          <p:nvPr>
            <p:ph type="sldNum" sz="quarter" idx="4"/>
          </p:nvPr>
        </p:nvSpPr>
        <p:spPr/>
        <p:txBody>
          <a:bodyPr/>
          <a:lstStyle/>
          <a:p>
            <a:fld id="{9BFB3A76-8619-A843-8C67-B9C7C140DBAC}" type="slidenum">
              <a:rPr lang="en-US" smtClean="0"/>
              <a:t>29</a:t>
            </a:fld>
            <a:endParaRPr lang="en-US"/>
          </a:p>
        </p:txBody>
      </p:sp>
    </p:spTree>
    <p:extLst>
      <p:ext uri="{BB962C8B-B14F-4D97-AF65-F5344CB8AC3E}">
        <p14:creationId xmlns:p14="http://schemas.microsoft.com/office/powerpoint/2010/main" val="7437009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2569"/>
                                        </p:tgtEl>
                                        <p:attrNameLst>
                                          <p:attrName>style.visibility</p:attrName>
                                        </p:attrNameLst>
                                      </p:cBhvr>
                                      <p:to>
                                        <p:strVal val="visible"/>
                                      </p:to>
                                    </p:set>
                                    <p:animEffect transition="in" filter="dissolve">
                                      <p:cBhvr>
                                        <p:cTn id="7" dur="500"/>
                                        <p:tgtEl>
                                          <p:spTgt spid="1925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92568"/>
                                        </p:tgtEl>
                                        <p:attrNameLst>
                                          <p:attrName>style.visibility</p:attrName>
                                        </p:attrNameLst>
                                      </p:cBhvr>
                                      <p:to>
                                        <p:strVal val="visible"/>
                                      </p:to>
                                    </p:set>
                                    <p:animEffect transition="in" filter="dissolve">
                                      <p:cBhvr>
                                        <p:cTn id="12" dur="500"/>
                                        <p:tgtEl>
                                          <p:spTgt spid="192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ltLang="it-IT"/>
              <a:t>Summary</a:t>
            </a:r>
          </a:p>
        </p:txBody>
      </p:sp>
      <p:sp>
        <p:nvSpPr>
          <p:cNvPr id="154627" name="Rectangle 3"/>
          <p:cNvSpPr>
            <a:spLocks noGrp="1" noChangeArrowheads="1"/>
          </p:cNvSpPr>
          <p:nvPr>
            <p:ph type="body" idx="1"/>
          </p:nvPr>
        </p:nvSpPr>
        <p:spPr>
          <a:xfrm>
            <a:off x="304800" y="909638"/>
            <a:ext cx="8610600" cy="3623043"/>
          </a:xfrm>
        </p:spPr>
        <p:txBody>
          <a:bodyPr/>
          <a:lstStyle/>
          <a:p>
            <a:r>
              <a:rPr lang="en-US" altLang="it-IT"/>
              <a:t>Null message algorithm</a:t>
            </a:r>
          </a:p>
          <a:p>
            <a:pPr lvl="1"/>
            <a:r>
              <a:rPr lang="en-US" altLang="it-IT" err="1"/>
              <a:t>Lookahead</a:t>
            </a:r>
            <a:r>
              <a:rPr lang="en-US" altLang="it-IT"/>
              <a:t> creep problem</a:t>
            </a:r>
          </a:p>
          <a:p>
            <a:pPr lvl="1"/>
            <a:r>
              <a:rPr lang="en-US" altLang="it-IT"/>
              <a:t>No zero </a:t>
            </a:r>
            <a:r>
              <a:rPr lang="en-US" altLang="it-IT" err="1"/>
              <a:t>lookahead</a:t>
            </a:r>
            <a:r>
              <a:rPr lang="en-US" altLang="it-IT"/>
              <a:t> cycles allowed</a:t>
            </a:r>
          </a:p>
          <a:p>
            <a:r>
              <a:rPr lang="en-US" altLang="it-IT" err="1"/>
              <a:t>Lookahead</a:t>
            </a:r>
            <a:endParaRPr lang="en-US" altLang="it-IT"/>
          </a:p>
          <a:p>
            <a:pPr lvl="1"/>
            <a:r>
              <a:rPr lang="en-US" altLang="it-IT"/>
              <a:t>Constraint on time stamps of subsequent messages</a:t>
            </a:r>
          </a:p>
          <a:p>
            <a:pPr lvl="1"/>
            <a:r>
              <a:rPr lang="en-US" altLang="it-IT"/>
              <a:t>Essential for concurrent processing of events for conservative algorithms</a:t>
            </a:r>
          </a:p>
          <a:p>
            <a:pPr lvl="1"/>
            <a:r>
              <a:rPr lang="en-US" altLang="it-IT"/>
              <a:t>Has large effect on performance</a:t>
            </a:r>
          </a:p>
        </p:txBody>
      </p:sp>
      <p:sp>
        <p:nvSpPr>
          <p:cNvPr id="2" name="Segnaposto data 1">
            <a:extLst>
              <a:ext uri="{FF2B5EF4-FFF2-40B4-BE49-F238E27FC236}">
                <a16:creationId xmlns:a16="http://schemas.microsoft.com/office/drawing/2014/main" id="{9F801CC5-70A5-7ED4-DE12-3FEEA9140B1A}"/>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5E8EBBA0-EB51-144A-F7BA-8BF11F45BA3A}"/>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ECDADCE8-0DDE-9AC4-BA8D-77B16E8EF8D4}"/>
              </a:ext>
            </a:extLst>
          </p:cNvPr>
          <p:cNvSpPr>
            <a:spLocks noGrp="1"/>
          </p:cNvSpPr>
          <p:nvPr>
            <p:ph type="sldNum" sz="quarter" idx="4"/>
          </p:nvPr>
        </p:nvSpPr>
        <p:spPr/>
        <p:txBody>
          <a:bodyPr/>
          <a:lstStyle/>
          <a:p>
            <a:fld id="{9BFB3A76-8619-A843-8C67-B9C7C140DBAC}" type="slidenum">
              <a:rPr lang="en-US" smtClean="0"/>
              <a:t>30</a:t>
            </a:fld>
            <a:endParaRPr lang="en-US"/>
          </a:p>
        </p:txBody>
      </p:sp>
    </p:spTree>
    <p:extLst>
      <p:ext uri="{BB962C8B-B14F-4D97-AF65-F5344CB8AC3E}">
        <p14:creationId xmlns:p14="http://schemas.microsoft.com/office/powerpoint/2010/main" val="35539303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dissolve">
                                      <p:cBhvr>
                                        <p:cTn id="7" dur="500"/>
                                        <p:tgtEl>
                                          <p:spTgt spid="15462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4627">
                                            <p:txEl>
                                              <p:pRg st="1" end="1"/>
                                            </p:txEl>
                                          </p:spTgt>
                                        </p:tgtEl>
                                        <p:attrNameLst>
                                          <p:attrName>style.visibility</p:attrName>
                                        </p:attrNameLst>
                                      </p:cBhvr>
                                      <p:to>
                                        <p:strVal val="visible"/>
                                      </p:to>
                                    </p:set>
                                    <p:animEffect transition="in" filter="dissolve">
                                      <p:cBhvr>
                                        <p:cTn id="10" dur="500"/>
                                        <p:tgtEl>
                                          <p:spTgt spid="15462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54627">
                                            <p:txEl>
                                              <p:pRg st="2" end="2"/>
                                            </p:txEl>
                                          </p:spTgt>
                                        </p:tgtEl>
                                        <p:attrNameLst>
                                          <p:attrName>style.visibility</p:attrName>
                                        </p:attrNameLst>
                                      </p:cBhvr>
                                      <p:to>
                                        <p:strVal val="visible"/>
                                      </p:to>
                                    </p:set>
                                    <p:animEffect transition="in" filter="dissolve">
                                      <p:cBhvr>
                                        <p:cTn id="13" dur="500"/>
                                        <p:tgtEl>
                                          <p:spTgt spid="15462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54627">
                                            <p:txEl>
                                              <p:pRg st="3" end="3"/>
                                            </p:txEl>
                                          </p:spTgt>
                                        </p:tgtEl>
                                        <p:attrNameLst>
                                          <p:attrName>style.visibility</p:attrName>
                                        </p:attrNameLst>
                                      </p:cBhvr>
                                      <p:to>
                                        <p:strVal val="visible"/>
                                      </p:to>
                                    </p:set>
                                    <p:animEffect transition="in" filter="dissolve">
                                      <p:cBhvr>
                                        <p:cTn id="18" dur="500"/>
                                        <p:tgtEl>
                                          <p:spTgt spid="154627">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54627">
                                            <p:txEl>
                                              <p:pRg st="4" end="4"/>
                                            </p:txEl>
                                          </p:spTgt>
                                        </p:tgtEl>
                                        <p:attrNameLst>
                                          <p:attrName>style.visibility</p:attrName>
                                        </p:attrNameLst>
                                      </p:cBhvr>
                                      <p:to>
                                        <p:strVal val="visible"/>
                                      </p:to>
                                    </p:set>
                                    <p:animEffect transition="in" filter="dissolve">
                                      <p:cBhvr>
                                        <p:cTn id="21" dur="500"/>
                                        <p:tgtEl>
                                          <p:spTgt spid="154627">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54627">
                                            <p:txEl>
                                              <p:pRg st="5" end="5"/>
                                            </p:txEl>
                                          </p:spTgt>
                                        </p:tgtEl>
                                        <p:attrNameLst>
                                          <p:attrName>style.visibility</p:attrName>
                                        </p:attrNameLst>
                                      </p:cBhvr>
                                      <p:to>
                                        <p:strVal val="visible"/>
                                      </p:to>
                                    </p:set>
                                    <p:animEffect transition="in" filter="dissolve">
                                      <p:cBhvr>
                                        <p:cTn id="24" dur="500"/>
                                        <p:tgtEl>
                                          <p:spTgt spid="154627">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54627">
                                            <p:txEl>
                                              <p:pRg st="6" end="6"/>
                                            </p:txEl>
                                          </p:spTgt>
                                        </p:tgtEl>
                                        <p:attrNameLst>
                                          <p:attrName>style.visibility</p:attrName>
                                        </p:attrNameLst>
                                      </p:cBhvr>
                                      <p:to>
                                        <p:strVal val="visible"/>
                                      </p:to>
                                    </p:set>
                                    <p:animEffect transition="in" filter="dissolve">
                                      <p:cBhvr>
                                        <p:cTn id="27" dur="500"/>
                                        <p:tgtEl>
                                          <p:spTgt spid="154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ctrTitle"/>
          </p:nvPr>
        </p:nvSpPr>
        <p:spPr>
          <a:xfrm>
            <a:off x="685800" y="2538413"/>
            <a:ext cx="7772400" cy="638175"/>
          </a:xfrm>
        </p:spPr>
        <p:txBody>
          <a:bodyPr anchor="ctr"/>
          <a:lstStyle/>
          <a:p>
            <a:r>
              <a:rPr lang="en-US" altLang="it-IT" sz="3600"/>
              <a:t>Parallel and Distributed Simulation</a:t>
            </a:r>
          </a:p>
        </p:txBody>
      </p:sp>
      <p:sp>
        <p:nvSpPr>
          <p:cNvPr id="151555" name="Rectangle 3"/>
          <p:cNvSpPr>
            <a:spLocks noGrp="1" noChangeArrowheads="1"/>
          </p:cNvSpPr>
          <p:nvPr>
            <p:ph type="subTitle" idx="1"/>
          </p:nvPr>
        </p:nvSpPr>
        <p:spPr>
          <a:xfrm>
            <a:off x="1066800" y="3886200"/>
            <a:ext cx="7010400" cy="515938"/>
          </a:xfrm>
        </p:spPr>
        <p:txBody>
          <a:bodyPr/>
          <a:lstStyle/>
          <a:p>
            <a:r>
              <a:rPr lang="en-US" altLang="it-IT" sz="2800"/>
              <a:t>Deadlock Detection &amp; Recovery</a:t>
            </a:r>
          </a:p>
        </p:txBody>
      </p:sp>
      <p:sp>
        <p:nvSpPr>
          <p:cNvPr id="151556" name="Line 4"/>
          <p:cNvSpPr>
            <a:spLocks noChangeShapeType="1"/>
          </p:cNvSpPr>
          <p:nvPr/>
        </p:nvSpPr>
        <p:spPr bwMode="auto">
          <a:xfrm>
            <a:off x="457200" y="6019800"/>
            <a:ext cx="8382000" cy="0"/>
          </a:xfrm>
          <a:prstGeom prst="line">
            <a:avLst/>
          </a:prstGeom>
          <a:noFill/>
          <a:ln w="57150" cmpd="thickThin">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721225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it-IT"/>
              <a:t>Outline</a:t>
            </a:r>
          </a:p>
        </p:txBody>
      </p:sp>
      <p:sp>
        <p:nvSpPr>
          <p:cNvPr id="142339" name="Rectangle 3"/>
          <p:cNvSpPr>
            <a:spLocks noGrp="1" noChangeArrowheads="1"/>
          </p:cNvSpPr>
          <p:nvPr>
            <p:ph type="body" idx="1"/>
          </p:nvPr>
        </p:nvSpPr>
        <p:spPr>
          <a:xfrm>
            <a:off x="471488" y="990600"/>
            <a:ext cx="8353425" cy="2987675"/>
          </a:xfrm>
        </p:spPr>
        <p:txBody>
          <a:bodyPr/>
          <a:lstStyle/>
          <a:p>
            <a:r>
              <a:rPr lang="en-US" altLang="it-IT" dirty="0"/>
              <a:t>Deadlock Detection and Recovery Algorithm (Chandy and Misra)</a:t>
            </a:r>
          </a:p>
          <a:p>
            <a:pPr lvl="1"/>
            <a:r>
              <a:rPr lang="en-US" altLang="it-IT" dirty="0"/>
              <a:t>Basic Approach</a:t>
            </a:r>
          </a:p>
          <a:p>
            <a:pPr lvl="1"/>
            <a:r>
              <a:rPr lang="en-US" altLang="it-IT" dirty="0"/>
              <a:t>Deadlock Detection</a:t>
            </a:r>
          </a:p>
          <a:p>
            <a:pPr lvl="2"/>
            <a:r>
              <a:rPr lang="en-US" altLang="it-IT" dirty="0"/>
              <a:t>Diffusing distributed computations</a:t>
            </a:r>
          </a:p>
          <a:p>
            <a:pPr lvl="2"/>
            <a:r>
              <a:rPr lang="en-US" altLang="it-IT" dirty="0"/>
              <a:t>Dijkstra/Scholten algorithm</a:t>
            </a:r>
          </a:p>
          <a:p>
            <a:pPr lvl="1"/>
            <a:r>
              <a:rPr lang="en-US" altLang="it-IT" dirty="0"/>
              <a:t>Deadlock Recovery</a:t>
            </a:r>
          </a:p>
        </p:txBody>
      </p:sp>
      <p:sp>
        <p:nvSpPr>
          <p:cNvPr id="2" name="Segnaposto data 1">
            <a:extLst>
              <a:ext uri="{FF2B5EF4-FFF2-40B4-BE49-F238E27FC236}">
                <a16:creationId xmlns:a16="http://schemas.microsoft.com/office/drawing/2014/main" id="{C4E9D0D8-81C4-FAA0-C167-A3065066EC16}"/>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F0904AAA-AE23-33EB-BAD0-9F03B8FC0A53}"/>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A19D6A57-EBD6-B038-7B8E-9D911B1375D6}"/>
              </a:ext>
            </a:extLst>
          </p:cNvPr>
          <p:cNvSpPr>
            <a:spLocks noGrp="1"/>
          </p:cNvSpPr>
          <p:nvPr>
            <p:ph type="sldNum" sz="quarter" idx="4"/>
          </p:nvPr>
        </p:nvSpPr>
        <p:spPr/>
        <p:txBody>
          <a:bodyPr/>
          <a:lstStyle/>
          <a:p>
            <a:fld id="{9BFB3A76-8619-A843-8C67-B9C7C140DBAC}" type="slidenum">
              <a:rPr lang="en-US" smtClean="0"/>
              <a:t>32</a:t>
            </a:fld>
            <a:endParaRPr lang="en-US"/>
          </a:p>
        </p:txBody>
      </p:sp>
    </p:spTree>
    <p:extLst>
      <p:ext uri="{BB962C8B-B14F-4D97-AF65-F5344CB8AC3E}">
        <p14:creationId xmlns:p14="http://schemas.microsoft.com/office/powerpoint/2010/main" val="1753136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234950" y="139700"/>
            <a:ext cx="8750300" cy="469900"/>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Deadlock Detection &amp; Recovery</a:t>
            </a:r>
          </a:p>
        </p:txBody>
      </p:sp>
      <p:sp>
        <p:nvSpPr>
          <p:cNvPr id="189444" name="Rectangle 4"/>
          <p:cNvSpPr>
            <a:spLocks noChangeArrowheads="1"/>
          </p:cNvSpPr>
          <p:nvPr/>
        </p:nvSpPr>
        <p:spPr bwMode="auto">
          <a:xfrm>
            <a:off x="457200" y="920750"/>
            <a:ext cx="8382000" cy="2965450"/>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sz="2000" b="1">
                <a:latin typeface="Helvetica" charset="0"/>
              </a:rPr>
              <a:t>Algorithm A </a:t>
            </a:r>
            <a:r>
              <a:rPr lang="en-US" altLang="it-IT" sz="2000">
                <a:latin typeface="Helvetica" charset="0"/>
              </a:rPr>
              <a:t>(executed by each LP):</a:t>
            </a:r>
            <a:endParaRPr lang="en-US" altLang="it-IT" sz="2000" b="1">
              <a:latin typeface="Helvetica" charset="0"/>
            </a:endParaRPr>
          </a:p>
          <a:p>
            <a:pPr>
              <a:spcBef>
                <a:spcPct val="20000"/>
              </a:spcBef>
            </a:pPr>
            <a:r>
              <a:rPr lang="en-US" altLang="it-IT" sz="2000" b="1">
                <a:latin typeface="Helvetica" charset="0"/>
              </a:rPr>
              <a:t>Goal: Ensure events are processed in time stamp order:</a:t>
            </a:r>
            <a:endParaRPr lang="en-US" altLang="it-IT" sz="2000">
              <a:latin typeface="Helvetica" charset="0"/>
            </a:endParaRPr>
          </a:p>
          <a:p>
            <a:pPr>
              <a:spcBef>
                <a:spcPct val="20000"/>
              </a:spcBef>
            </a:pPr>
            <a:endParaRPr lang="en-US" altLang="it-IT" sz="2000">
              <a:latin typeface="Helvetica" charset="0"/>
            </a:endParaRPr>
          </a:p>
          <a:p>
            <a:pPr>
              <a:spcBef>
                <a:spcPct val="20000"/>
              </a:spcBef>
            </a:pPr>
            <a:r>
              <a:rPr lang="en-US" altLang="it-IT" sz="2000" b="1">
                <a:latin typeface="Helvetica" charset="0"/>
              </a:rPr>
              <a:t>WHILE </a:t>
            </a:r>
            <a:r>
              <a:rPr lang="en-US" altLang="it-IT" sz="2000">
                <a:latin typeface="Helvetica" charset="0"/>
              </a:rPr>
              <a:t>(simulation is not over)</a:t>
            </a:r>
          </a:p>
          <a:p>
            <a:pPr>
              <a:spcBef>
                <a:spcPct val="20000"/>
              </a:spcBef>
            </a:pPr>
            <a:r>
              <a:rPr lang="en-US" altLang="it-IT" sz="2000">
                <a:latin typeface="Helvetica" charset="0"/>
              </a:rPr>
              <a:t>	wait until each FIFO contains at least one message</a:t>
            </a:r>
          </a:p>
          <a:p>
            <a:pPr>
              <a:spcBef>
                <a:spcPct val="20000"/>
              </a:spcBef>
            </a:pPr>
            <a:r>
              <a:rPr lang="en-US" altLang="it-IT" sz="2000">
                <a:latin typeface="Helvetica" charset="0"/>
              </a:rPr>
              <a:t>	remove smallest time stamped event from its FIFO</a:t>
            </a:r>
          </a:p>
          <a:p>
            <a:pPr>
              <a:spcBef>
                <a:spcPct val="20000"/>
              </a:spcBef>
            </a:pPr>
            <a:r>
              <a:rPr lang="en-US" altLang="it-IT" sz="2000">
                <a:latin typeface="Helvetica" charset="0"/>
              </a:rPr>
              <a:t>	process that event</a:t>
            </a:r>
          </a:p>
          <a:p>
            <a:pPr>
              <a:spcBef>
                <a:spcPct val="20000"/>
              </a:spcBef>
            </a:pPr>
            <a:r>
              <a:rPr lang="en-US" altLang="it-IT" sz="2000" b="1">
                <a:latin typeface="Helvetica" charset="0"/>
              </a:rPr>
              <a:t>END-LOOP</a:t>
            </a:r>
          </a:p>
        </p:txBody>
      </p:sp>
      <p:sp>
        <p:nvSpPr>
          <p:cNvPr id="189468" name="Rectangle 28"/>
          <p:cNvSpPr>
            <a:spLocks noChangeArrowheads="1"/>
          </p:cNvSpPr>
          <p:nvPr/>
        </p:nvSpPr>
        <p:spPr bwMode="auto">
          <a:xfrm>
            <a:off x="471488" y="4478338"/>
            <a:ext cx="8353425" cy="2054225"/>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r>
              <a:rPr lang="en-US" altLang="it-IT"/>
              <a:t>No null messages</a:t>
            </a:r>
          </a:p>
          <a:p>
            <a:r>
              <a:rPr lang="en-US" altLang="it-IT"/>
              <a:t>Allow simulation to execute until deadlock occurs</a:t>
            </a:r>
          </a:p>
          <a:p>
            <a:r>
              <a:rPr lang="en-US" altLang="it-IT"/>
              <a:t>Provide a mechanism to </a:t>
            </a:r>
            <a:r>
              <a:rPr lang="en-US" altLang="it-IT">
                <a:solidFill>
                  <a:srgbClr val="CC0000"/>
                </a:solidFill>
              </a:rPr>
              <a:t>detect</a:t>
            </a:r>
            <a:r>
              <a:rPr lang="en-US" altLang="it-IT"/>
              <a:t> deadlock</a:t>
            </a:r>
          </a:p>
          <a:p>
            <a:r>
              <a:rPr lang="en-US" altLang="it-IT"/>
              <a:t>Provide a mechanism to </a:t>
            </a:r>
            <a:r>
              <a:rPr lang="en-US" altLang="it-IT">
                <a:solidFill>
                  <a:srgbClr val="CC0000"/>
                </a:solidFill>
              </a:rPr>
              <a:t>recover</a:t>
            </a:r>
            <a:r>
              <a:rPr lang="en-US" altLang="it-IT"/>
              <a:t> from deadlocks</a:t>
            </a:r>
          </a:p>
        </p:txBody>
      </p:sp>
      <p:sp>
        <p:nvSpPr>
          <p:cNvPr id="2" name="Segnaposto data 1">
            <a:extLst>
              <a:ext uri="{FF2B5EF4-FFF2-40B4-BE49-F238E27FC236}">
                <a16:creationId xmlns:a16="http://schemas.microsoft.com/office/drawing/2014/main" id="{58840CA5-8531-D004-76E8-76AF1BDA1D5C}"/>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B4D511FA-1C52-B950-4C33-FD67849EBEFC}"/>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4FDF1B57-DBF9-3E36-2406-1605D5A82482}"/>
              </a:ext>
            </a:extLst>
          </p:cNvPr>
          <p:cNvSpPr>
            <a:spLocks noGrp="1"/>
          </p:cNvSpPr>
          <p:nvPr>
            <p:ph type="sldNum" sz="quarter" idx="4"/>
          </p:nvPr>
        </p:nvSpPr>
        <p:spPr/>
        <p:txBody>
          <a:bodyPr/>
          <a:lstStyle/>
          <a:p>
            <a:fld id="{9BFB3A76-8619-A843-8C67-B9C7C140DBAC}" type="slidenum">
              <a:rPr lang="en-US" smtClean="0"/>
              <a:t>33</a:t>
            </a:fld>
            <a:endParaRPr lang="en-US"/>
          </a:p>
        </p:txBody>
      </p:sp>
    </p:spTree>
    <p:extLst>
      <p:ext uri="{BB962C8B-B14F-4D97-AF65-F5344CB8AC3E}">
        <p14:creationId xmlns:p14="http://schemas.microsoft.com/office/powerpoint/2010/main" val="10156060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76200" y="139700"/>
            <a:ext cx="8991600" cy="638175"/>
          </a:xfrm>
        </p:spPr>
        <p:txBody>
          <a:bodyPr/>
          <a:lstStyle/>
          <a:p>
            <a:r>
              <a:rPr lang="en-US" altLang="it-IT"/>
              <a:t>Deadlock Detection</a:t>
            </a:r>
          </a:p>
        </p:txBody>
      </p:sp>
      <p:sp>
        <p:nvSpPr>
          <p:cNvPr id="195587" name="Rectangle 3"/>
          <p:cNvSpPr>
            <a:spLocks noGrp="1" noChangeArrowheads="1"/>
          </p:cNvSpPr>
          <p:nvPr>
            <p:ph type="body" idx="1"/>
          </p:nvPr>
        </p:nvSpPr>
        <p:spPr>
          <a:xfrm>
            <a:off x="471488" y="957263"/>
            <a:ext cx="8353425" cy="5214937"/>
          </a:xfrm>
        </p:spPr>
        <p:txBody>
          <a:bodyPr/>
          <a:lstStyle/>
          <a:p>
            <a:pPr>
              <a:buFontTx/>
              <a:buNone/>
            </a:pPr>
            <a:r>
              <a:rPr lang="en-US" altLang="it-IT"/>
              <a:t>Diffusing computations (Dijkstra/Scholten)</a:t>
            </a:r>
          </a:p>
          <a:p>
            <a:r>
              <a:rPr lang="en-US" altLang="it-IT"/>
              <a:t>Computation consists of a collection of processes that communicate by exchanging messages</a:t>
            </a:r>
          </a:p>
          <a:p>
            <a:r>
              <a:rPr lang="en-US" altLang="it-IT"/>
              <a:t>Receiving a message triggers computation; may result in sending/receiving more messages</a:t>
            </a:r>
          </a:p>
          <a:p>
            <a:r>
              <a:rPr lang="en-US" altLang="it-IT"/>
              <a:t>Processes do not spontaneously start new computations (must first receive a message)</a:t>
            </a:r>
          </a:p>
          <a:p>
            <a:r>
              <a:rPr lang="en-US" altLang="it-IT"/>
              <a:t>One process identified as the “controller” that is used for deadlock detection and recovery</a:t>
            </a:r>
          </a:p>
          <a:p>
            <a:pPr>
              <a:buFontTx/>
              <a:buNone/>
            </a:pPr>
            <a:r>
              <a:rPr lang="en-US" altLang="it-IT"/>
              <a:t>Goal: determine when all of the processes are blocked (global deadlock)</a:t>
            </a:r>
          </a:p>
        </p:txBody>
      </p:sp>
      <p:sp>
        <p:nvSpPr>
          <p:cNvPr id="2" name="Segnaposto data 1">
            <a:extLst>
              <a:ext uri="{FF2B5EF4-FFF2-40B4-BE49-F238E27FC236}">
                <a16:creationId xmlns:a16="http://schemas.microsoft.com/office/drawing/2014/main" id="{4805680F-CCF6-52B0-2991-A151CB0599ED}"/>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D3463AD4-8C36-41CF-38DC-27B8C5B0AA14}"/>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F48556B7-1D03-F084-837F-CD4DBBC6D236}"/>
              </a:ext>
            </a:extLst>
          </p:cNvPr>
          <p:cNvSpPr>
            <a:spLocks noGrp="1"/>
          </p:cNvSpPr>
          <p:nvPr>
            <p:ph type="sldNum" sz="quarter" idx="4"/>
          </p:nvPr>
        </p:nvSpPr>
        <p:spPr/>
        <p:txBody>
          <a:bodyPr/>
          <a:lstStyle/>
          <a:p>
            <a:fld id="{9BFB3A76-8619-A843-8C67-B9C7C140DBAC}" type="slidenum">
              <a:rPr lang="en-US" smtClean="0"/>
              <a:t>34</a:t>
            </a:fld>
            <a:endParaRPr lang="en-US"/>
          </a:p>
        </p:txBody>
      </p:sp>
    </p:spTree>
    <p:extLst>
      <p:ext uri="{BB962C8B-B14F-4D97-AF65-F5344CB8AC3E}">
        <p14:creationId xmlns:p14="http://schemas.microsoft.com/office/powerpoint/2010/main" val="1827005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dissolve">
                                      <p:cBhvr>
                                        <p:cTn id="7" dur="500"/>
                                        <p:tgtEl>
                                          <p:spTgt spid="195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5587">
                                            <p:txEl>
                                              <p:pRg st="1" end="1"/>
                                            </p:txEl>
                                          </p:spTgt>
                                        </p:tgtEl>
                                        <p:attrNameLst>
                                          <p:attrName>style.visibility</p:attrName>
                                        </p:attrNameLst>
                                      </p:cBhvr>
                                      <p:to>
                                        <p:strVal val="visible"/>
                                      </p:to>
                                    </p:set>
                                    <p:animEffect transition="in" filter="dissolve">
                                      <p:cBhvr>
                                        <p:cTn id="12" dur="500"/>
                                        <p:tgtEl>
                                          <p:spTgt spid="195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5587">
                                            <p:txEl>
                                              <p:pRg st="2" end="2"/>
                                            </p:txEl>
                                          </p:spTgt>
                                        </p:tgtEl>
                                        <p:attrNameLst>
                                          <p:attrName>style.visibility</p:attrName>
                                        </p:attrNameLst>
                                      </p:cBhvr>
                                      <p:to>
                                        <p:strVal val="visible"/>
                                      </p:to>
                                    </p:set>
                                    <p:animEffect transition="in" filter="dissolve">
                                      <p:cBhvr>
                                        <p:cTn id="17" dur="500"/>
                                        <p:tgtEl>
                                          <p:spTgt spid="195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5587">
                                            <p:txEl>
                                              <p:pRg st="3" end="3"/>
                                            </p:txEl>
                                          </p:spTgt>
                                        </p:tgtEl>
                                        <p:attrNameLst>
                                          <p:attrName>style.visibility</p:attrName>
                                        </p:attrNameLst>
                                      </p:cBhvr>
                                      <p:to>
                                        <p:strVal val="visible"/>
                                      </p:to>
                                    </p:set>
                                    <p:animEffect transition="in" filter="dissolve">
                                      <p:cBhvr>
                                        <p:cTn id="22" dur="500"/>
                                        <p:tgtEl>
                                          <p:spTgt spid="1955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5587">
                                            <p:txEl>
                                              <p:pRg st="4" end="4"/>
                                            </p:txEl>
                                          </p:spTgt>
                                        </p:tgtEl>
                                        <p:attrNameLst>
                                          <p:attrName>style.visibility</p:attrName>
                                        </p:attrNameLst>
                                      </p:cBhvr>
                                      <p:to>
                                        <p:strVal val="visible"/>
                                      </p:to>
                                    </p:set>
                                    <p:animEffect transition="in" filter="dissolve">
                                      <p:cBhvr>
                                        <p:cTn id="27" dur="500"/>
                                        <p:tgtEl>
                                          <p:spTgt spid="1955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5587">
                                            <p:txEl>
                                              <p:pRg st="5" end="5"/>
                                            </p:txEl>
                                          </p:spTgt>
                                        </p:tgtEl>
                                        <p:attrNameLst>
                                          <p:attrName>style.visibility</p:attrName>
                                        </p:attrNameLst>
                                      </p:cBhvr>
                                      <p:to>
                                        <p:strVal val="visible"/>
                                      </p:to>
                                    </p:set>
                                    <p:animEffect transition="in" filter="dissolve">
                                      <p:cBhvr>
                                        <p:cTn id="32" dur="500"/>
                                        <p:tgtEl>
                                          <p:spTgt spid="1955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76200" y="139700"/>
            <a:ext cx="8991600" cy="638175"/>
          </a:xfrm>
        </p:spPr>
        <p:txBody>
          <a:bodyPr/>
          <a:lstStyle/>
          <a:p>
            <a:r>
              <a:rPr lang="en-US" altLang="it-IT"/>
              <a:t>Basic Idea</a:t>
            </a:r>
          </a:p>
        </p:txBody>
      </p:sp>
      <p:sp>
        <p:nvSpPr>
          <p:cNvPr id="196611" name="Rectangle 3"/>
          <p:cNvSpPr>
            <a:spLocks noGrp="1" noChangeArrowheads="1"/>
          </p:cNvSpPr>
          <p:nvPr>
            <p:ph type="body" idx="1"/>
          </p:nvPr>
        </p:nvSpPr>
        <p:spPr>
          <a:xfrm>
            <a:off x="381000" y="974725"/>
            <a:ext cx="8534400" cy="5703613"/>
          </a:xfrm>
        </p:spPr>
        <p:txBody>
          <a:bodyPr/>
          <a:lstStyle/>
          <a:p>
            <a:r>
              <a:rPr lang="en-US" altLang="it-IT" sz="2400" dirty="0"/>
              <a:t>Initially, all processes blocked except controller</a:t>
            </a:r>
          </a:p>
          <a:p>
            <a:r>
              <a:rPr lang="en-US" altLang="it-IT" sz="2400" dirty="0"/>
              <a:t>Controller sends messages to one or more processes to break deadlock</a:t>
            </a:r>
          </a:p>
          <a:p>
            <a:r>
              <a:rPr lang="en-US" altLang="it-IT" sz="2400" dirty="0"/>
              <a:t>Computation spreads as processes send messages</a:t>
            </a:r>
          </a:p>
          <a:p>
            <a:r>
              <a:rPr lang="en-US" altLang="it-IT" sz="2400" dirty="0"/>
              <a:t>Construct a tree of processes that expands as the computation spreads, contracts as processes become idle</a:t>
            </a:r>
          </a:p>
          <a:p>
            <a:pPr lvl="1"/>
            <a:r>
              <a:rPr lang="en-US" altLang="it-IT" sz="2000" dirty="0"/>
              <a:t>Processes in tree are said to be </a:t>
            </a:r>
            <a:r>
              <a:rPr lang="en-US" altLang="it-IT" sz="2000" dirty="0">
                <a:solidFill>
                  <a:srgbClr val="CC0000"/>
                </a:solidFill>
              </a:rPr>
              <a:t>engaged</a:t>
            </a:r>
            <a:endParaRPr lang="en-US" altLang="it-IT" sz="2000" dirty="0"/>
          </a:p>
          <a:p>
            <a:pPr lvl="1"/>
            <a:r>
              <a:rPr lang="en-US" altLang="it-IT" sz="2000" dirty="0"/>
              <a:t>Processes not in tree are said to be </a:t>
            </a:r>
            <a:r>
              <a:rPr lang="en-US" altLang="it-IT" sz="2000" dirty="0">
                <a:solidFill>
                  <a:srgbClr val="CC0000"/>
                </a:solidFill>
              </a:rPr>
              <a:t>disengaged</a:t>
            </a:r>
            <a:endParaRPr lang="en-US" altLang="it-IT" sz="2000" dirty="0"/>
          </a:p>
          <a:p>
            <a:r>
              <a:rPr lang="en-US" altLang="it-IT" sz="2400" dirty="0"/>
              <a:t>A disengaged process becomes engaged (added to tree) when it </a:t>
            </a:r>
            <a:r>
              <a:rPr lang="en-US" altLang="it-IT" sz="2400" i="1" dirty="0">
                <a:solidFill>
                  <a:srgbClr val="CC0000"/>
                </a:solidFill>
              </a:rPr>
              <a:t>receives a message</a:t>
            </a:r>
            <a:endParaRPr lang="en-US" altLang="it-IT" sz="2400" dirty="0"/>
          </a:p>
          <a:p>
            <a:r>
              <a:rPr lang="en-US" altLang="it-IT" sz="2400" dirty="0"/>
              <a:t>An engaged process becomes disengaged (removed from the tree) when </a:t>
            </a:r>
            <a:r>
              <a:rPr lang="en-US" altLang="it-IT" sz="2400" i="1" dirty="0">
                <a:solidFill>
                  <a:srgbClr val="CC0000"/>
                </a:solidFill>
              </a:rPr>
              <a:t>it is a leaf node</a:t>
            </a:r>
            <a:r>
              <a:rPr lang="en-US" altLang="it-IT" sz="2400" dirty="0"/>
              <a:t> and </a:t>
            </a:r>
            <a:r>
              <a:rPr lang="en-US" altLang="it-IT" sz="2400" i="1" dirty="0">
                <a:solidFill>
                  <a:srgbClr val="CC0000"/>
                </a:solidFill>
              </a:rPr>
              <a:t>it is idle (blocked)</a:t>
            </a:r>
            <a:endParaRPr lang="en-US" altLang="it-IT" sz="2400" dirty="0"/>
          </a:p>
          <a:p>
            <a:r>
              <a:rPr lang="en-US" altLang="it-IT" sz="2400" dirty="0"/>
              <a:t>If the tree only includes the controller, the processes are deadlocked</a:t>
            </a:r>
          </a:p>
        </p:txBody>
      </p:sp>
      <p:sp>
        <p:nvSpPr>
          <p:cNvPr id="2" name="Segnaposto data 1">
            <a:extLst>
              <a:ext uri="{FF2B5EF4-FFF2-40B4-BE49-F238E27FC236}">
                <a16:creationId xmlns:a16="http://schemas.microsoft.com/office/drawing/2014/main" id="{EF253754-1DFA-C24F-2B73-32306619B01A}"/>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F46250BD-67EE-9E69-C723-6EE6577D365F}"/>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3238135C-6409-5859-0951-38FCDF3EE44F}"/>
              </a:ext>
            </a:extLst>
          </p:cNvPr>
          <p:cNvSpPr>
            <a:spLocks noGrp="1"/>
          </p:cNvSpPr>
          <p:nvPr>
            <p:ph type="sldNum" sz="quarter" idx="4"/>
          </p:nvPr>
        </p:nvSpPr>
        <p:spPr/>
        <p:txBody>
          <a:bodyPr/>
          <a:lstStyle/>
          <a:p>
            <a:fld id="{9BFB3A76-8619-A843-8C67-B9C7C140DBAC}" type="slidenum">
              <a:rPr lang="en-US" smtClean="0"/>
              <a:t>35</a:t>
            </a:fld>
            <a:endParaRPr lang="en-US"/>
          </a:p>
        </p:txBody>
      </p:sp>
    </p:spTree>
    <p:extLst>
      <p:ext uri="{BB962C8B-B14F-4D97-AF65-F5344CB8AC3E}">
        <p14:creationId xmlns:p14="http://schemas.microsoft.com/office/powerpoint/2010/main" val="17567074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Effect transition="in" filter="dissolve">
                                      <p:cBhvr>
                                        <p:cTn id="7" dur="500"/>
                                        <p:tgtEl>
                                          <p:spTgt spid="196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6611">
                                            <p:txEl>
                                              <p:pRg st="1" end="1"/>
                                            </p:txEl>
                                          </p:spTgt>
                                        </p:tgtEl>
                                        <p:attrNameLst>
                                          <p:attrName>style.visibility</p:attrName>
                                        </p:attrNameLst>
                                      </p:cBhvr>
                                      <p:to>
                                        <p:strVal val="visible"/>
                                      </p:to>
                                    </p:set>
                                    <p:animEffect transition="in" filter="dissolve">
                                      <p:cBhvr>
                                        <p:cTn id="12" dur="500"/>
                                        <p:tgtEl>
                                          <p:spTgt spid="1966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6611">
                                            <p:txEl>
                                              <p:pRg st="2" end="2"/>
                                            </p:txEl>
                                          </p:spTgt>
                                        </p:tgtEl>
                                        <p:attrNameLst>
                                          <p:attrName>style.visibility</p:attrName>
                                        </p:attrNameLst>
                                      </p:cBhvr>
                                      <p:to>
                                        <p:strVal val="visible"/>
                                      </p:to>
                                    </p:set>
                                    <p:animEffect transition="in" filter="dissolve">
                                      <p:cBhvr>
                                        <p:cTn id="17" dur="500"/>
                                        <p:tgtEl>
                                          <p:spTgt spid="1966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6611">
                                            <p:txEl>
                                              <p:pRg st="3" end="3"/>
                                            </p:txEl>
                                          </p:spTgt>
                                        </p:tgtEl>
                                        <p:attrNameLst>
                                          <p:attrName>style.visibility</p:attrName>
                                        </p:attrNameLst>
                                      </p:cBhvr>
                                      <p:to>
                                        <p:strVal val="visible"/>
                                      </p:to>
                                    </p:set>
                                    <p:animEffect transition="in" filter="dissolve">
                                      <p:cBhvr>
                                        <p:cTn id="22" dur="500"/>
                                        <p:tgtEl>
                                          <p:spTgt spid="1966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6611">
                                            <p:txEl>
                                              <p:pRg st="4" end="4"/>
                                            </p:txEl>
                                          </p:spTgt>
                                        </p:tgtEl>
                                        <p:attrNameLst>
                                          <p:attrName>style.visibility</p:attrName>
                                        </p:attrNameLst>
                                      </p:cBhvr>
                                      <p:to>
                                        <p:strVal val="visible"/>
                                      </p:to>
                                    </p:set>
                                    <p:animEffect transition="in" filter="dissolve">
                                      <p:cBhvr>
                                        <p:cTn id="27" dur="500"/>
                                        <p:tgtEl>
                                          <p:spTgt spid="1966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6611">
                                            <p:txEl>
                                              <p:pRg st="5" end="5"/>
                                            </p:txEl>
                                          </p:spTgt>
                                        </p:tgtEl>
                                        <p:attrNameLst>
                                          <p:attrName>style.visibility</p:attrName>
                                        </p:attrNameLst>
                                      </p:cBhvr>
                                      <p:to>
                                        <p:strVal val="visible"/>
                                      </p:to>
                                    </p:set>
                                    <p:animEffect transition="in" filter="dissolve">
                                      <p:cBhvr>
                                        <p:cTn id="32" dur="500"/>
                                        <p:tgtEl>
                                          <p:spTgt spid="1966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6611">
                                            <p:txEl>
                                              <p:pRg st="6" end="6"/>
                                            </p:txEl>
                                          </p:spTgt>
                                        </p:tgtEl>
                                        <p:attrNameLst>
                                          <p:attrName>style.visibility</p:attrName>
                                        </p:attrNameLst>
                                      </p:cBhvr>
                                      <p:to>
                                        <p:strVal val="visible"/>
                                      </p:to>
                                    </p:set>
                                    <p:animEffect transition="in" filter="dissolve">
                                      <p:cBhvr>
                                        <p:cTn id="37" dur="500"/>
                                        <p:tgtEl>
                                          <p:spTgt spid="19661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6611">
                                            <p:txEl>
                                              <p:pRg st="7" end="7"/>
                                            </p:txEl>
                                          </p:spTgt>
                                        </p:tgtEl>
                                        <p:attrNameLst>
                                          <p:attrName>style.visibility</p:attrName>
                                        </p:attrNameLst>
                                      </p:cBhvr>
                                      <p:to>
                                        <p:strVal val="visible"/>
                                      </p:to>
                                    </p:set>
                                    <p:animEffect transition="in" filter="dissolve">
                                      <p:cBhvr>
                                        <p:cTn id="42" dur="500"/>
                                        <p:tgtEl>
                                          <p:spTgt spid="19661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6611">
                                            <p:txEl>
                                              <p:pRg st="8" end="8"/>
                                            </p:txEl>
                                          </p:spTgt>
                                        </p:tgtEl>
                                        <p:attrNameLst>
                                          <p:attrName>style.visibility</p:attrName>
                                        </p:attrNameLst>
                                      </p:cBhvr>
                                      <p:to>
                                        <p:strVal val="visible"/>
                                      </p:to>
                                    </p:set>
                                    <p:animEffect transition="in" filter="dissolve">
                                      <p:cBhvr>
                                        <p:cTn id="47" dur="500"/>
                                        <p:tgtEl>
                                          <p:spTgt spid="1966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2769" name="Group 17"/>
          <p:cNvGrpSpPr>
            <a:grpSpLocks/>
          </p:cNvGrpSpPr>
          <p:nvPr/>
        </p:nvGrpSpPr>
        <p:grpSpPr bwMode="auto">
          <a:xfrm>
            <a:off x="304800" y="1524000"/>
            <a:ext cx="6096000" cy="5087938"/>
            <a:chOff x="192" y="960"/>
            <a:chExt cx="3840" cy="3205"/>
          </a:xfrm>
        </p:grpSpPr>
        <p:sp>
          <p:nvSpPr>
            <p:cNvPr id="202770" name="Rectangle 18"/>
            <p:cNvSpPr>
              <a:spLocks noChangeArrowheads="1"/>
            </p:cNvSpPr>
            <p:nvPr/>
          </p:nvSpPr>
          <p:spPr bwMode="auto">
            <a:xfrm>
              <a:off x="2544" y="960"/>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sp>
          <p:nvSpPr>
            <p:cNvPr id="202771" name="Rectangle 19"/>
            <p:cNvSpPr>
              <a:spLocks noChangeArrowheads="1"/>
            </p:cNvSpPr>
            <p:nvPr/>
          </p:nvSpPr>
          <p:spPr bwMode="auto">
            <a:xfrm>
              <a:off x="480" y="2016"/>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2772" name="Rectangle 20"/>
            <p:cNvSpPr>
              <a:spLocks noChangeArrowheads="1"/>
            </p:cNvSpPr>
            <p:nvPr/>
          </p:nvSpPr>
          <p:spPr bwMode="auto">
            <a:xfrm>
              <a:off x="2592" y="2064"/>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2773" name="Rectangle 21"/>
            <p:cNvSpPr>
              <a:spLocks noChangeArrowheads="1"/>
            </p:cNvSpPr>
            <p:nvPr/>
          </p:nvSpPr>
          <p:spPr bwMode="auto">
            <a:xfrm>
              <a:off x="1728" y="2640"/>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sp>
          <p:nvSpPr>
            <p:cNvPr id="202774" name="Rectangle 22"/>
            <p:cNvSpPr>
              <a:spLocks noChangeArrowheads="1"/>
            </p:cNvSpPr>
            <p:nvPr/>
          </p:nvSpPr>
          <p:spPr bwMode="auto">
            <a:xfrm>
              <a:off x="1344" y="1344"/>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Cntl</a:t>
              </a:r>
            </a:p>
          </p:txBody>
        </p:sp>
        <p:sp>
          <p:nvSpPr>
            <p:cNvPr id="202775" name="Line 23"/>
            <p:cNvSpPr>
              <a:spLocks noChangeShapeType="1"/>
            </p:cNvSpPr>
            <p:nvPr/>
          </p:nvSpPr>
          <p:spPr bwMode="auto">
            <a:xfrm>
              <a:off x="1728" y="1632"/>
              <a:ext cx="720" cy="384"/>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76" name="Rectangle 24"/>
            <p:cNvSpPr>
              <a:spLocks noChangeArrowheads="1"/>
            </p:cNvSpPr>
            <p:nvPr/>
          </p:nvSpPr>
          <p:spPr bwMode="auto">
            <a:xfrm>
              <a:off x="192" y="3840"/>
              <a:ext cx="3840"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Controller sends start message to 3</a:t>
              </a:r>
            </a:p>
          </p:txBody>
        </p:sp>
      </p:grpSp>
      <p:grpSp>
        <p:nvGrpSpPr>
          <p:cNvPr id="202777" name="Group 25"/>
          <p:cNvGrpSpPr>
            <a:grpSpLocks/>
          </p:cNvGrpSpPr>
          <p:nvPr/>
        </p:nvGrpSpPr>
        <p:grpSpPr bwMode="auto">
          <a:xfrm>
            <a:off x="304800" y="2057400"/>
            <a:ext cx="7010400" cy="4554538"/>
            <a:chOff x="192" y="1296"/>
            <a:chExt cx="4416" cy="2869"/>
          </a:xfrm>
        </p:grpSpPr>
        <p:sp>
          <p:nvSpPr>
            <p:cNvPr id="202778" name="Rectangle 26"/>
            <p:cNvSpPr>
              <a:spLocks noChangeArrowheads="1"/>
            </p:cNvSpPr>
            <p:nvPr/>
          </p:nvSpPr>
          <p:spPr bwMode="auto">
            <a:xfrm>
              <a:off x="2592" y="2064"/>
              <a:ext cx="288" cy="288"/>
            </a:xfrm>
            <a:prstGeom prst="rect">
              <a:avLst/>
            </a:prstGeom>
            <a:solidFill>
              <a:srgbClr val="0066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2779" name="Rectangle 27"/>
            <p:cNvSpPr>
              <a:spLocks noChangeArrowheads="1"/>
            </p:cNvSpPr>
            <p:nvPr/>
          </p:nvSpPr>
          <p:spPr bwMode="auto">
            <a:xfrm>
              <a:off x="1344" y="1344"/>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err="1"/>
                <a:t>Cntl</a:t>
              </a:r>
              <a:endParaRPr lang="en-US" altLang="it-IT"/>
            </a:p>
          </p:txBody>
        </p:sp>
        <p:sp>
          <p:nvSpPr>
            <p:cNvPr id="202780" name="Line 28"/>
            <p:cNvSpPr>
              <a:spLocks noChangeShapeType="1"/>
            </p:cNvSpPr>
            <p:nvPr/>
          </p:nvSpPr>
          <p:spPr bwMode="auto">
            <a:xfrm>
              <a:off x="1728" y="1632"/>
              <a:ext cx="720" cy="38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81" name="Rectangle 29"/>
            <p:cNvSpPr>
              <a:spLocks noChangeArrowheads="1"/>
            </p:cNvSpPr>
            <p:nvPr/>
          </p:nvSpPr>
          <p:spPr bwMode="auto">
            <a:xfrm>
              <a:off x="192" y="3840"/>
              <a:ext cx="4416"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3 added to tree, sends messages to 1, 2, 4</a:t>
              </a:r>
            </a:p>
          </p:txBody>
        </p:sp>
        <p:sp>
          <p:nvSpPr>
            <p:cNvPr id="202782" name="Line 30"/>
            <p:cNvSpPr>
              <a:spLocks noChangeShapeType="1"/>
            </p:cNvSpPr>
            <p:nvPr/>
          </p:nvSpPr>
          <p:spPr bwMode="auto">
            <a:xfrm flipH="1" flipV="1">
              <a:off x="2688" y="1296"/>
              <a:ext cx="48" cy="672"/>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83" name="Line 31"/>
            <p:cNvSpPr>
              <a:spLocks noChangeShapeType="1"/>
            </p:cNvSpPr>
            <p:nvPr/>
          </p:nvSpPr>
          <p:spPr bwMode="auto">
            <a:xfrm flipH="1">
              <a:off x="2064" y="2448"/>
              <a:ext cx="480" cy="288"/>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84" name="Line 32"/>
            <p:cNvSpPr>
              <a:spLocks noChangeShapeType="1"/>
            </p:cNvSpPr>
            <p:nvPr/>
          </p:nvSpPr>
          <p:spPr bwMode="auto">
            <a:xfrm flipH="1" flipV="1">
              <a:off x="816" y="2160"/>
              <a:ext cx="1680" cy="48"/>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202785" name="Group 33"/>
          <p:cNvGrpSpPr>
            <a:grpSpLocks/>
          </p:cNvGrpSpPr>
          <p:nvPr/>
        </p:nvGrpSpPr>
        <p:grpSpPr bwMode="auto">
          <a:xfrm>
            <a:off x="304800" y="1524000"/>
            <a:ext cx="8382000" cy="5087938"/>
            <a:chOff x="192" y="960"/>
            <a:chExt cx="5280" cy="3205"/>
          </a:xfrm>
        </p:grpSpPr>
        <p:sp>
          <p:nvSpPr>
            <p:cNvPr id="202786" name="Rectangle 34"/>
            <p:cNvSpPr>
              <a:spLocks noChangeArrowheads="1"/>
            </p:cNvSpPr>
            <p:nvPr/>
          </p:nvSpPr>
          <p:spPr bwMode="auto">
            <a:xfrm>
              <a:off x="2544" y="960"/>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sp>
          <p:nvSpPr>
            <p:cNvPr id="202787" name="Rectangle 35"/>
            <p:cNvSpPr>
              <a:spLocks noChangeArrowheads="1"/>
            </p:cNvSpPr>
            <p:nvPr/>
          </p:nvSpPr>
          <p:spPr bwMode="auto">
            <a:xfrm>
              <a:off x="480" y="2016"/>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2788" name="Rectangle 36"/>
            <p:cNvSpPr>
              <a:spLocks noChangeArrowheads="1"/>
            </p:cNvSpPr>
            <p:nvPr/>
          </p:nvSpPr>
          <p:spPr bwMode="auto">
            <a:xfrm>
              <a:off x="1728" y="2640"/>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sp>
          <p:nvSpPr>
            <p:cNvPr id="202789" name="Line 37"/>
            <p:cNvSpPr>
              <a:spLocks noChangeShapeType="1"/>
            </p:cNvSpPr>
            <p:nvPr/>
          </p:nvSpPr>
          <p:spPr bwMode="auto">
            <a:xfrm flipH="1" flipV="1">
              <a:off x="816" y="2160"/>
              <a:ext cx="168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90" name="Rectangle 38"/>
            <p:cNvSpPr>
              <a:spLocks noChangeArrowheads="1"/>
            </p:cNvSpPr>
            <p:nvPr/>
          </p:nvSpPr>
          <p:spPr bwMode="auto">
            <a:xfrm>
              <a:off x="192" y="3840"/>
              <a:ext cx="5280"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1, 2, and 4 added to engagement tree</a:t>
              </a:r>
            </a:p>
          </p:txBody>
        </p:sp>
        <p:sp>
          <p:nvSpPr>
            <p:cNvPr id="202791" name="Line 39"/>
            <p:cNvSpPr>
              <a:spLocks noChangeShapeType="1"/>
            </p:cNvSpPr>
            <p:nvPr/>
          </p:nvSpPr>
          <p:spPr bwMode="auto">
            <a:xfrm flipH="1">
              <a:off x="2064" y="2448"/>
              <a:ext cx="480"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92" name="Line 40"/>
            <p:cNvSpPr>
              <a:spLocks noChangeShapeType="1"/>
            </p:cNvSpPr>
            <p:nvPr/>
          </p:nvSpPr>
          <p:spPr bwMode="auto">
            <a:xfrm flipH="1" flipV="1">
              <a:off x="2688" y="1296"/>
              <a:ext cx="48" cy="67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202851" name="Text Box 99"/>
          <p:cNvSpPr txBox="1">
            <a:spLocks noChangeArrowheads="1"/>
          </p:cNvSpPr>
          <p:nvPr/>
        </p:nvSpPr>
        <p:spPr bwMode="auto">
          <a:xfrm>
            <a:off x="344488" y="6096000"/>
            <a:ext cx="7885112" cy="5191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it-IT" sz="2800"/>
              <a:t>1 and 3 become idle</a:t>
            </a:r>
            <a:endParaRPr lang="en-US" altLang="it-IT" sz="2400"/>
          </a:p>
        </p:txBody>
      </p:sp>
      <p:grpSp>
        <p:nvGrpSpPr>
          <p:cNvPr id="202852" name="Group 100"/>
          <p:cNvGrpSpPr>
            <a:grpSpLocks/>
          </p:cNvGrpSpPr>
          <p:nvPr/>
        </p:nvGrpSpPr>
        <p:grpSpPr bwMode="auto">
          <a:xfrm>
            <a:off x="76200" y="1524000"/>
            <a:ext cx="8991600" cy="5087938"/>
            <a:chOff x="48" y="960"/>
            <a:chExt cx="5664" cy="3205"/>
          </a:xfrm>
        </p:grpSpPr>
        <p:sp>
          <p:nvSpPr>
            <p:cNvPr id="202853" name="Rectangle 101"/>
            <p:cNvSpPr>
              <a:spLocks noChangeArrowheads="1"/>
            </p:cNvSpPr>
            <p:nvPr/>
          </p:nvSpPr>
          <p:spPr bwMode="auto">
            <a:xfrm>
              <a:off x="2544" y="960"/>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sp>
          <p:nvSpPr>
            <p:cNvPr id="202854" name="Rectangle 102"/>
            <p:cNvSpPr>
              <a:spLocks noChangeArrowheads="1"/>
            </p:cNvSpPr>
            <p:nvPr/>
          </p:nvSpPr>
          <p:spPr bwMode="auto">
            <a:xfrm>
              <a:off x="2592" y="2064"/>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2855" name="Line 103"/>
            <p:cNvSpPr>
              <a:spLocks noChangeShapeType="1"/>
            </p:cNvSpPr>
            <p:nvPr/>
          </p:nvSpPr>
          <p:spPr bwMode="auto">
            <a:xfrm>
              <a:off x="864" y="2352"/>
              <a:ext cx="720" cy="384"/>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856" name="Rectangle 104"/>
            <p:cNvSpPr>
              <a:spLocks noChangeArrowheads="1"/>
            </p:cNvSpPr>
            <p:nvPr/>
          </p:nvSpPr>
          <p:spPr bwMode="auto">
            <a:xfrm>
              <a:off x="48" y="3840"/>
              <a:ext cx="5664"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1 disengaged, 3 still engaged;  2 sends message to 4</a:t>
              </a:r>
            </a:p>
          </p:txBody>
        </p:sp>
        <p:sp>
          <p:nvSpPr>
            <p:cNvPr id="202857" name="Rectangle 105"/>
            <p:cNvSpPr>
              <a:spLocks noChangeArrowheads="1"/>
            </p:cNvSpPr>
            <p:nvPr/>
          </p:nvSpPr>
          <p:spPr bwMode="auto">
            <a:xfrm>
              <a:off x="2592" y="1296"/>
              <a:ext cx="240" cy="72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202873" name="Group 121"/>
          <p:cNvGrpSpPr>
            <a:grpSpLocks/>
          </p:cNvGrpSpPr>
          <p:nvPr/>
        </p:nvGrpSpPr>
        <p:grpSpPr bwMode="auto">
          <a:xfrm>
            <a:off x="152400" y="3657600"/>
            <a:ext cx="8610600" cy="2957513"/>
            <a:chOff x="96" y="2304"/>
            <a:chExt cx="5424" cy="1863"/>
          </a:xfrm>
        </p:grpSpPr>
        <p:sp>
          <p:nvSpPr>
            <p:cNvPr id="202858" name="Text Box 106"/>
            <p:cNvSpPr txBox="1">
              <a:spLocks noChangeArrowheads="1"/>
            </p:cNvSpPr>
            <p:nvPr/>
          </p:nvSpPr>
          <p:spPr bwMode="auto">
            <a:xfrm>
              <a:off x="96" y="3840"/>
              <a:ext cx="5424" cy="32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it-IT" sz="2800"/>
                <a:t>2 and 4 become idle</a:t>
              </a:r>
            </a:p>
          </p:txBody>
        </p:sp>
        <p:sp>
          <p:nvSpPr>
            <p:cNvPr id="202859" name="Rectangle 107"/>
            <p:cNvSpPr>
              <a:spLocks noChangeArrowheads="1"/>
            </p:cNvSpPr>
            <p:nvPr/>
          </p:nvSpPr>
          <p:spPr bwMode="auto">
            <a:xfrm>
              <a:off x="816" y="2304"/>
              <a:ext cx="816" cy="52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202861" name="Group 109"/>
          <p:cNvGrpSpPr>
            <a:grpSpLocks/>
          </p:cNvGrpSpPr>
          <p:nvPr/>
        </p:nvGrpSpPr>
        <p:grpSpPr bwMode="auto">
          <a:xfrm>
            <a:off x="152400" y="3200400"/>
            <a:ext cx="8991600" cy="3411538"/>
            <a:chOff x="96" y="2016"/>
            <a:chExt cx="5664" cy="2149"/>
          </a:xfrm>
        </p:grpSpPr>
        <p:sp>
          <p:nvSpPr>
            <p:cNvPr id="202862" name="Rectangle 110"/>
            <p:cNvSpPr>
              <a:spLocks noChangeArrowheads="1"/>
            </p:cNvSpPr>
            <p:nvPr/>
          </p:nvSpPr>
          <p:spPr bwMode="auto">
            <a:xfrm>
              <a:off x="480" y="2016"/>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2863" name="Rectangle 111"/>
            <p:cNvSpPr>
              <a:spLocks noChangeArrowheads="1"/>
            </p:cNvSpPr>
            <p:nvPr/>
          </p:nvSpPr>
          <p:spPr bwMode="auto">
            <a:xfrm>
              <a:off x="96" y="3840"/>
              <a:ext cx="5664"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2, 4 become disengaged, dropped from tree</a:t>
              </a:r>
            </a:p>
          </p:txBody>
        </p:sp>
        <p:sp>
          <p:nvSpPr>
            <p:cNvPr id="202864" name="Rectangle 112"/>
            <p:cNvSpPr>
              <a:spLocks noChangeArrowheads="1"/>
            </p:cNvSpPr>
            <p:nvPr/>
          </p:nvSpPr>
          <p:spPr bwMode="auto">
            <a:xfrm>
              <a:off x="1728" y="2640"/>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sp>
          <p:nvSpPr>
            <p:cNvPr id="202865" name="Rectangle 113"/>
            <p:cNvSpPr>
              <a:spLocks noChangeArrowheads="1"/>
            </p:cNvSpPr>
            <p:nvPr/>
          </p:nvSpPr>
          <p:spPr bwMode="auto">
            <a:xfrm>
              <a:off x="816" y="2304"/>
              <a:ext cx="816" cy="52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866" name="Rectangle 114"/>
            <p:cNvSpPr>
              <a:spLocks noChangeArrowheads="1"/>
            </p:cNvSpPr>
            <p:nvPr/>
          </p:nvSpPr>
          <p:spPr bwMode="auto">
            <a:xfrm>
              <a:off x="816" y="2064"/>
              <a:ext cx="1728" cy="24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867" name="Rectangle 115"/>
            <p:cNvSpPr>
              <a:spLocks noChangeArrowheads="1"/>
            </p:cNvSpPr>
            <p:nvPr/>
          </p:nvSpPr>
          <p:spPr bwMode="auto">
            <a:xfrm>
              <a:off x="2064" y="2400"/>
              <a:ext cx="576" cy="43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202868" name="Group 116"/>
          <p:cNvGrpSpPr>
            <a:grpSpLocks/>
          </p:cNvGrpSpPr>
          <p:nvPr/>
        </p:nvGrpSpPr>
        <p:grpSpPr bwMode="auto">
          <a:xfrm>
            <a:off x="152400" y="2132856"/>
            <a:ext cx="8148638" cy="4495800"/>
            <a:chOff x="96" y="1344"/>
            <a:chExt cx="5133" cy="2832"/>
          </a:xfrm>
        </p:grpSpPr>
        <p:sp>
          <p:nvSpPr>
            <p:cNvPr id="202869" name="Rectangle 117"/>
            <p:cNvSpPr>
              <a:spLocks noChangeArrowheads="1"/>
            </p:cNvSpPr>
            <p:nvPr/>
          </p:nvSpPr>
          <p:spPr bwMode="auto">
            <a:xfrm>
              <a:off x="2592" y="2064"/>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2870" name="Rectangle 118"/>
            <p:cNvSpPr>
              <a:spLocks noChangeArrowheads="1"/>
            </p:cNvSpPr>
            <p:nvPr/>
          </p:nvSpPr>
          <p:spPr bwMode="auto">
            <a:xfrm>
              <a:off x="1680" y="1584"/>
              <a:ext cx="816" cy="48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871" name="Rectangle 119"/>
            <p:cNvSpPr>
              <a:spLocks noChangeArrowheads="1"/>
            </p:cNvSpPr>
            <p:nvPr/>
          </p:nvSpPr>
          <p:spPr bwMode="auto">
            <a:xfrm>
              <a:off x="1344" y="1344"/>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err="1"/>
                <a:t>Cntl</a:t>
              </a:r>
              <a:endParaRPr lang="en-US" altLang="it-IT"/>
            </a:p>
          </p:txBody>
        </p:sp>
        <p:sp>
          <p:nvSpPr>
            <p:cNvPr id="202872" name="Text Box 120"/>
            <p:cNvSpPr txBox="1">
              <a:spLocks noChangeArrowheads="1"/>
            </p:cNvSpPr>
            <p:nvPr/>
          </p:nvSpPr>
          <p:spPr bwMode="auto">
            <a:xfrm>
              <a:off x="96" y="3849"/>
              <a:ext cx="5133" cy="32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800"/>
                <a:t>3 becomes disengaged, controller begins recovery</a:t>
              </a:r>
            </a:p>
          </p:txBody>
        </p:sp>
      </p:grpSp>
      <p:sp>
        <p:nvSpPr>
          <p:cNvPr id="202754" name="Rectangle 2"/>
          <p:cNvSpPr>
            <a:spLocks noGrp="1" noChangeArrowheads="1"/>
          </p:cNvSpPr>
          <p:nvPr>
            <p:ph type="title"/>
          </p:nvPr>
        </p:nvSpPr>
        <p:spPr/>
        <p:txBody>
          <a:bodyPr/>
          <a:lstStyle/>
          <a:p>
            <a:r>
              <a:rPr lang="en-US" altLang="it-IT"/>
              <a:t>Example</a:t>
            </a:r>
          </a:p>
        </p:txBody>
      </p:sp>
      <p:grpSp>
        <p:nvGrpSpPr>
          <p:cNvPr id="202821" name="Group 69"/>
          <p:cNvGrpSpPr>
            <a:grpSpLocks/>
          </p:cNvGrpSpPr>
          <p:nvPr/>
        </p:nvGrpSpPr>
        <p:grpSpPr bwMode="auto">
          <a:xfrm>
            <a:off x="5638800" y="1066800"/>
            <a:ext cx="3276600" cy="3886200"/>
            <a:chOff x="3552" y="672"/>
            <a:chExt cx="2064" cy="2448"/>
          </a:xfrm>
        </p:grpSpPr>
        <p:sp>
          <p:nvSpPr>
            <p:cNvPr id="202756" name="Rectangle 4"/>
            <p:cNvSpPr>
              <a:spLocks noChangeArrowheads="1"/>
            </p:cNvSpPr>
            <p:nvPr/>
          </p:nvSpPr>
          <p:spPr bwMode="auto">
            <a:xfrm>
              <a:off x="3552" y="672"/>
              <a:ext cx="2064" cy="2448"/>
            </a:xfrm>
            <a:prstGeom prst="rect">
              <a:avLst/>
            </a:prstGeom>
            <a:solidFill>
              <a:srgbClr val="FFCC66"/>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57" name="Rectangle 5"/>
            <p:cNvSpPr>
              <a:spLocks noChangeArrowheads="1"/>
            </p:cNvSpPr>
            <p:nvPr/>
          </p:nvSpPr>
          <p:spPr bwMode="auto">
            <a:xfrm>
              <a:off x="3792" y="816"/>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2758" name="Rectangle 6"/>
            <p:cNvSpPr>
              <a:spLocks noChangeArrowheads="1"/>
            </p:cNvSpPr>
            <p:nvPr/>
          </p:nvSpPr>
          <p:spPr bwMode="auto">
            <a:xfrm>
              <a:off x="3792" y="1296"/>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2759" name="Rectangle 7"/>
            <p:cNvSpPr>
              <a:spLocks noChangeArrowheads="1"/>
            </p:cNvSpPr>
            <p:nvPr/>
          </p:nvSpPr>
          <p:spPr bwMode="auto">
            <a:xfrm>
              <a:off x="3792" y="1776"/>
              <a:ext cx="288" cy="288"/>
            </a:xfrm>
            <a:prstGeom prst="rect">
              <a:avLst/>
            </a:prstGeom>
            <a:solidFill>
              <a:srgbClr val="CC0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2760" name="Text Box 8"/>
            <p:cNvSpPr txBox="1">
              <a:spLocks noChangeArrowheads="1"/>
            </p:cNvSpPr>
            <p:nvPr/>
          </p:nvSpPr>
          <p:spPr bwMode="auto">
            <a:xfrm>
              <a:off x="4128" y="845"/>
              <a:ext cx="9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Disengaged</a:t>
              </a:r>
            </a:p>
          </p:txBody>
        </p:sp>
        <p:sp>
          <p:nvSpPr>
            <p:cNvPr id="202761" name="Text Box 9"/>
            <p:cNvSpPr txBox="1">
              <a:spLocks noChangeArrowheads="1"/>
            </p:cNvSpPr>
            <p:nvPr/>
          </p:nvSpPr>
          <p:spPr bwMode="auto">
            <a:xfrm>
              <a:off x="4128" y="1286"/>
              <a:ext cx="118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Engaged, busy</a:t>
              </a:r>
            </a:p>
          </p:txBody>
        </p:sp>
        <p:sp>
          <p:nvSpPr>
            <p:cNvPr id="202762" name="Text Box 10"/>
            <p:cNvSpPr txBox="1">
              <a:spLocks noChangeArrowheads="1"/>
            </p:cNvSpPr>
            <p:nvPr/>
          </p:nvSpPr>
          <p:spPr bwMode="auto">
            <a:xfrm>
              <a:off x="4128" y="1776"/>
              <a:ext cx="139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Engaged, blocked</a:t>
              </a:r>
            </a:p>
          </p:txBody>
        </p:sp>
        <p:sp>
          <p:nvSpPr>
            <p:cNvPr id="202763" name="Line 11"/>
            <p:cNvSpPr>
              <a:spLocks noChangeShapeType="1"/>
            </p:cNvSpPr>
            <p:nvPr/>
          </p:nvSpPr>
          <p:spPr bwMode="auto">
            <a:xfrm>
              <a:off x="3792" y="2448"/>
              <a:ext cx="3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64" name="Line 12"/>
            <p:cNvSpPr>
              <a:spLocks noChangeShapeType="1"/>
            </p:cNvSpPr>
            <p:nvPr/>
          </p:nvSpPr>
          <p:spPr bwMode="auto">
            <a:xfrm>
              <a:off x="3792" y="2880"/>
              <a:ext cx="384"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765" name="Text Box 13"/>
            <p:cNvSpPr txBox="1">
              <a:spLocks noChangeArrowheads="1"/>
            </p:cNvSpPr>
            <p:nvPr/>
          </p:nvSpPr>
          <p:spPr bwMode="auto">
            <a:xfrm>
              <a:off x="4128" y="2342"/>
              <a:ext cx="7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Tree arc</a:t>
              </a:r>
            </a:p>
          </p:txBody>
        </p:sp>
        <p:sp>
          <p:nvSpPr>
            <p:cNvPr id="202766" name="Text Box 14"/>
            <p:cNvSpPr txBox="1">
              <a:spLocks noChangeArrowheads="1"/>
            </p:cNvSpPr>
            <p:nvPr/>
          </p:nvSpPr>
          <p:spPr bwMode="auto">
            <a:xfrm>
              <a:off x="4137" y="2736"/>
              <a:ext cx="13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Message (event)</a:t>
              </a:r>
            </a:p>
          </p:txBody>
        </p:sp>
      </p:grpSp>
      <p:sp>
        <p:nvSpPr>
          <p:cNvPr id="2" name="Segnaposto data 1">
            <a:extLst>
              <a:ext uri="{FF2B5EF4-FFF2-40B4-BE49-F238E27FC236}">
                <a16:creationId xmlns:a16="http://schemas.microsoft.com/office/drawing/2014/main" id="{7B9C8961-6B95-D279-5103-A00634DCF9CD}"/>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524A87CF-B43B-D236-F09B-9EAE0FD6C485}"/>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16671CE8-89BF-3CF1-0C4C-93424829B162}"/>
              </a:ext>
            </a:extLst>
          </p:cNvPr>
          <p:cNvSpPr>
            <a:spLocks noGrp="1"/>
          </p:cNvSpPr>
          <p:nvPr>
            <p:ph type="sldNum" sz="quarter" idx="4"/>
          </p:nvPr>
        </p:nvSpPr>
        <p:spPr/>
        <p:txBody>
          <a:bodyPr/>
          <a:lstStyle/>
          <a:p>
            <a:fld id="{9BFB3A76-8619-A843-8C67-B9C7C140DBAC}" type="slidenum">
              <a:rPr lang="en-US" smtClean="0"/>
              <a:t>36</a:t>
            </a:fld>
            <a:endParaRPr lang="en-US"/>
          </a:p>
        </p:txBody>
      </p:sp>
    </p:spTree>
    <p:extLst>
      <p:ext uri="{BB962C8B-B14F-4D97-AF65-F5344CB8AC3E}">
        <p14:creationId xmlns:p14="http://schemas.microsoft.com/office/powerpoint/2010/main" val="1376378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2777"/>
                                        </p:tgtEl>
                                        <p:attrNameLst>
                                          <p:attrName>style.visibility</p:attrName>
                                        </p:attrNameLst>
                                      </p:cBhvr>
                                      <p:to>
                                        <p:strVal val="visible"/>
                                      </p:to>
                                    </p:set>
                                    <p:animEffect transition="in" filter="dissolve">
                                      <p:cBhvr>
                                        <p:cTn id="7" dur="500"/>
                                        <p:tgtEl>
                                          <p:spTgt spid="2027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02785"/>
                                        </p:tgtEl>
                                        <p:attrNameLst>
                                          <p:attrName>style.visibility</p:attrName>
                                        </p:attrNameLst>
                                      </p:cBhvr>
                                      <p:to>
                                        <p:strVal val="visible"/>
                                      </p:to>
                                    </p:set>
                                    <p:animEffect transition="in" filter="dissolve">
                                      <p:cBhvr>
                                        <p:cTn id="12" dur="500"/>
                                        <p:tgtEl>
                                          <p:spTgt spid="2027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2851"/>
                                        </p:tgtEl>
                                        <p:attrNameLst>
                                          <p:attrName>style.visibility</p:attrName>
                                        </p:attrNameLst>
                                      </p:cBhvr>
                                      <p:to>
                                        <p:strVal val="visible"/>
                                      </p:to>
                                    </p:set>
                                    <p:animEffect transition="in" filter="dissolve">
                                      <p:cBhvr>
                                        <p:cTn id="17" dur="500"/>
                                        <p:tgtEl>
                                          <p:spTgt spid="2028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02852"/>
                                        </p:tgtEl>
                                        <p:attrNameLst>
                                          <p:attrName>style.visibility</p:attrName>
                                        </p:attrNameLst>
                                      </p:cBhvr>
                                      <p:to>
                                        <p:strVal val="visible"/>
                                      </p:to>
                                    </p:set>
                                    <p:animEffect transition="in" filter="dissolve">
                                      <p:cBhvr>
                                        <p:cTn id="22" dur="500"/>
                                        <p:tgtEl>
                                          <p:spTgt spid="2028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02873"/>
                                        </p:tgtEl>
                                        <p:attrNameLst>
                                          <p:attrName>style.visibility</p:attrName>
                                        </p:attrNameLst>
                                      </p:cBhvr>
                                      <p:to>
                                        <p:strVal val="visible"/>
                                      </p:to>
                                    </p:set>
                                    <p:animEffect transition="in" filter="dissolve">
                                      <p:cBhvr>
                                        <p:cTn id="27" dur="500"/>
                                        <p:tgtEl>
                                          <p:spTgt spid="2028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02861"/>
                                        </p:tgtEl>
                                        <p:attrNameLst>
                                          <p:attrName>style.visibility</p:attrName>
                                        </p:attrNameLst>
                                      </p:cBhvr>
                                      <p:to>
                                        <p:strVal val="visible"/>
                                      </p:to>
                                    </p:set>
                                    <p:animEffect transition="in" filter="dissolve">
                                      <p:cBhvr>
                                        <p:cTn id="32" dur="500"/>
                                        <p:tgtEl>
                                          <p:spTgt spid="20286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202868"/>
                                        </p:tgtEl>
                                        <p:attrNameLst>
                                          <p:attrName>style.visibility</p:attrName>
                                        </p:attrNameLst>
                                      </p:cBhvr>
                                      <p:to>
                                        <p:strVal val="visible"/>
                                      </p:to>
                                    </p:set>
                                    <p:animEffect transition="in" filter="dissolve">
                                      <p:cBhvr>
                                        <p:cTn id="37" dur="500"/>
                                        <p:tgtEl>
                                          <p:spTgt spid="202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51"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en-US" altLang="it-IT"/>
              <a:t>Implementation: Signaling Protocol</a:t>
            </a:r>
          </a:p>
        </p:txBody>
      </p:sp>
      <p:sp>
        <p:nvSpPr>
          <p:cNvPr id="198659" name="Rectangle 3"/>
          <p:cNvSpPr>
            <a:spLocks noGrp="1" noChangeArrowheads="1"/>
          </p:cNvSpPr>
          <p:nvPr>
            <p:ph type="body" idx="1"/>
          </p:nvPr>
        </p:nvSpPr>
        <p:spPr>
          <a:xfrm>
            <a:off x="304800" y="922338"/>
            <a:ext cx="8520113" cy="5765168"/>
          </a:xfrm>
        </p:spPr>
        <p:txBody>
          <a:bodyPr/>
          <a:lstStyle/>
          <a:p>
            <a:pPr>
              <a:buFontTx/>
              <a:buNone/>
            </a:pPr>
            <a:r>
              <a:rPr lang="en-US" altLang="it-IT" dirty="0"/>
              <a:t>Add signaling protocol to simulation execution</a:t>
            </a:r>
          </a:p>
          <a:p>
            <a:r>
              <a:rPr lang="en-US" altLang="it-IT" dirty="0"/>
              <a:t>When an </a:t>
            </a:r>
            <a:r>
              <a:rPr lang="en-US" altLang="it-IT" dirty="0">
                <a:solidFill>
                  <a:srgbClr val="CC0000"/>
                </a:solidFill>
              </a:rPr>
              <a:t>engaged</a:t>
            </a:r>
            <a:r>
              <a:rPr lang="en-US" altLang="it-IT" dirty="0"/>
              <a:t> process receives a message</a:t>
            </a:r>
          </a:p>
          <a:p>
            <a:pPr lvl="1"/>
            <a:r>
              <a:rPr lang="en-US" altLang="it-IT" dirty="0"/>
              <a:t>Immediately return a signal to sender indicating message did not spawn a new node in the tree</a:t>
            </a:r>
          </a:p>
          <a:p>
            <a:r>
              <a:rPr lang="en-US" altLang="it-IT" dirty="0"/>
              <a:t>When a </a:t>
            </a:r>
            <a:r>
              <a:rPr lang="en-US" altLang="it-IT" dirty="0">
                <a:solidFill>
                  <a:srgbClr val="CC0000"/>
                </a:solidFill>
              </a:rPr>
              <a:t>disengaged</a:t>
            </a:r>
            <a:r>
              <a:rPr lang="en-US" altLang="it-IT" dirty="0"/>
              <a:t> process receives a message:</a:t>
            </a:r>
          </a:p>
          <a:p>
            <a:pPr lvl="1"/>
            <a:r>
              <a:rPr lang="en-US" altLang="it-IT" dirty="0"/>
              <a:t>Receiving process becomes engaged</a:t>
            </a:r>
          </a:p>
          <a:p>
            <a:pPr lvl="1"/>
            <a:r>
              <a:rPr lang="en-US" altLang="it-IT" dirty="0"/>
              <a:t>Do </a:t>
            </a:r>
            <a:r>
              <a:rPr lang="en-US" altLang="it-IT" i="1" dirty="0">
                <a:solidFill>
                  <a:srgbClr val="CC0000"/>
                </a:solidFill>
              </a:rPr>
              <a:t>not</a:t>
            </a:r>
            <a:r>
              <a:rPr lang="en-US" altLang="it-IT" dirty="0"/>
              <a:t> return a signal until it becomes disengaged</a:t>
            </a:r>
          </a:p>
          <a:p>
            <a:r>
              <a:rPr lang="en-US" altLang="it-IT" dirty="0"/>
              <a:t>An engaged process becomes disengaged (and sends a signal to its parent in the tree) when</a:t>
            </a:r>
          </a:p>
          <a:p>
            <a:pPr lvl="1"/>
            <a:r>
              <a:rPr lang="en-US" altLang="it-IT" dirty="0"/>
              <a:t>It is idle, and</a:t>
            </a:r>
          </a:p>
          <a:p>
            <a:pPr lvl="1"/>
            <a:r>
              <a:rPr lang="en-US" altLang="it-IT" dirty="0"/>
              <a:t>It is a leaf node in the tree</a:t>
            </a:r>
          </a:p>
          <a:p>
            <a:pPr lvl="2"/>
            <a:r>
              <a:rPr lang="en-US" altLang="it-IT" dirty="0"/>
              <a:t>Process is a leaf if it has received signals for all messages it has sent</a:t>
            </a:r>
          </a:p>
        </p:txBody>
      </p:sp>
      <p:sp>
        <p:nvSpPr>
          <p:cNvPr id="2" name="Segnaposto data 1">
            <a:extLst>
              <a:ext uri="{FF2B5EF4-FFF2-40B4-BE49-F238E27FC236}">
                <a16:creationId xmlns:a16="http://schemas.microsoft.com/office/drawing/2014/main" id="{786D4518-5912-A58E-FBE1-038DE69DBA9D}"/>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613FEA37-332A-BDB8-95EE-746D76922FF1}"/>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BC940915-3E20-CE76-5CFC-512185E77BB9}"/>
              </a:ext>
            </a:extLst>
          </p:cNvPr>
          <p:cNvSpPr>
            <a:spLocks noGrp="1"/>
          </p:cNvSpPr>
          <p:nvPr>
            <p:ph type="sldNum" sz="quarter" idx="4"/>
          </p:nvPr>
        </p:nvSpPr>
        <p:spPr/>
        <p:txBody>
          <a:bodyPr/>
          <a:lstStyle/>
          <a:p>
            <a:fld id="{9BFB3A76-8619-A843-8C67-B9C7C140DBAC}" type="slidenum">
              <a:rPr lang="en-US" smtClean="0"/>
              <a:t>37</a:t>
            </a:fld>
            <a:endParaRPr lang="en-US"/>
          </a:p>
        </p:txBody>
      </p:sp>
    </p:spTree>
    <p:extLst>
      <p:ext uri="{BB962C8B-B14F-4D97-AF65-F5344CB8AC3E}">
        <p14:creationId xmlns:p14="http://schemas.microsoft.com/office/powerpoint/2010/main" val="100662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dissolve">
                                      <p:cBhvr>
                                        <p:cTn id="7" dur="500"/>
                                        <p:tgtEl>
                                          <p:spTgt spid="198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8659">
                                            <p:txEl>
                                              <p:pRg st="1" end="1"/>
                                            </p:txEl>
                                          </p:spTgt>
                                        </p:tgtEl>
                                        <p:attrNameLst>
                                          <p:attrName>style.visibility</p:attrName>
                                        </p:attrNameLst>
                                      </p:cBhvr>
                                      <p:to>
                                        <p:strVal val="visible"/>
                                      </p:to>
                                    </p:set>
                                    <p:animEffect transition="in" filter="dissolve">
                                      <p:cBhvr>
                                        <p:cTn id="12" dur="500"/>
                                        <p:tgtEl>
                                          <p:spTgt spid="1986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8659">
                                            <p:txEl>
                                              <p:pRg st="2" end="2"/>
                                            </p:txEl>
                                          </p:spTgt>
                                        </p:tgtEl>
                                        <p:attrNameLst>
                                          <p:attrName>style.visibility</p:attrName>
                                        </p:attrNameLst>
                                      </p:cBhvr>
                                      <p:to>
                                        <p:strVal val="visible"/>
                                      </p:to>
                                    </p:set>
                                    <p:animEffect transition="in" filter="dissolve">
                                      <p:cBhvr>
                                        <p:cTn id="17" dur="500"/>
                                        <p:tgtEl>
                                          <p:spTgt spid="1986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8659">
                                            <p:txEl>
                                              <p:pRg st="3" end="3"/>
                                            </p:txEl>
                                          </p:spTgt>
                                        </p:tgtEl>
                                        <p:attrNameLst>
                                          <p:attrName>style.visibility</p:attrName>
                                        </p:attrNameLst>
                                      </p:cBhvr>
                                      <p:to>
                                        <p:strVal val="visible"/>
                                      </p:to>
                                    </p:set>
                                    <p:animEffect transition="in" filter="dissolve">
                                      <p:cBhvr>
                                        <p:cTn id="22" dur="500"/>
                                        <p:tgtEl>
                                          <p:spTgt spid="1986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8659">
                                            <p:txEl>
                                              <p:pRg st="4" end="4"/>
                                            </p:txEl>
                                          </p:spTgt>
                                        </p:tgtEl>
                                        <p:attrNameLst>
                                          <p:attrName>style.visibility</p:attrName>
                                        </p:attrNameLst>
                                      </p:cBhvr>
                                      <p:to>
                                        <p:strVal val="visible"/>
                                      </p:to>
                                    </p:set>
                                    <p:animEffect transition="in" filter="dissolve">
                                      <p:cBhvr>
                                        <p:cTn id="27" dur="500"/>
                                        <p:tgtEl>
                                          <p:spTgt spid="1986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8659">
                                            <p:txEl>
                                              <p:pRg st="5" end="5"/>
                                            </p:txEl>
                                          </p:spTgt>
                                        </p:tgtEl>
                                        <p:attrNameLst>
                                          <p:attrName>style.visibility</p:attrName>
                                        </p:attrNameLst>
                                      </p:cBhvr>
                                      <p:to>
                                        <p:strVal val="visible"/>
                                      </p:to>
                                    </p:set>
                                    <p:animEffect transition="in" filter="dissolve">
                                      <p:cBhvr>
                                        <p:cTn id="32" dur="500"/>
                                        <p:tgtEl>
                                          <p:spTgt spid="1986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8659">
                                            <p:txEl>
                                              <p:pRg st="6" end="6"/>
                                            </p:txEl>
                                          </p:spTgt>
                                        </p:tgtEl>
                                        <p:attrNameLst>
                                          <p:attrName>style.visibility</p:attrName>
                                        </p:attrNameLst>
                                      </p:cBhvr>
                                      <p:to>
                                        <p:strVal val="visible"/>
                                      </p:to>
                                    </p:set>
                                    <p:animEffect transition="in" filter="dissolve">
                                      <p:cBhvr>
                                        <p:cTn id="37" dur="500"/>
                                        <p:tgtEl>
                                          <p:spTgt spid="19865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8659">
                                            <p:txEl>
                                              <p:pRg st="7" end="7"/>
                                            </p:txEl>
                                          </p:spTgt>
                                        </p:tgtEl>
                                        <p:attrNameLst>
                                          <p:attrName>style.visibility</p:attrName>
                                        </p:attrNameLst>
                                      </p:cBhvr>
                                      <p:to>
                                        <p:strVal val="visible"/>
                                      </p:to>
                                    </p:set>
                                    <p:animEffect transition="in" filter="dissolve">
                                      <p:cBhvr>
                                        <p:cTn id="42" dur="500"/>
                                        <p:tgtEl>
                                          <p:spTgt spid="19865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8659">
                                            <p:txEl>
                                              <p:pRg st="8" end="8"/>
                                            </p:txEl>
                                          </p:spTgt>
                                        </p:tgtEl>
                                        <p:attrNameLst>
                                          <p:attrName>style.visibility</p:attrName>
                                        </p:attrNameLst>
                                      </p:cBhvr>
                                      <p:to>
                                        <p:strVal val="visible"/>
                                      </p:to>
                                    </p:set>
                                    <p:animEffect transition="in" filter="dissolve">
                                      <p:cBhvr>
                                        <p:cTn id="47" dur="500"/>
                                        <p:tgtEl>
                                          <p:spTgt spid="19865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98659">
                                            <p:txEl>
                                              <p:pRg st="9" end="9"/>
                                            </p:txEl>
                                          </p:spTgt>
                                        </p:tgtEl>
                                        <p:attrNameLst>
                                          <p:attrName>style.visibility</p:attrName>
                                        </p:attrNameLst>
                                      </p:cBhvr>
                                      <p:to>
                                        <p:strVal val="visible"/>
                                      </p:to>
                                    </p:set>
                                    <p:animEffect transition="in" filter="dissolve">
                                      <p:cBhvr>
                                        <p:cTn id="52" dur="500"/>
                                        <p:tgtEl>
                                          <p:spTgt spid="1986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bldLvl="3"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altLang="it-IT"/>
              <a:t>Implementation (cont.)</a:t>
            </a:r>
          </a:p>
        </p:txBody>
      </p:sp>
      <p:sp>
        <p:nvSpPr>
          <p:cNvPr id="199683" name="Rectangle 3"/>
          <p:cNvSpPr>
            <a:spLocks noGrp="1" noChangeArrowheads="1"/>
          </p:cNvSpPr>
          <p:nvPr>
            <p:ph type="body" idx="1"/>
          </p:nvPr>
        </p:nvSpPr>
        <p:spPr>
          <a:xfrm>
            <a:off x="304800" y="774700"/>
            <a:ext cx="8686800" cy="5930900"/>
          </a:xfrm>
        </p:spPr>
        <p:txBody>
          <a:bodyPr/>
          <a:lstStyle/>
          <a:p>
            <a:r>
              <a:rPr lang="en-US" altLang="it-IT" sz="2400" dirty="0"/>
              <a:t>Each process maintains two variables</a:t>
            </a:r>
          </a:p>
          <a:p>
            <a:pPr lvl="1">
              <a:buFontTx/>
              <a:buChar char="•"/>
            </a:pPr>
            <a:r>
              <a:rPr lang="en-US" altLang="it-IT" sz="2000" dirty="0"/>
              <a:t>C = # messages received for which process hasn’t returned a signal</a:t>
            </a:r>
          </a:p>
          <a:p>
            <a:pPr lvl="1">
              <a:buFontTx/>
              <a:buChar char="•"/>
            </a:pPr>
            <a:r>
              <a:rPr lang="en-US" altLang="it-IT" sz="2000" dirty="0"/>
              <a:t>D = # messages sent for which a signal has not yet been received</a:t>
            </a:r>
          </a:p>
          <a:p>
            <a:r>
              <a:rPr lang="en-US" altLang="it-IT" sz="2400" dirty="0"/>
              <a:t>When are C and D updated?</a:t>
            </a:r>
          </a:p>
          <a:p>
            <a:pPr lvl="1">
              <a:buFontTx/>
              <a:buChar char="•"/>
            </a:pPr>
            <a:r>
              <a:rPr lang="en-US" altLang="it-IT" sz="2000" dirty="0"/>
              <a:t>Send a message: Increment D in sender, increment C in receiver</a:t>
            </a:r>
          </a:p>
          <a:p>
            <a:pPr lvl="1">
              <a:buFontTx/>
              <a:buChar char="•"/>
            </a:pPr>
            <a:r>
              <a:rPr lang="en-US" altLang="it-IT" sz="2000" dirty="0"/>
              <a:t>Return a signal: Decrement C in sender, decrement D in receiver</a:t>
            </a:r>
          </a:p>
          <a:p>
            <a:r>
              <a:rPr lang="en-US" altLang="it-IT" sz="2400" dirty="0"/>
              <a:t>When is a process disengaged?</a:t>
            </a:r>
          </a:p>
          <a:p>
            <a:pPr lvl="1">
              <a:buFontTx/>
              <a:buChar char="•"/>
            </a:pPr>
            <a:r>
              <a:rPr lang="en-US" altLang="it-IT" sz="2000" dirty="0"/>
              <a:t>A process is disengaged if C = D = 0</a:t>
            </a:r>
          </a:p>
          <a:p>
            <a:r>
              <a:rPr lang="en-US" altLang="it-IT" sz="2400" dirty="0"/>
              <a:t>When is a process a leaf node of tree?</a:t>
            </a:r>
          </a:p>
          <a:p>
            <a:pPr lvl="1">
              <a:buFontTx/>
              <a:buChar char="•"/>
            </a:pPr>
            <a:r>
              <a:rPr lang="en-US" altLang="it-IT" sz="2000" dirty="0"/>
              <a:t>A process is a leaf node if C&gt;0, D=0</a:t>
            </a:r>
          </a:p>
          <a:p>
            <a:r>
              <a:rPr lang="en-US" altLang="it-IT" sz="2400" dirty="0"/>
              <a:t>When does a process send a signal?</a:t>
            </a:r>
          </a:p>
          <a:p>
            <a:pPr lvl="1">
              <a:buFontTx/>
              <a:buChar char="•"/>
            </a:pPr>
            <a:r>
              <a:rPr lang="en-US" altLang="it-IT" sz="2000" dirty="0"/>
              <a:t>If C=1, D=0, and the process is idle (becomes disengaged), or</a:t>
            </a:r>
          </a:p>
          <a:p>
            <a:pPr lvl="1">
              <a:buFontTx/>
              <a:buChar char="•"/>
            </a:pPr>
            <a:r>
              <a:rPr lang="en-US" altLang="it-IT" sz="2000" dirty="0"/>
              <a:t>If it receives a message and C&gt;0</a:t>
            </a:r>
          </a:p>
          <a:p>
            <a:r>
              <a:rPr lang="en-US" altLang="it-IT" sz="2400" dirty="0"/>
              <a:t>When is deadlock detected?</a:t>
            </a:r>
          </a:p>
          <a:p>
            <a:pPr lvl="1">
              <a:buFontTx/>
              <a:buChar char="•"/>
            </a:pPr>
            <a:r>
              <a:rPr lang="en-US" altLang="it-IT" sz="2000" dirty="0"/>
              <a:t>System deadlocked if C = D = 0 in the controller</a:t>
            </a:r>
          </a:p>
        </p:txBody>
      </p:sp>
      <p:sp>
        <p:nvSpPr>
          <p:cNvPr id="2" name="Segnaposto data 1">
            <a:extLst>
              <a:ext uri="{FF2B5EF4-FFF2-40B4-BE49-F238E27FC236}">
                <a16:creationId xmlns:a16="http://schemas.microsoft.com/office/drawing/2014/main" id="{3C625CB6-F9A0-81A4-6656-7131B52A7A51}"/>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6426FD47-F31A-84B1-EE2D-96B081CE6A6C}"/>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801C91E2-7059-27B0-CA44-5C45D8715829}"/>
              </a:ext>
            </a:extLst>
          </p:cNvPr>
          <p:cNvSpPr>
            <a:spLocks noGrp="1"/>
          </p:cNvSpPr>
          <p:nvPr>
            <p:ph type="sldNum" sz="quarter" idx="4"/>
          </p:nvPr>
        </p:nvSpPr>
        <p:spPr/>
        <p:txBody>
          <a:bodyPr/>
          <a:lstStyle/>
          <a:p>
            <a:fld id="{9BFB3A76-8619-A843-8C67-B9C7C140DBAC}" type="slidenum">
              <a:rPr lang="en-US" smtClean="0"/>
              <a:t>38</a:t>
            </a:fld>
            <a:endParaRPr lang="en-US"/>
          </a:p>
        </p:txBody>
      </p:sp>
    </p:spTree>
    <p:extLst>
      <p:ext uri="{BB962C8B-B14F-4D97-AF65-F5344CB8AC3E}">
        <p14:creationId xmlns:p14="http://schemas.microsoft.com/office/powerpoint/2010/main" val="1771007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9683">
                                            <p:txEl>
                                              <p:pRg st="0" end="0"/>
                                            </p:txEl>
                                          </p:spTgt>
                                        </p:tgtEl>
                                        <p:attrNameLst>
                                          <p:attrName>style.visibility</p:attrName>
                                        </p:attrNameLst>
                                      </p:cBhvr>
                                      <p:to>
                                        <p:strVal val="visible"/>
                                      </p:to>
                                    </p:set>
                                    <p:animEffect transition="in" filter="dissolve">
                                      <p:cBhvr>
                                        <p:cTn id="7" dur="500"/>
                                        <p:tgtEl>
                                          <p:spTgt spid="199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9683">
                                            <p:txEl>
                                              <p:pRg st="1" end="1"/>
                                            </p:txEl>
                                          </p:spTgt>
                                        </p:tgtEl>
                                        <p:attrNameLst>
                                          <p:attrName>style.visibility</p:attrName>
                                        </p:attrNameLst>
                                      </p:cBhvr>
                                      <p:to>
                                        <p:strVal val="visible"/>
                                      </p:to>
                                    </p:set>
                                    <p:animEffect transition="in" filter="dissolve">
                                      <p:cBhvr>
                                        <p:cTn id="12" dur="500"/>
                                        <p:tgtEl>
                                          <p:spTgt spid="1996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9683">
                                            <p:txEl>
                                              <p:pRg st="2" end="2"/>
                                            </p:txEl>
                                          </p:spTgt>
                                        </p:tgtEl>
                                        <p:attrNameLst>
                                          <p:attrName>style.visibility</p:attrName>
                                        </p:attrNameLst>
                                      </p:cBhvr>
                                      <p:to>
                                        <p:strVal val="visible"/>
                                      </p:to>
                                    </p:set>
                                    <p:animEffect transition="in" filter="dissolve">
                                      <p:cBhvr>
                                        <p:cTn id="17" dur="500"/>
                                        <p:tgtEl>
                                          <p:spTgt spid="1996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9683">
                                            <p:txEl>
                                              <p:pRg st="3" end="3"/>
                                            </p:txEl>
                                          </p:spTgt>
                                        </p:tgtEl>
                                        <p:attrNameLst>
                                          <p:attrName>style.visibility</p:attrName>
                                        </p:attrNameLst>
                                      </p:cBhvr>
                                      <p:to>
                                        <p:strVal val="visible"/>
                                      </p:to>
                                    </p:set>
                                    <p:animEffect transition="in" filter="dissolve">
                                      <p:cBhvr>
                                        <p:cTn id="22" dur="500"/>
                                        <p:tgtEl>
                                          <p:spTgt spid="1996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9683">
                                            <p:txEl>
                                              <p:pRg st="4" end="4"/>
                                            </p:txEl>
                                          </p:spTgt>
                                        </p:tgtEl>
                                        <p:attrNameLst>
                                          <p:attrName>style.visibility</p:attrName>
                                        </p:attrNameLst>
                                      </p:cBhvr>
                                      <p:to>
                                        <p:strVal val="visible"/>
                                      </p:to>
                                    </p:set>
                                    <p:animEffect transition="in" filter="dissolve">
                                      <p:cBhvr>
                                        <p:cTn id="27" dur="500"/>
                                        <p:tgtEl>
                                          <p:spTgt spid="1996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9683">
                                            <p:txEl>
                                              <p:pRg st="5" end="5"/>
                                            </p:txEl>
                                          </p:spTgt>
                                        </p:tgtEl>
                                        <p:attrNameLst>
                                          <p:attrName>style.visibility</p:attrName>
                                        </p:attrNameLst>
                                      </p:cBhvr>
                                      <p:to>
                                        <p:strVal val="visible"/>
                                      </p:to>
                                    </p:set>
                                    <p:animEffect transition="in" filter="dissolve">
                                      <p:cBhvr>
                                        <p:cTn id="32" dur="500"/>
                                        <p:tgtEl>
                                          <p:spTgt spid="1996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9683">
                                            <p:txEl>
                                              <p:pRg st="6" end="6"/>
                                            </p:txEl>
                                          </p:spTgt>
                                        </p:tgtEl>
                                        <p:attrNameLst>
                                          <p:attrName>style.visibility</p:attrName>
                                        </p:attrNameLst>
                                      </p:cBhvr>
                                      <p:to>
                                        <p:strVal val="visible"/>
                                      </p:to>
                                    </p:set>
                                    <p:animEffect transition="in" filter="dissolve">
                                      <p:cBhvr>
                                        <p:cTn id="37" dur="500"/>
                                        <p:tgtEl>
                                          <p:spTgt spid="1996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9683">
                                            <p:txEl>
                                              <p:pRg st="7" end="7"/>
                                            </p:txEl>
                                          </p:spTgt>
                                        </p:tgtEl>
                                        <p:attrNameLst>
                                          <p:attrName>style.visibility</p:attrName>
                                        </p:attrNameLst>
                                      </p:cBhvr>
                                      <p:to>
                                        <p:strVal val="visible"/>
                                      </p:to>
                                    </p:set>
                                    <p:animEffect transition="in" filter="dissolve">
                                      <p:cBhvr>
                                        <p:cTn id="42" dur="500"/>
                                        <p:tgtEl>
                                          <p:spTgt spid="19968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9683">
                                            <p:txEl>
                                              <p:pRg st="8" end="8"/>
                                            </p:txEl>
                                          </p:spTgt>
                                        </p:tgtEl>
                                        <p:attrNameLst>
                                          <p:attrName>style.visibility</p:attrName>
                                        </p:attrNameLst>
                                      </p:cBhvr>
                                      <p:to>
                                        <p:strVal val="visible"/>
                                      </p:to>
                                    </p:set>
                                    <p:animEffect transition="in" filter="dissolve">
                                      <p:cBhvr>
                                        <p:cTn id="47" dur="500"/>
                                        <p:tgtEl>
                                          <p:spTgt spid="19968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99683">
                                            <p:txEl>
                                              <p:pRg st="9" end="9"/>
                                            </p:txEl>
                                          </p:spTgt>
                                        </p:tgtEl>
                                        <p:attrNameLst>
                                          <p:attrName>style.visibility</p:attrName>
                                        </p:attrNameLst>
                                      </p:cBhvr>
                                      <p:to>
                                        <p:strVal val="visible"/>
                                      </p:to>
                                    </p:set>
                                    <p:animEffect transition="in" filter="dissolve">
                                      <p:cBhvr>
                                        <p:cTn id="52" dur="500"/>
                                        <p:tgtEl>
                                          <p:spTgt spid="19968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99683">
                                            <p:txEl>
                                              <p:pRg st="10" end="10"/>
                                            </p:txEl>
                                          </p:spTgt>
                                        </p:tgtEl>
                                        <p:attrNameLst>
                                          <p:attrName>style.visibility</p:attrName>
                                        </p:attrNameLst>
                                      </p:cBhvr>
                                      <p:to>
                                        <p:strVal val="visible"/>
                                      </p:to>
                                    </p:set>
                                    <p:animEffect transition="in" filter="dissolve">
                                      <p:cBhvr>
                                        <p:cTn id="57" dur="500"/>
                                        <p:tgtEl>
                                          <p:spTgt spid="199683">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99683">
                                            <p:txEl>
                                              <p:pRg st="11" end="11"/>
                                            </p:txEl>
                                          </p:spTgt>
                                        </p:tgtEl>
                                        <p:attrNameLst>
                                          <p:attrName>style.visibility</p:attrName>
                                        </p:attrNameLst>
                                      </p:cBhvr>
                                      <p:to>
                                        <p:strVal val="visible"/>
                                      </p:to>
                                    </p:set>
                                    <p:animEffect transition="in" filter="dissolve">
                                      <p:cBhvr>
                                        <p:cTn id="62" dur="500"/>
                                        <p:tgtEl>
                                          <p:spTgt spid="199683">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99683">
                                            <p:txEl>
                                              <p:pRg st="12" end="12"/>
                                            </p:txEl>
                                          </p:spTgt>
                                        </p:tgtEl>
                                        <p:attrNameLst>
                                          <p:attrName>style.visibility</p:attrName>
                                        </p:attrNameLst>
                                      </p:cBhvr>
                                      <p:to>
                                        <p:strVal val="visible"/>
                                      </p:to>
                                    </p:set>
                                    <p:animEffect transition="in" filter="dissolve">
                                      <p:cBhvr>
                                        <p:cTn id="67" dur="500"/>
                                        <p:tgtEl>
                                          <p:spTgt spid="199683">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99683">
                                            <p:txEl>
                                              <p:pRg st="13" end="13"/>
                                            </p:txEl>
                                          </p:spTgt>
                                        </p:tgtEl>
                                        <p:attrNameLst>
                                          <p:attrName>style.visibility</p:attrName>
                                        </p:attrNameLst>
                                      </p:cBhvr>
                                      <p:to>
                                        <p:strVal val="visible"/>
                                      </p:to>
                                    </p:set>
                                    <p:animEffect transition="in" filter="dissolve">
                                      <p:cBhvr>
                                        <p:cTn id="72" dur="500"/>
                                        <p:tgtEl>
                                          <p:spTgt spid="199683">
                                            <p:txEl>
                                              <p:pRg st="13" end="1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99683">
                                            <p:txEl>
                                              <p:pRg st="14" end="14"/>
                                            </p:txEl>
                                          </p:spTgt>
                                        </p:tgtEl>
                                        <p:attrNameLst>
                                          <p:attrName>style.visibility</p:attrName>
                                        </p:attrNameLst>
                                      </p:cBhvr>
                                      <p:to>
                                        <p:strVal val="visible"/>
                                      </p:to>
                                    </p:set>
                                    <p:animEffect transition="in" filter="dissolve">
                                      <p:cBhvr>
                                        <p:cTn id="77" dur="500"/>
                                        <p:tgtEl>
                                          <p:spTgt spid="19968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bldLvl="2"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8" name="Rectangle 48"/>
          <p:cNvSpPr>
            <a:spLocks noGrp="1" noChangeArrowheads="1"/>
          </p:cNvSpPr>
          <p:nvPr>
            <p:ph type="title"/>
          </p:nvPr>
        </p:nvSpPr>
        <p:spPr/>
        <p:txBody>
          <a:bodyPr/>
          <a:lstStyle/>
          <a:p>
            <a:r>
              <a:rPr lang="en-US" altLang="it-IT"/>
              <a:t>Example</a:t>
            </a:r>
          </a:p>
        </p:txBody>
      </p:sp>
      <p:grpSp>
        <p:nvGrpSpPr>
          <p:cNvPr id="204861" name="Group 61"/>
          <p:cNvGrpSpPr>
            <a:grpSpLocks/>
          </p:cNvGrpSpPr>
          <p:nvPr/>
        </p:nvGrpSpPr>
        <p:grpSpPr bwMode="auto">
          <a:xfrm>
            <a:off x="5562600" y="1066800"/>
            <a:ext cx="3276600" cy="4648200"/>
            <a:chOff x="3552" y="672"/>
            <a:chExt cx="2064" cy="2928"/>
          </a:xfrm>
        </p:grpSpPr>
        <p:sp>
          <p:nvSpPr>
            <p:cNvPr id="204862" name="Rectangle 62"/>
            <p:cNvSpPr>
              <a:spLocks noChangeArrowheads="1"/>
            </p:cNvSpPr>
            <p:nvPr/>
          </p:nvSpPr>
          <p:spPr bwMode="auto">
            <a:xfrm>
              <a:off x="3552" y="672"/>
              <a:ext cx="2064" cy="2928"/>
            </a:xfrm>
            <a:prstGeom prst="rect">
              <a:avLst/>
            </a:prstGeom>
            <a:solidFill>
              <a:srgbClr val="FFCC66"/>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63" name="Rectangle 63"/>
            <p:cNvSpPr>
              <a:spLocks noChangeArrowheads="1"/>
            </p:cNvSpPr>
            <p:nvPr/>
          </p:nvSpPr>
          <p:spPr bwMode="auto">
            <a:xfrm>
              <a:off x="3792" y="816"/>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4864" name="Rectangle 64"/>
            <p:cNvSpPr>
              <a:spLocks noChangeArrowheads="1"/>
            </p:cNvSpPr>
            <p:nvPr/>
          </p:nvSpPr>
          <p:spPr bwMode="auto">
            <a:xfrm>
              <a:off x="3792" y="1296"/>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4865" name="Rectangle 65"/>
            <p:cNvSpPr>
              <a:spLocks noChangeArrowheads="1"/>
            </p:cNvSpPr>
            <p:nvPr/>
          </p:nvSpPr>
          <p:spPr bwMode="auto">
            <a:xfrm>
              <a:off x="3792" y="1776"/>
              <a:ext cx="288" cy="288"/>
            </a:xfrm>
            <a:prstGeom prst="rect">
              <a:avLst/>
            </a:prstGeom>
            <a:solidFill>
              <a:srgbClr val="CC0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4866" name="Text Box 66"/>
            <p:cNvSpPr txBox="1">
              <a:spLocks noChangeArrowheads="1"/>
            </p:cNvSpPr>
            <p:nvPr/>
          </p:nvSpPr>
          <p:spPr bwMode="auto">
            <a:xfrm>
              <a:off x="4128" y="845"/>
              <a:ext cx="9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Disengaged</a:t>
              </a:r>
            </a:p>
          </p:txBody>
        </p:sp>
        <p:sp>
          <p:nvSpPr>
            <p:cNvPr id="204867" name="Text Box 67"/>
            <p:cNvSpPr txBox="1">
              <a:spLocks noChangeArrowheads="1"/>
            </p:cNvSpPr>
            <p:nvPr/>
          </p:nvSpPr>
          <p:spPr bwMode="auto">
            <a:xfrm>
              <a:off x="4128" y="1286"/>
              <a:ext cx="118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Engaged, busy</a:t>
              </a:r>
            </a:p>
          </p:txBody>
        </p:sp>
        <p:sp>
          <p:nvSpPr>
            <p:cNvPr id="204868" name="Text Box 68"/>
            <p:cNvSpPr txBox="1">
              <a:spLocks noChangeArrowheads="1"/>
            </p:cNvSpPr>
            <p:nvPr/>
          </p:nvSpPr>
          <p:spPr bwMode="auto">
            <a:xfrm>
              <a:off x="4128" y="1776"/>
              <a:ext cx="139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Engaged, blocked</a:t>
              </a:r>
            </a:p>
          </p:txBody>
        </p:sp>
        <p:sp>
          <p:nvSpPr>
            <p:cNvPr id="204869" name="Line 69"/>
            <p:cNvSpPr>
              <a:spLocks noChangeShapeType="1"/>
            </p:cNvSpPr>
            <p:nvPr/>
          </p:nvSpPr>
          <p:spPr bwMode="auto">
            <a:xfrm>
              <a:off x="3792" y="2448"/>
              <a:ext cx="3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70" name="Line 70"/>
            <p:cNvSpPr>
              <a:spLocks noChangeShapeType="1"/>
            </p:cNvSpPr>
            <p:nvPr/>
          </p:nvSpPr>
          <p:spPr bwMode="auto">
            <a:xfrm>
              <a:off x="3792" y="2880"/>
              <a:ext cx="384"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71" name="Text Box 71"/>
            <p:cNvSpPr txBox="1">
              <a:spLocks noChangeArrowheads="1"/>
            </p:cNvSpPr>
            <p:nvPr/>
          </p:nvSpPr>
          <p:spPr bwMode="auto">
            <a:xfrm>
              <a:off x="4128" y="2342"/>
              <a:ext cx="7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Tree arc</a:t>
              </a:r>
            </a:p>
          </p:txBody>
        </p:sp>
        <p:sp>
          <p:nvSpPr>
            <p:cNvPr id="204872" name="Text Box 72"/>
            <p:cNvSpPr txBox="1">
              <a:spLocks noChangeArrowheads="1"/>
            </p:cNvSpPr>
            <p:nvPr/>
          </p:nvSpPr>
          <p:spPr bwMode="auto">
            <a:xfrm>
              <a:off x="4137" y="2736"/>
              <a:ext cx="13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Message (event)</a:t>
              </a:r>
            </a:p>
          </p:txBody>
        </p:sp>
        <p:sp>
          <p:nvSpPr>
            <p:cNvPr id="204873" name="Line 73"/>
            <p:cNvSpPr>
              <a:spLocks noChangeShapeType="1"/>
            </p:cNvSpPr>
            <p:nvPr/>
          </p:nvSpPr>
          <p:spPr bwMode="auto">
            <a:xfrm>
              <a:off x="3792" y="3254"/>
              <a:ext cx="384" cy="0"/>
            </a:xfrm>
            <a:prstGeom prst="line">
              <a:avLst/>
            </a:prstGeom>
            <a:noFill/>
            <a:ln w="38100">
              <a:solidFill>
                <a:srgbClr val="CC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74" name="Text Box 74"/>
            <p:cNvSpPr txBox="1">
              <a:spLocks noChangeArrowheads="1"/>
            </p:cNvSpPr>
            <p:nvPr/>
          </p:nvSpPr>
          <p:spPr bwMode="auto">
            <a:xfrm>
              <a:off x="4137" y="3110"/>
              <a:ext cx="56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Signal</a:t>
              </a:r>
            </a:p>
          </p:txBody>
        </p:sp>
      </p:grpSp>
      <p:sp>
        <p:nvSpPr>
          <p:cNvPr id="204803" name="Rectangle 3"/>
          <p:cNvSpPr>
            <a:spLocks noChangeArrowheads="1"/>
          </p:cNvSpPr>
          <p:nvPr/>
        </p:nvSpPr>
        <p:spPr bwMode="auto">
          <a:xfrm>
            <a:off x="4038600" y="1524000"/>
            <a:ext cx="457200" cy="4572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sp>
        <p:nvSpPr>
          <p:cNvPr id="204804" name="Rectangle 4"/>
          <p:cNvSpPr>
            <a:spLocks noChangeArrowheads="1"/>
          </p:cNvSpPr>
          <p:nvPr/>
        </p:nvSpPr>
        <p:spPr bwMode="auto">
          <a:xfrm>
            <a:off x="762000" y="3200400"/>
            <a:ext cx="457200" cy="4572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4805" name="Rectangle 5"/>
          <p:cNvSpPr>
            <a:spLocks noChangeArrowheads="1"/>
          </p:cNvSpPr>
          <p:nvPr/>
        </p:nvSpPr>
        <p:spPr bwMode="auto">
          <a:xfrm>
            <a:off x="4114800" y="3276600"/>
            <a:ext cx="457200" cy="4572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4806" name="Rectangle 6"/>
          <p:cNvSpPr>
            <a:spLocks noChangeArrowheads="1"/>
          </p:cNvSpPr>
          <p:nvPr/>
        </p:nvSpPr>
        <p:spPr bwMode="auto">
          <a:xfrm>
            <a:off x="2743200" y="4191000"/>
            <a:ext cx="457200" cy="4572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sp>
        <p:nvSpPr>
          <p:cNvPr id="204807" name="Rectangle 7"/>
          <p:cNvSpPr>
            <a:spLocks noChangeArrowheads="1"/>
          </p:cNvSpPr>
          <p:nvPr/>
        </p:nvSpPr>
        <p:spPr bwMode="auto">
          <a:xfrm>
            <a:off x="2133600" y="2133600"/>
            <a:ext cx="457200" cy="457200"/>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Cntl</a:t>
            </a:r>
          </a:p>
        </p:txBody>
      </p:sp>
      <p:sp>
        <p:nvSpPr>
          <p:cNvPr id="204809" name="Rectangle 9"/>
          <p:cNvSpPr>
            <a:spLocks noChangeArrowheads="1"/>
          </p:cNvSpPr>
          <p:nvPr/>
        </p:nvSpPr>
        <p:spPr bwMode="auto">
          <a:xfrm>
            <a:off x="304800" y="6096000"/>
            <a:ext cx="6096000" cy="5159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Controller sends start message to 3</a:t>
            </a:r>
          </a:p>
        </p:txBody>
      </p:sp>
      <p:sp>
        <p:nvSpPr>
          <p:cNvPr id="204875" name="Text Box 75"/>
          <p:cNvSpPr txBox="1">
            <a:spLocks noChangeArrowheads="1"/>
          </p:cNvSpPr>
          <p:nvPr/>
        </p:nvSpPr>
        <p:spPr bwMode="auto">
          <a:xfrm>
            <a:off x="1447800" y="1568450"/>
            <a:ext cx="614271" cy="36933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p:txBody>
      </p:sp>
      <p:sp>
        <p:nvSpPr>
          <p:cNvPr id="204878" name="Text Box 78"/>
          <p:cNvSpPr txBox="1">
            <a:spLocks noChangeArrowheads="1"/>
          </p:cNvSpPr>
          <p:nvPr/>
        </p:nvSpPr>
        <p:spPr bwMode="auto">
          <a:xfrm>
            <a:off x="2667000" y="4724400"/>
            <a:ext cx="609600" cy="6413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D=0</a:t>
            </a:r>
          </a:p>
        </p:txBody>
      </p:sp>
      <p:sp>
        <p:nvSpPr>
          <p:cNvPr id="204879" name="Text Box 79"/>
          <p:cNvSpPr txBox="1">
            <a:spLocks noChangeArrowheads="1"/>
          </p:cNvSpPr>
          <p:nvPr/>
        </p:nvSpPr>
        <p:spPr bwMode="auto">
          <a:xfrm>
            <a:off x="228600" y="3702050"/>
            <a:ext cx="609600" cy="6413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D=0</a:t>
            </a:r>
          </a:p>
        </p:txBody>
      </p:sp>
      <p:sp>
        <p:nvSpPr>
          <p:cNvPr id="205063" name="Rectangle 263"/>
          <p:cNvSpPr>
            <a:spLocks noChangeArrowheads="1"/>
          </p:cNvSpPr>
          <p:nvPr/>
        </p:nvSpPr>
        <p:spPr bwMode="auto">
          <a:xfrm>
            <a:off x="2133600" y="2133600"/>
            <a:ext cx="457200" cy="457200"/>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err="1"/>
              <a:t>Cntl</a:t>
            </a:r>
            <a:endParaRPr lang="en-US" altLang="it-IT"/>
          </a:p>
        </p:txBody>
      </p:sp>
      <p:sp>
        <p:nvSpPr>
          <p:cNvPr id="205064" name="Text Box 264"/>
          <p:cNvSpPr txBox="1">
            <a:spLocks noChangeArrowheads="1"/>
          </p:cNvSpPr>
          <p:nvPr/>
        </p:nvSpPr>
        <p:spPr bwMode="auto">
          <a:xfrm>
            <a:off x="298648" y="6078239"/>
            <a:ext cx="8305800" cy="5191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it-IT" sz="2800"/>
              <a:t>Controller sends start message to 3</a:t>
            </a:r>
          </a:p>
        </p:txBody>
      </p:sp>
      <p:sp>
        <p:nvSpPr>
          <p:cNvPr id="205067" name="Text Box 267"/>
          <p:cNvSpPr txBox="1">
            <a:spLocks noChangeArrowheads="1"/>
          </p:cNvSpPr>
          <p:nvPr/>
        </p:nvSpPr>
        <p:spPr bwMode="auto">
          <a:xfrm>
            <a:off x="1447800" y="1844824"/>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D=0</a:t>
            </a:r>
          </a:p>
        </p:txBody>
      </p:sp>
      <p:sp>
        <p:nvSpPr>
          <p:cNvPr id="2" name="Text Box 78">
            <a:extLst>
              <a:ext uri="{FF2B5EF4-FFF2-40B4-BE49-F238E27FC236}">
                <a16:creationId xmlns:a16="http://schemas.microsoft.com/office/drawing/2014/main" id="{4FE8E200-C4AE-3E9B-BDBD-77490F611CCF}"/>
              </a:ext>
            </a:extLst>
          </p:cNvPr>
          <p:cNvSpPr txBox="1">
            <a:spLocks noChangeArrowheads="1"/>
          </p:cNvSpPr>
          <p:nvPr/>
        </p:nvSpPr>
        <p:spPr bwMode="auto">
          <a:xfrm>
            <a:off x="4678363" y="3670325"/>
            <a:ext cx="609600" cy="6413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D=0</a:t>
            </a:r>
          </a:p>
        </p:txBody>
      </p:sp>
      <p:sp>
        <p:nvSpPr>
          <p:cNvPr id="3" name="Text Box 78">
            <a:extLst>
              <a:ext uri="{FF2B5EF4-FFF2-40B4-BE49-F238E27FC236}">
                <a16:creationId xmlns:a16="http://schemas.microsoft.com/office/drawing/2014/main" id="{537E41EF-28C2-C56C-9516-8771D31B0D77}"/>
              </a:ext>
            </a:extLst>
          </p:cNvPr>
          <p:cNvSpPr txBox="1">
            <a:spLocks noChangeArrowheads="1"/>
          </p:cNvSpPr>
          <p:nvPr/>
        </p:nvSpPr>
        <p:spPr bwMode="auto">
          <a:xfrm>
            <a:off x="4546600" y="1059458"/>
            <a:ext cx="609600" cy="6413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D=0</a:t>
            </a:r>
          </a:p>
        </p:txBody>
      </p:sp>
      <p:sp>
        <p:nvSpPr>
          <p:cNvPr id="4" name="Segnaposto data 3">
            <a:extLst>
              <a:ext uri="{FF2B5EF4-FFF2-40B4-BE49-F238E27FC236}">
                <a16:creationId xmlns:a16="http://schemas.microsoft.com/office/drawing/2014/main" id="{D60D3395-135E-3C8C-D2EF-5636C6B3F5D8}"/>
              </a:ext>
            </a:extLst>
          </p:cNvPr>
          <p:cNvSpPr>
            <a:spLocks noGrp="1"/>
          </p:cNvSpPr>
          <p:nvPr>
            <p:ph type="dt" sz="half" idx="2"/>
          </p:nvPr>
        </p:nvSpPr>
        <p:spPr/>
        <p:txBody>
          <a:bodyPr/>
          <a:lstStyle/>
          <a:p>
            <a:r>
              <a:rPr lang="it-IT"/>
              <a:t>Distributed Simulation Systems</a:t>
            </a:r>
            <a:endParaRPr lang="en-US"/>
          </a:p>
        </p:txBody>
      </p:sp>
      <p:sp>
        <p:nvSpPr>
          <p:cNvPr id="5" name="Segnaposto piè di pagina 4">
            <a:extLst>
              <a:ext uri="{FF2B5EF4-FFF2-40B4-BE49-F238E27FC236}">
                <a16:creationId xmlns:a16="http://schemas.microsoft.com/office/drawing/2014/main" id="{DDBFDE27-1077-7205-0424-CDD9865BA18C}"/>
              </a:ext>
            </a:extLst>
          </p:cNvPr>
          <p:cNvSpPr>
            <a:spLocks noGrp="1"/>
          </p:cNvSpPr>
          <p:nvPr>
            <p:ph type="ftr" sz="quarter" idx="3"/>
          </p:nvPr>
        </p:nvSpPr>
        <p:spPr/>
        <p:txBody>
          <a:bodyPr/>
          <a:lstStyle/>
          <a:p>
            <a:r>
              <a:rPr lang="en-US"/>
              <a:t>paolo.bocciarelli@uniroma2.it</a:t>
            </a:r>
          </a:p>
        </p:txBody>
      </p:sp>
      <p:sp>
        <p:nvSpPr>
          <p:cNvPr id="6" name="Segnaposto numero diapositiva 5">
            <a:extLst>
              <a:ext uri="{FF2B5EF4-FFF2-40B4-BE49-F238E27FC236}">
                <a16:creationId xmlns:a16="http://schemas.microsoft.com/office/drawing/2014/main" id="{02027BF7-CEA4-1A77-4F98-87D6383F6F7C}"/>
              </a:ext>
            </a:extLst>
          </p:cNvPr>
          <p:cNvSpPr>
            <a:spLocks noGrp="1"/>
          </p:cNvSpPr>
          <p:nvPr>
            <p:ph type="sldNum" sz="quarter" idx="4"/>
          </p:nvPr>
        </p:nvSpPr>
        <p:spPr/>
        <p:txBody>
          <a:bodyPr/>
          <a:lstStyle/>
          <a:p>
            <a:fld id="{9BFB3A76-8619-A843-8C67-B9C7C140DBAC}" type="slidenum">
              <a:rPr lang="en-US" smtClean="0"/>
              <a:t>39</a:t>
            </a:fld>
            <a:endParaRPr lang="en-US"/>
          </a:p>
        </p:txBody>
      </p:sp>
    </p:spTree>
    <p:extLst>
      <p:ext uri="{BB962C8B-B14F-4D97-AF65-F5344CB8AC3E}">
        <p14:creationId xmlns:p14="http://schemas.microsoft.com/office/powerpoint/2010/main" val="3653759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8" name="Rectangle 48"/>
          <p:cNvSpPr>
            <a:spLocks noGrp="1" noChangeArrowheads="1"/>
          </p:cNvSpPr>
          <p:nvPr>
            <p:ph type="title"/>
          </p:nvPr>
        </p:nvSpPr>
        <p:spPr/>
        <p:txBody>
          <a:bodyPr/>
          <a:lstStyle/>
          <a:p>
            <a:r>
              <a:rPr lang="en-US" altLang="it-IT"/>
              <a:t>Example</a:t>
            </a:r>
          </a:p>
        </p:txBody>
      </p:sp>
      <p:grpSp>
        <p:nvGrpSpPr>
          <p:cNvPr id="204861" name="Group 61"/>
          <p:cNvGrpSpPr>
            <a:grpSpLocks/>
          </p:cNvGrpSpPr>
          <p:nvPr/>
        </p:nvGrpSpPr>
        <p:grpSpPr bwMode="auto">
          <a:xfrm>
            <a:off x="5562600" y="1066800"/>
            <a:ext cx="3276600" cy="4648200"/>
            <a:chOff x="3552" y="672"/>
            <a:chExt cx="2064" cy="2928"/>
          </a:xfrm>
        </p:grpSpPr>
        <p:sp>
          <p:nvSpPr>
            <p:cNvPr id="204862" name="Rectangle 62"/>
            <p:cNvSpPr>
              <a:spLocks noChangeArrowheads="1"/>
            </p:cNvSpPr>
            <p:nvPr/>
          </p:nvSpPr>
          <p:spPr bwMode="auto">
            <a:xfrm>
              <a:off x="3552" y="672"/>
              <a:ext cx="2064" cy="2928"/>
            </a:xfrm>
            <a:prstGeom prst="rect">
              <a:avLst/>
            </a:prstGeom>
            <a:solidFill>
              <a:srgbClr val="FFCC66"/>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63" name="Rectangle 63"/>
            <p:cNvSpPr>
              <a:spLocks noChangeArrowheads="1"/>
            </p:cNvSpPr>
            <p:nvPr/>
          </p:nvSpPr>
          <p:spPr bwMode="auto">
            <a:xfrm>
              <a:off x="3792" y="816"/>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4864" name="Rectangle 64"/>
            <p:cNvSpPr>
              <a:spLocks noChangeArrowheads="1"/>
            </p:cNvSpPr>
            <p:nvPr/>
          </p:nvSpPr>
          <p:spPr bwMode="auto">
            <a:xfrm>
              <a:off x="3792" y="1296"/>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4865" name="Rectangle 65"/>
            <p:cNvSpPr>
              <a:spLocks noChangeArrowheads="1"/>
            </p:cNvSpPr>
            <p:nvPr/>
          </p:nvSpPr>
          <p:spPr bwMode="auto">
            <a:xfrm>
              <a:off x="3792" y="1776"/>
              <a:ext cx="288" cy="288"/>
            </a:xfrm>
            <a:prstGeom prst="rect">
              <a:avLst/>
            </a:prstGeom>
            <a:solidFill>
              <a:srgbClr val="CC0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th-TH" altLang="it-IT"/>
            </a:p>
          </p:txBody>
        </p:sp>
        <p:sp>
          <p:nvSpPr>
            <p:cNvPr id="204866" name="Text Box 66"/>
            <p:cNvSpPr txBox="1">
              <a:spLocks noChangeArrowheads="1"/>
            </p:cNvSpPr>
            <p:nvPr/>
          </p:nvSpPr>
          <p:spPr bwMode="auto">
            <a:xfrm>
              <a:off x="4128" y="845"/>
              <a:ext cx="9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Disengaged</a:t>
              </a:r>
            </a:p>
          </p:txBody>
        </p:sp>
        <p:sp>
          <p:nvSpPr>
            <p:cNvPr id="204867" name="Text Box 67"/>
            <p:cNvSpPr txBox="1">
              <a:spLocks noChangeArrowheads="1"/>
            </p:cNvSpPr>
            <p:nvPr/>
          </p:nvSpPr>
          <p:spPr bwMode="auto">
            <a:xfrm>
              <a:off x="4128" y="1286"/>
              <a:ext cx="118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Engaged, busy</a:t>
              </a:r>
            </a:p>
          </p:txBody>
        </p:sp>
        <p:sp>
          <p:nvSpPr>
            <p:cNvPr id="204868" name="Text Box 68"/>
            <p:cNvSpPr txBox="1">
              <a:spLocks noChangeArrowheads="1"/>
            </p:cNvSpPr>
            <p:nvPr/>
          </p:nvSpPr>
          <p:spPr bwMode="auto">
            <a:xfrm>
              <a:off x="4128" y="1776"/>
              <a:ext cx="139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Engaged, blocked</a:t>
              </a:r>
            </a:p>
          </p:txBody>
        </p:sp>
        <p:sp>
          <p:nvSpPr>
            <p:cNvPr id="204869" name="Line 69"/>
            <p:cNvSpPr>
              <a:spLocks noChangeShapeType="1"/>
            </p:cNvSpPr>
            <p:nvPr/>
          </p:nvSpPr>
          <p:spPr bwMode="auto">
            <a:xfrm>
              <a:off x="3792" y="2448"/>
              <a:ext cx="3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70" name="Line 70"/>
            <p:cNvSpPr>
              <a:spLocks noChangeShapeType="1"/>
            </p:cNvSpPr>
            <p:nvPr/>
          </p:nvSpPr>
          <p:spPr bwMode="auto">
            <a:xfrm>
              <a:off x="3792" y="2880"/>
              <a:ext cx="384"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71" name="Text Box 71"/>
            <p:cNvSpPr txBox="1">
              <a:spLocks noChangeArrowheads="1"/>
            </p:cNvSpPr>
            <p:nvPr/>
          </p:nvSpPr>
          <p:spPr bwMode="auto">
            <a:xfrm>
              <a:off x="4128" y="2342"/>
              <a:ext cx="7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Tree arc</a:t>
              </a:r>
            </a:p>
          </p:txBody>
        </p:sp>
        <p:sp>
          <p:nvSpPr>
            <p:cNvPr id="204872" name="Text Box 72"/>
            <p:cNvSpPr txBox="1">
              <a:spLocks noChangeArrowheads="1"/>
            </p:cNvSpPr>
            <p:nvPr/>
          </p:nvSpPr>
          <p:spPr bwMode="auto">
            <a:xfrm>
              <a:off x="4137" y="2736"/>
              <a:ext cx="13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Message (event)</a:t>
              </a:r>
            </a:p>
          </p:txBody>
        </p:sp>
        <p:sp>
          <p:nvSpPr>
            <p:cNvPr id="204873" name="Line 73"/>
            <p:cNvSpPr>
              <a:spLocks noChangeShapeType="1"/>
            </p:cNvSpPr>
            <p:nvPr/>
          </p:nvSpPr>
          <p:spPr bwMode="auto">
            <a:xfrm>
              <a:off x="3792" y="3254"/>
              <a:ext cx="384" cy="0"/>
            </a:xfrm>
            <a:prstGeom prst="line">
              <a:avLst/>
            </a:prstGeom>
            <a:noFill/>
            <a:ln w="38100">
              <a:solidFill>
                <a:srgbClr val="CC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74" name="Text Box 74"/>
            <p:cNvSpPr txBox="1">
              <a:spLocks noChangeArrowheads="1"/>
            </p:cNvSpPr>
            <p:nvPr/>
          </p:nvSpPr>
          <p:spPr bwMode="auto">
            <a:xfrm>
              <a:off x="4137" y="3110"/>
              <a:ext cx="56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000"/>
                <a:t>Signal</a:t>
              </a:r>
            </a:p>
          </p:txBody>
        </p:sp>
      </p:grpSp>
      <p:grpSp>
        <p:nvGrpSpPr>
          <p:cNvPr id="204881" name="Group 81"/>
          <p:cNvGrpSpPr>
            <a:grpSpLocks/>
          </p:cNvGrpSpPr>
          <p:nvPr/>
        </p:nvGrpSpPr>
        <p:grpSpPr bwMode="auto">
          <a:xfrm>
            <a:off x="228600" y="1066800"/>
            <a:ext cx="6172200" cy="5545138"/>
            <a:chOff x="144" y="672"/>
            <a:chExt cx="3888" cy="3493"/>
          </a:xfrm>
        </p:grpSpPr>
        <p:sp>
          <p:nvSpPr>
            <p:cNvPr id="204803" name="Rectangle 3"/>
            <p:cNvSpPr>
              <a:spLocks noChangeArrowheads="1"/>
            </p:cNvSpPr>
            <p:nvPr/>
          </p:nvSpPr>
          <p:spPr bwMode="auto">
            <a:xfrm>
              <a:off x="2544" y="960"/>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sp>
          <p:nvSpPr>
            <p:cNvPr id="204804" name="Rectangle 4"/>
            <p:cNvSpPr>
              <a:spLocks noChangeArrowheads="1"/>
            </p:cNvSpPr>
            <p:nvPr/>
          </p:nvSpPr>
          <p:spPr bwMode="auto">
            <a:xfrm>
              <a:off x="480" y="2016"/>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4805" name="Rectangle 5"/>
            <p:cNvSpPr>
              <a:spLocks noChangeArrowheads="1"/>
            </p:cNvSpPr>
            <p:nvPr/>
          </p:nvSpPr>
          <p:spPr bwMode="auto">
            <a:xfrm>
              <a:off x="2592" y="2064"/>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4806" name="Rectangle 6"/>
            <p:cNvSpPr>
              <a:spLocks noChangeArrowheads="1"/>
            </p:cNvSpPr>
            <p:nvPr/>
          </p:nvSpPr>
          <p:spPr bwMode="auto">
            <a:xfrm>
              <a:off x="1728" y="2640"/>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sp>
          <p:nvSpPr>
            <p:cNvPr id="204807" name="Rectangle 7"/>
            <p:cNvSpPr>
              <a:spLocks noChangeArrowheads="1"/>
            </p:cNvSpPr>
            <p:nvPr/>
          </p:nvSpPr>
          <p:spPr bwMode="auto">
            <a:xfrm>
              <a:off x="1344" y="1344"/>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Cntl</a:t>
              </a:r>
            </a:p>
          </p:txBody>
        </p:sp>
        <p:sp>
          <p:nvSpPr>
            <p:cNvPr id="204808" name="Line 8"/>
            <p:cNvSpPr>
              <a:spLocks noChangeShapeType="1"/>
            </p:cNvSpPr>
            <p:nvPr/>
          </p:nvSpPr>
          <p:spPr bwMode="auto">
            <a:xfrm>
              <a:off x="1728" y="1632"/>
              <a:ext cx="720" cy="384"/>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09" name="Rectangle 9"/>
            <p:cNvSpPr>
              <a:spLocks noChangeArrowheads="1"/>
            </p:cNvSpPr>
            <p:nvPr/>
          </p:nvSpPr>
          <p:spPr bwMode="auto">
            <a:xfrm>
              <a:off x="192" y="3840"/>
              <a:ext cx="3840"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Controller sends start message to 3</a:t>
              </a:r>
            </a:p>
          </p:txBody>
        </p:sp>
        <p:sp>
          <p:nvSpPr>
            <p:cNvPr id="204875" name="Text Box 75"/>
            <p:cNvSpPr txBox="1">
              <a:spLocks noChangeArrowheads="1"/>
            </p:cNvSpPr>
            <p:nvPr/>
          </p:nvSpPr>
          <p:spPr bwMode="auto">
            <a:xfrm>
              <a:off x="912" y="988"/>
              <a:ext cx="384" cy="40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D=1</a:t>
              </a:r>
            </a:p>
          </p:txBody>
        </p:sp>
        <p:sp>
          <p:nvSpPr>
            <p:cNvPr id="204876" name="Text Box 76"/>
            <p:cNvSpPr txBox="1">
              <a:spLocks noChangeArrowheads="1"/>
            </p:cNvSpPr>
            <p:nvPr/>
          </p:nvSpPr>
          <p:spPr bwMode="auto">
            <a:xfrm>
              <a:off x="2928" y="2304"/>
              <a:ext cx="384" cy="40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C=1</a:t>
              </a:r>
            </a:p>
            <a:p>
              <a:r>
                <a:rPr lang="en-US" altLang="it-IT"/>
                <a:t>D=0</a:t>
              </a:r>
            </a:p>
          </p:txBody>
        </p:sp>
        <p:sp>
          <p:nvSpPr>
            <p:cNvPr id="204877" name="Text Box 77"/>
            <p:cNvSpPr txBox="1">
              <a:spLocks noChangeArrowheads="1"/>
            </p:cNvSpPr>
            <p:nvPr/>
          </p:nvSpPr>
          <p:spPr bwMode="auto">
            <a:xfrm>
              <a:off x="2880" y="672"/>
              <a:ext cx="384" cy="40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D=0</a:t>
              </a:r>
            </a:p>
          </p:txBody>
        </p:sp>
        <p:sp>
          <p:nvSpPr>
            <p:cNvPr id="204878" name="Text Box 78"/>
            <p:cNvSpPr txBox="1">
              <a:spLocks noChangeArrowheads="1"/>
            </p:cNvSpPr>
            <p:nvPr/>
          </p:nvSpPr>
          <p:spPr bwMode="auto">
            <a:xfrm>
              <a:off x="1680" y="2976"/>
              <a:ext cx="384" cy="40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D=0</a:t>
              </a:r>
            </a:p>
          </p:txBody>
        </p:sp>
        <p:sp>
          <p:nvSpPr>
            <p:cNvPr id="204879" name="Text Box 79"/>
            <p:cNvSpPr txBox="1">
              <a:spLocks noChangeArrowheads="1"/>
            </p:cNvSpPr>
            <p:nvPr/>
          </p:nvSpPr>
          <p:spPr bwMode="auto">
            <a:xfrm>
              <a:off x="144" y="2332"/>
              <a:ext cx="384" cy="40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a:p>
              <a:r>
                <a:rPr lang="en-US" altLang="it-IT"/>
                <a:t>D=0</a:t>
              </a:r>
            </a:p>
          </p:txBody>
        </p:sp>
      </p:grpSp>
      <p:grpSp>
        <p:nvGrpSpPr>
          <p:cNvPr id="204903" name="Group 103"/>
          <p:cNvGrpSpPr>
            <a:grpSpLocks/>
          </p:cNvGrpSpPr>
          <p:nvPr/>
        </p:nvGrpSpPr>
        <p:grpSpPr bwMode="auto">
          <a:xfrm>
            <a:off x="228600" y="1081088"/>
            <a:ext cx="7086600" cy="5530850"/>
            <a:chOff x="144" y="681"/>
            <a:chExt cx="4464" cy="3484"/>
          </a:xfrm>
        </p:grpSpPr>
        <p:sp>
          <p:nvSpPr>
            <p:cNvPr id="204883" name="Rectangle 83"/>
            <p:cNvSpPr>
              <a:spLocks noChangeArrowheads="1"/>
            </p:cNvSpPr>
            <p:nvPr/>
          </p:nvSpPr>
          <p:spPr bwMode="auto">
            <a:xfrm>
              <a:off x="2592" y="2064"/>
              <a:ext cx="288" cy="288"/>
            </a:xfrm>
            <a:prstGeom prst="rect">
              <a:avLst/>
            </a:prstGeom>
            <a:solidFill>
              <a:srgbClr val="0066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4884" name="Rectangle 84"/>
            <p:cNvSpPr>
              <a:spLocks noChangeArrowheads="1"/>
            </p:cNvSpPr>
            <p:nvPr/>
          </p:nvSpPr>
          <p:spPr bwMode="auto">
            <a:xfrm>
              <a:off x="1344" y="1344"/>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Cntl</a:t>
              </a:r>
            </a:p>
          </p:txBody>
        </p:sp>
        <p:sp>
          <p:nvSpPr>
            <p:cNvPr id="204885" name="Line 85"/>
            <p:cNvSpPr>
              <a:spLocks noChangeShapeType="1"/>
            </p:cNvSpPr>
            <p:nvPr/>
          </p:nvSpPr>
          <p:spPr bwMode="auto">
            <a:xfrm>
              <a:off x="1728" y="1632"/>
              <a:ext cx="720" cy="38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86" name="Rectangle 86"/>
            <p:cNvSpPr>
              <a:spLocks noChangeArrowheads="1"/>
            </p:cNvSpPr>
            <p:nvPr/>
          </p:nvSpPr>
          <p:spPr bwMode="auto">
            <a:xfrm>
              <a:off x="192" y="3840"/>
              <a:ext cx="4416"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3 added to tree, sends messages to 1, 2, 4</a:t>
              </a:r>
            </a:p>
          </p:txBody>
        </p:sp>
        <p:sp>
          <p:nvSpPr>
            <p:cNvPr id="204887" name="Line 87"/>
            <p:cNvSpPr>
              <a:spLocks noChangeShapeType="1"/>
            </p:cNvSpPr>
            <p:nvPr/>
          </p:nvSpPr>
          <p:spPr bwMode="auto">
            <a:xfrm flipH="1" flipV="1">
              <a:off x="2688" y="1296"/>
              <a:ext cx="48" cy="672"/>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88" name="Line 88"/>
            <p:cNvSpPr>
              <a:spLocks noChangeShapeType="1"/>
            </p:cNvSpPr>
            <p:nvPr/>
          </p:nvSpPr>
          <p:spPr bwMode="auto">
            <a:xfrm flipH="1">
              <a:off x="2064" y="2448"/>
              <a:ext cx="480" cy="288"/>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89" name="Line 89"/>
            <p:cNvSpPr>
              <a:spLocks noChangeShapeType="1"/>
            </p:cNvSpPr>
            <p:nvPr/>
          </p:nvSpPr>
          <p:spPr bwMode="auto">
            <a:xfrm flipH="1" flipV="1">
              <a:off x="816" y="2160"/>
              <a:ext cx="1680" cy="48"/>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0" name="Line 90"/>
            <p:cNvSpPr>
              <a:spLocks noChangeShapeType="1"/>
            </p:cNvSpPr>
            <p:nvPr/>
          </p:nvSpPr>
          <p:spPr bwMode="auto">
            <a:xfrm>
              <a:off x="2928" y="2496"/>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1" name="Line 91"/>
            <p:cNvSpPr>
              <a:spLocks noChangeShapeType="1"/>
            </p:cNvSpPr>
            <p:nvPr/>
          </p:nvSpPr>
          <p:spPr bwMode="auto">
            <a:xfrm flipH="1">
              <a:off x="2928" y="2496"/>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2" name="Line 92"/>
            <p:cNvSpPr>
              <a:spLocks noChangeShapeType="1"/>
            </p:cNvSpPr>
            <p:nvPr/>
          </p:nvSpPr>
          <p:spPr bwMode="auto">
            <a:xfrm>
              <a:off x="1680" y="3024"/>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3" name="Line 93"/>
            <p:cNvSpPr>
              <a:spLocks noChangeShapeType="1"/>
            </p:cNvSpPr>
            <p:nvPr/>
          </p:nvSpPr>
          <p:spPr bwMode="auto">
            <a:xfrm flipH="1">
              <a:off x="1680" y="3024"/>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4" name="Line 94"/>
            <p:cNvSpPr>
              <a:spLocks noChangeShapeType="1"/>
            </p:cNvSpPr>
            <p:nvPr/>
          </p:nvSpPr>
          <p:spPr bwMode="auto">
            <a:xfrm>
              <a:off x="144" y="2352"/>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5" name="Line 95"/>
            <p:cNvSpPr>
              <a:spLocks noChangeShapeType="1"/>
            </p:cNvSpPr>
            <p:nvPr/>
          </p:nvSpPr>
          <p:spPr bwMode="auto">
            <a:xfrm flipH="1">
              <a:off x="144" y="2352"/>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6" name="Line 96"/>
            <p:cNvSpPr>
              <a:spLocks noChangeShapeType="1"/>
            </p:cNvSpPr>
            <p:nvPr/>
          </p:nvSpPr>
          <p:spPr bwMode="auto">
            <a:xfrm>
              <a:off x="2880" y="720"/>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7" name="Line 97"/>
            <p:cNvSpPr>
              <a:spLocks noChangeShapeType="1"/>
            </p:cNvSpPr>
            <p:nvPr/>
          </p:nvSpPr>
          <p:spPr bwMode="auto">
            <a:xfrm flipH="1">
              <a:off x="2880" y="720"/>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898" name="Text Box 98"/>
            <p:cNvSpPr txBox="1">
              <a:spLocks noChangeArrowheads="1"/>
            </p:cNvSpPr>
            <p:nvPr/>
          </p:nvSpPr>
          <p:spPr bwMode="auto">
            <a:xfrm>
              <a:off x="2496" y="681"/>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C=1</a:t>
              </a:r>
            </a:p>
          </p:txBody>
        </p:sp>
        <p:sp>
          <p:nvSpPr>
            <p:cNvPr id="204899" name="Text Box 99"/>
            <p:cNvSpPr txBox="1">
              <a:spLocks noChangeArrowheads="1"/>
            </p:cNvSpPr>
            <p:nvPr/>
          </p:nvSpPr>
          <p:spPr bwMode="auto">
            <a:xfrm>
              <a:off x="2016" y="297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C=1</a:t>
              </a:r>
            </a:p>
          </p:txBody>
        </p:sp>
        <p:sp>
          <p:nvSpPr>
            <p:cNvPr id="204900" name="Text Box 100"/>
            <p:cNvSpPr txBox="1">
              <a:spLocks noChangeArrowheads="1"/>
            </p:cNvSpPr>
            <p:nvPr/>
          </p:nvSpPr>
          <p:spPr bwMode="auto">
            <a:xfrm>
              <a:off x="144" y="268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C=1</a:t>
              </a:r>
            </a:p>
          </p:txBody>
        </p:sp>
        <p:sp>
          <p:nvSpPr>
            <p:cNvPr id="204902" name="Text Box 102"/>
            <p:cNvSpPr txBox="1">
              <a:spLocks noChangeArrowheads="1"/>
            </p:cNvSpPr>
            <p:nvPr/>
          </p:nvSpPr>
          <p:spPr bwMode="auto">
            <a:xfrm>
              <a:off x="2928" y="264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D=3</a:t>
              </a:r>
            </a:p>
          </p:txBody>
        </p:sp>
      </p:grpSp>
      <p:grpSp>
        <p:nvGrpSpPr>
          <p:cNvPr id="204904" name="Group 104"/>
          <p:cNvGrpSpPr>
            <a:grpSpLocks/>
          </p:cNvGrpSpPr>
          <p:nvPr/>
        </p:nvGrpSpPr>
        <p:grpSpPr bwMode="auto">
          <a:xfrm>
            <a:off x="304800" y="1524000"/>
            <a:ext cx="8382000" cy="5087938"/>
            <a:chOff x="192" y="960"/>
            <a:chExt cx="5280" cy="3205"/>
          </a:xfrm>
        </p:grpSpPr>
        <p:sp>
          <p:nvSpPr>
            <p:cNvPr id="204905" name="Rectangle 105"/>
            <p:cNvSpPr>
              <a:spLocks noChangeArrowheads="1"/>
            </p:cNvSpPr>
            <p:nvPr/>
          </p:nvSpPr>
          <p:spPr bwMode="auto">
            <a:xfrm>
              <a:off x="2544" y="960"/>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sp>
          <p:nvSpPr>
            <p:cNvPr id="204906" name="Rectangle 106"/>
            <p:cNvSpPr>
              <a:spLocks noChangeArrowheads="1"/>
            </p:cNvSpPr>
            <p:nvPr/>
          </p:nvSpPr>
          <p:spPr bwMode="auto">
            <a:xfrm>
              <a:off x="480" y="2016"/>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4907" name="Rectangle 107"/>
            <p:cNvSpPr>
              <a:spLocks noChangeArrowheads="1"/>
            </p:cNvSpPr>
            <p:nvPr/>
          </p:nvSpPr>
          <p:spPr bwMode="auto">
            <a:xfrm>
              <a:off x="1728" y="2640"/>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sp>
          <p:nvSpPr>
            <p:cNvPr id="204908" name="Line 108"/>
            <p:cNvSpPr>
              <a:spLocks noChangeShapeType="1"/>
            </p:cNvSpPr>
            <p:nvPr/>
          </p:nvSpPr>
          <p:spPr bwMode="auto">
            <a:xfrm flipH="1" flipV="1">
              <a:off x="816" y="2160"/>
              <a:ext cx="168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909" name="Rectangle 109"/>
            <p:cNvSpPr>
              <a:spLocks noChangeArrowheads="1"/>
            </p:cNvSpPr>
            <p:nvPr/>
          </p:nvSpPr>
          <p:spPr bwMode="auto">
            <a:xfrm>
              <a:off x="192" y="3840"/>
              <a:ext cx="5280"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1, 2, and 4 added to engagement tree</a:t>
              </a:r>
            </a:p>
          </p:txBody>
        </p:sp>
        <p:sp>
          <p:nvSpPr>
            <p:cNvPr id="204910" name="Line 110"/>
            <p:cNvSpPr>
              <a:spLocks noChangeShapeType="1"/>
            </p:cNvSpPr>
            <p:nvPr/>
          </p:nvSpPr>
          <p:spPr bwMode="auto">
            <a:xfrm flipH="1">
              <a:off x="2064" y="2448"/>
              <a:ext cx="480"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4911" name="Line 111"/>
            <p:cNvSpPr>
              <a:spLocks noChangeShapeType="1"/>
            </p:cNvSpPr>
            <p:nvPr/>
          </p:nvSpPr>
          <p:spPr bwMode="auto">
            <a:xfrm flipH="1" flipV="1">
              <a:off x="2688" y="1296"/>
              <a:ext cx="48" cy="67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204943" name="Group 143"/>
          <p:cNvGrpSpPr>
            <a:grpSpLocks/>
          </p:cNvGrpSpPr>
          <p:nvPr/>
        </p:nvGrpSpPr>
        <p:grpSpPr bwMode="auto">
          <a:xfrm>
            <a:off x="304800" y="1524000"/>
            <a:ext cx="7010400" cy="5105400"/>
            <a:chOff x="192" y="960"/>
            <a:chExt cx="4416" cy="3216"/>
          </a:xfrm>
        </p:grpSpPr>
        <p:sp>
          <p:nvSpPr>
            <p:cNvPr id="204940" name="Text Box 140"/>
            <p:cNvSpPr txBox="1">
              <a:spLocks noChangeArrowheads="1"/>
            </p:cNvSpPr>
            <p:nvPr/>
          </p:nvSpPr>
          <p:spPr bwMode="auto">
            <a:xfrm>
              <a:off x="192" y="3849"/>
              <a:ext cx="4416" cy="32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it-IT" sz="2800"/>
                <a:t>1 and 3 become blocked</a:t>
              </a:r>
            </a:p>
          </p:txBody>
        </p:sp>
        <p:sp>
          <p:nvSpPr>
            <p:cNvPr id="204941" name="Rectangle 141"/>
            <p:cNvSpPr>
              <a:spLocks noChangeArrowheads="1"/>
            </p:cNvSpPr>
            <p:nvPr/>
          </p:nvSpPr>
          <p:spPr bwMode="auto">
            <a:xfrm>
              <a:off x="2592" y="2064"/>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4942" name="Rectangle 142"/>
            <p:cNvSpPr>
              <a:spLocks noChangeArrowheads="1"/>
            </p:cNvSpPr>
            <p:nvPr/>
          </p:nvSpPr>
          <p:spPr bwMode="auto">
            <a:xfrm>
              <a:off x="2544" y="960"/>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grpSp>
      <p:grpSp>
        <p:nvGrpSpPr>
          <p:cNvPr id="205022" name="Group 222"/>
          <p:cNvGrpSpPr>
            <a:grpSpLocks/>
          </p:cNvGrpSpPr>
          <p:nvPr/>
        </p:nvGrpSpPr>
        <p:grpSpPr bwMode="auto">
          <a:xfrm>
            <a:off x="228600" y="1066800"/>
            <a:ext cx="8458200" cy="5534025"/>
            <a:chOff x="144" y="672"/>
            <a:chExt cx="5328" cy="3486"/>
          </a:xfrm>
        </p:grpSpPr>
        <p:sp>
          <p:nvSpPr>
            <p:cNvPr id="205005" name="Text Box 205"/>
            <p:cNvSpPr txBox="1">
              <a:spLocks noChangeArrowheads="1"/>
            </p:cNvSpPr>
            <p:nvPr/>
          </p:nvSpPr>
          <p:spPr bwMode="auto">
            <a:xfrm>
              <a:off x="144" y="3831"/>
              <a:ext cx="5328" cy="32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it-IT" sz="2800"/>
                <a:t>1 sends signal to 3, disengages, 3 still engaged</a:t>
              </a:r>
            </a:p>
          </p:txBody>
        </p:sp>
        <p:sp>
          <p:nvSpPr>
            <p:cNvPr id="205006" name="Line 206"/>
            <p:cNvSpPr>
              <a:spLocks noChangeShapeType="1"/>
            </p:cNvSpPr>
            <p:nvPr/>
          </p:nvSpPr>
          <p:spPr bwMode="auto">
            <a:xfrm>
              <a:off x="2784" y="1335"/>
              <a:ext cx="48" cy="624"/>
            </a:xfrm>
            <a:prstGeom prst="line">
              <a:avLst/>
            </a:prstGeom>
            <a:noFill/>
            <a:ln w="38100">
              <a:solidFill>
                <a:srgbClr val="CC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07" name="Line 207"/>
            <p:cNvSpPr>
              <a:spLocks noChangeShapeType="1"/>
            </p:cNvSpPr>
            <p:nvPr/>
          </p:nvSpPr>
          <p:spPr bwMode="auto">
            <a:xfrm>
              <a:off x="2496" y="711"/>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08" name="Line 208"/>
            <p:cNvSpPr>
              <a:spLocks noChangeShapeType="1"/>
            </p:cNvSpPr>
            <p:nvPr/>
          </p:nvSpPr>
          <p:spPr bwMode="auto">
            <a:xfrm flipH="1">
              <a:off x="2496" y="711"/>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09" name="Text Box 209"/>
            <p:cNvSpPr txBox="1">
              <a:spLocks noChangeArrowheads="1"/>
            </p:cNvSpPr>
            <p:nvPr/>
          </p:nvSpPr>
          <p:spPr bwMode="auto">
            <a:xfrm>
              <a:off x="2112" y="67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p:txBody>
        </p:sp>
        <p:sp>
          <p:nvSpPr>
            <p:cNvPr id="205010" name="Rectangle 210"/>
            <p:cNvSpPr>
              <a:spLocks noChangeArrowheads="1"/>
            </p:cNvSpPr>
            <p:nvPr/>
          </p:nvSpPr>
          <p:spPr bwMode="auto">
            <a:xfrm>
              <a:off x="2544" y="951"/>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1</a:t>
              </a:r>
            </a:p>
          </p:txBody>
        </p:sp>
        <p:sp>
          <p:nvSpPr>
            <p:cNvPr id="205011" name="Line 211"/>
            <p:cNvSpPr>
              <a:spLocks noChangeShapeType="1"/>
            </p:cNvSpPr>
            <p:nvPr/>
          </p:nvSpPr>
          <p:spPr bwMode="auto">
            <a:xfrm>
              <a:off x="2928" y="2679"/>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12" name="Line 212"/>
            <p:cNvSpPr>
              <a:spLocks noChangeShapeType="1"/>
            </p:cNvSpPr>
            <p:nvPr/>
          </p:nvSpPr>
          <p:spPr bwMode="auto">
            <a:xfrm flipH="1">
              <a:off x="2928" y="2679"/>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13" name="Text Box 213"/>
            <p:cNvSpPr txBox="1">
              <a:spLocks noChangeArrowheads="1"/>
            </p:cNvSpPr>
            <p:nvPr/>
          </p:nvSpPr>
          <p:spPr bwMode="auto">
            <a:xfrm>
              <a:off x="2928" y="28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D=2</a:t>
              </a:r>
            </a:p>
          </p:txBody>
        </p:sp>
      </p:grpSp>
      <p:grpSp>
        <p:nvGrpSpPr>
          <p:cNvPr id="205023" name="Group 223"/>
          <p:cNvGrpSpPr>
            <a:grpSpLocks/>
          </p:cNvGrpSpPr>
          <p:nvPr/>
        </p:nvGrpSpPr>
        <p:grpSpPr bwMode="auto">
          <a:xfrm>
            <a:off x="76200" y="2057400"/>
            <a:ext cx="8991600" cy="4614863"/>
            <a:chOff x="48" y="1296"/>
            <a:chExt cx="5664" cy="2907"/>
          </a:xfrm>
        </p:grpSpPr>
        <p:sp>
          <p:nvSpPr>
            <p:cNvPr id="205024" name="Rectangle 224"/>
            <p:cNvSpPr>
              <a:spLocks noChangeArrowheads="1"/>
            </p:cNvSpPr>
            <p:nvPr/>
          </p:nvSpPr>
          <p:spPr bwMode="auto">
            <a:xfrm>
              <a:off x="2592" y="2064"/>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5025" name="Line 225"/>
            <p:cNvSpPr>
              <a:spLocks noChangeShapeType="1"/>
            </p:cNvSpPr>
            <p:nvPr/>
          </p:nvSpPr>
          <p:spPr bwMode="auto">
            <a:xfrm>
              <a:off x="864" y="2352"/>
              <a:ext cx="720" cy="384"/>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26" name="Rectangle 226"/>
            <p:cNvSpPr>
              <a:spLocks noChangeArrowheads="1"/>
            </p:cNvSpPr>
            <p:nvPr/>
          </p:nvSpPr>
          <p:spPr bwMode="auto">
            <a:xfrm>
              <a:off x="48" y="3840"/>
              <a:ext cx="5664" cy="3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2 sends message to 4; 4 immediately returns a signal</a:t>
              </a:r>
            </a:p>
          </p:txBody>
        </p:sp>
        <p:sp>
          <p:nvSpPr>
            <p:cNvPr id="205027" name="Rectangle 227"/>
            <p:cNvSpPr>
              <a:spLocks noChangeArrowheads="1"/>
            </p:cNvSpPr>
            <p:nvPr/>
          </p:nvSpPr>
          <p:spPr bwMode="auto">
            <a:xfrm>
              <a:off x="2592" y="1296"/>
              <a:ext cx="384" cy="72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28" name="Line 228"/>
            <p:cNvSpPr>
              <a:spLocks noChangeShapeType="1"/>
            </p:cNvSpPr>
            <p:nvPr/>
          </p:nvSpPr>
          <p:spPr bwMode="auto">
            <a:xfrm>
              <a:off x="816" y="2448"/>
              <a:ext cx="720" cy="384"/>
            </a:xfrm>
            <a:prstGeom prst="line">
              <a:avLst/>
            </a:prstGeom>
            <a:noFill/>
            <a:ln w="38100">
              <a:solidFill>
                <a:srgbClr val="CC00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205034" name="Group 234"/>
          <p:cNvGrpSpPr>
            <a:grpSpLocks/>
          </p:cNvGrpSpPr>
          <p:nvPr/>
        </p:nvGrpSpPr>
        <p:grpSpPr bwMode="auto">
          <a:xfrm>
            <a:off x="152400" y="3200400"/>
            <a:ext cx="8610600" cy="3414713"/>
            <a:chOff x="96" y="2016"/>
            <a:chExt cx="5424" cy="2151"/>
          </a:xfrm>
        </p:grpSpPr>
        <p:sp>
          <p:nvSpPr>
            <p:cNvPr id="205030" name="Text Box 230"/>
            <p:cNvSpPr txBox="1">
              <a:spLocks noChangeArrowheads="1"/>
            </p:cNvSpPr>
            <p:nvPr/>
          </p:nvSpPr>
          <p:spPr bwMode="auto">
            <a:xfrm>
              <a:off x="96" y="3840"/>
              <a:ext cx="5424" cy="32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it-IT" sz="2800"/>
                <a:t>2 and 4 become idle</a:t>
              </a:r>
            </a:p>
          </p:txBody>
        </p:sp>
        <p:sp>
          <p:nvSpPr>
            <p:cNvPr id="205031" name="Rectangle 231"/>
            <p:cNvSpPr>
              <a:spLocks noChangeArrowheads="1"/>
            </p:cNvSpPr>
            <p:nvPr/>
          </p:nvSpPr>
          <p:spPr bwMode="auto">
            <a:xfrm>
              <a:off x="816" y="2304"/>
              <a:ext cx="864" cy="57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32" name="Rectangle 232"/>
            <p:cNvSpPr>
              <a:spLocks noChangeArrowheads="1"/>
            </p:cNvSpPr>
            <p:nvPr/>
          </p:nvSpPr>
          <p:spPr bwMode="auto">
            <a:xfrm>
              <a:off x="480" y="2016"/>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5033" name="Rectangle 233"/>
            <p:cNvSpPr>
              <a:spLocks noChangeArrowheads="1"/>
            </p:cNvSpPr>
            <p:nvPr/>
          </p:nvSpPr>
          <p:spPr bwMode="auto">
            <a:xfrm>
              <a:off x="1728" y="2640"/>
              <a:ext cx="288" cy="28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grpSp>
      <p:grpSp>
        <p:nvGrpSpPr>
          <p:cNvPr id="205050" name="Group 250"/>
          <p:cNvGrpSpPr>
            <a:grpSpLocks/>
          </p:cNvGrpSpPr>
          <p:nvPr/>
        </p:nvGrpSpPr>
        <p:grpSpPr bwMode="auto">
          <a:xfrm>
            <a:off x="152400" y="3200400"/>
            <a:ext cx="8991600" cy="3411538"/>
            <a:chOff x="96" y="2016"/>
            <a:chExt cx="5664" cy="2149"/>
          </a:xfrm>
        </p:grpSpPr>
        <p:sp>
          <p:nvSpPr>
            <p:cNvPr id="205036" name="Rectangle 236"/>
            <p:cNvSpPr>
              <a:spLocks noChangeArrowheads="1"/>
            </p:cNvSpPr>
            <p:nvPr/>
          </p:nvSpPr>
          <p:spPr bwMode="auto">
            <a:xfrm>
              <a:off x="480" y="2016"/>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2</a:t>
              </a:r>
            </a:p>
          </p:txBody>
        </p:sp>
        <p:sp>
          <p:nvSpPr>
            <p:cNvPr id="205037" name="Rectangle 237"/>
            <p:cNvSpPr>
              <a:spLocks noChangeArrowheads="1"/>
            </p:cNvSpPr>
            <p:nvPr/>
          </p:nvSpPr>
          <p:spPr bwMode="auto">
            <a:xfrm>
              <a:off x="96" y="3840"/>
              <a:ext cx="5664" cy="3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pPr>
                <a:buFontTx/>
                <a:buNone/>
              </a:pPr>
              <a:r>
                <a:rPr lang="en-US" altLang="it-IT"/>
                <a:t>2, 4 become disengaged, send signals to 3</a:t>
              </a:r>
            </a:p>
          </p:txBody>
        </p:sp>
        <p:sp>
          <p:nvSpPr>
            <p:cNvPr id="205038" name="Rectangle 238"/>
            <p:cNvSpPr>
              <a:spLocks noChangeArrowheads="1"/>
            </p:cNvSpPr>
            <p:nvPr/>
          </p:nvSpPr>
          <p:spPr bwMode="auto">
            <a:xfrm>
              <a:off x="1728" y="2640"/>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4</a:t>
              </a:r>
            </a:p>
          </p:txBody>
        </p:sp>
        <p:sp>
          <p:nvSpPr>
            <p:cNvPr id="205039" name="Line 239"/>
            <p:cNvSpPr>
              <a:spLocks noChangeShapeType="1"/>
            </p:cNvSpPr>
            <p:nvPr/>
          </p:nvSpPr>
          <p:spPr bwMode="auto">
            <a:xfrm>
              <a:off x="2016" y="3024"/>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0" name="Line 240"/>
            <p:cNvSpPr>
              <a:spLocks noChangeShapeType="1"/>
            </p:cNvSpPr>
            <p:nvPr/>
          </p:nvSpPr>
          <p:spPr bwMode="auto">
            <a:xfrm flipH="1">
              <a:off x="2016" y="3024"/>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1" name="Line 241"/>
            <p:cNvSpPr>
              <a:spLocks noChangeShapeType="1"/>
            </p:cNvSpPr>
            <p:nvPr/>
          </p:nvSpPr>
          <p:spPr bwMode="auto">
            <a:xfrm>
              <a:off x="144" y="2736"/>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2" name="Line 242"/>
            <p:cNvSpPr>
              <a:spLocks noChangeShapeType="1"/>
            </p:cNvSpPr>
            <p:nvPr/>
          </p:nvSpPr>
          <p:spPr bwMode="auto">
            <a:xfrm flipH="1">
              <a:off x="144" y="2736"/>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3" name="Text Box 243"/>
            <p:cNvSpPr txBox="1">
              <a:spLocks noChangeArrowheads="1"/>
            </p:cNvSpPr>
            <p:nvPr/>
          </p:nvSpPr>
          <p:spPr bwMode="auto">
            <a:xfrm>
              <a:off x="144" y="288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p:txBody>
        </p:sp>
        <p:sp>
          <p:nvSpPr>
            <p:cNvPr id="205044" name="Text Box 244"/>
            <p:cNvSpPr txBox="1">
              <a:spLocks noChangeArrowheads="1"/>
            </p:cNvSpPr>
            <p:nvPr/>
          </p:nvSpPr>
          <p:spPr bwMode="auto">
            <a:xfrm>
              <a:off x="2400" y="297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p:txBody>
        </p:sp>
        <p:sp>
          <p:nvSpPr>
            <p:cNvPr id="205045" name="Line 245"/>
            <p:cNvSpPr>
              <a:spLocks noChangeShapeType="1"/>
            </p:cNvSpPr>
            <p:nvPr/>
          </p:nvSpPr>
          <p:spPr bwMode="auto">
            <a:xfrm>
              <a:off x="864" y="2256"/>
              <a:ext cx="1632" cy="48"/>
            </a:xfrm>
            <a:prstGeom prst="line">
              <a:avLst/>
            </a:prstGeom>
            <a:noFill/>
            <a:ln w="38100">
              <a:solidFill>
                <a:srgbClr val="CC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6" name="Line 246"/>
            <p:cNvSpPr>
              <a:spLocks noChangeShapeType="1"/>
            </p:cNvSpPr>
            <p:nvPr/>
          </p:nvSpPr>
          <p:spPr bwMode="auto">
            <a:xfrm flipV="1">
              <a:off x="2112" y="2496"/>
              <a:ext cx="528" cy="336"/>
            </a:xfrm>
            <a:prstGeom prst="line">
              <a:avLst/>
            </a:prstGeom>
            <a:noFill/>
            <a:ln w="38100">
              <a:solidFill>
                <a:srgbClr val="CC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7" name="Line 247"/>
            <p:cNvSpPr>
              <a:spLocks noChangeShapeType="1"/>
            </p:cNvSpPr>
            <p:nvPr/>
          </p:nvSpPr>
          <p:spPr bwMode="auto">
            <a:xfrm>
              <a:off x="2928" y="2880"/>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8" name="Line 248"/>
            <p:cNvSpPr>
              <a:spLocks noChangeShapeType="1"/>
            </p:cNvSpPr>
            <p:nvPr/>
          </p:nvSpPr>
          <p:spPr bwMode="auto">
            <a:xfrm flipH="1">
              <a:off x="2928" y="2880"/>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49" name="Text Box 249"/>
            <p:cNvSpPr txBox="1">
              <a:spLocks noChangeArrowheads="1"/>
            </p:cNvSpPr>
            <p:nvPr/>
          </p:nvSpPr>
          <p:spPr bwMode="auto">
            <a:xfrm>
              <a:off x="2928" y="30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D=0</a:t>
              </a:r>
            </a:p>
          </p:txBody>
        </p:sp>
      </p:grpSp>
      <p:grpSp>
        <p:nvGrpSpPr>
          <p:cNvPr id="205051" name="Group 251"/>
          <p:cNvGrpSpPr>
            <a:grpSpLocks/>
          </p:cNvGrpSpPr>
          <p:nvPr/>
        </p:nvGrpSpPr>
        <p:grpSpPr bwMode="auto">
          <a:xfrm>
            <a:off x="152400" y="2438400"/>
            <a:ext cx="8008938" cy="4191000"/>
            <a:chOff x="96" y="1536"/>
            <a:chExt cx="5045" cy="2640"/>
          </a:xfrm>
        </p:grpSpPr>
        <p:sp>
          <p:nvSpPr>
            <p:cNvPr id="205052" name="Rectangle 252"/>
            <p:cNvSpPr>
              <a:spLocks noChangeArrowheads="1"/>
            </p:cNvSpPr>
            <p:nvPr/>
          </p:nvSpPr>
          <p:spPr bwMode="auto">
            <a:xfrm>
              <a:off x="816" y="2304"/>
              <a:ext cx="816" cy="52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53" name="Rectangle 253"/>
            <p:cNvSpPr>
              <a:spLocks noChangeArrowheads="1"/>
            </p:cNvSpPr>
            <p:nvPr/>
          </p:nvSpPr>
          <p:spPr bwMode="auto">
            <a:xfrm>
              <a:off x="816" y="2064"/>
              <a:ext cx="1728" cy="33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54" name="Rectangle 254"/>
            <p:cNvSpPr>
              <a:spLocks noChangeArrowheads="1"/>
            </p:cNvSpPr>
            <p:nvPr/>
          </p:nvSpPr>
          <p:spPr bwMode="auto">
            <a:xfrm>
              <a:off x="2064" y="2400"/>
              <a:ext cx="576" cy="48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55" name="Rectangle 255"/>
            <p:cNvSpPr>
              <a:spLocks noChangeArrowheads="1"/>
            </p:cNvSpPr>
            <p:nvPr/>
          </p:nvSpPr>
          <p:spPr bwMode="auto">
            <a:xfrm>
              <a:off x="2592" y="2064"/>
              <a:ext cx="288"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3</a:t>
              </a:r>
            </a:p>
          </p:txBody>
        </p:sp>
        <p:sp>
          <p:nvSpPr>
            <p:cNvPr id="205056" name="Text Box 256"/>
            <p:cNvSpPr txBox="1">
              <a:spLocks noChangeArrowheads="1"/>
            </p:cNvSpPr>
            <p:nvPr/>
          </p:nvSpPr>
          <p:spPr bwMode="auto">
            <a:xfrm>
              <a:off x="96" y="3849"/>
              <a:ext cx="5045" cy="32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sz="2800"/>
                <a:t>3 becomes disengaged, sends signal to controller</a:t>
              </a:r>
            </a:p>
          </p:txBody>
        </p:sp>
        <p:sp>
          <p:nvSpPr>
            <p:cNvPr id="205057" name="Line 257"/>
            <p:cNvSpPr>
              <a:spLocks noChangeShapeType="1"/>
            </p:cNvSpPr>
            <p:nvPr/>
          </p:nvSpPr>
          <p:spPr bwMode="auto">
            <a:xfrm>
              <a:off x="2928" y="2352"/>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58" name="Line 258"/>
            <p:cNvSpPr>
              <a:spLocks noChangeShapeType="1"/>
            </p:cNvSpPr>
            <p:nvPr/>
          </p:nvSpPr>
          <p:spPr bwMode="auto">
            <a:xfrm flipH="1">
              <a:off x="2928" y="2352"/>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59" name="Text Box 259"/>
            <p:cNvSpPr txBox="1">
              <a:spLocks noChangeArrowheads="1"/>
            </p:cNvSpPr>
            <p:nvPr/>
          </p:nvSpPr>
          <p:spPr bwMode="auto">
            <a:xfrm>
              <a:off x="2928" y="216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C=0</a:t>
              </a:r>
            </a:p>
          </p:txBody>
        </p:sp>
        <p:sp>
          <p:nvSpPr>
            <p:cNvPr id="205060" name="Line 260"/>
            <p:cNvSpPr>
              <a:spLocks noChangeShapeType="1"/>
            </p:cNvSpPr>
            <p:nvPr/>
          </p:nvSpPr>
          <p:spPr bwMode="auto">
            <a:xfrm flipH="1" flipV="1">
              <a:off x="1776" y="1536"/>
              <a:ext cx="720" cy="384"/>
            </a:xfrm>
            <a:prstGeom prst="line">
              <a:avLst/>
            </a:prstGeom>
            <a:noFill/>
            <a:ln w="38100">
              <a:solidFill>
                <a:srgbClr val="CC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205061" name="Group 261"/>
          <p:cNvGrpSpPr>
            <a:grpSpLocks/>
          </p:cNvGrpSpPr>
          <p:nvPr/>
        </p:nvGrpSpPr>
        <p:grpSpPr bwMode="auto">
          <a:xfrm>
            <a:off x="152400" y="1905000"/>
            <a:ext cx="8305800" cy="4724400"/>
            <a:chOff x="96" y="1200"/>
            <a:chExt cx="5232" cy="2976"/>
          </a:xfrm>
        </p:grpSpPr>
        <p:sp>
          <p:nvSpPr>
            <p:cNvPr id="205062" name="Rectangle 262"/>
            <p:cNvSpPr>
              <a:spLocks noChangeArrowheads="1"/>
            </p:cNvSpPr>
            <p:nvPr/>
          </p:nvSpPr>
          <p:spPr bwMode="auto">
            <a:xfrm>
              <a:off x="1680" y="1488"/>
              <a:ext cx="816" cy="57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63" name="Rectangle 263"/>
            <p:cNvSpPr>
              <a:spLocks noChangeArrowheads="1"/>
            </p:cNvSpPr>
            <p:nvPr/>
          </p:nvSpPr>
          <p:spPr bwMode="auto">
            <a:xfrm>
              <a:off x="1344" y="1344"/>
              <a:ext cx="288" cy="288"/>
            </a:xfrm>
            <a:prstGeom prst="rect">
              <a:avLst/>
            </a:prstGeom>
            <a:solidFill>
              <a:srgbClr val="00800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it-IT"/>
                <a:t>Cntl</a:t>
              </a:r>
            </a:p>
          </p:txBody>
        </p:sp>
        <p:sp>
          <p:nvSpPr>
            <p:cNvPr id="205064" name="Text Box 264"/>
            <p:cNvSpPr txBox="1">
              <a:spLocks noChangeArrowheads="1"/>
            </p:cNvSpPr>
            <p:nvPr/>
          </p:nvSpPr>
          <p:spPr bwMode="auto">
            <a:xfrm>
              <a:off x="96" y="3849"/>
              <a:ext cx="5232" cy="32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it-IT" sz="2800"/>
                <a:t>controller detects deadlock, begins recovery     </a:t>
              </a:r>
            </a:p>
          </p:txBody>
        </p:sp>
        <p:sp>
          <p:nvSpPr>
            <p:cNvPr id="205065" name="Line 265"/>
            <p:cNvSpPr>
              <a:spLocks noChangeShapeType="1"/>
            </p:cNvSpPr>
            <p:nvPr/>
          </p:nvSpPr>
          <p:spPr bwMode="auto">
            <a:xfrm>
              <a:off x="912" y="1200"/>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66" name="Line 266"/>
            <p:cNvSpPr>
              <a:spLocks noChangeShapeType="1"/>
            </p:cNvSpPr>
            <p:nvPr/>
          </p:nvSpPr>
          <p:spPr bwMode="auto">
            <a:xfrm flipH="1">
              <a:off x="912" y="1200"/>
              <a:ext cx="384" cy="14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5067" name="Text Box 267"/>
            <p:cNvSpPr txBox="1">
              <a:spLocks noChangeArrowheads="1"/>
            </p:cNvSpPr>
            <p:nvPr/>
          </p:nvSpPr>
          <p:spPr bwMode="auto">
            <a:xfrm>
              <a:off x="912" y="1353"/>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t>D=0</a:t>
              </a:r>
            </a:p>
          </p:txBody>
        </p:sp>
      </p:grpSp>
      <p:sp>
        <p:nvSpPr>
          <p:cNvPr id="2" name="Segnaposto data 1">
            <a:extLst>
              <a:ext uri="{FF2B5EF4-FFF2-40B4-BE49-F238E27FC236}">
                <a16:creationId xmlns:a16="http://schemas.microsoft.com/office/drawing/2014/main" id="{8621D3FF-D466-B9C4-8DD7-30A5411E9BDE}"/>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063F55F4-B203-23B2-9531-DAFE5E642CE4}"/>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33D719BA-17E2-3C2B-786D-C3CA6BCD8DF3}"/>
              </a:ext>
            </a:extLst>
          </p:cNvPr>
          <p:cNvSpPr>
            <a:spLocks noGrp="1"/>
          </p:cNvSpPr>
          <p:nvPr>
            <p:ph type="sldNum" sz="quarter" idx="4"/>
          </p:nvPr>
        </p:nvSpPr>
        <p:spPr/>
        <p:txBody>
          <a:bodyPr/>
          <a:lstStyle/>
          <a:p>
            <a:fld id="{9BFB3A76-8619-A843-8C67-B9C7C140DBAC}" type="slidenum">
              <a:rPr lang="en-US" smtClean="0"/>
              <a:t>40</a:t>
            </a:fld>
            <a:endParaRPr lang="en-US"/>
          </a:p>
        </p:txBody>
      </p:sp>
    </p:spTree>
    <p:extLst>
      <p:ext uri="{BB962C8B-B14F-4D97-AF65-F5344CB8AC3E}">
        <p14:creationId xmlns:p14="http://schemas.microsoft.com/office/powerpoint/2010/main" val="1198192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4903"/>
                                        </p:tgtEl>
                                        <p:attrNameLst>
                                          <p:attrName>style.visibility</p:attrName>
                                        </p:attrNameLst>
                                      </p:cBhvr>
                                      <p:to>
                                        <p:strVal val="visible"/>
                                      </p:to>
                                    </p:set>
                                    <p:animEffect transition="in" filter="dissolve">
                                      <p:cBhvr>
                                        <p:cTn id="7" dur="500"/>
                                        <p:tgtEl>
                                          <p:spTgt spid="2049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04904"/>
                                        </p:tgtEl>
                                        <p:attrNameLst>
                                          <p:attrName>style.visibility</p:attrName>
                                        </p:attrNameLst>
                                      </p:cBhvr>
                                      <p:to>
                                        <p:strVal val="visible"/>
                                      </p:to>
                                    </p:set>
                                    <p:animEffect transition="in" filter="dissolve">
                                      <p:cBhvr>
                                        <p:cTn id="12" dur="500"/>
                                        <p:tgtEl>
                                          <p:spTgt spid="2049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04943"/>
                                        </p:tgtEl>
                                        <p:attrNameLst>
                                          <p:attrName>style.visibility</p:attrName>
                                        </p:attrNameLst>
                                      </p:cBhvr>
                                      <p:to>
                                        <p:strVal val="visible"/>
                                      </p:to>
                                    </p:set>
                                    <p:animEffect transition="in" filter="dissolve">
                                      <p:cBhvr>
                                        <p:cTn id="17" dur="500"/>
                                        <p:tgtEl>
                                          <p:spTgt spid="2049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05022"/>
                                        </p:tgtEl>
                                        <p:attrNameLst>
                                          <p:attrName>style.visibility</p:attrName>
                                        </p:attrNameLst>
                                      </p:cBhvr>
                                      <p:to>
                                        <p:strVal val="visible"/>
                                      </p:to>
                                    </p:set>
                                    <p:animEffect transition="in" filter="dissolve">
                                      <p:cBhvr>
                                        <p:cTn id="22" dur="500"/>
                                        <p:tgtEl>
                                          <p:spTgt spid="2050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05023"/>
                                        </p:tgtEl>
                                        <p:attrNameLst>
                                          <p:attrName>style.visibility</p:attrName>
                                        </p:attrNameLst>
                                      </p:cBhvr>
                                      <p:to>
                                        <p:strVal val="visible"/>
                                      </p:to>
                                    </p:set>
                                    <p:animEffect transition="in" filter="dissolve">
                                      <p:cBhvr>
                                        <p:cTn id="27" dur="500"/>
                                        <p:tgtEl>
                                          <p:spTgt spid="2050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05034"/>
                                        </p:tgtEl>
                                        <p:attrNameLst>
                                          <p:attrName>style.visibility</p:attrName>
                                        </p:attrNameLst>
                                      </p:cBhvr>
                                      <p:to>
                                        <p:strVal val="visible"/>
                                      </p:to>
                                    </p:set>
                                    <p:animEffect transition="in" filter="dissolve">
                                      <p:cBhvr>
                                        <p:cTn id="32" dur="500"/>
                                        <p:tgtEl>
                                          <p:spTgt spid="2050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205050"/>
                                        </p:tgtEl>
                                        <p:attrNameLst>
                                          <p:attrName>style.visibility</p:attrName>
                                        </p:attrNameLst>
                                      </p:cBhvr>
                                      <p:to>
                                        <p:strVal val="visible"/>
                                      </p:to>
                                    </p:set>
                                    <p:animEffect transition="in" filter="dissolve">
                                      <p:cBhvr>
                                        <p:cTn id="37" dur="500"/>
                                        <p:tgtEl>
                                          <p:spTgt spid="2050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05051"/>
                                        </p:tgtEl>
                                        <p:attrNameLst>
                                          <p:attrName>style.visibility</p:attrName>
                                        </p:attrNameLst>
                                      </p:cBhvr>
                                      <p:to>
                                        <p:strVal val="visible"/>
                                      </p:to>
                                    </p:set>
                                    <p:animEffect transition="in" filter="dissolve">
                                      <p:cBhvr>
                                        <p:cTn id="42" dur="500"/>
                                        <p:tgtEl>
                                          <p:spTgt spid="2050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205061"/>
                                        </p:tgtEl>
                                        <p:attrNameLst>
                                          <p:attrName>style.visibility</p:attrName>
                                        </p:attrNameLst>
                                      </p:cBhvr>
                                      <p:to>
                                        <p:strVal val="visible"/>
                                      </p:to>
                                    </p:set>
                                    <p:animEffect transition="in" filter="dissolve">
                                      <p:cBhvr>
                                        <p:cTn id="47" dur="500"/>
                                        <p:tgtEl>
                                          <p:spTgt spid="20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160338" y="109538"/>
            <a:ext cx="8823325" cy="576262"/>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solidFill>
                  <a:schemeClr val="tx1"/>
                </a:solidFill>
              </a:rPr>
              <a:t>Deadlock Recovery</a:t>
            </a:r>
          </a:p>
        </p:txBody>
      </p:sp>
      <p:sp>
        <p:nvSpPr>
          <p:cNvPr id="172035" name="Rectangle 3"/>
          <p:cNvSpPr>
            <a:spLocks noChangeArrowheads="1"/>
          </p:cNvSpPr>
          <p:nvPr/>
        </p:nvSpPr>
        <p:spPr bwMode="auto">
          <a:xfrm>
            <a:off x="381000" y="762000"/>
            <a:ext cx="8594725" cy="758825"/>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a:latin typeface="Helvetica" charset="0"/>
              </a:rPr>
              <a:t>Deadlock recovery: </a:t>
            </a:r>
            <a:r>
              <a:rPr lang="en-US" altLang="it-IT" sz="2000">
                <a:latin typeface="Helvetica" charset="0"/>
              </a:rPr>
              <a:t>identify “safe” events (events that can be processed w/o violating local causality), </a:t>
            </a:r>
          </a:p>
        </p:txBody>
      </p:sp>
      <p:sp>
        <p:nvSpPr>
          <p:cNvPr id="172036" name="Rectangle 4"/>
          <p:cNvSpPr>
            <a:spLocks noChangeArrowheads="1"/>
          </p:cNvSpPr>
          <p:nvPr/>
        </p:nvSpPr>
        <p:spPr bwMode="auto">
          <a:xfrm>
            <a:off x="152400" y="4267200"/>
            <a:ext cx="8763000" cy="2571750"/>
          </a:xfrm>
          <a:prstGeom prst="rect">
            <a:avLst/>
          </a:prstGeom>
          <a:noFill/>
          <a:ln>
            <a:noFill/>
          </a:ln>
          <a:effectLst/>
          <a:extLst>
            <a:ext uri="{909E8E84-426E-40DD-AFC4-6F175D3DCCD1}">
              <a14:hiddenFill xmlns:a14="http://schemas.microsoft.com/office/drawing/2010/main">
                <a:solidFill>
                  <a:srgbClr val="FDE3B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r>
              <a:rPr lang="en-US" altLang="it-IT" b="1">
                <a:latin typeface="Helvetica" charset="0"/>
              </a:rPr>
              <a:t>Which events are safe?</a:t>
            </a:r>
            <a:endParaRPr lang="en-US" altLang="it-IT">
              <a:latin typeface="Helvetica" charset="0"/>
            </a:endParaRPr>
          </a:p>
          <a:p>
            <a:pPr>
              <a:spcBef>
                <a:spcPct val="20000"/>
              </a:spcBef>
              <a:buFontTx/>
              <a:buChar char="•"/>
            </a:pPr>
            <a:r>
              <a:rPr lang="en-US" altLang="it-IT">
                <a:latin typeface="Helvetica" charset="0"/>
              </a:rPr>
              <a:t>Time stamp 7: smallest time stamped event in system</a:t>
            </a:r>
          </a:p>
          <a:p>
            <a:pPr>
              <a:spcBef>
                <a:spcPct val="20000"/>
              </a:spcBef>
              <a:buFontTx/>
              <a:buChar char="•"/>
            </a:pPr>
            <a:r>
              <a:rPr lang="en-US" altLang="it-IT">
                <a:latin typeface="Helvetica" charset="0"/>
              </a:rPr>
              <a:t>Time stamp 8, 9: safe because of lookahead constraint</a:t>
            </a:r>
          </a:p>
          <a:p>
            <a:pPr>
              <a:spcBef>
                <a:spcPct val="20000"/>
              </a:spcBef>
              <a:buFontTx/>
              <a:buChar char="•"/>
            </a:pPr>
            <a:r>
              <a:rPr lang="en-US" altLang="it-IT">
                <a:latin typeface="Helvetica" charset="0"/>
              </a:rPr>
              <a:t>Time stamp 10: OK if events with the same time stamp can be processed in any order</a:t>
            </a:r>
          </a:p>
          <a:p>
            <a:pPr>
              <a:spcBef>
                <a:spcPct val="20000"/>
              </a:spcBef>
              <a:buFontTx/>
              <a:buChar char="•"/>
            </a:pPr>
            <a:r>
              <a:rPr lang="en-US" altLang="it-IT">
                <a:latin typeface="Helvetica" charset="0"/>
              </a:rPr>
              <a:t>No time creep!</a:t>
            </a:r>
          </a:p>
        </p:txBody>
      </p:sp>
      <p:grpSp>
        <p:nvGrpSpPr>
          <p:cNvPr id="172058" name="Group 26"/>
          <p:cNvGrpSpPr>
            <a:grpSpLocks/>
          </p:cNvGrpSpPr>
          <p:nvPr/>
        </p:nvGrpSpPr>
        <p:grpSpPr bwMode="auto">
          <a:xfrm>
            <a:off x="1371600" y="1524000"/>
            <a:ext cx="6172200" cy="2749550"/>
            <a:chOff x="864" y="960"/>
            <a:chExt cx="3888" cy="1732"/>
          </a:xfrm>
        </p:grpSpPr>
        <p:sp>
          <p:nvSpPr>
            <p:cNvPr id="172037" name="Rectangle 5"/>
            <p:cNvSpPr>
              <a:spLocks noChangeArrowheads="1"/>
            </p:cNvSpPr>
            <p:nvPr/>
          </p:nvSpPr>
          <p:spPr bwMode="auto">
            <a:xfrm>
              <a:off x="864" y="1104"/>
              <a:ext cx="1642"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deadlock state</a:t>
              </a:r>
            </a:p>
            <a:p>
              <a:endParaRPr lang="en-US" altLang="it-IT"/>
            </a:p>
            <a:p>
              <a:r>
                <a:rPr lang="en-US" altLang="it-IT"/>
                <a:t>Assume minimum delay</a:t>
              </a:r>
            </a:p>
            <a:p>
              <a:r>
                <a:rPr lang="en-US" altLang="it-IT"/>
                <a:t>between airports is 3</a:t>
              </a:r>
            </a:p>
          </p:txBody>
        </p:sp>
        <p:sp>
          <p:nvSpPr>
            <p:cNvPr id="172039" name="Rectangle 7"/>
            <p:cNvSpPr>
              <a:spLocks noChangeArrowheads="1"/>
            </p:cNvSpPr>
            <p:nvPr/>
          </p:nvSpPr>
          <p:spPr bwMode="auto">
            <a:xfrm>
              <a:off x="3939" y="1934"/>
              <a:ext cx="801" cy="757"/>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40" name="Rectangle 8"/>
            <p:cNvSpPr>
              <a:spLocks noChangeArrowheads="1"/>
            </p:cNvSpPr>
            <p:nvPr/>
          </p:nvSpPr>
          <p:spPr bwMode="auto">
            <a:xfrm>
              <a:off x="3971" y="2367"/>
              <a:ext cx="97" cy="193"/>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9</a:t>
              </a:r>
            </a:p>
          </p:txBody>
        </p:sp>
        <p:sp>
          <p:nvSpPr>
            <p:cNvPr id="172041" name="Rectangle 9"/>
            <p:cNvSpPr>
              <a:spLocks noChangeArrowheads="1"/>
            </p:cNvSpPr>
            <p:nvPr/>
          </p:nvSpPr>
          <p:spPr bwMode="auto">
            <a:xfrm>
              <a:off x="4076" y="2367"/>
              <a:ext cx="100" cy="193"/>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8</a:t>
              </a:r>
            </a:p>
          </p:txBody>
        </p:sp>
        <p:sp>
          <p:nvSpPr>
            <p:cNvPr id="172042" name="Line 10"/>
            <p:cNvSpPr>
              <a:spLocks noChangeShapeType="1"/>
            </p:cNvSpPr>
            <p:nvPr/>
          </p:nvSpPr>
          <p:spPr bwMode="auto">
            <a:xfrm flipV="1">
              <a:off x="2277" y="1187"/>
              <a:ext cx="642" cy="73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43" name="Line 11"/>
            <p:cNvSpPr>
              <a:spLocks noChangeShapeType="1"/>
            </p:cNvSpPr>
            <p:nvPr/>
          </p:nvSpPr>
          <p:spPr bwMode="auto">
            <a:xfrm>
              <a:off x="2845" y="2463"/>
              <a:ext cx="107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44" name="Rectangle 12"/>
            <p:cNvSpPr>
              <a:spLocks noChangeArrowheads="1"/>
            </p:cNvSpPr>
            <p:nvPr/>
          </p:nvSpPr>
          <p:spPr bwMode="auto">
            <a:xfrm>
              <a:off x="4133" y="2002"/>
              <a:ext cx="61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b="1"/>
                <a:t>JFK</a:t>
              </a:r>
            </a:p>
            <a:p>
              <a:pPr algn="ctr"/>
              <a:r>
                <a:rPr lang="en-US" altLang="it-IT" sz="1600" i="1"/>
                <a:t>(waiting</a:t>
              </a:r>
            </a:p>
            <a:p>
              <a:pPr algn="ctr"/>
              <a:r>
                <a:rPr lang="en-US" altLang="it-IT" sz="1600" i="1"/>
                <a:t>on ORD)</a:t>
              </a:r>
            </a:p>
          </p:txBody>
        </p:sp>
        <p:sp>
          <p:nvSpPr>
            <p:cNvPr id="172045" name="Rectangle 13"/>
            <p:cNvSpPr>
              <a:spLocks noChangeArrowheads="1"/>
            </p:cNvSpPr>
            <p:nvPr/>
          </p:nvSpPr>
          <p:spPr bwMode="auto">
            <a:xfrm>
              <a:off x="2943" y="960"/>
              <a:ext cx="802" cy="757"/>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46" name="Rectangle 14"/>
            <p:cNvSpPr>
              <a:spLocks noChangeArrowheads="1"/>
            </p:cNvSpPr>
            <p:nvPr/>
          </p:nvSpPr>
          <p:spPr bwMode="auto">
            <a:xfrm>
              <a:off x="3615" y="1091"/>
              <a:ext cx="98" cy="194"/>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7</a:t>
              </a:r>
            </a:p>
          </p:txBody>
        </p:sp>
        <p:sp>
          <p:nvSpPr>
            <p:cNvPr id="172047" name="Rectangle 15"/>
            <p:cNvSpPr>
              <a:spLocks noChangeArrowheads="1"/>
            </p:cNvSpPr>
            <p:nvPr/>
          </p:nvSpPr>
          <p:spPr bwMode="auto">
            <a:xfrm>
              <a:off x="3052" y="1080"/>
              <a:ext cx="59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b="1"/>
                <a:t>ORD</a:t>
              </a:r>
            </a:p>
            <a:p>
              <a:pPr algn="ctr"/>
              <a:r>
                <a:rPr lang="en-US" altLang="it-IT" sz="1600" i="1"/>
                <a:t>(waiting</a:t>
              </a:r>
            </a:p>
            <a:p>
              <a:pPr algn="ctr"/>
              <a:r>
                <a:rPr lang="en-US" altLang="it-IT" sz="1600" i="1"/>
                <a:t>on SFO)</a:t>
              </a:r>
            </a:p>
          </p:txBody>
        </p:sp>
        <p:sp>
          <p:nvSpPr>
            <p:cNvPr id="172048" name="Rectangle 16"/>
            <p:cNvSpPr>
              <a:spLocks noChangeArrowheads="1"/>
            </p:cNvSpPr>
            <p:nvPr/>
          </p:nvSpPr>
          <p:spPr bwMode="auto">
            <a:xfrm>
              <a:off x="2020" y="1934"/>
              <a:ext cx="801" cy="757"/>
            </a:xfrm>
            <a:prstGeom prst="rect">
              <a:avLst/>
            </a:prstGeom>
            <a:solidFill>
              <a:srgbClr val="FCFEB9"/>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49" name="Line 17"/>
            <p:cNvSpPr>
              <a:spLocks noChangeShapeType="1"/>
            </p:cNvSpPr>
            <p:nvPr/>
          </p:nvSpPr>
          <p:spPr bwMode="auto">
            <a:xfrm flipV="1">
              <a:off x="2525" y="1422"/>
              <a:ext cx="394" cy="504"/>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50" name="Line 18"/>
            <p:cNvSpPr>
              <a:spLocks noChangeShapeType="1"/>
            </p:cNvSpPr>
            <p:nvPr/>
          </p:nvSpPr>
          <p:spPr bwMode="auto">
            <a:xfrm>
              <a:off x="2845" y="2262"/>
              <a:ext cx="1070" cy="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51" name="Line 19"/>
            <p:cNvSpPr>
              <a:spLocks noChangeShapeType="1"/>
            </p:cNvSpPr>
            <p:nvPr/>
          </p:nvSpPr>
          <p:spPr bwMode="auto">
            <a:xfrm flipH="1" flipV="1">
              <a:off x="3753" y="1187"/>
              <a:ext cx="676" cy="73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52" name="Line 20"/>
            <p:cNvSpPr>
              <a:spLocks noChangeShapeType="1"/>
            </p:cNvSpPr>
            <p:nvPr/>
          </p:nvSpPr>
          <p:spPr bwMode="auto">
            <a:xfrm flipH="1" flipV="1">
              <a:off x="3753" y="1422"/>
              <a:ext cx="427" cy="504"/>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054" name="Rectangle 22"/>
            <p:cNvSpPr>
              <a:spLocks noChangeArrowheads="1"/>
            </p:cNvSpPr>
            <p:nvPr/>
          </p:nvSpPr>
          <p:spPr bwMode="auto">
            <a:xfrm>
              <a:off x="2408" y="2064"/>
              <a:ext cx="203" cy="95"/>
            </a:xfrm>
            <a:prstGeom prst="rect">
              <a:avLst/>
            </a:prstGeom>
            <a:solidFill>
              <a:srgbClr val="081D58"/>
            </a:solidFill>
            <a:ln w="12700">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solidFill>
                    <a:schemeClr val="bg1"/>
                  </a:solidFill>
                </a:rPr>
                <a:t>10</a:t>
              </a:r>
            </a:p>
          </p:txBody>
        </p:sp>
        <p:sp>
          <p:nvSpPr>
            <p:cNvPr id="172055" name="Rectangle 23"/>
            <p:cNvSpPr>
              <a:spLocks noChangeArrowheads="1"/>
            </p:cNvSpPr>
            <p:nvPr/>
          </p:nvSpPr>
          <p:spPr bwMode="auto">
            <a:xfrm>
              <a:off x="2111" y="2174"/>
              <a:ext cx="56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b="1"/>
                <a:t>SFO</a:t>
              </a:r>
            </a:p>
            <a:p>
              <a:pPr algn="ctr"/>
              <a:r>
                <a:rPr lang="en-US" altLang="it-IT" sz="1600" i="1"/>
                <a:t>(waiting</a:t>
              </a:r>
            </a:p>
            <a:p>
              <a:pPr algn="ctr"/>
              <a:r>
                <a:rPr lang="en-US" altLang="it-IT" sz="1600" i="1"/>
                <a:t>on JFK)</a:t>
              </a:r>
            </a:p>
          </p:txBody>
        </p:sp>
      </p:grpSp>
      <p:sp>
        <p:nvSpPr>
          <p:cNvPr id="2" name="Segnaposto data 1">
            <a:extLst>
              <a:ext uri="{FF2B5EF4-FFF2-40B4-BE49-F238E27FC236}">
                <a16:creationId xmlns:a16="http://schemas.microsoft.com/office/drawing/2014/main" id="{8A8AAFAD-D41F-BB8E-4F5F-6D69339D5AC5}"/>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BFC6752D-3752-DC20-1D25-FA8F438E7E55}"/>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4F9B5997-8B59-4C7E-2F0B-4FF2105B7B9D}"/>
              </a:ext>
            </a:extLst>
          </p:cNvPr>
          <p:cNvSpPr>
            <a:spLocks noGrp="1"/>
          </p:cNvSpPr>
          <p:nvPr>
            <p:ph type="sldNum" sz="quarter" idx="4"/>
          </p:nvPr>
        </p:nvSpPr>
        <p:spPr/>
        <p:txBody>
          <a:bodyPr/>
          <a:lstStyle/>
          <a:p>
            <a:fld id="{9BFB3A76-8619-A843-8C67-B9C7C140DBAC}" type="slidenum">
              <a:rPr lang="en-US" smtClean="0"/>
              <a:t>41</a:t>
            </a:fld>
            <a:endParaRPr lang="en-US"/>
          </a:p>
        </p:txBody>
      </p:sp>
    </p:spTree>
    <p:extLst>
      <p:ext uri="{BB962C8B-B14F-4D97-AF65-F5344CB8AC3E}">
        <p14:creationId xmlns:p14="http://schemas.microsoft.com/office/powerpoint/2010/main" val="10663492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animEffect transition="in" filter="dissolve">
                                      <p:cBhvr>
                                        <p:cTn id="7" dur="500"/>
                                        <p:tgtEl>
                                          <p:spTgt spid="172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2058"/>
                                        </p:tgtEl>
                                        <p:attrNameLst>
                                          <p:attrName>style.visibility</p:attrName>
                                        </p:attrNameLst>
                                      </p:cBhvr>
                                      <p:to>
                                        <p:strVal val="visible"/>
                                      </p:to>
                                    </p:set>
                                    <p:animEffect transition="in" filter="dissolve">
                                      <p:cBhvr>
                                        <p:cTn id="12" dur="500"/>
                                        <p:tgtEl>
                                          <p:spTgt spid="1720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2036">
                                            <p:txEl>
                                              <p:pRg st="0" end="0"/>
                                            </p:txEl>
                                          </p:spTgt>
                                        </p:tgtEl>
                                        <p:attrNameLst>
                                          <p:attrName>style.visibility</p:attrName>
                                        </p:attrNameLst>
                                      </p:cBhvr>
                                      <p:to>
                                        <p:strVal val="visible"/>
                                      </p:to>
                                    </p:set>
                                    <p:animEffect transition="in" filter="dissolve">
                                      <p:cBhvr>
                                        <p:cTn id="17" dur="500"/>
                                        <p:tgtEl>
                                          <p:spTgt spid="17203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2036">
                                            <p:txEl>
                                              <p:pRg st="1" end="1"/>
                                            </p:txEl>
                                          </p:spTgt>
                                        </p:tgtEl>
                                        <p:attrNameLst>
                                          <p:attrName>style.visibility</p:attrName>
                                        </p:attrNameLst>
                                      </p:cBhvr>
                                      <p:to>
                                        <p:strVal val="visible"/>
                                      </p:to>
                                    </p:set>
                                    <p:animEffect transition="in" filter="dissolve">
                                      <p:cBhvr>
                                        <p:cTn id="22" dur="500"/>
                                        <p:tgtEl>
                                          <p:spTgt spid="172036">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2036">
                                            <p:txEl>
                                              <p:pRg st="2" end="2"/>
                                            </p:txEl>
                                          </p:spTgt>
                                        </p:tgtEl>
                                        <p:attrNameLst>
                                          <p:attrName>style.visibility</p:attrName>
                                        </p:attrNameLst>
                                      </p:cBhvr>
                                      <p:to>
                                        <p:strVal val="visible"/>
                                      </p:to>
                                    </p:set>
                                    <p:animEffect transition="in" filter="dissolve">
                                      <p:cBhvr>
                                        <p:cTn id="27" dur="500"/>
                                        <p:tgtEl>
                                          <p:spTgt spid="172036">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2036">
                                            <p:txEl>
                                              <p:pRg st="3" end="3"/>
                                            </p:txEl>
                                          </p:spTgt>
                                        </p:tgtEl>
                                        <p:attrNameLst>
                                          <p:attrName>style.visibility</p:attrName>
                                        </p:attrNameLst>
                                      </p:cBhvr>
                                      <p:to>
                                        <p:strVal val="visible"/>
                                      </p:to>
                                    </p:set>
                                    <p:animEffect transition="in" filter="dissolve">
                                      <p:cBhvr>
                                        <p:cTn id="32" dur="500"/>
                                        <p:tgtEl>
                                          <p:spTgt spid="172036">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2036">
                                            <p:txEl>
                                              <p:pRg st="4" end="4"/>
                                            </p:txEl>
                                          </p:spTgt>
                                        </p:tgtEl>
                                        <p:attrNameLst>
                                          <p:attrName>style.visibility</p:attrName>
                                        </p:attrNameLst>
                                      </p:cBhvr>
                                      <p:to>
                                        <p:strVal val="visible"/>
                                      </p:to>
                                    </p:set>
                                    <p:animEffect transition="in" filter="dissolve">
                                      <p:cBhvr>
                                        <p:cTn id="37" dur="500"/>
                                        <p:tgtEl>
                                          <p:spTgt spid="1720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bldLvl="2" autoUpdateAnimBg="0"/>
      <p:bldP spid="172036"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a:xfrm>
            <a:off x="471488" y="167682"/>
            <a:ext cx="8353425" cy="582211"/>
          </a:xfrm>
        </p:spPr>
        <p:txBody>
          <a:bodyPr/>
          <a:lstStyle/>
          <a:p>
            <a:r>
              <a:rPr lang="en-US" sz="3200"/>
              <a:t>Example deadlock recovery mechanism</a:t>
            </a:r>
          </a:p>
        </p:txBody>
      </p:sp>
      <p:pic>
        <p:nvPicPr>
          <p:cNvPr id="5" name="Immagine 4"/>
          <p:cNvPicPr/>
          <p:nvPr/>
        </p:nvPicPr>
        <p:blipFill>
          <a:blip r:embed="rId3">
            <a:extLst>
              <a:ext uri="{28A0092B-C50C-407E-A947-70E740481C1C}">
                <a14:useLocalDpi xmlns:a14="http://schemas.microsoft.com/office/drawing/2010/main" val="0"/>
              </a:ext>
            </a:extLst>
          </a:blip>
          <a:srcRect/>
          <a:stretch>
            <a:fillRect/>
          </a:stretch>
        </p:blipFill>
        <p:spPr bwMode="auto">
          <a:xfrm>
            <a:off x="2451956" y="1628800"/>
            <a:ext cx="4392488" cy="3816423"/>
          </a:xfrm>
          <a:prstGeom prst="rect">
            <a:avLst/>
          </a:prstGeom>
          <a:noFill/>
          <a:ln>
            <a:noFill/>
          </a:ln>
        </p:spPr>
      </p:pic>
      <p:sp>
        <p:nvSpPr>
          <p:cNvPr id="2" name="Segnaposto data 1">
            <a:extLst>
              <a:ext uri="{FF2B5EF4-FFF2-40B4-BE49-F238E27FC236}">
                <a16:creationId xmlns:a16="http://schemas.microsoft.com/office/drawing/2014/main" id="{60031D3C-8505-FBA2-0573-00DCC661C1E3}"/>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EDF765B9-CB4C-54ED-C015-4C6FBCC3E9EA}"/>
              </a:ext>
            </a:extLst>
          </p:cNvPr>
          <p:cNvSpPr>
            <a:spLocks noGrp="1"/>
          </p:cNvSpPr>
          <p:nvPr>
            <p:ph type="ftr" sz="quarter" idx="3"/>
          </p:nvPr>
        </p:nvSpPr>
        <p:spPr/>
        <p:txBody>
          <a:bodyPr/>
          <a:lstStyle/>
          <a:p>
            <a:r>
              <a:rPr lang="en-US"/>
              <a:t>paolo.bocciarelli@uniroma2.it</a:t>
            </a:r>
          </a:p>
        </p:txBody>
      </p:sp>
      <p:sp>
        <p:nvSpPr>
          <p:cNvPr id="6" name="Segnaposto numero diapositiva 5">
            <a:extLst>
              <a:ext uri="{FF2B5EF4-FFF2-40B4-BE49-F238E27FC236}">
                <a16:creationId xmlns:a16="http://schemas.microsoft.com/office/drawing/2014/main" id="{C0A1EBA8-EDB9-CABC-1DC3-5983FD61908A}"/>
              </a:ext>
            </a:extLst>
          </p:cNvPr>
          <p:cNvSpPr>
            <a:spLocks noGrp="1"/>
          </p:cNvSpPr>
          <p:nvPr>
            <p:ph type="sldNum" sz="quarter" idx="4"/>
          </p:nvPr>
        </p:nvSpPr>
        <p:spPr/>
        <p:txBody>
          <a:bodyPr/>
          <a:lstStyle/>
          <a:p>
            <a:fld id="{9BFB3A76-8619-A843-8C67-B9C7C140DBAC}" type="slidenum">
              <a:rPr lang="en-US" smtClean="0"/>
              <a:t>42</a:t>
            </a:fld>
            <a:endParaRPr lang="en-US"/>
          </a:p>
        </p:txBody>
      </p:sp>
    </p:spTree>
    <p:extLst>
      <p:ext uri="{BB962C8B-B14F-4D97-AF65-F5344CB8AC3E}">
        <p14:creationId xmlns:p14="http://schemas.microsoft.com/office/powerpoint/2010/main" val="1856029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ltLang="it-IT"/>
              <a:t>Summary</a:t>
            </a:r>
          </a:p>
        </p:txBody>
      </p:sp>
      <p:sp>
        <p:nvSpPr>
          <p:cNvPr id="154627" name="Rectangle 3"/>
          <p:cNvSpPr>
            <a:spLocks noGrp="1" noChangeArrowheads="1"/>
          </p:cNvSpPr>
          <p:nvPr>
            <p:ph type="body" idx="1"/>
          </p:nvPr>
        </p:nvSpPr>
        <p:spPr>
          <a:xfrm>
            <a:off x="304800" y="909638"/>
            <a:ext cx="8610600" cy="3584575"/>
          </a:xfrm>
        </p:spPr>
        <p:txBody>
          <a:bodyPr/>
          <a:lstStyle/>
          <a:p>
            <a:r>
              <a:rPr lang="en-US" altLang="it-IT"/>
              <a:t>Deadlock Detection</a:t>
            </a:r>
          </a:p>
          <a:p>
            <a:pPr lvl="1"/>
            <a:r>
              <a:rPr lang="en-US" altLang="it-IT"/>
              <a:t>Diffusing computation: Dijkstra/Scholten algorithm</a:t>
            </a:r>
          </a:p>
          <a:p>
            <a:pPr lvl="1"/>
            <a:r>
              <a:rPr lang="en-US" altLang="it-IT"/>
              <a:t>Simple signaling protocol detects deadlock</a:t>
            </a:r>
          </a:p>
          <a:p>
            <a:pPr lvl="1"/>
            <a:r>
              <a:rPr lang="en-US" altLang="it-IT"/>
              <a:t>Does not detect partial (local) deadlocks</a:t>
            </a:r>
          </a:p>
          <a:p>
            <a:r>
              <a:rPr lang="en-US" altLang="it-IT"/>
              <a:t>Deadlock Recovery</a:t>
            </a:r>
          </a:p>
          <a:p>
            <a:pPr lvl="1"/>
            <a:r>
              <a:rPr lang="en-US" altLang="it-IT"/>
              <a:t>Smallest time stamp event safe to process</a:t>
            </a:r>
          </a:p>
          <a:p>
            <a:pPr lvl="1"/>
            <a:r>
              <a:rPr lang="en-US" altLang="it-IT"/>
              <a:t>Others may also be safe (requires additional work to determine this)</a:t>
            </a:r>
          </a:p>
        </p:txBody>
      </p:sp>
      <p:sp>
        <p:nvSpPr>
          <p:cNvPr id="2" name="Segnaposto data 1">
            <a:extLst>
              <a:ext uri="{FF2B5EF4-FFF2-40B4-BE49-F238E27FC236}">
                <a16:creationId xmlns:a16="http://schemas.microsoft.com/office/drawing/2014/main" id="{349956A8-0236-D8C8-23FA-AD80FFEA4FED}"/>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E5BBFCC5-80B1-D39D-7974-1DA6EA2B3CE1}"/>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665C7A9F-76CE-BF2F-9185-FBC8BAC4B707}"/>
              </a:ext>
            </a:extLst>
          </p:cNvPr>
          <p:cNvSpPr>
            <a:spLocks noGrp="1"/>
          </p:cNvSpPr>
          <p:nvPr>
            <p:ph type="sldNum" sz="quarter" idx="4"/>
          </p:nvPr>
        </p:nvSpPr>
        <p:spPr/>
        <p:txBody>
          <a:bodyPr/>
          <a:lstStyle/>
          <a:p>
            <a:fld id="{9BFB3A76-8619-A843-8C67-B9C7C140DBAC}" type="slidenum">
              <a:rPr lang="en-US" smtClean="0"/>
              <a:t>43</a:t>
            </a:fld>
            <a:endParaRPr lang="en-US"/>
          </a:p>
        </p:txBody>
      </p:sp>
    </p:spTree>
    <p:extLst>
      <p:ext uri="{BB962C8B-B14F-4D97-AF65-F5344CB8AC3E}">
        <p14:creationId xmlns:p14="http://schemas.microsoft.com/office/powerpoint/2010/main" val="1380491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dissolve">
                                      <p:cBhvr>
                                        <p:cTn id="7" dur="500"/>
                                        <p:tgtEl>
                                          <p:spTgt spid="15462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4627">
                                            <p:txEl>
                                              <p:pRg st="1" end="1"/>
                                            </p:txEl>
                                          </p:spTgt>
                                        </p:tgtEl>
                                        <p:attrNameLst>
                                          <p:attrName>style.visibility</p:attrName>
                                        </p:attrNameLst>
                                      </p:cBhvr>
                                      <p:to>
                                        <p:strVal val="visible"/>
                                      </p:to>
                                    </p:set>
                                    <p:animEffect transition="in" filter="dissolve">
                                      <p:cBhvr>
                                        <p:cTn id="10" dur="500"/>
                                        <p:tgtEl>
                                          <p:spTgt spid="15462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54627">
                                            <p:txEl>
                                              <p:pRg st="2" end="2"/>
                                            </p:txEl>
                                          </p:spTgt>
                                        </p:tgtEl>
                                        <p:attrNameLst>
                                          <p:attrName>style.visibility</p:attrName>
                                        </p:attrNameLst>
                                      </p:cBhvr>
                                      <p:to>
                                        <p:strVal val="visible"/>
                                      </p:to>
                                    </p:set>
                                    <p:animEffect transition="in" filter="dissolve">
                                      <p:cBhvr>
                                        <p:cTn id="13" dur="500"/>
                                        <p:tgtEl>
                                          <p:spTgt spid="154627">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54627">
                                            <p:txEl>
                                              <p:pRg st="3" end="3"/>
                                            </p:txEl>
                                          </p:spTgt>
                                        </p:tgtEl>
                                        <p:attrNameLst>
                                          <p:attrName>style.visibility</p:attrName>
                                        </p:attrNameLst>
                                      </p:cBhvr>
                                      <p:to>
                                        <p:strVal val="visible"/>
                                      </p:to>
                                    </p:set>
                                    <p:animEffect transition="in" filter="dissolve">
                                      <p:cBhvr>
                                        <p:cTn id="16" dur="500"/>
                                        <p:tgtEl>
                                          <p:spTgt spid="154627">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54627">
                                            <p:txEl>
                                              <p:pRg st="4" end="4"/>
                                            </p:txEl>
                                          </p:spTgt>
                                        </p:tgtEl>
                                        <p:attrNameLst>
                                          <p:attrName>style.visibility</p:attrName>
                                        </p:attrNameLst>
                                      </p:cBhvr>
                                      <p:to>
                                        <p:strVal val="visible"/>
                                      </p:to>
                                    </p:set>
                                    <p:animEffect transition="in" filter="dissolve">
                                      <p:cBhvr>
                                        <p:cTn id="21" dur="500"/>
                                        <p:tgtEl>
                                          <p:spTgt spid="154627">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54627">
                                            <p:txEl>
                                              <p:pRg st="5" end="5"/>
                                            </p:txEl>
                                          </p:spTgt>
                                        </p:tgtEl>
                                        <p:attrNameLst>
                                          <p:attrName>style.visibility</p:attrName>
                                        </p:attrNameLst>
                                      </p:cBhvr>
                                      <p:to>
                                        <p:strVal val="visible"/>
                                      </p:to>
                                    </p:set>
                                    <p:animEffect transition="in" filter="dissolve">
                                      <p:cBhvr>
                                        <p:cTn id="24" dur="500"/>
                                        <p:tgtEl>
                                          <p:spTgt spid="154627">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54627">
                                            <p:txEl>
                                              <p:pRg st="6" end="6"/>
                                            </p:txEl>
                                          </p:spTgt>
                                        </p:tgtEl>
                                        <p:attrNameLst>
                                          <p:attrName>style.visibility</p:attrName>
                                        </p:attrNameLst>
                                      </p:cBhvr>
                                      <p:to>
                                        <p:strVal val="visible"/>
                                      </p:to>
                                    </p:set>
                                    <p:animEffect transition="in" filter="dissolve">
                                      <p:cBhvr>
                                        <p:cTn id="27" dur="500"/>
                                        <p:tgtEl>
                                          <p:spTgt spid="154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ctrTitle"/>
          </p:nvPr>
        </p:nvSpPr>
        <p:spPr>
          <a:xfrm>
            <a:off x="685800" y="2538413"/>
            <a:ext cx="7772400" cy="638175"/>
          </a:xfrm>
        </p:spPr>
        <p:txBody>
          <a:bodyPr anchor="ctr"/>
          <a:lstStyle/>
          <a:p>
            <a:r>
              <a:rPr lang="en-US" altLang="it-IT" sz="3600"/>
              <a:t>Parallel and Distributed Simulation</a:t>
            </a:r>
          </a:p>
        </p:txBody>
      </p:sp>
      <p:sp>
        <p:nvSpPr>
          <p:cNvPr id="151555" name="Rectangle 3"/>
          <p:cNvSpPr>
            <a:spLocks noGrp="1" noChangeArrowheads="1"/>
          </p:cNvSpPr>
          <p:nvPr>
            <p:ph type="subTitle" idx="1"/>
          </p:nvPr>
        </p:nvSpPr>
        <p:spPr>
          <a:xfrm>
            <a:off x="762000" y="3886200"/>
            <a:ext cx="7696200" cy="1554785"/>
          </a:xfrm>
        </p:spPr>
        <p:txBody>
          <a:bodyPr/>
          <a:lstStyle/>
          <a:p>
            <a:r>
              <a:rPr lang="en-US" altLang="it-IT" sz="2800"/>
              <a:t>Synchronous Execution</a:t>
            </a:r>
          </a:p>
          <a:p>
            <a:r>
              <a:rPr lang="en-US" altLang="it-IT" sz="2800"/>
              <a:t>Barrier Mechanisms</a:t>
            </a:r>
          </a:p>
          <a:p>
            <a:r>
              <a:rPr lang="en-US" altLang="it-IT" sz="2800"/>
              <a:t>Performance of Conservative Approaches</a:t>
            </a:r>
          </a:p>
        </p:txBody>
      </p:sp>
      <p:sp>
        <p:nvSpPr>
          <p:cNvPr id="151556" name="Line 4"/>
          <p:cNvSpPr>
            <a:spLocks noChangeShapeType="1"/>
          </p:cNvSpPr>
          <p:nvPr/>
        </p:nvSpPr>
        <p:spPr bwMode="auto">
          <a:xfrm>
            <a:off x="457200" y="6019800"/>
            <a:ext cx="8382000" cy="0"/>
          </a:xfrm>
          <a:prstGeom prst="line">
            <a:avLst/>
          </a:prstGeom>
          <a:noFill/>
          <a:ln w="57150" cmpd="thickThin">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8713051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it-IT"/>
              <a:t>Outline</a:t>
            </a:r>
          </a:p>
        </p:txBody>
      </p:sp>
      <p:sp>
        <p:nvSpPr>
          <p:cNvPr id="142339" name="Rectangle 3"/>
          <p:cNvSpPr>
            <a:spLocks noGrp="1" noChangeArrowheads="1"/>
          </p:cNvSpPr>
          <p:nvPr>
            <p:ph type="body" idx="1"/>
          </p:nvPr>
        </p:nvSpPr>
        <p:spPr>
          <a:xfrm>
            <a:off x="471488" y="990600"/>
            <a:ext cx="8353425" cy="2884379"/>
          </a:xfrm>
        </p:spPr>
        <p:txBody>
          <a:bodyPr/>
          <a:lstStyle/>
          <a:p>
            <a:r>
              <a:rPr lang="en-US" altLang="it-IT"/>
              <a:t>Synchronous Algorithms</a:t>
            </a:r>
          </a:p>
          <a:p>
            <a:pPr lvl="1"/>
            <a:r>
              <a:rPr lang="en-US" altLang="it-IT"/>
              <a:t>Barrier mechanisms</a:t>
            </a:r>
          </a:p>
          <a:p>
            <a:pPr lvl="1"/>
            <a:r>
              <a:rPr lang="en-US" altLang="it-IT"/>
              <a:t>Centralized Barriers</a:t>
            </a:r>
          </a:p>
          <a:p>
            <a:pPr lvl="1"/>
            <a:r>
              <a:rPr lang="en-US" altLang="it-IT"/>
              <a:t>Tree Barrier</a:t>
            </a:r>
          </a:p>
          <a:p>
            <a:r>
              <a:rPr lang="en-US" altLang="it-IT"/>
              <a:t>Transient Message Problem</a:t>
            </a:r>
          </a:p>
          <a:p>
            <a:r>
              <a:rPr lang="en-US" altLang="it-IT"/>
              <a:t>Performance of Conservative Approaches</a:t>
            </a:r>
          </a:p>
        </p:txBody>
      </p:sp>
      <p:sp>
        <p:nvSpPr>
          <p:cNvPr id="2" name="Segnaposto data 1">
            <a:extLst>
              <a:ext uri="{FF2B5EF4-FFF2-40B4-BE49-F238E27FC236}">
                <a16:creationId xmlns:a16="http://schemas.microsoft.com/office/drawing/2014/main" id="{41F4B847-BC24-6139-0EDF-A055D57EC319}"/>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A2D1DCD9-FFA6-B528-07D9-D80EA1AD8CB1}"/>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236ADF29-55A4-BBB6-C332-95E89B559BA0}"/>
              </a:ext>
            </a:extLst>
          </p:cNvPr>
          <p:cNvSpPr>
            <a:spLocks noGrp="1"/>
          </p:cNvSpPr>
          <p:nvPr>
            <p:ph type="sldNum" sz="quarter" idx="4"/>
          </p:nvPr>
        </p:nvSpPr>
        <p:spPr/>
        <p:txBody>
          <a:bodyPr/>
          <a:lstStyle/>
          <a:p>
            <a:fld id="{9BFB3A76-8619-A843-8C67-B9C7C140DBAC}" type="slidenum">
              <a:rPr lang="en-US" smtClean="0"/>
              <a:t>45</a:t>
            </a:fld>
            <a:endParaRPr lang="en-US"/>
          </a:p>
        </p:txBody>
      </p:sp>
    </p:spTree>
    <p:extLst>
      <p:ext uri="{BB962C8B-B14F-4D97-AF65-F5344CB8AC3E}">
        <p14:creationId xmlns:p14="http://schemas.microsoft.com/office/powerpoint/2010/main" val="346051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en-US" altLang="it-IT"/>
              <a:t>Synchronous Execution</a:t>
            </a:r>
          </a:p>
        </p:txBody>
      </p:sp>
      <p:sp>
        <p:nvSpPr>
          <p:cNvPr id="162819" name="Rectangle 3"/>
          <p:cNvSpPr>
            <a:spLocks noGrp="1" noChangeArrowheads="1"/>
          </p:cNvSpPr>
          <p:nvPr>
            <p:ph type="body" idx="1"/>
          </p:nvPr>
        </p:nvSpPr>
        <p:spPr>
          <a:xfrm>
            <a:off x="333375" y="762000"/>
            <a:ext cx="8353425" cy="5984875"/>
          </a:xfrm>
        </p:spPr>
        <p:txBody>
          <a:bodyPr/>
          <a:lstStyle/>
          <a:p>
            <a:pPr>
              <a:buFontTx/>
              <a:buNone/>
            </a:pPr>
            <a:r>
              <a:rPr lang="en-US" altLang="it-IT"/>
              <a:t>Basic idea: each process cycles through the following steps:</a:t>
            </a:r>
          </a:p>
          <a:p>
            <a:r>
              <a:rPr lang="en-US" altLang="it-IT"/>
              <a:t>Determine the events that are safe to process</a:t>
            </a:r>
          </a:p>
          <a:p>
            <a:r>
              <a:rPr lang="en-US" altLang="it-IT"/>
              <a:t>Process events, exchange messages</a:t>
            </a:r>
          </a:p>
          <a:p>
            <a:r>
              <a:rPr lang="en-US" altLang="it-IT"/>
              <a:t>Global synchronization (barrier)</a:t>
            </a:r>
          </a:p>
          <a:p>
            <a:pPr>
              <a:buFontTx/>
              <a:buNone/>
            </a:pPr>
            <a:endParaRPr lang="en-US" altLang="it-IT"/>
          </a:p>
          <a:p>
            <a:pPr>
              <a:buFontTx/>
              <a:buNone/>
            </a:pPr>
            <a:r>
              <a:rPr lang="en-US" altLang="it-IT"/>
              <a:t>Messages generated in one cycle are not eligible for processing until the next cycle</a:t>
            </a:r>
          </a:p>
          <a:p>
            <a:pPr>
              <a:buFontTx/>
              <a:buNone/>
            </a:pPr>
            <a:endParaRPr lang="en-US" altLang="it-IT"/>
          </a:p>
          <a:p>
            <a:pPr>
              <a:buFontTx/>
              <a:buNone/>
            </a:pPr>
            <a:r>
              <a:rPr lang="en-US" altLang="it-IT"/>
              <a:t>Issues</a:t>
            </a:r>
          </a:p>
          <a:p>
            <a:r>
              <a:rPr lang="en-US" altLang="it-IT"/>
              <a:t>Barrier mechanism, transient messages</a:t>
            </a:r>
          </a:p>
          <a:p>
            <a:r>
              <a:rPr lang="en-US" altLang="it-IT"/>
              <a:t>Determining safe events</a:t>
            </a:r>
          </a:p>
        </p:txBody>
      </p:sp>
      <p:sp>
        <p:nvSpPr>
          <p:cNvPr id="2" name="Segnaposto data 1">
            <a:extLst>
              <a:ext uri="{FF2B5EF4-FFF2-40B4-BE49-F238E27FC236}">
                <a16:creationId xmlns:a16="http://schemas.microsoft.com/office/drawing/2014/main" id="{5968DE2E-C204-621D-F2CF-F9CCA9F644E1}"/>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C8AEF6A6-544C-4530-8697-DED7FB8B150A}"/>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B89CDF9A-5BFA-7022-F345-63142104847C}"/>
              </a:ext>
            </a:extLst>
          </p:cNvPr>
          <p:cNvSpPr>
            <a:spLocks noGrp="1"/>
          </p:cNvSpPr>
          <p:nvPr>
            <p:ph type="sldNum" sz="quarter" idx="4"/>
          </p:nvPr>
        </p:nvSpPr>
        <p:spPr/>
        <p:txBody>
          <a:bodyPr/>
          <a:lstStyle/>
          <a:p>
            <a:fld id="{9BFB3A76-8619-A843-8C67-B9C7C140DBAC}" type="slidenum">
              <a:rPr lang="en-US" smtClean="0"/>
              <a:t>46</a:t>
            </a:fld>
            <a:endParaRPr lang="en-US"/>
          </a:p>
        </p:txBody>
      </p:sp>
    </p:spTree>
    <p:extLst>
      <p:ext uri="{BB962C8B-B14F-4D97-AF65-F5344CB8AC3E}">
        <p14:creationId xmlns:p14="http://schemas.microsoft.com/office/powerpoint/2010/main" val="707209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dissolve">
                                      <p:cBhvr>
                                        <p:cTn id="7" dur="500"/>
                                        <p:tgtEl>
                                          <p:spTgt spid="162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2819">
                                            <p:txEl>
                                              <p:pRg st="1" end="1"/>
                                            </p:txEl>
                                          </p:spTgt>
                                        </p:tgtEl>
                                        <p:attrNameLst>
                                          <p:attrName>style.visibility</p:attrName>
                                        </p:attrNameLst>
                                      </p:cBhvr>
                                      <p:to>
                                        <p:strVal val="visible"/>
                                      </p:to>
                                    </p:set>
                                    <p:animEffect transition="in" filter="dissolve">
                                      <p:cBhvr>
                                        <p:cTn id="12" dur="500"/>
                                        <p:tgtEl>
                                          <p:spTgt spid="1628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2819">
                                            <p:txEl>
                                              <p:pRg st="2" end="2"/>
                                            </p:txEl>
                                          </p:spTgt>
                                        </p:tgtEl>
                                        <p:attrNameLst>
                                          <p:attrName>style.visibility</p:attrName>
                                        </p:attrNameLst>
                                      </p:cBhvr>
                                      <p:to>
                                        <p:strVal val="visible"/>
                                      </p:to>
                                    </p:set>
                                    <p:animEffect transition="in" filter="dissolve">
                                      <p:cBhvr>
                                        <p:cTn id="17" dur="500"/>
                                        <p:tgtEl>
                                          <p:spTgt spid="162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2819">
                                            <p:txEl>
                                              <p:pRg st="3" end="3"/>
                                            </p:txEl>
                                          </p:spTgt>
                                        </p:tgtEl>
                                        <p:attrNameLst>
                                          <p:attrName>style.visibility</p:attrName>
                                        </p:attrNameLst>
                                      </p:cBhvr>
                                      <p:to>
                                        <p:strVal val="visible"/>
                                      </p:to>
                                    </p:set>
                                    <p:animEffect transition="in" filter="dissolve">
                                      <p:cBhvr>
                                        <p:cTn id="22" dur="500"/>
                                        <p:tgtEl>
                                          <p:spTgt spid="1628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2819">
                                            <p:txEl>
                                              <p:pRg st="5" end="5"/>
                                            </p:txEl>
                                          </p:spTgt>
                                        </p:tgtEl>
                                        <p:attrNameLst>
                                          <p:attrName>style.visibility</p:attrName>
                                        </p:attrNameLst>
                                      </p:cBhvr>
                                      <p:to>
                                        <p:strVal val="visible"/>
                                      </p:to>
                                    </p:set>
                                    <p:animEffect transition="in" filter="dissolve">
                                      <p:cBhvr>
                                        <p:cTn id="27" dur="500"/>
                                        <p:tgtEl>
                                          <p:spTgt spid="16281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2819">
                                            <p:txEl>
                                              <p:pRg st="7" end="7"/>
                                            </p:txEl>
                                          </p:spTgt>
                                        </p:tgtEl>
                                        <p:attrNameLst>
                                          <p:attrName>style.visibility</p:attrName>
                                        </p:attrNameLst>
                                      </p:cBhvr>
                                      <p:to>
                                        <p:strVal val="visible"/>
                                      </p:to>
                                    </p:set>
                                    <p:animEffect transition="in" filter="dissolve">
                                      <p:cBhvr>
                                        <p:cTn id="32" dur="500"/>
                                        <p:tgtEl>
                                          <p:spTgt spid="16281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2819">
                                            <p:txEl>
                                              <p:pRg st="8" end="8"/>
                                            </p:txEl>
                                          </p:spTgt>
                                        </p:tgtEl>
                                        <p:attrNameLst>
                                          <p:attrName>style.visibility</p:attrName>
                                        </p:attrNameLst>
                                      </p:cBhvr>
                                      <p:to>
                                        <p:strVal val="visible"/>
                                      </p:to>
                                    </p:set>
                                    <p:animEffect transition="in" filter="dissolve">
                                      <p:cBhvr>
                                        <p:cTn id="37" dur="500"/>
                                        <p:tgtEl>
                                          <p:spTgt spid="16281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2819">
                                            <p:txEl>
                                              <p:pRg st="9" end="9"/>
                                            </p:txEl>
                                          </p:spTgt>
                                        </p:tgtEl>
                                        <p:attrNameLst>
                                          <p:attrName>style.visibility</p:attrName>
                                        </p:attrNameLst>
                                      </p:cBhvr>
                                      <p:to>
                                        <p:strVal val="visible"/>
                                      </p:to>
                                    </p:set>
                                    <p:animEffect transition="in" filter="dissolve">
                                      <p:cBhvr>
                                        <p:cTn id="42" dur="500"/>
                                        <p:tgtEl>
                                          <p:spTgt spid="1628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en-US" altLang="it-IT"/>
              <a:t>Barrier Synchronization</a:t>
            </a:r>
          </a:p>
        </p:txBody>
      </p:sp>
      <p:sp>
        <p:nvSpPr>
          <p:cNvPr id="161795" name="Rectangle 3"/>
          <p:cNvSpPr>
            <a:spLocks noGrp="1" noChangeArrowheads="1"/>
          </p:cNvSpPr>
          <p:nvPr>
            <p:ph type="body" idx="1"/>
          </p:nvPr>
        </p:nvSpPr>
        <p:spPr>
          <a:xfrm>
            <a:off x="381000" y="4641850"/>
            <a:ext cx="8353425" cy="1987550"/>
          </a:xfrm>
        </p:spPr>
        <p:txBody>
          <a:bodyPr/>
          <a:lstStyle/>
          <a:p>
            <a:pPr>
              <a:buFontTx/>
              <a:buNone/>
            </a:pPr>
            <a:r>
              <a:rPr lang="en-US" altLang="it-IT" sz="2400"/>
              <a:t>Barrier Synchronization: when a process invokes the barrier primitive, it will block until all other processors have also invoked the barrier primitive.</a:t>
            </a:r>
          </a:p>
          <a:p>
            <a:pPr>
              <a:buFontTx/>
              <a:buNone/>
            </a:pPr>
            <a:r>
              <a:rPr lang="en-US" altLang="it-IT" sz="2400"/>
              <a:t>When the last process invokes the barrier, all processes can execute forward</a:t>
            </a:r>
          </a:p>
        </p:txBody>
      </p:sp>
      <p:grpSp>
        <p:nvGrpSpPr>
          <p:cNvPr id="161870" name="Group 78"/>
          <p:cNvGrpSpPr>
            <a:grpSpLocks/>
          </p:cNvGrpSpPr>
          <p:nvPr/>
        </p:nvGrpSpPr>
        <p:grpSpPr bwMode="auto">
          <a:xfrm>
            <a:off x="387350" y="1143000"/>
            <a:ext cx="8445500" cy="3124200"/>
            <a:chOff x="244" y="720"/>
            <a:chExt cx="5320" cy="1968"/>
          </a:xfrm>
        </p:grpSpPr>
        <p:sp>
          <p:nvSpPr>
            <p:cNvPr id="161798" name="Rectangle 6"/>
            <p:cNvSpPr>
              <a:spLocks noChangeArrowheads="1"/>
            </p:cNvSpPr>
            <p:nvPr/>
          </p:nvSpPr>
          <p:spPr bwMode="auto">
            <a:xfrm>
              <a:off x="244" y="720"/>
              <a:ext cx="5320" cy="1968"/>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799" name="Rectangle 7"/>
            <p:cNvSpPr>
              <a:spLocks noChangeArrowheads="1"/>
            </p:cNvSpPr>
            <p:nvPr/>
          </p:nvSpPr>
          <p:spPr bwMode="auto">
            <a:xfrm>
              <a:off x="3028" y="1108"/>
              <a:ext cx="568" cy="952"/>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0" name="Rectangle 8"/>
            <p:cNvSpPr>
              <a:spLocks noChangeArrowheads="1"/>
            </p:cNvSpPr>
            <p:nvPr/>
          </p:nvSpPr>
          <p:spPr bwMode="auto">
            <a:xfrm>
              <a:off x="3892" y="1108"/>
              <a:ext cx="568" cy="712"/>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1" name="Rectangle 9"/>
            <p:cNvSpPr>
              <a:spLocks noChangeArrowheads="1"/>
            </p:cNvSpPr>
            <p:nvPr/>
          </p:nvSpPr>
          <p:spPr bwMode="auto">
            <a:xfrm>
              <a:off x="1300" y="1108"/>
              <a:ext cx="568" cy="808"/>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3" name="Rectangle 11"/>
            <p:cNvSpPr>
              <a:spLocks noChangeArrowheads="1"/>
            </p:cNvSpPr>
            <p:nvPr/>
          </p:nvSpPr>
          <p:spPr bwMode="auto">
            <a:xfrm>
              <a:off x="2164" y="1108"/>
              <a:ext cx="568" cy="424"/>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4" name="Line 12"/>
            <p:cNvSpPr>
              <a:spLocks noChangeShapeType="1"/>
            </p:cNvSpPr>
            <p:nvPr/>
          </p:nvSpPr>
          <p:spPr bwMode="auto">
            <a:xfrm>
              <a:off x="2308" y="13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5" name="Line 13"/>
            <p:cNvSpPr>
              <a:spLocks noChangeShapeType="1"/>
            </p:cNvSpPr>
            <p:nvPr/>
          </p:nvSpPr>
          <p:spPr bwMode="auto">
            <a:xfrm>
              <a:off x="2308" y="124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6" name="Line 14"/>
            <p:cNvSpPr>
              <a:spLocks noChangeShapeType="1"/>
            </p:cNvSpPr>
            <p:nvPr/>
          </p:nvSpPr>
          <p:spPr bwMode="auto">
            <a:xfrm>
              <a:off x="2308" y="115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7" name="Rectangle 15"/>
            <p:cNvSpPr>
              <a:spLocks noChangeArrowheads="1"/>
            </p:cNvSpPr>
            <p:nvPr/>
          </p:nvSpPr>
          <p:spPr bwMode="auto">
            <a:xfrm>
              <a:off x="2992" y="1920"/>
              <a:ext cx="642"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600"/>
                <a:t>- barrier -</a:t>
              </a:r>
            </a:p>
          </p:txBody>
        </p:sp>
        <p:sp>
          <p:nvSpPr>
            <p:cNvPr id="161808" name="Line 16"/>
            <p:cNvSpPr>
              <a:spLocks noChangeShapeType="1"/>
            </p:cNvSpPr>
            <p:nvPr/>
          </p:nvSpPr>
          <p:spPr bwMode="auto">
            <a:xfrm>
              <a:off x="3149" y="1920"/>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09" name="Line 17"/>
            <p:cNvSpPr>
              <a:spLocks noChangeShapeType="1"/>
            </p:cNvSpPr>
            <p:nvPr/>
          </p:nvSpPr>
          <p:spPr bwMode="auto">
            <a:xfrm>
              <a:off x="3149" y="182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0" name="Line 18"/>
            <p:cNvSpPr>
              <a:spLocks noChangeShapeType="1"/>
            </p:cNvSpPr>
            <p:nvPr/>
          </p:nvSpPr>
          <p:spPr bwMode="auto">
            <a:xfrm>
              <a:off x="3149" y="172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1" name="Line 19"/>
            <p:cNvSpPr>
              <a:spLocks noChangeShapeType="1"/>
            </p:cNvSpPr>
            <p:nvPr/>
          </p:nvSpPr>
          <p:spPr bwMode="auto">
            <a:xfrm>
              <a:off x="3149" y="163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2" name="Line 20"/>
            <p:cNvSpPr>
              <a:spLocks noChangeShapeType="1"/>
            </p:cNvSpPr>
            <p:nvPr/>
          </p:nvSpPr>
          <p:spPr bwMode="auto">
            <a:xfrm>
              <a:off x="3149" y="153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3" name="Line 21"/>
            <p:cNvSpPr>
              <a:spLocks noChangeShapeType="1"/>
            </p:cNvSpPr>
            <p:nvPr/>
          </p:nvSpPr>
          <p:spPr bwMode="auto">
            <a:xfrm>
              <a:off x="3149" y="1440"/>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4" name="Line 22"/>
            <p:cNvSpPr>
              <a:spLocks noChangeShapeType="1"/>
            </p:cNvSpPr>
            <p:nvPr/>
          </p:nvSpPr>
          <p:spPr bwMode="auto">
            <a:xfrm>
              <a:off x="3149" y="13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5" name="Line 23"/>
            <p:cNvSpPr>
              <a:spLocks noChangeShapeType="1"/>
            </p:cNvSpPr>
            <p:nvPr/>
          </p:nvSpPr>
          <p:spPr bwMode="auto">
            <a:xfrm>
              <a:off x="3149" y="124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6" name="Line 24"/>
            <p:cNvSpPr>
              <a:spLocks noChangeShapeType="1"/>
            </p:cNvSpPr>
            <p:nvPr/>
          </p:nvSpPr>
          <p:spPr bwMode="auto">
            <a:xfrm>
              <a:off x="3149" y="115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7" name="Rectangle 25"/>
            <p:cNvSpPr>
              <a:spLocks noChangeArrowheads="1"/>
            </p:cNvSpPr>
            <p:nvPr/>
          </p:nvSpPr>
          <p:spPr bwMode="auto">
            <a:xfrm>
              <a:off x="3879" y="1632"/>
              <a:ext cx="642"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600"/>
                <a:t>- barrier -</a:t>
              </a:r>
            </a:p>
          </p:txBody>
        </p:sp>
        <p:sp>
          <p:nvSpPr>
            <p:cNvPr id="161818" name="Line 26"/>
            <p:cNvSpPr>
              <a:spLocks noChangeShapeType="1"/>
            </p:cNvSpPr>
            <p:nvPr/>
          </p:nvSpPr>
          <p:spPr bwMode="auto">
            <a:xfrm>
              <a:off x="4036" y="163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19" name="Line 27"/>
            <p:cNvSpPr>
              <a:spLocks noChangeShapeType="1"/>
            </p:cNvSpPr>
            <p:nvPr/>
          </p:nvSpPr>
          <p:spPr bwMode="auto">
            <a:xfrm>
              <a:off x="4036" y="153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20" name="Line 28"/>
            <p:cNvSpPr>
              <a:spLocks noChangeShapeType="1"/>
            </p:cNvSpPr>
            <p:nvPr/>
          </p:nvSpPr>
          <p:spPr bwMode="auto">
            <a:xfrm>
              <a:off x="4036" y="1440"/>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21" name="Line 29"/>
            <p:cNvSpPr>
              <a:spLocks noChangeShapeType="1"/>
            </p:cNvSpPr>
            <p:nvPr/>
          </p:nvSpPr>
          <p:spPr bwMode="auto">
            <a:xfrm>
              <a:off x="4036" y="13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22" name="Line 30"/>
            <p:cNvSpPr>
              <a:spLocks noChangeShapeType="1"/>
            </p:cNvSpPr>
            <p:nvPr/>
          </p:nvSpPr>
          <p:spPr bwMode="auto">
            <a:xfrm>
              <a:off x="4036" y="124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23" name="Line 31"/>
            <p:cNvSpPr>
              <a:spLocks noChangeShapeType="1"/>
            </p:cNvSpPr>
            <p:nvPr/>
          </p:nvSpPr>
          <p:spPr bwMode="auto">
            <a:xfrm>
              <a:off x="4036" y="115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61824" name="Group 32"/>
            <p:cNvGrpSpPr>
              <a:grpSpLocks/>
            </p:cNvGrpSpPr>
            <p:nvPr/>
          </p:nvGrpSpPr>
          <p:grpSpPr bwMode="auto">
            <a:xfrm>
              <a:off x="1287" y="1152"/>
              <a:ext cx="642" cy="786"/>
              <a:chOff x="1095" y="1200"/>
              <a:chExt cx="642" cy="786"/>
            </a:xfrm>
          </p:grpSpPr>
          <p:sp>
            <p:nvSpPr>
              <p:cNvPr id="161825" name="Rectangle 33"/>
              <p:cNvSpPr>
                <a:spLocks noChangeArrowheads="1"/>
              </p:cNvSpPr>
              <p:nvPr/>
            </p:nvSpPr>
            <p:spPr bwMode="auto">
              <a:xfrm>
                <a:off x="1095" y="1776"/>
                <a:ext cx="642"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600"/>
                  <a:t>- barrier -</a:t>
                </a:r>
              </a:p>
            </p:txBody>
          </p:sp>
          <p:sp>
            <p:nvSpPr>
              <p:cNvPr id="161826" name="Line 34"/>
              <p:cNvSpPr>
                <a:spLocks noChangeShapeType="1"/>
              </p:cNvSpPr>
              <p:nvPr/>
            </p:nvSpPr>
            <p:spPr bwMode="auto">
              <a:xfrm>
                <a:off x="1252" y="177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27" name="Line 35"/>
              <p:cNvSpPr>
                <a:spLocks noChangeShapeType="1"/>
              </p:cNvSpPr>
              <p:nvPr/>
            </p:nvSpPr>
            <p:spPr bwMode="auto">
              <a:xfrm>
                <a:off x="1252" y="1680"/>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28" name="Line 36"/>
              <p:cNvSpPr>
                <a:spLocks noChangeShapeType="1"/>
              </p:cNvSpPr>
              <p:nvPr/>
            </p:nvSpPr>
            <p:spPr bwMode="auto">
              <a:xfrm>
                <a:off x="1252" y="158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29" name="Line 37"/>
              <p:cNvSpPr>
                <a:spLocks noChangeShapeType="1"/>
              </p:cNvSpPr>
              <p:nvPr/>
            </p:nvSpPr>
            <p:spPr bwMode="auto">
              <a:xfrm>
                <a:off x="1252" y="148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30" name="Line 38"/>
              <p:cNvSpPr>
                <a:spLocks noChangeShapeType="1"/>
              </p:cNvSpPr>
              <p:nvPr/>
            </p:nvSpPr>
            <p:spPr bwMode="auto">
              <a:xfrm>
                <a:off x="1252" y="139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31" name="Line 39"/>
              <p:cNvSpPr>
                <a:spLocks noChangeShapeType="1"/>
              </p:cNvSpPr>
              <p:nvPr/>
            </p:nvSpPr>
            <p:spPr bwMode="auto">
              <a:xfrm>
                <a:off x="1252" y="129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32" name="Line 40"/>
              <p:cNvSpPr>
                <a:spLocks noChangeShapeType="1"/>
              </p:cNvSpPr>
              <p:nvPr/>
            </p:nvSpPr>
            <p:spPr bwMode="auto">
              <a:xfrm>
                <a:off x="1252" y="1200"/>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61833" name="Line 41"/>
            <p:cNvSpPr>
              <a:spLocks noChangeShapeType="1"/>
            </p:cNvSpPr>
            <p:nvPr/>
          </p:nvSpPr>
          <p:spPr bwMode="auto">
            <a:xfrm flipH="1">
              <a:off x="1200" y="2112"/>
              <a:ext cx="3360" cy="0"/>
            </a:xfrm>
            <a:prstGeom prst="line">
              <a:avLst/>
            </a:prstGeom>
            <a:noFill/>
            <a:ln w="1270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34" name="Rectangle 42"/>
            <p:cNvSpPr>
              <a:spLocks noChangeArrowheads="1"/>
            </p:cNvSpPr>
            <p:nvPr/>
          </p:nvSpPr>
          <p:spPr bwMode="auto">
            <a:xfrm>
              <a:off x="2164" y="1540"/>
              <a:ext cx="568" cy="52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35" name="Rectangle 43"/>
            <p:cNvSpPr>
              <a:spLocks noChangeArrowheads="1"/>
            </p:cNvSpPr>
            <p:nvPr/>
          </p:nvSpPr>
          <p:spPr bwMode="auto">
            <a:xfrm>
              <a:off x="1300" y="1924"/>
              <a:ext cx="568" cy="136"/>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600" i="1"/>
                <a:t>wait</a:t>
              </a:r>
            </a:p>
          </p:txBody>
        </p:sp>
        <p:sp>
          <p:nvSpPr>
            <p:cNvPr id="161836" name="Rectangle 44"/>
            <p:cNvSpPr>
              <a:spLocks noChangeArrowheads="1"/>
            </p:cNvSpPr>
            <p:nvPr/>
          </p:nvSpPr>
          <p:spPr bwMode="auto">
            <a:xfrm>
              <a:off x="3892" y="1828"/>
              <a:ext cx="568" cy="232"/>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600" i="1"/>
                <a:t>wait</a:t>
              </a:r>
            </a:p>
          </p:txBody>
        </p:sp>
        <p:sp>
          <p:nvSpPr>
            <p:cNvPr id="161837" name="Rectangle 45"/>
            <p:cNvSpPr>
              <a:spLocks noChangeArrowheads="1"/>
            </p:cNvSpPr>
            <p:nvPr/>
          </p:nvSpPr>
          <p:spPr bwMode="auto">
            <a:xfrm>
              <a:off x="2253" y="1680"/>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i="1"/>
                <a:t>wait</a:t>
              </a:r>
            </a:p>
          </p:txBody>
        </p:sp>
        <p:grpSp>
          <p:nvGrpSpPr>
            <p:cNvPr id="161838" name="Group 46"/>
            <p:cNvGrpSpPr>
              <a:grpSpLocks/>
            </p:cNvGrpSpPr>
            <p:nvPr/>
          </p:nvGrpSpPr>
          <p:grpSpPr bwMode="auto">
            <a:xfrm>
              <a:off x="2164" y="2164"/>
              <a:ext cx="568" cy="376"/>
              <a:chOff x="1972" y="2212"/>
              <a:chExt cx="568" cy="376"/>
            </a:xfrm>
          </p:grpSpPr>
          <p:sp>
            <p:nvSpPr>
              <p:cNvPr id="161839" name="Rectangle 47"/>
              <p:cNvSpPr>
                <a:spLocks noChangeArrowheads="1"/>
              </p:cNvSpPr>
              <p:nvPr/>
            </p:nvSpPr>
            <p:spPr bwMode="auto">
              <a:xfrm>
                <a:off x="1972" y="2212"/>
                <a:ext cx="568" cy="376"/>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0" name="Line 48"/>
              <p:cNvSpPr>
                <a:spLocks noChangeShapeType="1"/>
              </p:cNvSpPr>
              <p:nvPr/>
            </p:nvSpPr>
            <p:spPr bwMode="auto">
              <a:xfrm>
                <a:off x="2116" y="244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1" name="Line 49"/>
              <p:cNvSpPr>
                <a:spLocks noChangeShapeType="1"/>
              </p:cNvSpPr>
              <p:nvPr/>
            </p:nvSpPr>
            <p:spPr bwMode="auto">
              <a:xfrm>
                <a:off x="2116" y="235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2" name="Line 50"/>
              <p:cNvSpPr>
                <a:spLocks noChangeShapeType="1"/>
              </p:cNvSpPr>
              <p:nvPr/>
            </p:nvSpPr>
            <p:spPr bwMode="auto">
              <a:xfrm>
                <a:off x="2116" y="225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3" name="Line 51"/>
              <p:cNvSpPr>
                <a:spLocks noChangeShapeType="1"/>
              </p:cNvSpPr>
              <p:nvPr/>
            </p:nvSpPr>
            <p:spPr bwMode="auto">
              <a:xfrm>
                <a:off x="2116" y="25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61844" name="Group 52"/>
            <p:cNvGrpSpPr>
              <a:grpSpLocks/>
            </p:cNvGrpSpPr>
            <p:nvPr/>
          </p:nvGrpSpPr>
          <p:grpSpPr bwMode="auto">
            <a:xfrm>
              <a:off x="1300" y="2164"/>
              <a:ext cx="568" cy="376"/>
              <a:chOff x="1108" y="2212"/>
              <a:chExt cx="568" cy="376"/>
            </a:xfrm>
          </p:grpSpPr>
          <p:sp>
            <p:nvSpPr>
              <p:cNvPr id="161845" name="Rectangle 53"/>
              <p:cNvSpPr>
                <a:spLocks noChangeArrowheads="1"/>
              </p:cNvSpPr>
              <p:nvPr/>
            </p:nvSpPr>
            <p:spPr bwMode="auto">
              <a:xfrm>
                <a:off x="1108" y="2212"/>
                <a:ext cx="568" cy="376"/>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6" name="Line 54"/>
              <p:cNvSpPr>
                <a:spLocks noChangeShapeType="1"/>
              </p:cNvSpPr>
              <p:nvPr/>
            </p:nvSpPr>
            <p:spPr bwMode="auto">
              <a:xfrm>
                <a:off x="1252" y="244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7" name="Line 55"/>
              <p:cNvSpPr>
                <a:spLocks noChangeShapeType="1"/>
              </p:cNvSpPr>
              <p:nvPr/>
            </p:nvSpPr>
            <p:spPr bwMode="auto">
              <a:xfrm>
                <a:off x="1252" y="235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8" name="Line 56"/>
              <p:cNvSpPr>
                <a:spLocks noChangeShapeType="1"/>
              </p:cNvSpPr>
              <p:nvPr/>
            </p:nvSpPr>
            <p:spPr bwMode="auto">
              <a:xfrm>
                <a:off x="1252" y="225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49" name="Line 57"/>
              <p:cNvSpPr>
                <a:spLocks noChangeShapeType="1"/>
              </p:cNvSpPr>
              <p:nvPr/>
            </p:nvSpPr>
            <p:spPr bwMode="auto">
              <a:xfrm>
                <a:off x="1252" y="25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61850" name="Group 58"/>
            <p:cNvGrpSpPr>
              <a:grpSpLocks/>
            </p:cNvGrpSpPr>
            <p:nvPr/>
          </p:nvGrpSpPr>
          <p:grpSpPr bwMode="auto">
            <a:xfrm>
              <a:off x="3028" y="2164"/>
              <a:ext cx="568" cy="376"/>
              <a:chOff x="2836" y="2212"/>
              <a:chExt cx="568" cy="376"/>
            </a:xfrm>
          </p:grpSpPr>
          <p:sp>
            <p:nvSpPr>
              <p:cNvPr id="161851" name="Rectangle 59"/>
              <p:cNvSpPr>
                <a:spLocks noChangeArrowheads="1"/>
              </p:cNvSpPr>
              <p:nvPr/>
            </p:nvSpPr>
            <p:spPr bwMode="auto">
              <a:xfrm>
                <a:off x="2836" y="2212"/>
                <a:ext cx="568" cy="376"/>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52" name="Line 60"/>
              <p:cNvSpPr>
                <a:spLocks noChangeShapeType="1"/>
              </p:cNvSpPr>
              <p:nvPr/>
            </p:nvSpPr>
            <p:spPr bwMode="auto">
              <a:xfrm>
                <a:off x="2980" y="244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53" name="Line 61"/>
              <p:cNvSpPr>
                <a:spLocks noChangeShapeType="1"/>
              </p:cNvSpPr>
              <p:nvPr/>
            </p:nvSpPr>
            <p:spPr bwMode="auto">
              <a:xfrm>
                <a:off x="2980" y="235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54" name="Line 62"/>
              <p:cNvSpPr>
                <a:spLocks noChangeShapeType="1"/>
              </p:cNvSpPr>
              <p:nvPr/>
            </p:nvSpPr>
            <p:spPr bwMode="auto">
              <a:xfrm>
                <a:off x="2980" y="225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55" name="Line 63"/>
              <p:cNvSpPr>
                <a:spLocks noChangeShapeType="1"/>
              </p:cNvSpPr>
              <p:nvPr/>
            </p:nvSpPr>
            <p:spPr bwMode="auto">
              <a:xfrm>
                <a:off x="2980" y="25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61856" name="Group 64"/>
            <p:cNvGrpSpPr>
              <a:grpSpLocks/>
            </p:cNvGrpSpPr>
            <p:nvPr/>
          </p:nvGrpSpPr>
          <p:grpSpPr bwMode="auto">
            <a:xfrm>
              <a:off x="3892" y="2164"/>
              <a:ext cx="568" cy="376"/>
              <a:chOff x="3700" y="2212"/>
              <a:chExt cx="568" cy="376"/>
            </a:xfrm>
          </p:grpSpPr>
          <p:sp>
            <p:nvSpPr>
              <p:cNvPr id="161857" name="Rectangle 65"/>
              <p:cNvSpPr>
                <a:spLocks noChangeArrowheads="1"/>
              </p:cNvSpPr>
              <p:nvPr/>
            </p:nvSpPr>
            <p:spPr bwMode="auto">
              <a:xfrm>
                <a:off x="3700" y="2212"/>
                <a:ext cx="568" cy="376"/>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58" name="Line 66"/>
              <p:cNvSpPr>
                <a:spLocks noChangeShapeType="1"/>
              </p:cNvSpPr>
              <p:nvPr/>
            </p:nvSpPr>
            <p:spPr bwMode="auto">
              <a:xfrm>
                <a:off x="3844" y="2448"/>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59" name="Line 67"/>
              <p:cNvSpPr>
                <a:spLocks noChangeShapeType="1"/>
              </p:cNvSpPr>
              <p:nvPr/>
            </p:nvSpPr>
            <p:spPr bwMode="auto">
              <a:xfrm>
                <a:off x="3844" y="2352"/>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60" name="Line 68"/>
              <p:cNvSpPr>
                <a:spLocks noChangeShapeType="1"/>
              </p:cNvSpPr>
              <p:nvPr/>
            </p:nvSpPr>
            <p:spPr bwMode="auto">
              <a:xfrm>
                <a:off x="3844" y="2256"/>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61" name="Line 69"/>
              <p:cNvSpPr>
                <a:spLocks noChangeShapeType="1"/>
              </p:cNvSpPr>
              <p:nvPr/>
            </p:nvSpPr>
            <p:spPr bwMode="auto">
              <a:xfrm>
                <a:off x="3844" y="25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61862" name="Rectangle 70"/>
            <p:cNvSpPr>
              <a:spLocks noChangeArrowheads="1"/>
            </p:cNvSpPr>
            <p:nvPr/>
          </p:nvSpPr>
          <p:spPr bwMode="auto">
            <a:xfrm>
              <a:off x="2151" y="1344"/>
              <a:ext cx="642"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600"/>
                <a:t>- barrier -</a:t>
              </a:r>
            </a:p>
          </p:txBody>
        </p:sp>
        <p:sp>
          <p:nvSpPr>
            <p:cNvPr id="161863" name="Rectangle 71"/>
            <p:cNvSpPr>
              <a:spLocks noChangeArrowheads="1"/>
            </p:cNvSpPr>
            <p:nvPr/>
          </p:nvSpPr>
          <p:spPr bwMode="auto">
            <a:xfrm>
              <a:off x="1249" y="864"/>
              <a:ext cx="6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i="1"/>
                <a:t>process 1</a:t>
              </a:r>
            </a:p>
          </p:txBody>
        </p:sp>
        <p:sp>
          <p:nvSpPr>
            <p:cNvPr id="161864" name="Rectangle 72"/>
            <p:cNvSpPr>
              <a:spLocks noChangeArrowheads="1"/>
            </p:cNvSpPr>
            <p:nvPr/>
          </p:nvSpPr>
          <p:spPr bwMode="auto">
            <a:xfrm>
              <a:off x="2113" y="864"/>
              <a:ext cx="6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i="1"/>
                <a:t>process 2</a:t>
              </a:r>
            </a:p>
          </p:txBody>
        </p:sp>
        <p:sp>
          <p:nvSpPr>
            <p:cNvPr id="161865" name="Rectangle 73"/>
            <p:cNvSpPr>
              <a:spLocks noChangeArrowheads="1"/>
            </p:cNvSpPr>
            <p:nvPr/>
          </p:nvSpPr>
          <p:spPr bwMode="auto">
            <a:xfrm>
              <a:off x="2977" y="864"/>
              <a:ext cx="6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i="1"/>
                <a:t>process 3</a:t>
              </a:r>
            </a:p>
          </p:txBody>
        </p:sp>
        <p:sp>
          <p:nvSpPr>
            <p:cNvPr id="161866" name="Rectangle 74"/>
            <p:cNvSpPr>
              <a:spLocks noChangeArrowheads="1"/>
            </p:cNvSpPr>
            <p:nvPr/>
          </p:nvSpPr>
          <p:spPr bwMode="auto">
            <a:xfrm>
              <a:off x="3841" y="864"/>
              <a:ext cx="6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600" i="1"/>
                <a:t>process 4</a:t>
              </a:r>
            </a:p>
          </p:txBody>
        </p:sp>
        <p:sp>
          <p:nvSpPr>
            <p:cNvPr id="161867" name="Line 75"/>
            <p:cNvSpPr>
              <a:spLocks noChangeShapeType="1"/>
            </p:cNvSpPr>
            <p:nvPr/>
          </p:nvSpPr>
          <p:spPr bwMode="auto">
            <a:xfrm>
              <a:off x="912" y="1056"/>
              <a:ext cx="0" cy="1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1868" name="Text Box 76"/>
            <p:cNvSpPr txBox="1">
              <a:spLocks noChangeArrowheads="1"/>
            </p:cNvSpPr>
            <p:nvPr/>
          </p:nvSpPr>
          <p:spPr bwMode="auto">
            <a:xfrm>
              <a:off x="252" y="1470"/>
              <a:ext cx="6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it-IT"/>
                <a:t>wallclock</a:t>
              </a:r>
            </a:p>
            <a:p>
              <a:pPr algn="ctr"/>
              <a:r>
                <a:rPr lang="en-US" altLang="it-IT"/>
                <a:t>time</a:t>
              </a:r>
            </a:p>
          </p:txBody>
        </p:sp>
      </p:grpSp>
      <p:sp>
        <p:nvSpPr>
          <p:cNvPr id="2" name="Segnaposto data 1">
            <a:extLst>
              <a:ext uri="{FF2B5EF4-FFF2-40B4-BE49-F238E27FC236}">
                <a16:creationId xmlns:a16="http://schemas.microsoft.com/office/drawing/2014/main" id="{1A1E6ADF-D8CE-6529-D59A-3070C24CEC15}"/>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64038010-3CF8-851A-8E84-B49BD2D1D1C6}"/>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6B3A24C4-463F-789C-5A1D-331925B3D0E3}"/>
              </a:ext>
            </a:extLst>
          </p:cNvPr>
          <p:cNvSpPr>
            <a:spLocks noGrp="1"/>
          </p:cNvSpPr>
          <p:nvPr>
            <p:ph type="sldNum" sz="quarter" idx="4"/>
          </p:nvPr>
        </p:nvSpPr>
        <p:spPr/>
        <p:txBody>
          <a:bodyPr/>
          <a:lstStyle/>
          <a:p>
            <a:fld id="{9BFB3A76-8619-A843-8C67-B9C7C140DBAC}" type="slidenum">
              <a:rPr lang="en-US" smtClean="0"/>
              <a:t>47</a:t>
            </a:fld>
            <a:endParaRPr lang="en-US"/>
          </a:p>
        </p:txBody>
      </p:sp>
    </p:spTree>
    <p:extLst>
      <p:ext uri="{BB962C8B-B14F-4D97-AF65-F5344CB8AC3E}">
        <p14:creationId xmlns:p14="http://schemas.microsoft.com/office/powerpoint/2010/main" val="18988245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r>
              <a:rPr lang="en-US" altLang="it-IT"/>
              <a:t>Barrier Implementation</a:t>
            </a:r>
          </a:p>
        </p:txBody>
      </p:sp>
      <p:sp>
        <p:nvSpPr>
          <p:cNvPr id="163843" name="Rectangle 3"/>
          <p:cNvSpPr>
            <a:spLocks noGrp="1" noChangeArrowheads="1"/>
          </p:cNvSpPr>
          <p:nvPr>
            <p:ph type="body" idx="1"/>
          </p:nvPr>
        </p:nvSpPr>
        <p:spPr>
          <a:xfrm>
            <a:off x="381000" y="838200"/>
            <a:ext cx="8610600" cy="5870575"/>
          </a:xfrm>
        </p:spPr>
        <p:txBody>
          <a:bodyPr/>
          <a:lstStyle/>
          <a:p>
            <a:pPr>
              <a:buFontTx/>
              <a:buNone/>
            </a:pPr>
            <a:r>
              <a:rPr lang="en-US" altLang="it-IT" sz="2400"/>
              <a:t>Centralized Message-Passing Approach</a:t>
            </a:r>
          </a:p>
          <a:p>
            <a:r>
              <a:rPr lang="en-US" altLang="it-IT" sz="2400"/>
              <a:t>Central controller used to implement barrier</a:t>
            </a:r>
          </a:p>
          <a:p>
            <a:r>
              <a:rPr lang="en-US" altLang="it-IT" sz="2400"/>
              <a:t>2 step process</a:t>
            </a:r>
          </a:p>
          <a:p>
            <a:pPr lvl="1"/>
            <a:r>
              <a:rPr lang="en-US" altLang="it-IT" sz="2000"/>
              <a:t>Determine when barrier reached</a:t>
            </a:r>
          </a:p>
          <a:p>
            <a:pPr lvl="1"/>
            <a:r>
              <a:rPr lang="en-US" altLang="it-IT" sz="2000"/>
              <a:t>Broadcast message to release processes from the barrier</a:t>
            </a:r>
          </a:p>
          <a:p>
            <a:r>
              <a:rPr lang="en-US" altLang="it-IT" sz="2400"/>
              <a:t>Barrier primitive for non-controller processes:</a:t>
            </a:r>
          </a:p>
          <a:p>
            <a:pPr lvl="1"/>
            <a:r>
              <a:rPr lang="en-US" altLang="it-IT" sz="2000"/>
              <a:t>Send a message to central controller</a:t>
            </a:r>
          </a:p>
          <a:p>
            <a:pPr lvl="1"/>
            <a:r>
              <a:rPr lang="en-US" altLang="it-IT" sz="2000"/>
              <a:t>Wait for a reply</a:t>
            </a:r>
          </a:p>
          <a:p>
            <a:r>
              <a:rPr lang="en-US" altLang="it-IT" sz="2400"/>
              <a:t>Barrier primitive for controller process</a:t>
            </a:r>
          </a:p>
          <a:p>
            <a:pPr lvl="1"/>
            <a:r>
              <a:rPr lang="en-US" altLang="it-IT" sz="2000"/>
              <a:t>Receive barrier messages from other processes</a:t>
            </a:r>
          </a:p>
          <a:p>
            <a:pPr lvl="1"/>
            <a:r>
              <a:rPr lang="en-US" altLang="it-IT" sz="2000"/>
              <a:t>When a message is received from each process, broadcast message to release barrier</a:t>
            </a:r>
          </a:p>
          <a:p>
            <a:r>
              <a:rPr lang="en-US" altLang="it-IT" sz="2400"/>
              <a:t>Performance</a:t>
            </a:r>
          </a:p>
          <a:p>
            <a:pPr lvl="1"/>
            <a:r>
              <a:rPr lang="en-US" altLang="it-IT" sz="2000"/>
              <a:t>Controller must send and receive N-1 messages</a:t>
            </a:r>
          </a:p>
          <a:p>
            <a:pPr lvl="1"/>
            <a:r>
              <a:rPr lang="en-US" altLang="it-IT" sz="2000"/>
              <a:t>Potential bottleneck</a:t>
            </a:r>
          </a:p>
        </p:txBody>
      </p:sp>
      <p:sp>
        <p:nvSpPr>
          <p:cNvPr id="2" name="Segnaposto data 1">
            <a:extLst>
              <a:ext uri="{FF2B5EF4-FFF2-40B4-BE49-F238E27FC236}">
                <a16:creationId xmlns:a16="http://schemas.microsoft.com/office/drawing/2014/main" id="{BD95FE54-1982-86BE-05EC-05E532D91FAE}"/>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BCE691D3-FC93-5D50-7125-B62867997467}"/>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F73EB67D-A7A4-CF77-C44A-D85D9314B664}"/>
              </a:ext>
            </a:extLst>
          </p:cNvPr>
          <p:cNvSpPr>
            <a:spLocks noGrp="1"/>
          </p:cNvSpPr>
          <p:nvPr>
            <p:ph type="sldNum" sz="quarter" idx="4"/>
          </p:nvPr>
        </p:nvSpPr>
        <p:spPr/>
        <p:txBody>
          <a:bodyPr/>
          <a:lstStyle/>
          <a:p>
            <a:fld id="{9BFB3A76-8619-A843-8C67-B9C7C140DBAC}" type="slidenum">
              <a:rPr lang="en-US" smtClean="0"/>
              <a:t>48</a:t>
            </a:fld>
            <a:endParaRPr lang="en-US"/>
          </a:p>
        </p:txBody>
      </p:sp>
    </p:spTree>
    <p:extLst>
      <p:ext uri="{BB962C8B-B14F-4D97-AF65-F5344CB8AC3E}">
        <p14:creationId xmlns:p14="http://schemas.microsoft.com/office/powerpoint/2010/main" val="19373855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Effect transition="in" filter="dissolve">
                                      <p:cBhvr>
                                        <p:cTn id="7" dur="500"/>
                                        <p:tgtEl>
                                          <p:spTgt spid="163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3843">
                                            <p:txEl>
                                              <p:pRg st="1" end="1"/>
                                            </p:txEl>
                                          </p:spTgt>
                                        </p:tgtEl>
                                        <p:attrNameLst>
                                          <p:attrName>style.visibility</p:attrName>
                                        </p:attrNameLst>
                                      </p:cBhvr>
                                      <p:to>
                                        <p:strVal val="visible"/>
                                      </p:to>
                                    </p:set>
                                    <p:animEffect transition="in" filter="dissolve">
                                      <p:cBhvr>
                                        <p:cTn id="12" dur="500"/>
                                        <p:tgtEl>
                                          <p:spTgt spid="1638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3843">
                                            <p:txEl>
                                              <p:pRg st="2" end="2"/>
                                            </p:txEl>
                                          </p:spTgt>
                                        </p:tgtEl>
                                        <p:attrNameLst>
                                          <p:attrName>style.visibility</p:attrName>
                                        </p:attrNameLst>
                                      </p:cBhvr>
                                      <p:to>
                                        <p:strVal val="visible"/>
                                      </p:to>
                                    </p:set>
                                    <p:animEffect transition="in" filter="dissolve">
                                      <p:cBhvr>
                                        <p:cTn id="17" dur="500"/>
                                        <p:tgtEl>
                                          <p:spTgt spid="1638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3843">
                                            <p:txEl>
                                              <p:pRg st="3" end="3"/>
                                            </p:txEl>
                                          </p:spTgt>
                                        </p:tgtEl>
                                        <p:attrNameLst>
                                          <p:attrName>style.visibility</p:attrName>
                                        </p:attrNameLst>
                                      </p:cBhvr>
                                      <p:to>
                                        <p:strVal val="visible"/>
                                      </p:to>
                                    </p:set>
                                    <p:animEffect transition="in" filter="dissolve">
                                      <p:cBhvr>
                                        <p:cTn id="22" dur="500"/>
                                        <p:tgtEl>
                                          <p:spTgt spid="1638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3843">
                                            <p:txEl>
                                              <p:pRg st="4" end="4"/>
                                            </p:txEl>
                                          </p:spTgt>
                                        </p:tgtEl>
                                        <p:attrNameLst>
                                          <p:attrName>style.visibility</p:attrName>
                                        </p:attrNameLst>
                                      </p:cBhvr>
                                      <p:to>
                                        <p:strVal val="visible"/>
                                      </p:to>
                                    </p:set>
                                    <p:animEffect transition="in" filter="dissolve">
                                      <p:cBhvr>
                                        <p:cTn id="27" dur="500"/>
                                        <p:tgtEl>
                                          <p:spTgt spid="1638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3843">
                                            <p:txEl>
                                              <p:pRg st="5" end="5"/>
                                            </p:txEl>
                                          </p:spTgt>
                                        </p:tgtEl>
                                        <p:attrNameLst>
                                          <p:attrName>style.visibility</p:attrName>
                                        </p:attrNameLst>
                                      </p:cBhvr>
                                      <p:to>
                                        <p:strVal val="visible"/>
                                      </p:to>
                                    </p:set>
                                    <p:animEffect transition="in" filter="dissolve">
                                      <p:cBhvr>
                                        <p:cTn id="32" dur="500"/>
                                        <p:tgtEl>
                                          <p:spTgt spid="1638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3843">
                                            <p:txEl>
                                              <p:pRg st="6" end="6"/>
                                            </p:txEl>
                                          </p:spTgt>
                                        </p:tgtEl>
                                        <p:attrNameLst>
                                          <p:attrName>style.visibility</p:attrName>
                                        </p:attrNameLst>
                                      </p:cBhvr>
                                      <p:to>
                                        <p:strVal val="visible"/>
                                      </p:to>
                                    </p:set>
                                    <p:animEffect transition="in" filter="dissolve">
                                      <p:cBhvr>
                                        <p:cTn id="37" dur="500"/>
                                        <p:tgtEl>
                                          <p:spTgt spid="16384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3843">
                                            <p:txEl>
                                              <p:pRg st="7" end="7"/>
                                            </p:txEl>
                                          </p:spTgt>
                                        </p:tgtEl>
                                        <p:attrNameLst>
                                          <p:attrName>style.visibility</p:attrName>
                                        </p:attrNameLst>
                                      </p:cBhvr>
                                      <p:to>
                                        <p:strVal val="visible"/>
                                      </p:to>
                                    </p:set>
                                    <p:animEffect transition="in" filter="dissolve">
                                      <p:cBhvr>
                                        <p:cTn id="42" dur="500"/>
                                        <p:tgtEl>
                                          <p:spTgt spid="16384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3843">
                                            <p:txEl>
                                              <p:pRg st="8" end="8"/>
                                            </p:txEl>
                                          </p:spTgt>
                                        </p:tgtEl>
                                        <p:attrNameLst>
                                          <p:attrName>style.visibility</p:attrName>
                                        </p:attrNameLst>
                                      </p:cBhvr>
                                      <p:to>
                                        <p:strVal val="visible"/>
                                      </p:to>
                                    </p:set>
                                    <p:animEffect transition="in" filter="dissolve">
                                      <p:cBhvr>
                                        <p:cTn id="47" dur="500"/>
                                        <p:tgtEl>
                                          <p:spTgt spid="16384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63843">
                                            <p:txEl>
                                              <p:pRg st="9" end="9"/>
                                            </p:txEl>
                                          </p:spTgt>
                                        </p:tgtEl>
                                        <p:attrNameLst>
                                          <p:attrName>style.visibility</p:attrName>
                                        </p:attrNameLst>
                                      </p:cBhvr>
                                      <p:to>
                                        <p:strVal val="visible"/>
                                      </p:to>
                                    </p:set>
                                    <p:animEffect transition="in" filter="dissolve">
                                      <p:cBhvr>
                                        <p:cTn id="52" dur="500"/>
                                        <p:tgtEl>
                                          <p:spTgt spid="16384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63843">
                                            <p:txEl>
                                              <p:pRg st="10" end="10"/>
                                            </p:txEl>
                                          </p:spTgt>
                                        </p:tgtEl>
                                        <p:attrNameLst>
                                          <p:attrName>style.visibility</p:attrName>
                                        </p:attrNameLst>
                                      </p:cBhvr>
                                      <p:to>
                                        <p:strVal val="visible"/>
                                      </p:to>
                                    </p:set>
                                    <p:animEffect transition="in" filter="dissolve">
                                      <p:cBhvr>
                                        <p:cTn id="57" dur="500"/>
                                        <p:tgtEl>
                                          <p:spTgt spid="163843">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63843">
                                            <p:txEl>
                                              <p:pRg st="11" end="11"/>
                                            </p:txEl>
                                          </p:spTgt>
                                        </p:tgtEl>
                                        <p:attrNameLst>
                                          <p:attrName>style.visibility</p:attrName>
                                        </p:attrNameLst>
                                      </p:cBhvr>
                                      <p:to>
                                        <p:strVal val="visible"/>
                                      </p:to>
                                    </p:set>
                                    <p:animEffect transition="in" filter="dissolve">
                                      <p:cBhvr>
                                        <p:cTn id="62" dur="500"/>
                                        <p:tgtEl>
                                          <p:spTgt spid="163843">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63843">
                                            <p:txEl>
                                              <p:pRg st="12" end="12"/>
                                            </p:txEl>
                                          </p:spTgt>
                                        </p:tgtEl>
                                        <p:attrNameLst>
                                          <p:attrName>style.visibility</p:attrName>
                                        </p:attrNameLst>
                                      </p:cBhvr>
                                      <p:to>
                                        <p:strVal val="visible"/>
                                      </p:to>
                                    </p:set>
                                    <p:animEffect transition="in" filter="dissolve">
                                      <p:cBhvr>
                                        <p:cTn id="67" dur="500"/>
                                        <p:tgtEl>
                                          <p:spTgt spid="163843">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63843">
                                            <p:txEl>
                                              <p:pRg st="13" end="13"/>
                                            </p:txEl>
                                          </p:spTgt>
                                        </p:tgtEl>
                                        <p:attrNameLst>
                                          <p:attrName>style.visibility</p:attrName>
                                        </p:attrNameLst>
                                      </p:cBhvr>
                                      <p:to>
                                        <p:strVal val="visible"/>
                                      </p:to>
                                    </p:set>
                                    <p:animEffect transition="in" filter="dissolve">
                                      <p:cBhvr>
                                        <p:cTn id="72" dur="500"/>
                                        <p:tgtEl>
                                          <p:spTgt spid="16384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bldLvl="2"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236538" y="149426"/>
            <a:ext cx="8670925" cy="582211"/>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t>Algorithm for Barrier Synchronization</a:t>
            </a:r>
          </a:p>
        </p:txBody>
      </p:sp>
      <p:sp>
        <p:nvSpPr>
          <p:cNvPr id="168963" name="Rectangle 3"/>
          <p:cNvSpPr>
            <a:spLocks noChangeArrowheads="1"/>
          </p:cNvSpPr>
          <p:nvPr/>
        </p:nvSpPr>
        <p:spPr bwMode="auto">
          <a:xfrm>
            <a:off x="221933" y="1124744"/>
            <a:ext cx="8670925" cy="3168352"/>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20000"/>
              </a:spcBef>
            </a:pPr>
            <a:endParaRPr lang="en-US" altLang="it-IT" sz="2000">
              <a:solidFill>
                <a:srgbClr val="000000"/>
              </a:solidFill>
              <a:latin typeface="Helvetica" charset="0"/>
            </a:endParaRPr>
          </a:p>
          <a:p>
            <a:pPr>
              <a:spcBef>
                <a:spcPct val="20000"/>
              </a:spcBef>
            </a:pPr>
            <a:r>
              <a:rPr lang="en-US" altLang="it-IT" b="1">
                <a:solidFill>
                  <a:srgbClr val="000000"/>
                </a:solidFill>
                <a:latin typeface="Helvetica" charset="0"/>
              </a:rPr>
              <a:t>WHILE </a:t>
            </a:r>
            <a:r>
              <a:rPr lang="en-US" altLang="it-IT">
                <a:solidFill>
                  <a:srgbClr val="000000"/>
                </a:solidFill>
                <a:latin typeface="Helvetica" charset="0"/>
              </a:rPr>
              <a:t>(simulation is not over)</a:t>
            </a:r>
          </a:p>
          <a:p>
            <a:pPr>
              <a:spcBef>
                <a:spcPct val="20000"/>
              </a:spcBef>
            </a:pPr>
            <a:r>
              <a:rPr lang="en-US" altLang="it-IT">
                <a:solidFill>
                  <a:srgbClr val="000000"/>
                </a:solidFill>
                <a:latin typeface="Helvetica" charset="0"/>
              </a:rPr>
              <a:t>	identify all events that are safe to process </a:t>
            </a:r>
          </a:p>
          <a:p>
            <a:pPr>
              <a:spcBef>
                <a:spcPct val="20000"/>
              </a:spcBef>
            </a:pPr>
            <a:r>
              <a:rPr lang="en-US" altLang="it-IT">
                <a:solidFill>
                  <a:srgbClr val="000000"/>
                </a:solidFill>
                <a:latin typeface="Helvetica" charset="0"/>
              </a:rPr>
              <a:t>	</a:t>
            </a:r>
            <a:r>
              <a:rPr lang="en-US" altLang="it-IT" i="1">
                <a:solidFill>
                  <a:srgbClr val="FC0128"/>
                </a:solidFill>
                <a:latin typeface="Helvetica" charset="0"/>
              </a:rPr>
              <a:t>barrier synchronization </a:t>
            </a:r>
            <a:endParaRPr lang="en-US" altLang="it-IT">
              <a:solidFill>
                <a:srgbClr val="000000"/>
              </a:solidFill>
              <a:latin typeface="Helvetica" charset="0"/>
            </a:endParaRPr>
          </a:p>
          <a:p>
            <a:pPr>
              <a:spcBef>
                <a:spcPct val="20000"/>
              </a:spcBef>
            </a:pPr>
            <a:r>
              <a:rPr lang="en-US" altLang="it-IT">
                <a:solidFill>
                  <a:srgbClr val="000000"/>
                </a:solidFill>
                <a:latin typeface="Helvetica" charset="0"/>
              </a:rPr>
              <a:t>	process safe events </a:t>
            </a:r>
          </a:p>
          <a:p>
            <a:pPr>
              <a:spcBef>
                <a:spcPct val="20000"/>
              </a:spcBef>
            </a:pPr>
            <a:r>
              <a:rPr lang="en-US" altLang="it-IT">
                <a:solidFill>
                  <a:srgbClr val="000000"/>
                </a:solidFill>
                <a:latin typeface="Helvetica" charset="0"/>
              </a:rPr>
              <a:t>	</a:t>
            </a:r>
            <a:r>
              <a:rPr lang="en-US" altLang="it-IT" i="1">
                <a:solidFill>
                  <a:srgbClr val="FC0128"/>
                </a:solidFill>
                <a:latin typeface="Helvetica" charset="0"/>
              </a:rPr>
              <a:t>barrier synchronization </a:t>
            </a:r>
          </a:p>
          <a:p>
            <a:pPr>
              <a:spcBef>
                <a:spcPct val="20000"/>
              </a:spcBef>
            </a:pPr>
            <a:r>
              <a:rPr lang="en-US" altLang="it-IT" b="1">
                <a:solidFill>
                  <a:srgbClr val="000000"/>
                </a:solidFill>
                <a:latin typeface="Helvetica" charset="0"/>
              </a:rPr>
              <a:t>END-LOOP</a:t>
            </a:r>
          </a:p>
        </p:txBody>
      </p:sp>
      <p:sp>
        <p:nvSpPr>
          <p:cNvPr id="3" name="CasellaDiTesto 2">
            <a:extLst>
              <a:ext uri="{FF2B5EF4-FFF2-40B4-BE49-F238E27FC236}">
                <a16:creationId xmlns:a16="http://schemas.microsoft.com/office/drawing/2014/main" id="{881A8493-D897-2690-2530-E14558A0E7F4}"/>
              </a:ext>
            </a:extLst>
          </p:cNvPr>
          <p:cNvSpPr txBox="1"/>
          <p:nvPr/>
        </p:nvSpPr>
        <p:spPr>
          <a:xfrm>
            <a:off x="221932" y="4842520"/>
            <a:ext cx="8670925" cy="369332"/>
          </a:xfrm>
          <a:prstGeom prst="rect">
            <a:avLst/>
          </a:prstGeom>
          <a:noFill/>
        </p:spPr>
        <p:txBody>
          <a:bodyPr wrap="square">
            <a:spAutoFit/>
          </a:bodyPr>
          <a:lstStyle/>
          <a:p>
            <a:endParaRPr lang="en-US"/>
          </a:p>
        </p:txBody>
      </p:sp>
      <p:sp>
        <p:nvSpPr>
          <p:cNvPr id="4" name="Rectangle 4">
            <a:extLst>
              <a:ext uri="{FF2B5EF4-FFF2-40B4-BE49-F238E27FC236}">
                <a16:creationId xmlns:a16="http://schemas.microsoft.com/office/drawing/2014/main" id="{5F6D4444-A447-343A-175A-48B20E4195C4}"/>
              </a:ext>
            </a:extLst>
          </p:cNvPr>
          <p:cNvSpPr>
            <a:spLocks noChangeArrowheads="1"/>
          </p:cNvSpPr>
          <p:nvPr/>
        </p:nvSpPr>
        <p:spPr bwMode="auto">
          <a:xfrm>
            <a:off x="221555" y="4293096"/>
            <a:ext cx="8670925" cy="2232248"/>
          </a:xfrm>
          <a:prstGeom prst="rect">
            <a:avLst/>
          </a:prstGeom>
          <a:solidFill>
            <a:srgbClr val="FFC5C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p>
            <a:r>
              <a:rPr lang="en-US" sz="2400"/>
              <a:t>The principal drawback with the centralized approach is that it does </a:t>
            </a:r>
            <a:r>
              <a:rPr lang="en-US" sz="2400" b="1"/>
              <a:t>not scale to large numbers of processors</a:t>
            </a:r>
            <a:r>
              <a:rPr lang="en-US" sz="2400"/>
              <a:t>, since the central controller, become a </a:t>
            </a:r>
            <a:r>
              <a:rPr lang="en-US" sz="2400" b="1" i="1"/>
              <a:t>bottleneck</a:t>
            </a:r>
            <a:r>
              <a:rPr lang="en-US" sz="2400"/>
              <a:t>. </a:t>
            </a:r>
          </a:p>
          <a:p>
            <a:r>
              <a:rPr lang="en-US" sz="2400"/>
              <a:t>The controller must perform N- 1 message sends and receives on each barrier operation.</a:t>
            </a:r>
          </a:p>
        </p:txBody>
      </p:sp>
      <p:sp>
        <p:nvSpPr>
          <p:cNvPr id="2" name="Segnaposto data 1">
            <a:extLst>
              <a:ext uri="{FF2B5EF4-FFF2-40B4-BE49-F238E27FC236}">
                <a16:creationId xmlns:a16="http://schemas.microsoft.com/office/drawing/2014/main" id="{851E5F7D-4158-C0E6-2E09-C952DB610C1E}"/>
              </a:ext>
            </a:extLst>
          </p:cNvPr>
          <p:cNvSpPr>
            <a:spLocks noGrp="1"/>
          </p:cNvSpPr>
          <p:nvPr>
            <p:ph type="dt" sz="half" idx="2"/>
          </p:nvPr>
        </p:nvSpPr>
        <p:spPr/>
        <p:txBody>
          <a:bodyPr/>
          <a:lstStyle/>
          <a:p>
            <a:r>
              <a:rPr lang="it-IT"/>
              <a:t>Distributed Simulation Systems</a:t>
            </a:r>
            <a:endParaRPr lang="en-US"/>
          </a:p>
        </p:txBody>
      </p:sp>
      <p:sp>
        <p:nvSpPr>
          <p:cNvPr id="5" name="Segnaposto piè di pagina 4">
            <a:extLst>
              <a:ext uri="{FF2B5EF4-FFF2-40B4-BE49-F238E27FC236}">
                <a16:creationId xmlns:a16="http://schemas.microsoft.com/office/drawing/2014/main" id="{B66B1ACF-758A-7D8A-06CD-8F2984F078B0}"/>
              </a:ext>
            </a:extLst>
          </p:cNvPr>
          <p:cNvSpPr>
            <a:spLocks noGrp="1"/>
          </p:cNvSpPr>
          <p:nvPr>
            <p:ph type="ftr" sz="quarter" idx="3"/>
          </p:nvPr>
        </p:nvSpPr>
        <p:spPr/>
        <p:txBody>
          <a:bodyPr/>
          <a:lstStyle/>
          <a:p>
            <a:r>
              <a:rPr lang="en-US"/>
              <a:t>paolo.bocciarelli@uniroma2.it</a:t>
            </a:r>
          </a:p>
        </p:txBody>
      </p:sp>
      <p:sp>
        <p:nvSpPr>
          <p:cNvPr id="6" name="Segnaposto numero diapositiva 5">
            <a:extLst>
              <a:ext uri="{FF2B5EF4-FFF2-40B4-BE49-F238E27FC236}">
                <a16:creationId xmlns:a16="http://schemas.microsoft.com/office/drawing/2014/main" id="{55EDE110-D0A7-54FC-53EC-95293CC79552}"/>
              </a:ext>
            </a:extLst>
          </p:cNvPr>
          <p:cNvSpPr>
            <a:spLocks noGrp="1"/>
          </p:cNvSpPr>
          <p:nvPr>
            <p:ph type="sldNum" sz="quarter" idx="4"/>
          </p:nvPr>
        </p:nvSpPr>
        <p:spPr/>
        <p:txBody>
          <a:bodyPr/>
          <a:lstStyle/>
          <a:p>
            <a:fld id="{9BFB3A76-8619-A843-8C67-B9C7C140DBAC}" type="slidenum">
              <a:rPr lang="en-US" smtClean="0"/>
              <a:t>49</a:t>
            </a:fld>
            <a:endParaRPr lang="en-US"/>
          </a:p>
        </p:txBody>
      </p:sp>
    </p:spTree>
    <p:extLst>
      <p:ext uri="{BB962C8B-B14F-4D97-AF65-F5344CB8AC3E}">
        <p14:creationId xmlns:p14="http://schemas.microsoft.com/office/powerpoint/2010/main" val="13214029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dissolve">
                                      <p:cBhvr>
                                        <p:cTn id="7" dur="500"/>
                                        <p:tgtEl>
                                          <p:spTgt spid="4">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dissolve">
                                      <p:cBhvr>
                                        <p:cTn id="10" dur="500"/>
                                        <p:tgtEl>
                                          <p:spTgt spid="4">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dissolve">
                                      <p:cBhvr>
                                        <p:cTn id="13"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en-US" altLang="it-IT"/>
              <a:t>Broadcast Barrier</a:t>
            </a:r>
          </a:p>
        </p:txBody>
      </p:sp>
      <p:sp>
        <p:nvSpPr>
          <p:cNvPr id="169987" name="Rectangle 3"/>
          <p:cNvSpPr>
            <a:spLocks noGrp="1" noChangeArrowheads="1"/>
          </p:cNvSpPr>
          <p:nvPr>
            <p:ph type="body" idx="1"/>
          </p:nvPr>
        </p:nvSpPr>
        <p:spPr>
          <a:xfrm>
            <a:off x="319088" y="4343400"/>
            <a:ext cx="8520112" cy="1768475"/>
          </a:xfrm>
        </p:spPr>
        <p:txBody>
          <a:bodyPr/>
          <a:lstStyle/>
          <a:p>
            <a:pPr>
              <a:buFontTx/>
              <a:buNone/>
            </a:pPr>
            <a:r>
              <a:rPr lang="en-US" altLang="it-IT" sz="2400"/>
              <a:t>1 step approach</a:t>
            </a:r>
          </a:p>
          <a:p>
            <a:r>
              <a:rPr lang="en-US" altLang="it-IT" sz="2400"/>
              <a:t>Each process broadcasts message when it reaches barrier</a:t>
            </a:r>
          </a:p>
          <a:p>
            <a:r>
              <a:rPr lang="en-US" altLang="it-IT" sz="2400"/>
              <a:t>Wait until a message is received from each other process</a:t>
            </a:r>
          </a:p>
          <a:p>
            <a:r>
              <a:rPr lang="en-US" altLang="it-IT" sz="2400"/>
              <a:t>N (N-1) messages</a:t>
            </a:r>
          </a:p>
        </p:txBody>
      </p:sp>
      <p:grpSp>
        <p:nvGrpSpPr>
          <p:cNvPr id="170009" name="Group 25"/>
          <p:cNvGrpSpPr>
            <a:grpSpLocks/>
          </p:cNvGrpSpPr>
          <p:nvPr/>
        </p:nvGrpSpPr>
        <p:grpSpPr bwMode="auto">
          <a:xfrm>
            <a:off x="2743200" y="1676400"/>
            <a:ext cx="3429000" cy="2133600"/>
            <a:chOff x="1728" y="1056"/>
            <a:chExt cx="2160" cy="1344"/>
          </a:xfrm>
        </p:grpSpPr>
        <p:sp>
          <p:nvSpPr>
            <p:cNvPr id="169996" name="Line 12"/>
            <p:cNvSpPr>
              <a:spLocks noChangeShapeType="1"/>
            </p:cNvSpPr>
            <p:nvPr/>
          </p:nvSpPr>
          <p:spPr bwMode="auto">
            <a:xfrm flipV="1">
              <a:off x="1872" y="1296"/>
              <a:ext cx="528"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9997" name="Line 13"/>
            <p:cNvSpPr>
              <a:spLocks noChangeShapeType="1"/>
            </p:cNvSpPr>
            <p:nvPr/>
          </p:nvSpPr>
          <p:spPr bwMode="auto">
            <a:xfrm flipV="1">
              <a:off x="1872" y="1248"/>
              <a:ext cx="1104" cy="10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9998" name="Line 14"/>
            <p:cNvSpPr>
              <a:spLocks noChangeShapeType="1"/>
            </p:cNvSpPr>
            <p:nvPr/>
          </p:nvSpPr>
          <p:spPr bwMode="auto">
            <a:xfrm flipV="1">
              <a:off x="1872" y="1200"/>
              <a:ext cx="1728" cy="105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9999" name="Line 15"/>
            <p:cNvSpPr>
              <a:spLocks noChangeShapeType="1"/>
            </p:cNvSpPr>
            <p:nvPr/>
          </p:nvSpPr>
          <p:spPr bwMode="auto">
            <a:xfrm flipH="1" flipV="1">
              <a:off x="1872" y="1296"/>
              <a:ext cx="624"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0" name="Line 16"/>
            <p:cNvSpPr>
              <a:spLocks noChangeShapeType="1"/>
            </p:cNvSpPr>
            <p:nvPr/>
          </p:nvSpPr>
          <p:spPr bwMode="auto">
            <a:xfrm flipV="1">
              <a:off x="2496" y="1296"/>
              <a:ext cx="576"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1" name="Line 17"/>
            <p:cNvSpPr>
              <a:spLocks noChangeShapeType="1"/>
            </p:cNvSpPr>
            <p:nvPr/>
          </p:nvSpPr>
          <p:spPr bwMode="auto">
            <a:xfrm flipV="1">
              <a:off x="2496" y="1296"/>
              <a:ext cx="1104"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2" name="Line 18"/>
            <p:cNvSpPr>
              <a:spLocks noChangeShapeType="1"/>
            </p:cNvSpPr>
            <p:nvPr/>
          </p:nvSpPr>
          <p:spPr bwMode="auto">
            <a:xfrm flipH="1" flipV="1">
              <a:off x="1968" y="1296"/>
              <a:ext cx="1152"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3" name="Line 19"/>
            <p:cNvSpPr>
              <a:spLocks noChangeShapeType="1"/>
            </p:cNvSpPr>
            <p:nvPr/>
          </p:nvSpPr>
          <p:spPr bwMode="auto">
            <a:xfrm flipH="1" flipV="1">
              <a:off x="2496" y="1296"/>
              <a:ext cx="624"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4" name="Line 20"/>
            <p:cNvSpPr>
              <a:spLocks noChangeShapeType="1"/>
            </p:cNvSpPr>
            <p:nvPr/>
          </p:nvSpPr>
          <p:spPr bwMode="auto">
            <a:xfrm flipV="1">
              <a:off x="3120" y="1296"/>
              <a:ext cx="624"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5" name="Line 21"/>
            <p:cNvSpPr>
              <a:spLocks noChangeShapeType="1"/>
            </p:cNvSpPr>
            <p:nvPr/>
          </p:nvSpPr>
          <p:spPr bwMode="auto">
            <a:xfrm flipH="1" flipV="1">
              <a:off x="1968" y="1200"/>
              <a:ext cx="1776" cy="105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6" name="Line 22"/>
            <p:cNvSpPr>
              <a:spLocks noChangeShapeType="1"/>
            </p:cNvSpPr>
            <p:nvPr/>
          </p:nvSpPr>
          <p:spPr bwMode="auto">
            <a:xfrm flipH="1" flipV="1">
              <a:off x="2592" y="1248"/>
              <a:ext cx="1152" cy="10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007" name="Line 23"/>
            <p:cNvSpPr>
              <a:spLocks noChangeShapeType="1"/>
            </p:cNvSpPr>
            <p:nvPr/>
          </p:nvSpPr>
          <p:spPr bwMode="auto">
            <a:xfrm flipH="1" flipV="1">
              <a:off x="3216" y="1296"/>
              <a:ext cx="528"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9988" name="Oval 4"/>
            <p:cNvSpPr>
              <a:spLocks noChangeArrowheads="1"/>
            </p:cNvSpPr>
            <p:nvPr/>
          </p:nvSpPr>
          <p:spPr bwMode="auto">
            <a:xfrm>
              <a:off x="1760" y="2144"/>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0</a:t>
              </a:r>
            </a:p>
          </p:txBody>
        </p:sp>
        <p:sp>
          <p:nvSpPr>
            <p:cNvPr id="169989" name="Oval 5"/>
            <p:cNvSpPr>
              <a:spLocks noChangeArrowheads="1"/>
            </p:cNvSpPr>
            <p:nvPr/>
          </p:nvSpPr>
          <p:spPr bwMode="auto">
            <a:xfrm>
              <a:off x="2384" y="2144"/>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1</a:t>
              </a:r>
            </a:p>
          </p:txBody>
        </p:sp>
        <p:sp>
          <p:nvSpPr>
            <p:cNvPr id="169990" name="Oval 6"/>
            <p:cNvSpPr>
              <a:spLocks noChangeArrowheads="1"/>
            </p:cNvSpPr>
            <p:nvPr/>
          </p:nvSpPr>
          <p:spPr bwMode="auto">
            <a:xfrm>
              <a:off x="3008" y="2144"/>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2</a:t>
              </a:r>
            </a:p>
          </p:txBody>
        </p:sp>
        <p:sp>
          <p:nvSpPr>
            <p:cNvPr id="169991" name="Oval 7"/>
            <p:cNvSpPr>
              <a:spLocks noChangeArrowheads="1"/>
            </p:cNvSpPr>
            <p:nvPr/>
          </p:nvSpPr>
          <p:spPr bwMode="auto">
            <a:xfrm>
              <a:off x="3632" y="2144"/>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3</a:t>
              </a:r>
            </a:p>
          </p:txBody>
        </p:sp>
        <p:sp>
          <p:nvSpPr>
            <p:cNvPr id="169992" name="Oval 8"/>
            <p:cNvSpPr>
              <a:spLocks noChangeArrowheads="1"/>
            </p:cNvSpPr>
            <p:nvPr/>
          </p:nvSpPr>
          <p:spPr bwMode="auto">
            <a:xfrm>
              <a:off x="1728" y="1056"/>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0</a:t>
              </a:r>
            </a:p>
          </p:txBody>
        </p:sp>
        <p:sp>
          <p:nvSpPr>
            <p:cNvPr id="169993" name="Oval 9"/>
            <p:cNvSpPr>
              <a:spLocks noChangeArrowheads="1"/>
            </p:cNvSpPr>
            <p:nvPr/>
          </p:nvSpPr>
          <p:spPr bwMode="auto">
            <a:xfrm>
              <a:off x="2352" y="1056"/>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1</a:t>
              </a:r>
            </a:p>
          </p:txBody>
        </p:sp>
        <p:sp>
          <p:nvSpPr>
            <p:cNvPr id="169994" name="Oval 10"/>
            <p:cNvSpPr>
              <a:spLocks noChangeArrowheads="1"/>
            </p:cNvSpPr>
            <p:nvPr/>
          </p:nvSpPr>
          <p:spPr bwMode="auto">
            <a:xfrm>
              <a:off x="2976" y="1056"/>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2</a:t>
              </a:r>
            </a:p>
          </p:txBody>
        </p:sp>
        <p:sp>
          <p:nvSpPr>
            <p:cNvPr id="169995" name="Oval 11"/>
            <p:cNvSpPr>
              <a:spLocks noChangeArrowheads="1"/>
            </p:cNvSpPr>
            <p:nvPr/>
          </p:nvSpPr>
          <p:spPr bwMode="auto">
            <a:xfrm>
              <a:off x="3600" y="1056"/>
              <a:ext cx="256" cy="256"/>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1400">
                  <a:latin typeface="Times" charset="0"/>
                </a:rPr>
                <a:t>3</a:t>
              </a:r>
            </a:p>
          </p:txBody>
        </p:sp>
      </p:grpSp>
      <p:sp>
        <p:nvSpPr>
          <p:cNvPr id="2" name="Segnaposto data 1">
            <a:extLst>
              <a:ext uri="{FF2B5EF4-FFF2-40B4-BE49-F238E27FC236}">
                <a16:creationId xmlns:a16="http://schemas.microsoft.com/office/drawing/2014/main" id="{EC756D94-CE9B-9D97-A0D2-7BDCC494D34E}"/>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896B725F-88B8-3C2D-A126-B389ADCF7734}"/>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2A37FC60-77EF-2D52-690A-B4D09C8413B1}"/>
              </a:ext>
            </a:extLst>
          </p:cNvPr>
          <p:cNvSpPr>
            <a:spLocks noGrp="1"/>
          </p:cNvSpPr>
          <p:nvPr>
            <p:ph type="sldNum" sz="quarter" idx="4"/>
          </p:nvPr>
        </p:nvSpPr>
        <p:spPr/>
        <p:txBody>
          <a:bodyPr/>
          <a:lstStyle/>
          <a:p>
            <a:fld id="{9BFB3A76-8619-A843-8C67-B9C7C140DBAC}" type="slidenum">
              <a:rPr lang="en-US" smtClean="0"/>
              <a:t>50</a:t>
            </a:fld>
            <a:endParaRPr lang="en-US"/>
          </a:p>
        </p:txBody>
      </p:sp>
    </p:spTree>
    <p:extLst>
      <p:ext uri="{BB962C8B-B14F-4D97-AF65-F5344CB8AC3E}">
        <p14:creationId xmlns:p14="http://schemas.microsoft.com/office/powerpoint/2010/main" val="14910426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dissolve">
                                      <p:cBhvr>
                                        <p:cTn id="7" dur="500"/>
                                        <p:tgtEl>
                                          <p:spTgt spid="169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9987">
                                            <p:txEl>
                                              <p:pRg st="1" end="1"/>
                                            </p:txEl>
                                          </p:spTgt>
                                        </p:tgtEl>
                                        <p:attrNameLst>
                                          <p:attrName>style.visibility</p:attrName>
                                        </p:attrNameLst>
                                      </p:cBhvr>
                                      <p:to>
                                        <p:strVal val="visible"/>
                                      </p:to>
                                    </p:set>
                                    <p:animEffect transition="in" filter="dissolve">
                                      <p:cBhvr>
                                        <p:cTn id="12" dur="500"/>
                                        <p:tgtEl>
                                          <p:spTgt spid="169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9987">
                                            <p:txEl>
                                              <p:pRg st="2" end="2"/>
                                            </p:txEl>
                                          </p:spTgt>
                                        </p:tgtEl>
                                        <p:attrNameLst>
                                          <p:attrName>style.visibility</p:attrName>
                                        </p:attrNameLst>
                                      </p:cBhvr>
                                      <p:to>
                                        <p:strVal val="visible"/>
                                      </p:to>
                                    </p:set>
                                    <p:animEffect transition="in" filter="dissolve">
                                      <p:cBhvr>
                                        <p:cTn id="17" dur="500"/>
                                        <p:tgtEl>
                                          <p:spTgt spid="1699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9987">
                                            <p:txEl>
                                              <p:pRg st="3" end="3"/>
                                            </p:txEl>
                                          </p:spTgt>
                                        </p:tgtEl>
                                        <p:attrNameLst>
                                          <p:attrName>style.visibility</p:attrName>
                                        </p:attrNameLst>
                                      </p:cBhvr>
                                      <p:to>
                                        <p:strVal val="visible"/>
                                      </p:to>
                                    </p:set>
                                    <p:animEffect transition="in" filter="dissolve">
                                      <p:cBhvr>
                                        <p:cTn id="22" dur="500"/>
                                        <p:tgtEl>
                                          <p:spTgt spid="1699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70009"/>
                                        </p:tgtEl>
                                        <p:attrNameLst>
                                          <p:attrName>style.visibility</p:attrName>
                                        </p:attrNameLst>
                                      </p:cBhvr>
                                      <p:to>
                                        <p:strVal val="visible"/>
                                      </p:to>
                                    </p:set>
                                    <p:animEffect transition="in" filter="dissolve">
                                      <p:cBhvr>
                                        <p:cTn id="27" dur="500"/>
                                        <p:tgtEl>
                                          <p:spTgt spid="170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en-US" altLang="it-IT"/>
              <a:t>Tree Barrier</a:t>
            </a:r>
          </a:p>
        </p:txBody>
      </p:sp>
      <p:sp>
        <p:nvSpPr>
          <p:cNvPr id="164867" name="Rectangle 3"/>
          <p:cNvSpPr>
            <a:spLocks noGrp="1" noChangeArrowheads="1"/>
          </p:cNvSpPr>
          <p:nvPr>
            <p:ph type="body" idx="1"/>
          </p:nvPr>
        </p:nvSpPr>
        <p:spPr>
          <a:xfrm>
            <a:off x="395288" y="3789040"/>
            <a:ext cx="8520112" cy="2863850"/>
          </a:xfrm>
        </p:spPr>
        <p:txBody>
          <a:bodyPr/>
          <a:lstStyle/>
          <a:p>
            <a:r>
              <a:rPr lang="en-US" altLang="it-IT" sz="2400"/>
              <a:t>Organize processes into a tree</a:t>
            </a:r>
          </a:p>
          <a:p>
            <a:r>
              <a:rPr lang="en-US" altLang="it-IT" sz="2400"/>
              <a:t>A process sends a message to its parent process when</a:t>
            </a:r>
          </a:p>
          <a:p>
            <a:pPr lvl="1"/>
            <a:r>
              <a:rPr lang="en-US" altLang="it-IT" sz="2000"/>
              <a:t>The process has reached the barrier point, and</a:t>
            </a:r>
          </a:p>
          <a:p>
            <a:pPr lvl="1"/>
            <a:r>
              <a:rPr lang="en-US" altLang="it-IT" sz="2000"/>
              <a:t>A message has been received from each of its children processes</a:t>
            </a:r>
          </a:p>
          <a:p>
            <a:r>
              <a:rPr lang="en-US" altLang="it-IT" sz="2400"/>
              <a:t>Root detects completion of barrier, broadcast message to release processes (e.g., send messages down tree)</a:t>
            </a:r>
          </a:p>
          <a:p>
            <a:r>
              <a:rPr lang="en-US" altLang="it-IT" sz="2400"/>
              <a:t>2 log N time if all processes reach barrier at same time</a:t>
            </a:r>
          </a:p>
        </p:txBody>
      </p:sp>
      <p:grpSp>
        <p:nvGrpSpPr>
          <p:cNvPr id="164911" name="Group 47"/>
          <p:cNvGrpSpPr>
            <a:grpSpLocks/>
          </p:cNvGrpSpPr>
          <p:nvPr/>
        </p:nvGrpSpPr>
        <p:grpSpPr bwMode="auto">
          <a:xfrm>
            <a:off x="1981200" y="838200"/>
            <a:ext cx="5334000" cy="3048000"/>
            <a:chOff x="1248" y="528"/>
            <a:chExt cx="3360" cy="1920"/>
          </a:xfrm>
        </p:grpSpPr>
        <p:sp>
          <p:nvSpPr>
            <p:cNvPr id="164869" name="Line 5"/>
            <p:cNvSpPr>
              <a:spLocks noChangeShapeType="1"/>
            </p:cNvSpPr>
            <p:nvPr/>
          </p:nvSpPr>
          <p:spPr bwMode="auto">
            <a:xfrm flipH="1">
              <a:off x="2121" y="699"/>
              <a:ext cx="922" cy="4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0" name="Line 6"/>
            <p:cNvSpPr>
              <a:spLocks noChangeShapeType="1"/>
            </p:cNvSpPr>
            <p:nvPr/>
          </p:nvSpPr>
          <p:spPr bwMode="auto">
            <a:xfrm>
              <a:off x="3047" y="699"/>
              <a:ext cx="915" cy="4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1" name="Line 7"/>
            <p:cNvSpPr>
              <a:spLocks noChangeShapeType="1"/>
            </p:cNvSpPr>
            <p:nvPr/>
          </p:nvSpPr>
          <p:spPr bwMode="auto">
            <a:xfrm flipH="1">
              <a:off x="3505" y="1170"/>
              <a:ext cx="461"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2" name="Line 8"/>
            <p:cNvSpPr>
              <a:spLocks noChangeShapeType="1"/>
            </p:cNvSpPr>
            <p:nvPr/>
          </p:nvSpPr>
          <p:spPr bwMode="auto">
            <a:xfrm>
              <a:off x="3970" y="1170"/>
              <a:ext cx="45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3" name="Line 9"/>
            <p:cNvSpPr>
              <a:spLocks noChangeShapeType="1"/>
            </p:cNvSpPr>
            <p:nvPr/>
          </p:nvSpPr>
          <p:spPr bwMode="auto">
            <a:xfrm flipH="1">
              <a:off x="1659" y="1170"/>
              <a:ext cx="462"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4" name="Line 10"/>
            <p:cNvSpPr>
              <a:spLocks noChangeShapeType="1"/>
            </p:cNvSpPr>
            <p:nvPr/>
          </p:nvSpPr>
          <p:spPr bwMode="auto">
            <a:xfrm>
              <a:off x="2125" y="1170"/>
              <a:ext cx="45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5" name="Line 11"/>
            <p:cNvSpPr>
              <a:spLocks noChangeShapeType="1"/>
            </p:cNvSpPr>
            <p:nvPr/>
          </p:nvSpPr>
          <p:spPr bwMode="auto">
            <a:xfrm flipH="1">
              <a:off x="1429" y="1727"/>
              <a:ext cx="230"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6" name="Line 12"/>
            <p:cNvSpPr>
              <a:spLocks noChangeShapeType="1"/>
            </p:cNvSpPr>
            <p:nvPr/>
          </p:nvSpPr>
          <p:spPr bwMode="auto">
            <a:xfrm>
              <a:off x="1663" y="1727"/>
              <a:ext cx="22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7" name="Oval 13"/>
            <p:cNvSpPr>
              <a:spLocks noChangeArrowheads="1"/>
            </p:cNvSpPr>
            <p:nvPr/>
          </p:nvSpPr>
          <p:spPr bwMode="auto">
            <a:xfrm>
              <a:off x="1479" y="1556"/>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3</a:t>
              </a:r>
            </a:p>
          </p:txBody>
        </p:sp>
        <p:sp>
          <p:nvSpPr>
            <p:cNvPr id="164878" name="Oval 14"/>
            <p:cNvSpPr>
              <a:spLocks noChangeArrowheads="1"/>
            </p:cNvSpPr>
            <p:nvPr/>
          </p:nvSpPr>
          <p:spPr bwMode="auto">
            <a:xfrm>
              <a:off x="1709" y="2113"/>
              <a:ext cx="362"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8</a:t>
              </a:r>
            </a:p>
          </p:txBody>
        </p:sp>
        <p:sp>
          <p:nvSpPr>
            <p:cNvPr id="164879" name="Oval 15"/>
            <p:cNvSpPr>
              <a:spLocks noChangeArrowheads="1"/>
            </p:cNvSpPr>
            <p:nvPr/>
          </p:nvSpPr>
          <p:spPr bwMode="auto">
            <a:xfrm>
              <a:off x="1248"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7</a:t>
              </a:r>
            </a:p>
          </p:txBody>
        </p:sp>
        <p:sp>
          <p:nvSpPr>
            <p:cNvPr id="164880" name="Line 16"/>
            <p:cNvSpPr>
              <a:spLocks noChangeShapeType="1"/>
            </p:cNvSpPr>
            <p:nvPr/>
          </p:nvSpPr>
          <p:spPr bwMode="auto">
            <a:xfrm flipH="1">
              <a:off x="2351" y="1727"/>
              <a:ext cx="231"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1" name="Line 17"/>
            <p:cNvSpPr>
              <a:spLocks noChangeShapeType="1"/>
            </p:cNvSpPr>
            <p:nvPr/>
          </p:nvSpPr>
          <p:spPr bwMode="auto">
            <a:xfrm>
              <a:off x="2586" y="1727"/>
              <a:ext cx="22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2" name="Oval 18"/>
            <p:cNvSpPr>
              <a:spLocks noChangeArrowheads="1"/>
            </p:cNvSpPr>
            <p:nvPr/>
          </p:nvSpPr>
          <p:spPr bwMode="auto">
            <a:xfrm>
              <a:off x="2401" y="1556"/>
              <a:ext cx="362"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4</a:t>
              </a:r>
            </a:p>
          </p:txBody>
        </p:sp>
        <p:sp>
          <p:nvSpPr>
            <p:cNvPr id="164883" name="Oval 19"/>
            <p:cNvSpPr>
              <a:spLocks noChangeArrowheads="1"/>
            </p:cNvSpPr>
            <p:nvPr/>
          </p:nvSpPr>
          <p:spPr bwMode="auto">
            <a:xfrm>
              <a:off x="2632"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10</a:t>
              </a:r>
            </a:p>
          </p:txBody>
        </p:sp>
        <p:sp>
          <p:nvSpPr>
            <p:cNvPr id="164884" name="Oval 20"/>
            <p:cNvSpPr>
              <a:spLocks noChangeArrowheads="1"/>
            </p:cNvSpPr>
            <p:nvPr/>
          </p:nvSpPr>
          <p:spPr bwMode="auto">
            <a:xfrm>
              <a:off x="2171"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9</a:t>
              </a:r>
            </a:p>
          </p:txBody>
        </p:sp>
        <p:sp>
          <p:nvSpPr>
            <p:cNvPr id="164885" name="Line 21"/>
            <p:cNvSpPr>
              <a:spLocks noChangeShapeType="1"/>
            </p:cNvSpPr>
            <p:nvPr/>
          </p:nvSpPr>
          <p:spPr bwMode="auto">
            <a:xfrm flipH="1">
              <a:off x="3274" y="1727"/>
              <a:ext cx="231"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6" name="Line 22"/>
            <p:cNvSpPr>
              <a:spLocks noChangeShapeType="1"/>
            </p:cNvSpPr>
            <p:nvPr/>
          </p:nvSpPr>
          <p:spPr bwMode="auto">
            <a:xfrm>
              <a:off x="3509" y="1727"/>
              <a:ext cx="222"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7" name="Oval 23"/>
            <p:cNvSpPr>
              <a:spLocks noChangeArrowheads="1"/>
            </p:cNvSpPr>
            <p:nvPr/>
          </p:nvSpPr>
          <p:spPr bwMode="auto">
            <a:xfrm>
              <a:off x="3324" y="1556"/>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5</a:t>
              </a:r>
            </a:p>
          </p:txBody>
        </p:sp>
        <p:sp>
          <p:nvSpPr>
            <p:cNvPr id="164888" name="Oval 24"/>
            <p:cNvSpPr>
              <a:spLocks noChangeArrowheads="1"/>
            </p:cNvSpPr>
            <p:nvPr/>
          </p:nvSpPr>
          <p:spPr bwMode="auto">
            <a:xfrm>
              <a:off x="3555"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12</a:t>
              </a:r>
            </a:p>
          </p:txBody>
        </p:sp>
        <p:sp>
          <p:nvSpPr>
            <p:cNvPr id="164889" name="Oval 25"/>
            <p:cNvSpPr>
              <a:spLocks noChangeArrowheads="1"/>
            </p:cNvSpPr>
            <p:nvPr/>
          </p:nvSpPr>
          <p:spPr bwMode="auto">
            <a:xfrm>
              <a:off x="3093" y="2113"/>
              <a:ext cx="362"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11</a:t>
              </a:r>
            </a:p>
          </p:txBody>
        </p:sp>
        <p:sp>
          <p:nvSpPr>
            <p:cNvPr id="164890" name="Line 26"/>
            <p:cNvSpPr>
              <a:spLocks noChangeShapeType="1"/>
            </p:cNvSpPr>
            <p:nvPr/>
          </p:nvSpPr>
          <p:spPr bwMode="auto">
            <a:xfrm flipH="1">
              <a:off x="4197" y="1727"/>
              <a:ext cx="230"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1" name="Oval 27"/>
            <p:cNvSpPr>
              <a:spLocks noChangeArrowheads="1"/>
            </p:cNvSpPr>
            <p:nvPr/>
          </p:nvSpPr>
          <p:spPr bwMode="auto">
            <a:xfrm>
              <a:off x="4247" y="1556"/>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6</a:t>
              </a:r>
            </a:p>
          </p:txBody>
        </p:sp>
        <p:sp>
          <p:nvSpPr>
            <p:cNvPr id="164892" name="Oval 28"/>
            <p:cNvSpPr>
              <a:spLocks noChangeArrowheads="1"/>
            </p:cNvSpPr>
            <p:nvPr/>
          </p:nvSpPr>
          <p:spPr bwMode="auto">
            <a:xfrm>
              <a:off x="4016"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13</a:t>
              </a:r>
            </a:p>
          </p:txBody>
        </p:sp>
        <p:sp>
          <p:nvSpPr>
            <p:cNvPr id="164893" name="Oval 29"/>
            <p:cNvSpPr>
              <a:spLocks noChangeArrowheads="1"/>
            </p:cNvSpPr>
            <p:nvPr/>
          </p:nvSpPr>
          <p:spPr bwMode="auto">
            <a:xfrm>
              <a:off x="1940" y="999"/>
              <a:ext cx="361" cy="3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1</a:t>
              </a:r>
            </a:p>
          </p:txBody>
        </p:sp>
        <p:sp>
          <p:nvSpPr>
            <p:cNvPr id="164894" name="Oval 30"/>
            <p:cNvSpPr>
              <a:spLocks noChangeArrowheads="1"/>
            </p:cNvSpPr>
            <p:nvPr/>
          </p:nvSpPr>
          <p:spPr bwMode="auto">
            <a:xfrm>
              <a:off x="3785" y="999"/>
              <a:ext cx="362" cy="3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2</a:t>
              </a:r>
            </a:p>
          </p:txBody>
        </p:sp>
        <p:sp>
          <p:nvSpPr>
            <p:cNvPr id="164895" name="Oval 31"/>
            <p:cNvSpPr>
              <a:spLocks noChangeArrowheads="1"/>
            </p:cNvSpPr>
            <p:nvPr/>
          </p:nvSpPr>
          <p:spPr bwMode="auto">
            <a:xfrm>
              <a:off x="2863" y="528"/>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latin typeface="Times" charset="0"/>
                </a:rPr>
                <a:t>0</a:t>
              </a:r>
            </a:p>
          </p:txBody>
        </p:sp>
      </p:grpSp>
      <p:grpSp>
        <p:nvGrpSpPr>
          <p:cNvPr id="164910" name="Group 46"/>
          <p:cNvGrpSpPr>
            <a:grpSpLocks/>
          </p:cNvGrpSpPr>
          <p:nvPr/>
        </p:nvGrpSpPr>
        <p:grpSpPr bwMode="auto">
          <a:xfrm>
            <a:off x="2274888" y="1303338"/>
            <a:ext cx="4613275" cy="1971675"/>
            <a:chOff x="1433" y="821"/>
            <a:chExt cx="2906" cy="1242"/>
          </a:xfrm>
        </p:grpSpPr>
        <p:sp>
          <p:nvSpPr>
            <p:cNvPr id="164896" name="Line 32"/>
            <p:cNvSpPr>
              <a:spLocks noChangeShapeType="1"/>
            </p:cNvSpPr>
            <p:nvPr/>
          </p:nvSpPr>
          <p:spPr bwMode="auto">
            <a:xfrm flipV="1">
              <a:off x="1433"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7" name="Line 33"/>
            <p:cNvSpPr>
              <a:spLocks noChangeShapeType="1"/>
            </p:cNvSpPr>
            <p:nvPr/>
          </p:nvSpPr>
          <p:spPr bwMode="auto">
            <a:xfrm flipV="1">
              <a:off x="2355"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8" name="Line 34"/>
            <p:cNvSpPr>
              <a:spLocks noChangeShapeType="1"/>
            </p:cNvSpPr>
            <p:nvPr/>
          </p:nvSpPr>
          <p:spPr bwMode="auto">
            <a:xfrm flipV="1">
              <a:off x="3278"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9" name="Line 35"/>
            <p:cNvSpPr>
              <a:spLocks noChangeShapeType="1"/>
            </p:cNvSpPr>
            <p:nvPr/>
          </p:nvSpPr>
          <p:spPr bwMode="auto">
            <a:xfrm flipV="1">
              <a:off x="4200" y="1891"/>
              <a:ext cx="93"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0" name="Line 36"/>
            <p:cNvSpPr>
              <a:spLocks noChangeShapeType="1"/>
            </p:cNvSpPr>
            <p:nvPr/>
          </p:nvSpPr>
          <p:spPr bwMode="auto">
            <a:xfrm flipH="1" flipV="1">
              <a:off x="1802"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1" name="Line 37"/>
            <p:cNvSpPr>
              <a:spLocks noChangeShapeType="1"/>
            </p:cNvSpPr>
            <p:nvPr/>
          </p:nvSpPr>
          <p:spPr bwMode="auto">
            <a:xfrm flipH="1" flipV="1">
              <a:off x="2724" y="1891"/>
              <a:ext cx="93"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2" name="Line 38"/>
            <p:cNvSpPr>
              <a:spLocks noChangeShapeType="1"/>
            </p:cNvSpPr>
            <p:nvPr/>
          </p:nvSpPr>
          <p:spPr bwMode="auto">
            <a:xfrm flipH="1" flipV="1">
              <a:off x="3647"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3" name="Line 39"/>
            <p:cNvSpPr>
              <a:spLocks noChangeShapeType="1"/>
            </p:cNvSpPr>
            <p:nvPr/>
          </p:nvSpPr>
          <p:spPr bwMode="auto">
            <a:xfrm flipV="1">
              <a:off x="1755" y="1335"/>
              <a:ext cx="139"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4" name="Line 40"/>
            <p:cNvSpPr>
              <a:spLocks noChangeShapeType="1"/>
            </p:cNvSpPr>
            <p:nvPr/>
          </p:nvSpPr>
          <p:spPr bwMode="auto">
            <a:xfrm flipV="1">
              <a:off x="3601" y="1335"/>
              <a:ext cx="138"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5" name="Line 41"/>
            <p:cNvSpPr>
              <a:spLocks noChangeShapeType="1"/>
            </p:cNvSpPr>
            <p:nvPr/>
          </p:nvSpPr>
          <p:spPr bwMode="auto">
            <a:xfrm flipH="1" flipV="1">
              <a:off x="2355" y="1335"/>
              <a:ext cx="139"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6" name="Line 42"/>
            <p:cNvSpPr>
              <a:spLocks noChangeShapeType="1"/>
            </p:cNvSpPr>
            <p:nvPr/>
          </p:nvSpPr>
          <p:spPr bwMode="auto">
            <a:xfrm flipH="1" flipV="1">
              <a:off x="4200" y="1335"/>
              <a:ext cx="139"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7" name="Line 43"/>
            <p:cNvSpPr>
              <a:spLocks noChangeShapeType="1"/>
            </p:cNvSpPr>
            <p:nvPr/>
          </p:nvSpPr>
          <p:spPr bwMode="auto">
            <a:xfrm flipV="1">
              <a:off x="2401" y="821"/>
              <a:ext cx="231" cy="128"/>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8" name="Line 44"/>
            <p:cNvSpPr>
              <a:spLocks noChangeShapeType="1"/>
            </p:cNvSpPr>
            <p:nvPr/>
          </p:nvSpPr>
          <p:spPr bwMode="auto">
            <a:xfrm flipH="1" flipV="1">
              <a:off x="3462" y="821"/>
              <a:ext cx="231" cy="128"/>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64928" name="Group 64"/>
          <p:cNvGrpSpPr>
            <a:grpSpLocks/>
          </p:cNvGrpSpPr>
          <p:nvPr/>
        </p:nvGrpSpPr>
        <p:grpSpPr bwMode="auto">
          <a:xfrm>
            <a:off x="2438400" y="1524000"/>
            <a:ext cx="4572000" cy="1839913"/>
            <a:chOff x="1536" y="960"/>
            <a:chExt cx="2880" cy="1159"/>
          </a:xfrm>
        </p:grpSpPr>
        <p:sp>
          <p:nvSpPr>
            <p:cNvPr id="164912" name="Line 48"/>
            <p:cNvSpPr>
              <a:spLocks noChangeShapeType="1"/>
            </p:cNvSpPr>
            <p:nvPr/>
          </p:nvSpPr>
          <p:spPr bwMode="auto">
            <a:xfrm flipH="1">
              <a:off x="2448" y="960"/>
              <a:ext cx="240" cy="144"/>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3" name="Line 49"/>
            <p:cNvSpPr>
              <a:spLocks noChangeShapeType="1"/>
            </p:cNvSpPr>
            <p:nvPr/>
          </p:nvSpPr>
          <p:spPr bwMode="auto">
            <a:xfrm>
              <a:off x="3360" y="960"/>
              <a:ext cx="240" cy="144"/>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6" name="Line 52"/>
            <p:cNvSpPr>
              <a:spLocks noChangeShapeType="1"/>
            </p:cNvSpPr>
            <p:nvPr/>
          </p:nvSpPr>
          <p:spPr bwMode="auto">
            <a:xfrm>
              <a:off x="2256"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7" name="Line 53"/>
            <p:cNvSpPr>
              <a:spLocks noChangeShapeType="1"/>
            </p:cNvSpPr>
            <p:nvPr/>
          </p:nvSpPr>
          <p:spPr bwMode="auto">
            <a:xfrm>
              <a:off x="4080"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8" name="Line 54"/>
            <p:cNvSpPr>
              <a:spLocks noChangeShapeType="1"/>
            </p:cNvSpPr>
            <p:nvPr/>
          </p:nvSpPr>
          <p:spPr bwMode="auto">
            <a:xfrm flipH="1">
              <a:off x="3696"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9" name="Line 55"/>
            <p:cNvSpPr>
              <a:spLocks noChangeShapeType="1"/>
            </p:cNvSpPr>
            <p:nvPr/>
          </p:nvSpPr>
          <p:spPr bwMode="auto">
            <a:xfrm flipH="1">
              <a:off x="1872"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0" name="Line 56"/>
            <p:cNvSpPr>
              <a:spLocks noChangeShapeType="1"/>
            </p:cNvSpPr>
            <p:nvPr/>
          </p:nvSpPr>
          <p:spPr bwMode="auto">
            <a:xfrm flipH="1">
              <a:off x="1536"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1" name="Line 57"/>
            <p:cNvSpPr>
              <a:spLocks noChangeShapeType="1"/>
            </p:cNvSpPr>
            <p:nvPr/>
          </p:nvSpPr>
          <p:spPr bwMode="auto">
            <a:xfrm>
              <a:off x="1680"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2" name="Line 58"/>
            <p:cNvSpPr>
              <a:spLocks noChangeShapeType="1"/>
            </p:cNvSpPr>
            <p:nvPr/>
          </p:nvSpPr>
          <p:spPr bwMode="auto">
            <a:xfrm flipH="1">
              <a:off x="2448"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3" name="Line 59"/>
            <p:cNvSpPr>
              <a:spLocks noChangeShapeType="1"/>
            </p:cNvSpPr>
            <p:nvPr/>
          </p:nvSpPr>
          <p:spPr bwMode="auto">
            <a:xfrm>
              <a:off x="2592"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4" name="Line 60"/>
            <p:cNvSpPr>
              <a:spLocks noChangeShapeType="1"/>
            </p:cNvSpPr>
            <p:nvPr/>
          </p:nvSpPr>
          <p:spPr bwMode="auto">
            <a:xfrm flipH="1">
              <a:off x="3375" y="1927"/>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5" name="Line 61"/>
            <p:cNvSpPr>
              <a:spLocks noChangeShapeType="1"/>
            </p:cNvSpPr>
            <p:nvPr/>
          </p:nvSpPr>
          <p:spPr bwMode="auto">
            <a:xfrm>
              <a:off x="3519" y="1927"/>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6" name="Line 62"/>
            <p:cNvSpPr>
              <a:spLocks noChangeShapeType="1"/>
            </p:cNvSpPr>
            <p:nvPr/>
          </p:nvSpPr>
          <p:spPr bwMode="auto">
            <a:xfrm flipH="1">
              <a:off x="4320"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2" name="Segnaposto data 1">
            <a:extLst>
              <a:ext uri="{FF2B5EF4-FFF2-40B4-BE49-F238E27FC236}">
                <a16:creationId xmlns:a16="http://schemas.microsoft.com/office/drawing/2014/main" id="{AF9D02D5-27B9-ACB1-71B4-546DE5535D75}"/>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33EDC7CC-0D3C-09DC-BAA3-341811D939FF}"/>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A236DFC0-ADEB-B8DA-25FA-4B76A7983D84}"/>
              </a:ext>
            </a:extLst>
          </p:cNvPr>
          <p:cNvSpPr>
            <a:spLocks noGrp="1"/>
          </p:cNvSpPr>
          <p:nvPr>
            <p:ph type="sldNum" sz="quarter" idx="4"/>
          </p:nvPr>
        </p:nvSpPr>
        <p:spPr/>
        <p:txBody>
          <a:bodyPr/>
          <a:lstStyle/>
          <a:p>
            <a:fld id="{9BFB3A76-8619-A843-8C67-B9C7C140DBAC}" type="slidenum">
              <a:rPr lang="en-US" smtClean="0"/>
              <a:t>51</a:t>
            </a:fld>
            <a:endParaRPr lang="en-US"/>
          </a:p>
        </p:txBody>
      </p:sp>
    </p:spTree>
    <p:extLst>
      <p:ext uri="{BB962C8B-B14F-4D97-AF65-F5344CB8AC3E}">
        <p14:creationId xmlns:p14="http://schemas.microsoft.com/office/powerpoint/2010/main" val="967746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dissolve">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4867">
                                            <p:txEl>
                                              <p:pRg st="1" end="1"/>
                                            </p:txEl>
                                          </p:spTgt>
                                        </p:tgtEl>
                                        <p:attrNameLst>
                                          <p:attrName>style.visibility</p:attrName>
                                        </p:attrNameLst>
                                      </p:cBhvr>
                                      <p:to>
                                        <p:strVal val="visible"/>
                                      </p:to>
                                    </p:set>
                                    <p:animEffect transition="in" filter="dissolve">
                                      <p:cBhvr>
                                        <p:cTn id="12" dur="500"/>
                                        <p:tgtEl>
                                          <p:spTgt spid="164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4867">
                                            <p:txEl>
                                              <p:pRg st="2" end="2"/>
                                            </p:txEl>
                                          </p:spTgt>
                                        </p:tgtEl>
                                        <p:attrNameLst>
                                          <p:attrName>style.visibility</p:attrName>
                                        </p:attrNameLst>
                                      </p:cBhvr>
                                      <p:to>
                                        <p:strVal val="visible"/>
                                      </p:to>
                                    </p:set>
                                    <p:animEffect transition="in" filter="dissolve">
                                      <p:cBhvr>
                                        <p:cTn id="17" dur="500"/>
                                        <p:tgtEl>
                                          <p:spTgt spid="164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4867">
                                            <p:txEl>
                                              <p:pRg st="3" end="3"/>
                                            </p:txEl>
                                          </p:spTgt>
                                        </p:tgtEl>
                                        <p:attrNameLst>
                                          <p:attrName>style.visibility</p:attrName>
                                        </p:attrNameLst>
                                      </p:cBhvr>
                                      <p:to>
                                        <p:strVal val="visible"/>
                                      </p:to>
                                    </p:set>
                                    <p:animEffect transition="in" filter="dissolve">
                                      <p:cBhvr>
                                        <p:cTn id="22" dur="500"/>
                                        <p:tgtEl>
                                          <p:spTgt spid="1648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4867">
                                            <p:txEl>
                                              <p:pRg st="4" end="4"/>
                                            </p:txEl>
                                          </p:spTgt>
                                        </p:tgtEl>
                                        <p:attrNameLst>
                                          <p:attrName>style.visibility</p:attrName>
                                        </p:attrNameLst>
                                      </p:cBhvr>
                                      <p:to>
                                        <p:strVal val="visible"/>
                                      </p:to>
                                    </p:set>
                                    <p:animEffect transition="in" filter="dissolve">
                                      <p:cBhvr>
                                        <p:cTn id="27" dur="500"/>
                                        <p:tgtEl>
                                          <p:spTgt spid="1648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4867">
                                            <p:txEl>
                                              <p:pRg st="5" end="5"/>
                                            </p:txEl>
                                          </p:spTgt>
                                        </p:tgtEl>
                                        <p:attrNameLst>
                                          <p:attrName>style.visibility</p:attrName>
                                        </p:attrNameLst>
                                      </p:cBhvr>
                                      <p:to>
                                        <p:strVal val="visible"/>
                                      </p:to>
                                    </p:set>
                                    <p:animEffect transition="in" filter="dissolve">
                                      <p:cBhvr>
                                        <p:cTn id="32" dur="500"/>
                                        <p:tgtEl>
                                          <p:spTgt spid="16486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64910"/>
                                        </p:tgtEl>
                                        <p:attrNameLst>
                                          <p:attrName>style.visibility</p:attrName>
                                        </p:attrNameLst>
                                      </p:cBhvr>
                                      <p:to>
                                        <p:strVal val="visible"/>
                                      </p:to>
                                    </p:set>
                                    <p:animEffect transition="in" filter="dissolve">
                                      <p:cBhvr>
                                        <p:cTn id="37" dur="500"/>
                                        <p:tgtEl>
                                          <p:spTgt spid="1649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64928"/>
                                        </p:tgtEl>
                                        <p:attrNameLst>
                                          <p:attrName>style.visibility</p:attrName>
                                        </p:attrNameLst>
                                      </p:cBhvr>
                                      <p:to>
                                        <p:strVal val="visible"/>
                                      </p:to>
                                    </p:set>
                                    <p:animEffect transition="in" filter="dissolve">
                                      <p:cBhvr>
                                        <p:cTn id="42" dur="500"/>
                                        <p:tgtEl>
                                          <p:spTgt spid="164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bldLvl="2"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it-IT"/>
              <a:t>Outline</a:t>
            </a:r>
          </a:p>
        </p:txBody>
      </p:sp>
      <p:sp>
        <p:nvSpPr>
          <p:cNvPr id="142339" name="Rectangle 3"/>
          <p:cNvSpPr>
            <a:spLocks noGrp="1" noChangeArrowheads="1"/>
          </p:cNvSpPr>
          <p:nvPr>
            <p:ph type="body" idx="1"/>
          </p:nvPr>
        </p:nvSpPr>
        <p:spPr>
          <a:xfrm>
            <a:off x="471488" y="990600"/>
            <a:ext cx="8353425" cy="2884379"/>
          </a:xfrm>
        </p:spPr>
        <p:txBody>
          <a:bodyPr/>
          <a:lstStyle/>
          <a:p>
            <a:r>
              <a:rPr lang="en-US" altLang="it-IT"/>
              <a:t>Synchronous Algorithms</a:t>
            </a:r>
          </a:p>
          <a:p>
            <a:pPr lvl="1"/>
            <a:r>
              <a:rPr lang="en-US" altLang="it-IT"/>
              <a:t>Barrier mechanisms</a:t>
            </a:r>
          </a:p>
          <a:p>
            <a:pPr lvl="1"/>
            <a:r>
              <a:rPr lang="en-US" altLang="it-IT"/>
              <a:t>Centralized Barriers</a:t>
            </a:r>
          </a:p>
          <a:p>
            <a:pPr lvl="1"/>
            <a:r>
              <a:rPr lang="en-US" altLang="it-IT"/>
              <a:t>Tree Barrier</a:t>
            </a:r>
          </a:p>
          <a:p>
            <a:r>
              <a:rPr lang="en-US" altLang="it-IT">
                <a:solidFill>
                  <a:srgbClr val="C00000"/>
                </a:solidFill>
              </a:rPr>
              <a:t>Transient Message Problem</a:t>
            </a:r>
          </a:p>
          <a:p>
            <a:r>
              <a:rPr lang="en-US" altLang="it-IT"/>
              <a:t>Performance of Conservative Approaches</a:t>
            </a:r>
          </a:p>
        </p:txBody>
      </p:sp>
      <p:sp>
        <p:nvSpPr>
          <p:cNvPr id="2" name="Segnaposto data 1">
            <a:extLst>
              <a:ext uri="{FF2B5EF4-FFF2-40B4-BE49-F238E27FC236}">
                <a16:creationId xmlns:a16="http://schemas.microsoft.com/office/drawing/2014/main" id="{BE920ECB-35BD-878A-955C-2CCD3E693F39}"/>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9988731B-6BEE-A1C5-5A80-220DA2C9F4B8}"/>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CEAD7C6E-1FA6-3BB1-BC21-CCE6D009D80D}"/>
              </a:ext>
            </a:extLst>
          </p:cNvPr>
          <p:cNvSpPr>
            <a:spLocks noGrp="1"/>
          </p:cNvSpPr>
          <p:nvPr>
            <p:ph type="sldNum" sz="quarter" idx="4"/>
          </p:nvPr>
        </p:nvSpPr>
        <p:spPr/>
        <p:txBody>
          <a:bodyPr/>
          <a:lstStyle/>
          <a:p>
            <a:fld id="{9BFB3A76-8619-A843-8C67-B9C7C140DBAC}" type="slidenum">
              <a:rPr lang="en-US" smtClean="0"/>
              <a:t>52</a:t>
            </a:fld>
            <a:endParaRPr lang="en-US"/>
          </a:p>
        </p:txBody>
      </p:sp>
    </p:spTree>
    <p:extLst>
      <p:ext uri="{BB962C8B-B14F-4D97-AF65-F5344CB8AC3E}">
        <p14:creationId xmlns:p14="http://schemas.microsoft.com/office/powerpoint/2010/main" val="26385675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388938" y="61913"/>
            <a:ext cx="84423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A Simple Synchronous Algorithm</a:t>
            </a:r>
          </a:p>
        </p:txBody>
      </p:sp>
      <p:sp>
        <p:nvSpPr>
          <p:cNvPr id="155725" name="Rectangle 77"/>
          <p:cNvSpPr>
            <a:spLocks noChangeArrowheads="1"/>
          </p:cNvSpPr>
          <p:nvPr/>
        </p:nvSpPr>
        <p:spPr bwMode="auto">
          <a:xfrm>
            <a:off x="304800" y="838200"/>
            <a:ext cx="8382000" cy="554312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spcBef>
                <a:spcPct val="20000"/>
              </a:spcBef>
              <a:buSzPct val="100000"/>
              <a:buChar char="•"/>
              <a:defRPr sz="2800">
                <a:solidFill>
                  <a:schemeClr val="tx1"/>
                </a:solidFill>
                <a:latin typeface="Helvetica" charset="0"/>
              </a:defRPr>
            </a:lvl1pPr>
            <a:lvl2pPr marL="742950" indent="-285750">
              <a:spcBef>
                <a:spcPct val="20000"/>
              </a:spcBef>
              <a:buSzPct val="100000"/>
              <a:buChar char="–"/>
              <a:defRPr sz="2400">
                <a:solidFill>
                  <a:schemeClr val="tx1"/>
                </a:solidFill>
                <a:latin typeface="Helvetica" charset="0"/>
              </a:defRPr>
            </a:lvl2pPr>
            <a:lvl3pPr marL="1143000" indent="-228600">
              <a:spcBef>
                <a:spcPct val="20000"/>
              </a:spcBef>
              <a:buSzPct val="100000"/>
              <a:buChar char="•"/>
              <a:defRPr sz="2000">
                <a:solidFill>
                  <a:schemeClr val="tx1"/>
                </a:solidFill>
                <a:latin typeface="Helvetica" charset="0"/>
              </a:defRPr>
            </a:lvl3pPr>
            <a:lvl4pPr marL="1600200" indent="-228600">
              <a:spcBef>
                <a:spcPct val="20000"/>
              </a:spcBef>
              <a:buSzPct val="100000"/>
              <a:buChar char="–"/>
              <a:defRPr sz="2000">
                <a:solidFill>
                  <a:schemeClr val="tx1"/>
                </a:solidFill>
                <a:latin typeface="Helvetica" charset="0"/>
              </a:defRPr>
            </a:lvl4pPr>
            <a:lvl5pPr marL="2057400" indent="-228600">
              <a:spcBef>
                <a:spcPct val="20000"/>
              </a:spcBef>
              <a:buSzPct val="100000"/>
              <a:buChar char="•"/>
              <a:defRPr sz="2000">
                <a:solidFill>
                  <a:schemeClr val="tx1"/>
                </a:solidFill>
                <a:latin typeface="Helvetica" charset="0"/>
              </a:defRPr>
            </a:lvl5pPr>
            <a:lvl6pPr marL="2514600" indent="-228600" eaLnBrk="0" fontAlgn="base" hangingPunct="0">
              <a:spcBef>
                <a:spcPct val="20000"/>
              </a:spcBef>
              <a:spcAft>
                <a:spcPct val="0"/>
              </a:spcAft>
              <a:buSzPct val="100000"/>
              <a:buChar char="•"/>
              <a:defRPr sz="2000">
                <a:solidFill>
                  <a:schemeClr val="tx1"/>
                </a:solidFill>
                <a:latin typeface="Helvetica" charset="0"/>
              </a:defRPr>
            </a:lvl6pPr>
            <a:lvl7pPr marL="2971800" indent="-228600" eaLnBrk="0" fontAlgn="base" hangingPunct="0">
              <a:spcBef>
                <a:spcPct val="20000"/>
              </a:spcBef>
              <a:spcAft>
                <a:spcPct val="0"/>
              </a:spcAft>
              <a:buSzPct val="100000"/>
              <a:buChar char="•"/>
              <a:defRPr sz="2000">
                <a:solidFill>
                  <a:schemeClr val="tx1"/>
                </a:solidFill>
                <a:latin typeface="Helvetica" charset="0"/>
              </a:defRPr>
            </a:lvl7pPr>
            <a:lvl8pPr marL="3429000" indent="-228600" eaLnBrk="0" fontAlgn="base" hangingPunct="0">
              <a:spcBef>
                <a:spcPct val="20000"/>
              </a:spcBef>
              <a:spcAft>
                <a:spcPct val="0"/>
              </a:spcAft>
              <a:buSzPct val="100000"/>
              <a:buChar char="•"/>
              <a:defRPr sz="2000">
                <a:solidFill>
                  <a:schemeClr val="tx1"/>
                </a:solidFill>
                <a:latin typeface="Helvetica" charset="0"/>
              </a:defRPr>
            </a:lvl8pPr>
            <a:lvl9pPr marL="3886200" indent="-228600" eaLnBrk="0" fontAlgn="base" hangingPunct="0">
              <a:spcBef>
                <a:spcPct val="20000"/>
              </a:spcBef>
              <a:spcAft>
                <a:spcPct val="0"/>
              </a:spcAft>
              <a:buSzPct val="100000"/>
              <a:buChar char="•"/>
              <a:defRPr sz="2000">
                <a:solidFill>
                  <a:schemeClr val="tx1"/>
                </a:solidFill>
                <a:latin typeface="Helvetica" charset="0"/>
              </a:defRPr>
            </a:lvl9pPr>
          </a:lstStyle>
          <a:p>
            <a:r>
              <a:rPr lang="en-US" altLang="it-IT" sz="2400"/>
              <a:t>N</a:t>
            </a:r>
            <a:r>
              <a:rPr lang="en-US" altLang="it-IT" sz="2400" baseline="-25000"/>
              <a:t>i</a:t>
            </a:r>
            <a:r>
              <a:rPr lang="en-US" altLang="it-IT" sz="2400"/>
              <a:t> = time of next event in </a:t>
            </a:r>
            <a:r>
              <a:rPr lang="en-US" altLang="it-IT" sz="2400" err="1"/>
              <a:t>LP</a:t>
            </a:r>
            <a:r>
              <a:rPr lang="en-US" altLang="it-IT" sz="2400" baseline="-25000" err="1"/>
              <a:t>i</a:t>
            </a:r>
            <a:endParaRPr lang="en-US" altLang="it-IT" sz="2400" baseline="-25000"/>
          </a:p>
          <a:p>
            <a:r>
              <a:rPr lang="en-US" altLang="it-IT" sz="2400" err="1"/>
              <a:t>LA</a:t>
            </a:r>
            <a:r>
              <a:rPr lang="en-US" altLang="it-IT" sz="2400" baseline="-25000" err="1"/>
              <a:t>i</a:t>
            </a:r>
            <a:r>
              <a:rPr lang="en-US" altLang="it-IT" sz="2400"/>
              <a:t> = </a:t>
            </a:r>
            <a:r>
              <a:rPr lang="en-US" altLang="it-IT" sz="2400" err="1"/>
              <a:t>lookahead</a:t>
            </a:r>
            <a:r>
              <a:rPr lang="en-US" altLang="it-IT" sz="2400"/>
              <a:t> of </a:t>
            </a:r>
            <a:r>
              <a:rPr lang="en-US" altLang="it-IT" sz="2400" err="1"/>
              <a:t>LP</a:t>
            </a:r>
            <a:r>
              <a:rPr lang="en-US" altLang="it-IT" sz="2400" baseline="-25000" err="1"/>
              <a:t>i</a:t>
            </a:r>
            <a:r>
              <a:rPr lang="en-US" altLang="it-IT" sz="2400"/>
              <a:t> </a:t>
            </a:r>
          </a:p>
          <a:p>
            <a:pPr marL="0" indent="0">
              <a:buNone/>
            </a:pPr>
            <a:endParaRPr lang="en-US" altLang="it-IT" sz="2400"/>
          </a:p>
          <a:p>
            <a:pPr>
              <a:buFontTx/>
              <a:buNone/>
            </a:pPr>
            <a:r>
              <a:rPr lang="en-US" altLang="it-IT" sz="2400"/>
              <a:t>WHILE (unprocessed events remain)</a:t>
            </a:r>
          </a:p>
          <a:p>
            <a:pPr>
              <a:buFontTx/>
              <a:buNone/>
            </a:pPr>
            <a:r>
              <a:rPr lang="en-US" altLang="it-IT" sz="2400"/>
              <a:t>	receive messages generated in previous iteration</a:t>
            </a:r>
            <a:endParaRPr lang="en-US" altLang="it-IT" sz="2400" i="1"/>
          </a:p>
          <a:p>
            <a:pPr>
              <a:buFontTx/>
              <a:buNone/>
            </a:pPr>
            <a:r>
              <a:rPr lang="en-US" altLang="it-IT" sz="2400"/>
              <a:t>	LBTS = min (N</a:t>
            </a:r>
            <a:r>
              <a:rPr lang="en-US" altLang="it-IT" sz="2400" baseline="-25000"/>
              <a:t>i</a:t>
            </a:r>
            <a:r>
              <a:rPr lang="en-US" altLang="it-IT" sz="2400"/>
              <a:t> + </a:t>
            </a:r>
            <a:r>
              <a:rPr lang="en-US" altLang="it-IT" sz="2400" err="1"/>
              <a:t>LA</a:t>
            </a:r>
            <a:r>
              <a:rPr lang="en-US" altLang="it-IT" sz="2400" baseline="-25000" err="1"/>
              <a:t>i</a:t>
            </a:r>
            <a:r>
              <a:rPr lang="en-US" altLang="it-IT" sz="2400"/>
              <a:t>)</a:t>
            </a:r>
            <a:endParaRPr lang="en-US" altLang="it-IT" sz="2400" i="1"/>
          </a:p>
          <a:p>
            <a:pPr>
              <a:buFontTx/>
              <a:buNone/>
            </a:pPr>
            <a:r>
              <a:rPr lang="en-US" altLang="it-IT" sz="2400" i="1"/>
              <a:t>	</a:t>
            </a:r>
            <a:r>
              <a:rPr lang="en-US" altLang="it-IT" sz="2400"/>
              <a:t>process events with time stamp ≤ LBTS</a:t>
            </a:r>
          </a:p>
          <a:p>
            <a:pPr>
              <a:buFontTx/>
              <a:buNone/>
            </a:pPr>
            <a:r>
              <a:rPr lang="en-US" altLang="it-IT" sz="2400"/>
              <a:t>    barrier synchronization</a:t>
            </a:r>
          </a:p>
          <a:p>
            <a:pPr>
              <a:buFontTx/>
              <a:buNone/>
            </a:pPr>
            <a:endParaRPr lang="en-US" altLang="it-IT" sz="2400"/>
          </a:p>
          <a:p>
            <a:pPr>
              <a:buFontTx/>
              <a:buNone/>
            </a:pPr>
            <a:r>
              <a:rPr lang="en-US" altLang="it-IT" sz="2400">
                <a:solidFill>
                  <a:srgbClr val="C00000"/>
                </a:solidFill>
              </a:rPr>
              <a:t>Transient message</a:t>
            </a:r>
            <a:r>
              <a:rPr lang="en-US" altLang="it-IT" sz="2400"/>
              <a:t>: one that has been sent, but has not yet been received at its destination</a:t>
            </a:r>
          </a:p>
          <a:p>
            <a:pPr>
              <a:buFontTx/>
              <a:buNone/>
            </a:pPr>
            <a:r>
              <a:rPr lang="en-US" altLang="it-IT" sz="2400"/>
              <a:t>The algorithm fails if transient message(s) remain after the processes are released from the barrier</a:t>
            </a:r>
          </a:p>
        </p:txBody>
      </p:sp>
      <p:sp>
        <p:nvSpPr>
          <p:cNvPr id="2" name="Segnaposto data 1">
            <a:extLst>
              <a:ext uri="{FF2B5EF4-FFF2-40B4-BE49-F238E27FC236}">
                <a16:creationId xmlns:a16="http://schemas.microsoft.com/office/drawing/2014/main" id="{4AB1FFED-1141-8FDD-89B7-B4DF42CAD5E5}"/>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310BA018-613B-1B28-F89A-F622CDF421D1}"/>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D9FABBB4-C98C-F13B-FC7A-A05B3925269C}"/>
              </a:ext>
            </a:extLst>
          </p:cNvPr>
          <p:cNvSpPr>
            <a:spLocks noGrp="1"/>
          </p:cNvSpPr>
          <p:nvPr>
            <p:ph type="sldNum" sz="quarter" idx="4"/>
          </p:nvPr>
        </p:nvSpPr>
        <p:spPr/>
        <p:txBody>
          <a:bodyPr/>
          <a:lstStyle/>
          <a:p>
            <a:fld id="{9BFB3A76-8619-A843-8C67-B9C7C140DBAC}" type="slidenum">
              <a:rPr lang="en-US" smtClean="0"/>
              <a:t>53</a:t>
            </a:fld>
            <a:endParaRPr lang="en-US"/>
          </a:p>
        </p:txBody>
      </p:sp>
    </p:spTree>
    <p:extLst>
      <p:ext uri="{BB962C8B-B14F-4D97-AF65-F5344CB8AC3E}">
        <p14:creationId xmlns:p14="http://schemas.microsoft.com/office/powerpoint/2010/main" val="17250633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5725">
                                            <p:txEl>
                                              <p:pRg st="0" end="0"/>
                                            </p:txEl>
                                          </p:spTgt>
                                        </p:tgtEl>
                                        <p:attrNameLst>
                                          <p:attrName>style.visibility</p:attrName>
                                        </p:attrNameLst>
                                      </p:cBhvr>
                                      <p:to>
                                        <p:strVal val="visible"/>
                                      </p:to>
                                    </p:set>
                                    <p:animEffect transition="in" filter="dissolve">
                                      <p:cBhvr>
                                        <p:cTn id="7" dur="500"/>
                                        <p:tgtEl>
                                          <p:spTgt spid="1557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5725">
                                            <p:txEl>
                                              <p:pRg st="1" end="1"/>
                                            </p:txEl>
                                          </p:spTgt>
                                        </p:tgtEl>
                                        <p:attrNameLst>
                                          <p:attrName>style.visibility</p:attrName>
                                        </p:attrNameLst>
                                      </p:cBhvr>
                                      <p:to>
                                        <p:strVal val="visible"/>
                                      </p:to>
                                    </p:set>
                                    <p:animEffect transition="in" filter="dissolve">
                                      <p:cBhvr>
                                        <p:cTn id="12" dur="500"/>
                                        <p:tgtEl>
                                          <p:spTgt spid="15572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5725">
                                            <p:txEl>
                                              <p:pRg st="3" end="3"/>
                                            </p:txEl>
                                          </p:spTgt>
                                        </p:tgtEl>
                                        <p:attrNameLst>
                                          <p:attrName>style.visibility</p:attrName>
                                        </p:attrNameLst>
                                      </p:cBhvr>
                                      <p:to>
                                        <p:strVal val="visible"/>
                                      </p:to>
                                    </p:set>
                                    <p:animEffect transition="in" filter="dissolve">
                                      <p:cBhvr>
                                        <p:cTn id="17" dur="500"/>
                                        <p:tgtEl>
                                          <p:spTgt spid="15572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5725">
                                            <p:txEl>
                                              <p:pRg st="4" end="4"/>
                                            </p:txEl>
                                          </p:spTgt>
                                        </p:tgtEl>
                                        <p:attrNameLst>
                                          <p:attrName>style.visibility</p:attrName>
                                        </p:attrNameLst>
                                      </p:cBhvr>
                                      <p:to>
                                        <p:strVal val="visible"/>
                                      </p:to>
                                    </p:set>
                                    <p:animEffect transition="in" filter="dissolve">
                                      <p:cBhvr>
                                        <p:cTn id="22" dur="500"/>
                                        <p:tgtEl>
                                          <p:spTgt spid="15572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5725">
                                            <p:txEl>
                                              <p:pRg st="5" end="5"/>
                                            </p:txEl>
                                          </p:spTgt>
                                        </p:tgtEl>
                                        <p:attrNameLst>
                                          <p:attrName>style.visibility</p:attrName>
                                        </p:attrNameLst>
                                      </p:cBhvr>
                                      <p:to>
                                        <p:strVal val="visible"/>
                                      </p:to>
                                    </p:set>
                                    <p:animEffect transition="in" filter="dissolve">
                                      <p:cBhvr>
                                        <p:cTn id="27" dur="500"/>
                                        <p:tgtEl>
                                          <p:spTgt spid="15572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5725">
                                            <p:txEl>
                                              <p:pRg st="6" end="6"/>
                                            </p:txEl>
                                          </p:spTgt>
                                        </p:tgtEl>
                                        <p:attrNameLst>
                                          <p:attrName>style.visibility</p:attrName>
                                        </p:attrNameLst>
                                      </p:cBhvr>
                                      <p:to>
                                        <p:strVal val="visible"/>
                                      </p:to>
                                    </p:set>
                                    <p:animEffect transition="in" filter="dissolve">
                                      <p:cBhvr>
                                        <p:cTn id="32" dur="500"/>
                                        <p:tgtEl>
                                          <p:spTgt spid="15572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5725">
                                            <p:txEl>
                                              <p:pRg st="7" end="7"/>
                                            </p:txEl>
                                          </p:spTgt>
                                        </p:tgtEl>
                                        <p:attrNameLst>
                                          <p:attrName>style.visibility</p:attrName>
                                        </p:attrNameLst>
                                      </p:cBhvr>
                                      <p:to>
                                        <p:strVal val="visible"/>
                                      </p:to>
                                    </p:set>
                                    <p:animEffect transition="in" filter="dissolve">
                                      <p:cBhvr>
                                        <p:cTn id="37" dur="500"/>
                                        <p:tgtEl>
                                          <p:spTgt spid="15572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55725">
                                            <p:txEl>
                                              <p:pRg st="9" end="9"/>
                                            </p:txEl>
                                          </p:spTgt>
                                        </p:tgtEl>
                                        <p:attrNameLst>
                                          <p:attrName>style.visibility</p:attrName>
                                        </p:attrNameLst>
                                      </p:cBhvr>
                                      <p:to>
                                        <p:strVal val="visible"/>
                                      </p:to>
                                    </p:set>
                                    <p:animEffect transition="in" filter="dissolve">
                                      <p:cBhvr>
                                        <p:cTn id="42" dur="500"/>
                                        <p:tgtEl>
                                          <p:spTgt spid="155725">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55725">
                                            <p:txEl>
                                              <p:pRg st="10" end="10"/>
                                            </p:txEl>
                                          </p:spTgt>
                                        </p:tgtEl>
                                        <p:attrNameLst>
                                          <p:attrName>style.visibility</p:attrName>
                                        </p:attrNameLst>
                                      </p:cBhvr>
                                      <p:to>
                                        <p:strVal val="visible"/>
                                      </p:to>
                                    </p:set>
                                    <p:animEffect transition="in" filter="dissolve">
                                      <p:cBhvr>
                                        <p:cTn id="47" dur="500"/>
                                        <p:tgtEl>
                                          <p:spTgt spid="15572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725"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US" altLang="it-IT"/>
              <a:t>Transient Message Problem</a:t>
            </a:r>
          </a:p>
        </p:txBody>
      </p:sp>
      <p:sp>
        <p:nvSpPr>
          <p:cNvPr id="173059" name="Rectangle 3"/>
          <p:cNvSpPr>
            <a:spLocks noGrp="1" noChangeArrowheads="1"/>
          </p:cNvSpPr>
          <p:nvPr>
            <p:ph type="body" idx="1"/>
          </p:nvPr>
        </p:nvSpPr>
        <p:spPr>
          <a:xfrm>
            <a:off x="471488" y="1044575"/>
            <a:ext cx="8353425" cy="5186548"/>
          </a:xfrm>
        </p:spPr>
        <p:txBody>
          <a:bodyPr/>
          <a:lstStyle/>
          <a:p>
            <a:r>
              <a:rPr lang="en-US" altLang="it-IT" sz="2400"/>
              <a:t>All of the LPs advance to simulation time T</a:t>
            </a:r>
          </a:p>
          <a:p>
            <a:r>
              <a:rPr lang="en-US" altLang="it-IT" sz="2400"/>
              <a:t>One LP sends a message with </a:t>
            </a:r>
            <a:r>
              <a:rPr lang="en-US" altLang="it-IT" sz="2400" b="1"/>
              <a:t>time stamp T + 1</a:t>
            </a:r>
            <a:r>
              <a:rPr lang="en-US" altLang="it-IT" sz="2400"/>
              <a:t>, while others generate messages with </a:t>
            </a:r>
            <a:r>
              <a:rPr lang="en-US" altLang="it-IT" sz="2400" b="1"/>
              <a:t>time stamp T +10</a:t>
            </a:r>
            <a:r>
              <a:rPr lang="en-US" altLang="it-IT" sz="2400"/>
              <a:t>. </a:t>
            </a:r>
          </a:p>
          <a:p>
            <a:r>
              <a:rPr lang="en-US" altLang="it-IT" sz="2400"/>
              <a:t>Assume that all of these messages are transmitted to their destination processor </a:t>
            </a:r>
            <a:r>
              <a:rPr lang="en-US" altLang="it-IT" sz="2400" b="1">
                <a:solidFill>
                  <a:srgbClr val="C00000"/>
                </a:solidFill>
              </a:rPr>
              <a:t>except the message with time stamp T + 1, which is delayed in the network</a:t>
            </a:r>
            <a:r>
              <a:rPr lang="en-US" altLang="it-IT" sz="2400"/>
              <a:t>. </a:t>
            </a:r>
          </a:p>
          <a:p>
            <a:r>
              <a:rPr lang="en-US" altLang="it-IT" sz="2400"/>
              <a:t>All processors enter the barrier primitive and begin the computation to determine the events that are safe to process. As the time stamp T + 1 message </a:t>
            </a:r>
            <a:r>
              <a:rPr lang="en-US" altLang="it-IT" sz="2400" b="1" i="1"/>
              <a:t>has not been received</a:t>
            </a:r>
            <a:r>
              <a:rPr lang="en-US" altLang="it-IT" sz="2400"/>
              <a:t>, </a:t>
            </a:r>
            <a:r>
              <a:rPr lang="en-US" altLang="it-IT" sz="2400" b="1">
                <a:solidFill>
                  <a:srgbClr val="C00000"/>
                </a:solidFill>
              </a:rPr>
              <a:t>it is not considered in this computa­tion</a:t>
            </a:r>
            <a:r>
              <a:rPr lang="en-US" altLang="it-IT" sz="2400"/>
              <a:t>.</a:t>
            </a:r>
          </a:p>
          <a:p>
            <a:r>
              <a:rPr lang="en-US" altLang="it-IT" sz="2400"/>
              <a:t>The processors erroneously </a:t>
            </a:r>
            <a:r>
              <a:rPr lang="en-US" altLang="it-IT" sz="2400" b="1"/>
              <a:t>consider the time stamp T + 10</a:t>
            </a:r>
            <a:r>
              <a:rPr lang="en-US" altLang="it-IT" sz="2400"/>
              <a:t> events are all </a:t>
            </a:r>
            <a:r>
              <a:rPr lang="en-US" altLang="it-IT" sz="2400" b="1">
                <a:solidFill>
                  <a:srgbClr val="C00000"/>
                </a:solidFill>
              </a:rPr>
              <a:t>safe</a:t>
            </a:r>
            <a:r>
              <a:rPr lang="en-US" altLang="it-IT" sz="2400"/>
              <a:t> to process, since there are none with a smaller time stamp.</a:t>
            </a:r>
          </a:p>
        </p:txBody>
      </p:sp>
      <p:sp>
        <p:nvSpPr>
          <p:cNvPr id="2" name="Segnaposto data 1">
            <a:extLst>
              <a:ext uri="{FF2B5EF4-FFF2-40B4-BE49-F238E27FC236}">
                <a16:creationId xmlns:a16="http://schemas.microsoft.com/office/drawing/2014/main" id="{5F0BBD00-EC7D-F8DD-C791-18958DF816C4}"/>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B2186FD4-6109-CF26-1B59-E1CD563AF46C}"/>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B543C6CC-A1BB-288C-8E49-BA2837A777F8}"/>
              </a:ext>
            </a:extLst>
          </p:cNvPr>
          <p:cNvSpPr>
            <a:spLocks noGrp="1"/>
          </p:cNvSpPr>
          <p:nvPr>
            <p:ph type="sldNum" sz="quarter" idx="4"/>
          </p:nvPr>
        </p:nvSpPr>
        <p:spPr/>
        <p:txBody>
          <a:bodyPr/>
          <a:lstStyle/>
          <a:p>
            <a:fld id="{9BFB3A76-8619-A843-8C67-B9C7C140DBAC}" type="slidenum">
              <a:rPr lang="en-US" smtClean="0"/>
              <a:t>54</a:t>
            </a:fld>
            <a:endParaRPr lang="en-US"/>
          </a:p>
        </p:txBody>
      </p:sp>
    </p:spTree>
    <p:extLst>
      <p:ext uri="{BB962C8B-B14F-4D97-AF65-F5344CB8AC3E}">
        <p14:creationId xmlns:p14="http://schemas.microsoft.com/office/powerpoint/2010/main" val="38487263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US" altLang="it-IT"/>
              <a:t>Flush Barrier</a:t>
            </a:r>
          </a:p>
        </p:txBody>
      </p:sp>
      <p:sp>
        <p:nvSpPr>
          <p:cNvPr id="173059" name="Rectangle 3"/>
          <p:cNvSpPr>
            <a:spLocks noGrp="1" noChangeArrowheads="1"/>
          </p:cNvSpPr>
          <p:nvPr>
            <p:ph type="body" idx="1"/>
          </p:nvPr>
        </p:nvSpPr>
        <p:spPr>
          <a:xfrm>
            <a:off x="471488" y="1044575"/>
            <a:ext cx="8353425" cy="4817216"/>
          </a:xfrm>
        </p:spPr>
        <p:txBody>
          <a:bodyPr/>
          <a:lstStyle/>
          <a:p>
            <a:pPr>
              <a:buFontTx/>
              <a:buNone/>
            </a:pPr>
            <a:r>
              <a:rPr lang="en-US" altLang="it-IT" sz="2400"/>
              <a:t>No process will be released from the barrier until</a:t>
            </a:r>
          </a:p>
          <a:p>
            <a:r>
              <a:rPr lang="en-US" altLang="it-IT" sz="2400"/>
              <a:t>All processes have reached the barrier</a:t>
            </a:r>
          </a:p>
          <a:p>
            <a:r>
              <a:rPr lang="en-US" altLang="it-IT" sz="2400" b="1"/>
              <a:t>Any message sent by a process before reaching the barrier has arrived at its destination</a:t>
            </a:r>
          </a:p>
          <a:p>
            <a:pPr>
              <a:buFontTx/>
              <a:buNone/>
            </a:pPr>
            <a:endParaRPr lang="en-US" altLang="it-IT" sz="2400"/>
          </a:p>
          <a:p>
            <a:pPr>
              <a:buFontTx/>
              <a:buNone/>
            </a:pPr>
            <a:r>
              <a:rPr lang="en-US" altLang="it-IT" sz="2400"/>
              <a:t>Revised algorithm:</a:t>
            </a:r>
          </a:p>
          <a:p>
            <a:pPr>
              <a:buFontTx/>
              <a:buNone/>
            </a:pPr>
            <a:r>
              <a:rPr lang="en-US" altLang="it-IT" sz="2400"/>
              <a:t>WHILE (unprocessed events remain)</a:t>
            </a:r>
          </a:p>
          <a:p>
            <a:pPr>
              <a:buFontTx/>
              <a:buNone/>
            </a:pPr>
            <a:r>
              <a:rPr lang="en-US" altLang="it-IT" sz="2400"/>
              <a:t>	receive messages generated in previous iteration</a:t>
            </a:r>
            <a:endParaRPr lang="en-US" altLang="it-IT" sz="2400" i="1"/>
          </a:p>
          <a:p>
            <a:pPr>
              <a:buFontTx/>
              <a:buNone/>
            </a:pPr>
            <a:r>
              <a:rPr lang="en-US" altLang="it-IT" sz="2400"/>
              <a:t>	LBTS = min (N</a:t>
            </a:r>
            <a:r>
              <a:rPr lang="en-US" altLang="it-IT" sz="2400" baseline="-25000"/>
              <a:t>i</a:t>
            </a:r>
            <a:r>
              <a:rPr lang="en-US" altLang="it-IT" sz="2400"/>
              <a:t> + </a:t>
            </a:r>
            <a:r>
              <a:rPr lang="en-US" altLang="it-IT" sz="2400" err="1"/>
              <a:t>LA</a:t>
            </a:r>
            <a:r>
              <a:rPr lang="en-US" altLang="it-IT" sz="2400" baseline="-25000" err="1"/>
              <a:t>i</a:t>
            </a:r>
            <a:r>
              <a:rPr lang="en-US" altLang="it-IT" sz="2400"/>
              <a:t>)</a:t>
            </a:r>
            <a:endParaRPr lang="en-US" altLang="it-IT" sz="2400" i="1"/>
          </a:p>
          <a:p>
            <a:pPr>
              <a:buFontTx/>
              <a:buNone/>
            </a:pPr>
            <a:r>
              <a:rPr lang="en-US" altLang="it-IT" sz="2400" i="1"/>
              <a:t>	</a:t>
            </a:r>
            <a:r>
              <a:rPr lang="en-US" altLang="it-IT" sz="2400"/>
              <a:t>process events with time stamp ≤ LBTS</a:t>
            </a:r>
          </a:p>
          <a:p>
            <a:pPr>
              <a:buFontTx/>
              <a:buNone/>
            </a:pPr>
            <a:r>
              <a:rPr lang="en-US" altLang="it-IT" sz="2400"/>
              <a:t>     </a:t>
            </a:r>
            <a:r>
              <a:rPr lang="en-US" altLang="it-IT" sz="2400">
                <a:solidFill>
                  <a:schemeClr val="hlink"/>
                </a:solidFill>
              </a:rPr>
              <a:t>flush barrier</a:t>
            </a:r>
            <a:endParaRPr lang="en-US" altLang="it-IT" sz="2400"/>
          </a:p>
        </p:txBody>
      </p:sp>
      <p:sp>
        <p:nvSpPr>
          <p:cNvPr id="2" name="Segnaposto data 1">
            <a:extLst>
              <a:ext uri="{FF2B5EF4-FFF2-40B4-BE49-F238E27FC236}">
                <a16:creationId xmlns:a16="http://schemas.microsoft.com/office/drawing/2014/main" id="{C528A679-86C3-59AD-D77F-6CFB3BCC7CD4}"/>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1EAFA79A-7846-4564-05F1-2C19585F902E}"/>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77A9D1F0-2125-8664-5EFB-7E45C1DA2C2D}"/>
              </a:ext>
            </a:extLst>
          </p:cNvPr>
          <p:cNvSpPr>
            <a:spLocks noGrp="1"/>
          </p:cNvSpPr>
          <p:nvPr>
            <p:ph type="sldNum" sz="quarter" idx="4"/>
          </p:nvPr>
        </p:nvSpPr>
        <p:spPr/>
        <p:txBody>
          <a:bodyPr/>
          <a:lstStyle/>
          <a:p>
            <a:fld id="{9BFB3A76-8619-A843-8C67-B9C7C140DBAC}" type="slidenum">
              <a:rPr lang="en-US" smtClean="0"/>
              <a:t>55</a:t>
            </a:fld>
            <a:endParaRPr lang="en-US"/>
          </a:p>
        </p:txBody>
      </p:sp>
    </p:spTree>
    <p:extLst>
      <p:ext uri="{BB962C8B-B14F-4D97-AF65-F5344CB8AC3E}">
        <p14:creationId xmlns:p14="http://schemas.microsoft.com/office/powerpoint/2010/main" val="21097158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altLang="it-IT"/>
              <a:t>Implementation</a:t>
            </a:r>
          </a:p>
        </p:txBody>
      </p:sp>
      <p:sp>
        <p:nvSpPr>
          <p:cNvPr id="174083" name="Rectangle 3"/>
          <p:cNvSpPr>
            <a:spLocks noGrp="1" noChangeArrowheads="1"/>
          </p:cNvSpPr>
          <p:nvPr>
            <p:ph type="body" idx="1"/>
          </p:nvPr>
        </p:nvSpPr>
        <p:spPr>
          <a:xfrm>
            <a:off x="381000" y="1071563"/>
            <a:ext cx="8458200" cy="3865562"/>
          </a:xfrm>
        </p:spPr>
        <p:txBody>
          <a:bodyPr/>
          <a:lstStyle/>
          <a:p>
            <a:r>
              <a:rPr lang="en-US" altLang="it-IT"/>
              <a:t>Use FIFO communication channels, send a message on each channel</a:t>
            </a:r>
          </a:p>
          <a:p>
            <a:r>
              <a:rPr lang="en-US" altLang="it-IT"/>
              <a:t>Message counters</a:t>
            </a:r>
          </a:p>
          <a:p>
            <a:pPr lvl="1"/>
            <a:r>
              <a:rPr lang="en-US" altLang="it-IT" err="1"/>
              <a:t>Send</a:t>
            </a:r>
            <a:r>
              <a:rPr lang="en-US" altLang="it-IT" baseline="-25000" err="1"/>
              <a:t>i</a:t>
            </a:r>
            <a:r>
              <a:rPr lang="en-US" altLang="it-IT"/>
              <a:t> = number of messages sent by </a:t>
            </a:r>
            <a:r>
              <a:rPr lang="en-US" altLang="it-IT" err="1"/>
              <a:t>LP</a:t>
            </a:r>
            <a:r>
              <a:rPr lang="en-US" altLang="it-IT" baseline="-25000" err="1"/>
              <a:t>i</a:t>
            </a:r>
            <a:r>
              <a:rPr lang="en-US" altLang="it-IT"/>
              <a:t> (this iteration)</a:t>
            </a:r>
          </a:p>
          <a:p>
            <a:pPr lvl="1"/>
            <a:r>
              <a:rPr lang="en-US" altLang="it-IT" err="1"/>
              <a:t>Rec</a:t>
            </a:r>
            <a:r>
              <a:rPr lang="en-US" altLang="it-IT" baseline="-25000" err="1"/>
              <a:t>i</a:t>
            </a:r>
            <a:r>
              <a:rPr lang="en-US" altLang="it-IT"/>
              <a:t> = number of messages received by </a:t>
            </a:r>
            <a:r>
              <a:rPr lang="en-US" altLang="it-IT" err="1"/>
              <a:t>LP</a:t>
            </a:r>
            <a:r>
              <a:rPr lang="en-US" altLang="it-IT" baseline="-25000" err="1"/>
              <a:t>i</a:t>
            </a:r>
            <a:r>
              <a:rPr lang="en-US" altLang="it-IT"/>
              <a:t> (this iteration)</a:t>
            </a:r>
          </a:p>
          <a:p>
            <a:pPr lvl="1"/>
            <a:r>
              <a:rPr lang="en-US" altLang="it-IT"/>
              <a:t>There are no transient messages when</a:t>
            </a:r>
          </a:p>
          <a:p>
            <a:pPr lvl="2"/>
            <a:r>
              <a:rPr lang="en-US" altLang="it-IT"/>
              <a:t>All processes are blocked (i.e., at the barrier), and</a:t>
            </a:r>
          </a:p>
          <a:p>
            <a:pPr lvl="2"/>
            <a:r>
              <a:rPr lang="en-US" altLang="it-IT"/>
              <a:t>∑</a:t>
            </a:r>
            <a:r>
              <a:rPr lang="en-US" altLang="it-IT" err="1"/>
              <a:t>Send</a:t>
            </a:r>
            <a:r>
              <a:rPr lang="en-US" altLang="it-IT" baseline="-25000" err="1"/>
              <a:t>i</a:t>
            </a:r>
            <a:r>
              <a:rPr lang="en-US" altLang="it-IT"/>
              <a:t> = ∑</a:t>
            </a:r>
            <a:r>
              <a:rPr lang="en-US" altLang="it-IT" err="1"/>
              <a:t>Rec</a:t>
            </a:r>
            <a:r>
              <a:rPr lang="en-US" altLang="it-IT" baseline="-25000" err="1"/>
              <a:t>i</a:t>
            </a:r>
            <a:r>
              <a:rPr lang="en-US" altLang="it-IT"/>
              <a:t> </a:t>
            </a:r>
          </a:p>
        </p:txBody>
      </p:sp>
      <p:sp>
        <p:nvSpPr>
          <p:cNvPr id="2" name="Segnaposto data 1">
            <a:extLst>
              <a:ext uri="{FF2B5EF4-FFF2-40B4-BE49-F238E27FC236}">
                <a16:creationId xmlns:a16="http://schemas.microsoft.com/office/drawing/2014/main" id="{CAA9F331-9031-7600-C535-BA60EE9B3530}"/>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B992B00A-D4A2-BAB6-E8FC-79AAD2CDD4B7}"/>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B793A31D-824A-83E4-2492-AEC81D697762}"/>
              </a:ext>
            </a:extLst>
          </p:cNvPr>
          <p:cNvSpPr>
            <a:spLocks noGrp="1"/>
          </p:cNvSpPr>
          <p:nvPr>
            <p:ph type="sldNum" sz="quarter" idx="4"/>
          </p:nvPr>
        </p:nvSpPr>
        <p:spPr/>
        <p:txBody>
          <a:bodyPr/>
          <a:lstStyle/>
          <a:p>
            <a:fld id="{9BFB3A76-8619-A843-8C67-B9C7C140DBAC}" type="slidenum">
              <a:rPr lang="en-US" smtClean="0"/>
              <a:t>56</a:t>
            </a:fld>
            <a:endParaRPr lang="en-US"/>
          </a:p>
        </p:txBody>
      </p:sp>
    </p:spTree>
    <p:extLst>
      <p:ext uri="{BB962C8B-B14F-4D97-AF65-F5344CB8AC3E}">
        <p14:creationId xmlns:p14="http://schemas.microsoft.com/office/powerpoint/2010/main" val="8914255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animEffect transition="in" filter="dissolve">
                                      <p:cBhvr>
                                        <p:cTn id="7" dur="500"/>
                                        <p:tgtEl>
                                          <p:spTgt spid="174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4083">
                                            <p:txEl>
                                              <p:pRg st="1" end="1"/>
                                            </p:txEl>
                                          </p:spTgt>
                                        </p:tgtEl>
                                        <p:attrNameLst>
                                          <p:attrName>style.visibility</p:attrName>
                                        </p:attrNameLst>
                                      </p:cBhvr>
                                      <p:to>
                                        <p:strVal val="visible"/>
                                      </p:to>
                                    </p:set>
                                    <p:animEffect transition="in" filter="dissolve">
                                      <p:cBhvr>
                                        <p:cTn id="12" dur="500"/>
                                        <p:tgtEl>
                                          <p:spTgt spid="174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4083">
                                            <p:txEl>
                                              <p:pRg st="2" end="2"/>
                                            </p:txEl>
                                          </p:spTgt>
                                        </p:tgtEl>
                                        <p:attrNameLst>
                                          <p:attrName>style.visibility</p:attrName>
                                        </p:attrNameLst>
                                      </p:cBhvr>
                                      <p:to>
                                        <p:strVal val="visible"/>
                                      </p:to>
                                    </p:set>
                                    <p:animEffect transition="in" filter="dissolve">
                                      <p:cBhvr>
                                        <p:cTn id="17" dur="500"/>
                                        <p:tgtEl>
                                          <p:spTgt spid="174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4083">
                                            <p:txEl>
                                              <p:pRg st="3" end="3"/>
                                            </p:txEl>
                                          </p:spTgt>
                                        </p:tgtEl>
                                        <p:attrNameLst>
                                          <p:attrName>style.visibility</p:attrName>
                                        </p:attrNameLst>
                                      </p:cBhvr>
                                      <p:to>
                                        <p:strVal val="visible"/>
                                      </p:to>
                                    </p:set>
                                    <p:animEffect transition="in" filter="dissolve">
                                      <p:cBhvr>
                                        <p:cTn id="22" dur="500"/>
                                        <p:tgtEl>
                                          <p:spTgt spid="1740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4083">
                                            <p:txEl>
                                              <p:pRg st="4" end="4"/>
                                            </p:txEl>
                                          </p:spTgt>
                                        </p:tgtEl>
                                        <p:attrNameLst>
                                          <p:attrName>style.visibility</p:attrName>
                                        </p:attrNameLst>
                                      </p:cBhvr>
                                      <p:to>
                                        <p:strVal val="visible"/>
                                      </p:to>
                                    </p:set>
                                    <p:animEffect transition="in" filter="dissolve">
                                      <p:cBhvr>
                                        <p:cTn id="27" dur="500"/>
                                        <p:tgtEl>
                                          <p:spTgt spid="174083">
                                            <p:txEl>
                                              <p:pRg st="4" end="4"/>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74083">
                                            <p:txEl>
                                              <p:pRg st="5" end="5"/>
                                            </p:txEl>
                                          </p:spTgt>
                                        </p:tgtEl>
                                        <p:attrNameLst>
                                          <p:attrName>style.visibility</p:attrName>
                                        </p:attrNameLst>
                                      </p:cBhvr>
                                      <p:to>
                                        <p:strVal val="visible"/>
                                      </p:to>
                                    </p:set>
                                    <p:animEffect transition="in" filter="dissolve">
                                      <p:cBhvr>
                                        <p:cTn id="30" dur="500"/>
                                        <p:tgtEl>
                                          <p:spTgt spid="174083">
                                            <p:txEl>
                                              <p:pRg st="5" end="5"/>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74083">
                                            <p:txEl>
                                              <p:pRg st="6" end="6"/>
                                            </p:txEl>
                                          </p:spTgt>
                                        </p:tgtEl>
                                        <p:attrNameLst>
                                          <p:attrName>style.visibility</p:attrName>
                                        </p:attrNameLst>
                                      </p:cBhvr>
                                      <p:to>
                                        <p:strVal val="visible"/>
                                      </p:to>
                                    </p:set>
                                    <p:animEffect transition="in" filter="dissolve">
                                      <p:cBhvr>
                                        <p:cTn id="33" dur="500"/>
                                        <p:tgtEl>
                                          <p:spTgt spid="1740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bldLvl="2"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en-US" altLang="it-IT" dirty="0"/>
              <a:t>Tree: Flush Barrier</a:t>
            </a:r>
          </a:p>
        </p:txBody>
      </p:sp>
      <p:sp>
        <p:nvSpPr>
          <p:cNvPr id="164867" name="Rectangle 3"/>
          <p:cNvSpPr>
            <a:spLocks noGrp="1" noChangeArrowheads="1"/>
          </p:cNvSpPr>
          <p:nvPr>
            <p:ph type="body" idx="1"/>
          </p:nvPr>
        </p:nvSpPr>
        <p:spPr>
          <a:xfrm>
            <a:off x="395288" y="3805510"/>
            <a:ext cx="8520112" cy="2863850"/>
          </a:xfrm>
        </p:spPr>
        <p:txBody>
          <a:bodyPr/>
          <a:lstStyle/>
          <a:p>
            <a:r>
              <a:rPr lang="en-US" altLang="it-IT" sz="2400"/>
              <a:t>When a leaf process reaches flush barrier, include counter (#sent - #received) in messages sent to parent</a:t>
            </a:r>
          </a:p>
          <a:p>
            <a:r>
              <a:rPr lang="en-US" altLang="it-IT" sz="2400"/>
              <a:t>Parent adds counters in incoming messages with its own counter, sends sum in message sent to its parent</a:t>
            </a:r>
          </a:p>
          <a:p>
            <a:r>
              <a:rPr lang="en-US" altLang="it-IT" sz="2400"/>
              <a:t>If sum at root is zero, broadcast “go” message, else wait until sum is equal to zero</a:t>
            </a:r>
          </a:p>
          <a:p>
            <a:r>
              <a:rPr lang="en-US" altLang="it-IT" sz="2400"/>
              <a:t>Receive transient message: send update message to root</a:t>
            </a:r>
          </a:p>
        </p:txBody>
      </p:sp>
      <p:grpSp>
        <p:nvGrpSpPr>
          <p:cNvPr id="164911" name="Group 47"/>
          <p:cNvGrpSpPr>
            <a:grpSpLocks/>
          </p:cNvGrpSpPr>
          <p:nvPr/>
        </p:nvGrpSpPr>
        <p:grpSpPr bwMode="auto">
          <a:xfrm>
            <a:off x="1981200" y="838200"/>
            <a:ext cx="5334000" cy="3048000"/>
            <a:chOff x="1248" y="528"/>
            <a:chExt cx="3360" cy="1920"/>
          </a:xfrm>
        </p:grpSpPr>
        <p:sp>
          <p:nvSpPr>
            <p:cNvPr id="164869" name="Line 5"/>
            <p:cNvSpPr>
              <a:spLocks noChangeShapeType="1"/>
            </p:cNvSpPr>
            <p:nvPr/>
          </p:nvSpPr>
          <p:spPr bwMode="auto">
            <a:xfrm flipH="1">
              <a:off x="2121" y="699"/>
              <a:ext cx="922" cy="4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0" name="Line 6"/>
            <p:cNvSpPr>
              <a:spLocks noChangeShapeType="1"/>
            </p:cNvSpPr>
            <p:nvPr/>
          </p:nvSpPr>
          <p:spPr bwMode="auto">
            <a:xfrm>
              <a:off x="3047" y="699"/>
              <a:ext cx="915" cy="4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1" name="Line 7"/>
            <p:cNvSpPr>
              <a:spLocks noChangeShapeType="1"/>
            </p:cNvSpPr>
            <p:nvPr/>
          </p:nvSpPr>
          <p:spPr bwMode="auto">
            <a:xfrm flipH="1">
              <a:off x="3505" y="1170"/>
              <a:ext cx="461"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2" name="Line 8"/>
            <p:cNvSpPr>
              <a:spLocks noChangeShapeType="1"/>
            </p:cNvSpPr>
            <p:nvPr/>
          </p:nvSpPr>
          <p:spPr bwMode="auto">
            <a:xfrm>
              <a:off x="3970" y="1170"/>
              <a:ext cx="45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3" name="Line 9"/>
            <p:cNvSpPr>
              <a:spLocks noChangeShapeType="1"/>
            </p:cNvSpPr>
            <p:nvPr/>
          </p:nvSpPr>
          <p:spPr bwMode="auto">
            <a:xfrm flipH="1">
              <a:off x="1659" y="1170"/>
              <a:ext cx="462"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4" name="Line 10"/>
            <p:cNvSpPr>
              <a:spLocks noChangeShapeType="1"/>
            </p:cNvSpPr>
            <p:nvPr/>
          </p:nvSpPr>
          <p:spPr bwMode="auto">
            <a:xfrm>
              <a:off x="2125" y="1170"/>
              <a:ext cx="45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5" name="Line 11"/>
            <p:cNvSpPr>
              <a:spLocks noChangeShapeType="1"/>
            </p:cNvSpPr>
            <p:nvPr/>
          </p:nvSpPr>
          <p:spPr bwMode="auto">
            <a:xfrm flipH="1">
              <a:off x="1429" y="1727"/>
              <a:ext cx="230"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6" name="Line 12"/>
            <p:cNvSpPr>
              <a:spLocks noChangeShapeType="1"/>
            </p:cNvSpPr>
            <p:nvPr/>
          </p:nvSpPr>
          <p:spPr bwMode="auto">
            <a:xfrm>
              <a:off x="1663" y="1727"/>
              <a:ext cx="22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77" name="Oval 13"/>
            <p:cNvSpPr>
              <a:spLocks noChangeArrowheads="1"/>
            </p:cNvSpPr>
            <p:nvPr/>
          </p:nvSpPr>
          <p:spPr bwMode="auto">
            <a:xfrm>
              <a:off x="1479" y="1556"/>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+1</a:t>
              </a:r>
            </a:p>
          </p:txBody>
        </p:sp>
        <p:sp>
          <p:nvSpPr>
            <p:cNvPr id="164878" name="Oval 14"/>
            <p:cNvSpPr>
              <a:spLocks noChangeArrowheads="1"/>
            </p:cNvSpPr>
            <p:nvPr/>
          </p:nvSpPr>
          <p:spPr bwMode="auto">
            <a:xfrm>
              <a:off x="1709" y="2113"/>
              <a:ext cx="362"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-2</a:t>
              </a:r>
            </a:p>
          </p:txBody>
        </p:sp>
        <p:sp>
          <p:nvSpPr>
            <p:cNvPr id="164879" name="Oval 15"/>
            <p:cNvSpPr>
              <a:spLocks noChangeArrowheads="1"/>
            </p:cNvSpPr>
            <p:nvPr/>
          </p:nvSpPr>
          <p:spPr bwMode="auto">
            <a:xfrm>
              <a:off x="1248"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-1</a:t>
              </a:r>
            </a:p>
          </p:txBody>
        </p:sp>
        <p:sp>
          <p:nvSpPr>
            <p:cNvPr id="164880" name="Line 16"/>
            <p:cNvSpPr>
              <a:spLocks noChangeShapeType="1"/>
            </p:cNvSpPr>
            <p:nvPr/>
          </p:nvSpPr>
          <p:spPr bwMode="auto">
            <a:xfrm flipH="1">
              <a:off x="2351" y="1727"/>
              <a:ext cx="231"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1" name="Line 17"/>
            <p:cNvSpPr>
              <a:spLocks noChangeShapeType="1"/>
            </p:cNvSpPr>
            <p:nvPr/>
          </p:nvSpPr>
          <p:spPr bwMode="auto">
            <a:xfrm>
              <a:off x="2586" y="1727"/>
              <a:ext cx="223"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2" name="Oval 18"/>
            <p:cNvSpPr>
              <a:spLocks noChangeArrowheads="1"/>
            </p:cNvSpPr>
            <p:nvPr/>
          </p:nvSpPr>
          <p:spPr bwMode="auto">
            <a:xfrm>
              <a:off x="2401" y="1556"/>
              <a:ext cx="362"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-2</a:t>
              </a:r>
            </a:p>
          </p:txBody>
        </p:sp>
        <p:sp>
          <p:nvSpPr>
            <p:cNvPr id="164883" name="Oval 19"/>
            <p:cNvSpPr>
              <a:spLocks noChangeArrowheads="1"/>
            </p:cNvSpPr>
            <p:nvPr/>
          </p:nvSpPr>
          <p:spPr bwMode="auto">
            <a:xfrm>
              <a:off x="2632"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-2</a:t>
              </a:r>
            </a:p>
          </p:txBody>
        </p:sp>
        <p:sp>
          <p:nvSpPr>
            <p:cNvPr id="164884" name="Oval 20"/>
            <p:cNvSpPr>
              <a:spLocks noChangeArrowheads="1"/>
            </p:cNvSpPr>
            <p:nvPr/>
          </p:nvSpPr>
          <p:spPr bwMode="auto">
            <a:xfrm>
              <a:off x="2171"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+3</a:t>
              </a:r>
            </a:p>
          </p:txBody>
        </p:sp>
        <p:sp>
          <p:nvSpPr>
            <p:cNvPr id="164885" name="Line 21"/>
            <p:cNvSpPr>
              <a:spLocks noChangeShapeType="1"/>
            </p:cNvSpPr>
            <p:nvPr/>
          </p:nvSpPr>
          <p:spPr bwMode="auto">
            <a:xfrm flipH="1">
              <a:off x="3274" y="1727"/>
              <a:ext cx="231"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6" name="Line 22"/>
            <p:cNvSpPr>
              <a:spLocks noChangeShapeType="1"/>
            </p:cNvSpPr>
            <p:nvPr/>
          </p:nvSpPr>
          <p:spPr bwMode="auto">
            <a:xfrm>
              <a:off x="3509" y="1727"/>
              <a:ext cx="222"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87" name="Oval 23"/>
            <p:cNvSpPr>
              <a:spLocks noChangeArrowheads="1"/>
            </p:cNvSpPr>
            <p:nvPr/>
          </p:nvSpPr>
          <p:spPr bwMode="auto">
            <a:xfrm>
              <a:off x="3324" y="1556"/>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+1</a:t>
              </a:r>
            </a:p>
          </p:txBody>
        </p:sp>
        <p:sp>
          <p:nvSpPr>
            <p:cNvPr id="164888" name="Oval 24"/>
            <p:cNvSpPr>
              <a:spLocks noChangeArrowheads="1"/>
            </p:cNvSpPr>
            <p:nvPr/>
          </p:nvSpPr>
          <p:spPr bwMode="auto">
            <a:xfrm>
              <a:off x="3555"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-2</a:t>
              </a:r>
            </a:p>
          </p:txBody>
        </p:sp>
        <p:sp>
          <p:nvSpPr>
            <p:cNvPr id="164889" name="Oval 25"/>
            <p:cNvSpPr>
              <a:spLocks noChangeArrowheads="1"/>
            </p:cNvSpPr>
            <p:nvPr/>
          </p:nvSpPr>
          <p:spPr bwMode="auto">
            <a:xfrm>
              <a:off x="3093" y="2113"/>
              <a:ext cx="362"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+4</a:t>
              </a:r>
            </a:p>
          </p:txBody>
        </p:sp>
        <p:sp>
          <p:nvSpPr>
            <p:cNvPr id="164890" name="Line 26"/>
            <p:cNvSpPr>
              <a:spLocks noChangeShapeType="1"/>
            </p:cNvSpPr>
            <p:nvPr/>
          </p:nvSpPr>
          <p:spPr bwMode="auto">
            <a:xfrm flipH="1">
              <a:off x="4197" y="1727"/>
              <a:ext cx="230" cy="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1" name="Oval 27"/>
            <p:cNvSpPr>
              <a:spLocks noChangeArrowheads="1"/>
            </p:cNvSpPr>
            <p:nvPr/>
          </p:nvSpPr>
          <p:spPr bwMode="auto">
            <a:xfrm>
              <a:off x="4247" y="1556"/>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0</a:t>
              </a:r>
            </a:p>
          </p:txBody>
        </p:sp>
        <p:sp>
          <p:nvSpPr>
            <p:cNvPr id="164892" name="Oval 28"/>
            <p:cNvSpPr>
              <a:spLocks noChangeArrowheads="1"/>
            </p:cNvSpPr>
            <p:nvPr/>
          </p:nvSpPr>
          <p:spPr bwMode="auto">
            <a:xfrm>
              <a:off x="4016" y="2113"/>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+1</a:t>
              </a:r>
            </a:p>
          </p:txBody>
        </p:sp>
        <p:sp>
          <p:nvSpPr>
            <p:cNvPr id="164893" name="Oval 29"/>
            <p:cNvSpPr>
              <a:spLocks noChangeArrowheads="1"/>
            </p:cNvSpPr>
            <p:nvPr/>
          </p:nvSpPr>
          <p:spPr bwMode="auto">
            <a:xfrm>
              <a:off x="1940" y="999"/>
              <a:ext cx="361" cy="3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+1</a:t>
              </a:r>
            </a:p>
          </p:txBody>
        </p:sp>
        <p:sp>
          <p:nvSpPr>
            <p:cNvPr id="164894" name="Oval 30"/>
            <p:cNvSpPr>
              <a:spLocks noChangeArrowheads="1"/>
            </p:cNvSpPr>
            <p:nvPr/>
          </p:nvSpPr>
          <p:spPr bwMode="auto">
            <a:xfrm>
              <a:off x="3785" y="999"/>
              <a:ext cx="362" cy="3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0</a:t>
              </a:r>
            </a:p>
          </p:txBody>
        </p:sp>
        <p:sp>
          <p:nvSpPr>
            <p:cNvPr id="164895" name="Oval 31"/>
            <p:cNvSpPr>
              <a:spLocks noChangeArrowheads="1"/>
            </p:cNvSpPr>
            <p:nvPr/>
          </p:nvSpPr>
          <p:spPr bwMode="auto">
            <a:xfrm>
              <a:off x="2863" y="528"/>
              <a:ext cx="361" cy="33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sz="2400">
                  <a:solidFill>
                    <a:schemeClr val="hlink"/>
                  </a:solidFill>
                  <a:latin typeface="Times" charset="0"/>
                </a:rPr>
                <a:t>-1</a:t>
              </a:r>
            </a:p>
          </p:txBody>
        </p:sp>
      </p:grpSp>
      <p:grpSp>
        <p:nvGrpSpPr>
          <p:cNvPr id="164928" name="Group 64"/>
          <p:cNvGrpSpPr>
            <a:grpSpLocks/>
          </p:cNvGrpSpPr>
          <p:nvPr/>
        </p:nvGrpSpPr>
        <p:grpSpPr bwMode="auto">
          <a:xfrm>
            <a:off x="2438400" y="1524000"/>
            <a:ext cx="4572000" cy="1839913"/>
            <a:chOff x="1536" y="960"/>
            <a:chExt cx="2880" cy="1159"/>
          </a:xfrm>
        </p:grpSpPr>
        <p:sp>
          <p:nvSpPr>
            <p:cNvPr id="164912" name="Line 48"/>
            <p:cNvSpPr>
              <a:spLocks noChangeShapeType="1"/>
            </p:cNvSpPr>
            <p:nvPr/>
          </p:nvSpPr>
          <p:spPr bwMode="auto">
            <a:xfrm flipH="1">
              <a:off x="2448" y="960"/>
              <a:ext cx="240" cy="144"/>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3" name="Line 49"/>
            <p:cNvSpPr>
              <a:spLocks noChangeShapeType="1"/>
            </p:cNvSpPr>
            <p:nvPr/>
          </p:nvSpPr>
          <p:spPr bwMode="auto">
            <a:xfrm>
              <a:off x="3360" y="960"/>
              <a:ext cx="240" cy="144"/>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6" name="Line 52"/>
            <p:cNvSpPr>
              <a:spLocks noChangeShapeType="1"/>
            </p:cNvSpPr>
            <p:nvPr/>
          </p:nvSpPr>
          <p:spPr bwMode="auto">
            <a:xfrm>
              <a:off x="2256"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7" name="Line 53"/>
            <p:cNvSpPr>
              <a:spLocks noChangeShapeType="1"/>
            </p:cNvSpPr>
            <p:nvPr/>
          </p:nvSpPr>
          <p:spPr bwMode="auto">
            <a:xfrm>
              <a:off x="4080"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8" name="Line 54"/>
            <p:cNvSpPr>
              <a:spLocks noChangeShapeType="1"/>
            </p:cNvSpPr>
            <p:nvPr/>
          </p:nvSpPr>
          <p:spPr bwMode="auto">
            <a:xfrm flipH="1">
              <a:off x="3696"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19" name="Line 55"/>
            <p:cNvSpPr>
              <a:spLocks noChangeShapeType="1"/>
            </p:cNvSpPr>
            <p:nvPr/>
          </p:nvSpPr>
          <p:spPr bwMode="auto">
            <a:xfrm flipH="1">
              <a:off x="1872" y="1392"/>
              <a:ext cx="144"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0" name="Line 56"/>
            <p:cNvSpPr>
              <a:spLocks noChangeShapeType="1"/>
            </p:cNvSpPr>
            <p:nvPr/>
          </p:nvSpPr>
          <p:spPr bwMode="auto">
            <a:xfrm flipH="1">
              <a:off x="1536"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1" name="Line 57"/>
            <p:cNvSpPr>
              <a:spLocks noChangeShapeType="1"/>
            </p:cNvSpPr>
            <p:nvPr/>
          </p:nvSpPr>
          <p:spPr bwMode="auto">
            <a:xfrm>
              <a:off x="1680"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2" name="Line 58"/>
            <p:cNvSpPr>
              <a:spLocks noChangeShapeType="1"/>
            </p:cNvSpPr>
            <p:nvPr/>
          </p:nvSpPr>
          <p:spPr bwMode="auto">
            <a:xfrm flipH="1">
              <a:off x="2448"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3" name="Line 59"/>
            <p:cNvSpPr>
              <a:spLocks noChangeShapeType="1"/>
            </p:cNvSpPr>
            <p:nvPr/>
          </p:nvSpPr>
          <p:spPr bwMode="auto">
            <a:xfrm>
              <a:off x="2592"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4" name="Line 60"/>
            <p:cNvSpPr>
              <a:spLocks noChangeShapeType="1"/>
            </p:cNvSpPr>
            <p:nvPr/>
          </p:nvSpPr>
          <p:spPr bwMode="auto">
            <a:xfrm flipH="1">
              <a:off x="3375" y="1927"/>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5" name="Line 61"/>
            <p:cNvSpPr>
              <a:spLocks noChangeShapeType="1"/>
            </p:cNvSpPr>
            <p:nvPr/>
          </p:nvSpPr>
          <p:spPr bwMode="auto">
            <a:xfrm>
              <a:off x="3519" y="1927"/>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6" name="Line 62"/>
            <p:cNvSpPr>
              <a:spLocks noChangeShapeType="1"/>
            </p:cNvSpPr>
            <p:nvPr/>
          </p:nvSpPr>
          <p:spPr bwMode="auto">
            <a:xfrm flipH="1">
              <a:off x="4320" y="1920"/>
              <a:ext cx="96" cy="19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64945" name="Group 81"/>
          <p:cNvGrpSpPr>
            <a:grpSpLocks/>
          </p:cNvGrpSpPr>
          <p:nvPr/>
        </p:nvGrpSpPr>
        <p:grpSpPr bwMode="auto">
          <a:xfrm>
            <a:off x="1898650" y="2971800"/>
            <a:ext cx="4916488" cy="366713"/>
            <a:chOff x="1196" y="1872"/>
            <a:chExt cx="3097" cy="231"/>
          </a:xfrm>
        </p:grpSpPr>
        <p:sp>
          <p:nvSpPr>
            <p:cNvPr id="164896" name="Line 32"/>
            <p:cNvSpPr>
              <a:spLocks noChangeShapeType="1"/>
            </p:cNvSpPr>
            <p:nvPr/>
          </p:nvSpPr>
          <p:spPr bwMode="auto">
            <a:xfrm flipV="1">
              <a:off x="1433"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7" name="Line 33"/>
            <p:cNvSpPr>
              <a:spLocks noChangeShapeType="1"/>
            </p:cNvSpPr>
            <p:nvPr/>
          </p:nvSpPr>
          <p:spPr bwMode="auto">
            <a:xfrm flipV="1">
              <a:off x="2355"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8" name="Line 34"/>
            <p:cNvSpPr>
              <a:spLocks noChangeShapeType="1"/>
            </p:cNvSpPr>
            <p:nvPr/>
          </p:nvSpPr>
          <p:spPr bwMode="auto">
            <a:xfrm flipV="1">
              <a:off x="3278"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899" name="Line 35"/>
            <p:cNvSpPr>
              <a:spLocks noChangeShapeType="1"/>
            </p:cNvSpPr>
            <p:nvPr/>
          </p:nvSpPr>
          <p:spPr bwMode="auto">
            <a:xfrm flipV="1">
              <a:off x="4200" y="1891"/>
              <a:ext cx="93"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0" name="Line 36"/>
            <p:cNvSpPr>
              <a:spLocks noChangeShapeType="1"/>
            </p:cNvSpPr>
            <p:nvPr/>
          </p:nvSpPr>
          <p:spPr bwMode="auto">
            <a:xfrm flipH="1" flipV="1">
              <a:off x="1802"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1" name="Line 37"/>
            <p:cNvSpPr>
              <a:spLocks noChangeShapeType="1"/>
            </p:cNvSpPr>
            <p:nvPr/>
          </p:nvSpPr>
          <p:spPr bwMode="auto">
            <a:xfrm flipH="1" flipV="1">
              <a:off x="2724" y="1891"/>
              <a:ext cx="93"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2" name="Line 38"/>
            <p:cNvSpPr>
              <a:spLocks noChangeShapeType="1"/>
            </p:cNvSpPr>
            <p:nvPr/>
          </p:nvSpPr>
          <p:spPr bwMode="auto">
            <a:xfrm flipH="1" flipV="1">
              <a:off x="3647" y="1891"/>
              <a:ext cx="92" cy="17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29" name="Text Box 65"/>
            <p:cNvSpPr txBox="1">
              <a:spLocks noChangeArrowheads="1"/>
            </p:cNvSpPr>
            <p:nvPr/>
          </p:nvSpPr>
          <p:spPr bwMode="auto">
            <a:xfrm>
              <a:off x="1196" y="1872"/>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-1</a:t>
              </a:r>
            </a:p>
          </p:txBody>
        </p:sp>
        <p:sp>
          <p:nvSpPr>
            <p:cNvPr id="164930" name="Text Box 66"/>
            <p:cNvSpPr txBox="1">
              <a:spLocks noChangeArrowheads="1"/>
            </p:cNvSpPr>
            <p:nvPr/>
          </p:nvSpPr>
          <p:spPr bwMode="auto">
            <a:xfrm>
              <a:off x="1868" y="1872"/>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-2</a:t>
              </a:r>
            </a:p>
          </p:txBody>
        </p:sp>
        <p:sp>
          <p:nvSpPr>
            <p:cNvPr id="164931" name="Text Box 67"/>
            <p:cNvSpPr txBox="1">
              <a:spLocks noChangeArrowheads="1"/>
            </p:cNvSpPr>
            <p:nvPr/>
          </p:nvSpPr>
          <p:spPr bwMode="auto">
            <a:xfrm>
              <a:off x="2112" y="1872"/>
              <a:ext cx="2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+3</a:t>
              </a:r>
            </a:p>
          </p:txBody>
        </p:sp>
        <p:sp>
          <p:nvSpPr>
            <p:cNvPr id="164932" name="Text Box 68"/>
            <p:cNvSpPr txBox="1">
              <a:spLocks noChangeArrowheads="1"/>
            </p:cNvSpPr>
            <p:nvPr/>
          </p:nvSpPr>
          <p:spPr bwMode="auto">
            <a:xfrm>
              <a:off x="2780" y="1872"/>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-2</a:t>
              </a:r>
            </a:p>
          </p:txBody>
        </p:sp>
        <p:sp>
          <p:nvSpPr>
            <p:cNvPr id="164933" name="Text Box 69"/>
            <p:cNvSpPr txBox="1">
              <a:spLocks noChangeArrowheads="1"/>
            </p:cNvSpPr>
            <p:nvPr/>
          </p:nvSpPr>
          <p:spPr bwMode="auto">
            <a:xfrm>
              <a:off x="3072" y="1872"/>
              <a:ext cx="2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+4</a:t>
              </a:r>
            </a:p>
          </p:txBody>
        </p:sp>
        <p:sp>
          <p:nvSpPr>
            <p:cNvPr id="164934" name="Text Box 70"/>
            <p:cNvSpPr txBox="1">
              <a:spLocks noChangeArrowheads="1"/>
            </p:cNvSpPr>
            <p:nvPr/>
          </p:nvSpPr>
          <p:spPr bwMode="auto">
            <a:xfrm>
              <a:off x="3696" y="1872"/>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-2</a:t>
              </a:r>
            </a:p>
          </p:txBody>
        </p:sp>
        <p:sp>
          <p:nvSpPr>
            <p:cNvPr id="164935" name="Text Box 71"/>
            <p:cNvSpPr txBox="1">
              <a:spLocks noChangeArrowheads="1"/>
            </p:cNvSpPr>
            <p:nvPr/>
          </p:nvSpPr>
          <p:spPr bwMode="auto">
            <a:xfrm>
              <a:off x="3984" y="1872"/>
              <a:ext cx="2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+1</a:t>
              </a:r>
            </a:p>
          </p:txBody>
        </p:sp>
      </p:grpSp>
      <p:grpSp>
        <p:nvGrpSpPr>
          <p:cNvPr id="164946" name="Group 82"/>
          <p:cNvGrpSpPr>
            <a:grpSpLocks/>
          </p:cNvGrpSpPr>
          <p:nvPr/>
        </p:nvGrpSpPr>
        <p:grpSpPr bwMode="auto">
          <a:xfrm>
            <a:off x="2514600" y="1905000"/>
            <a:ext cx="4635500" cy="485775"/>
            <a:chOff x="1584" y="1200"/>
            <a:chExt cx="2920" cy="306"/>
          </a:xfrm>
        </p:grpSpPr>
        <p:sp>
          <p:nvSpPr>
            <p:cNvPr id="164903" name="Line 39"/>
            <p:cNvSpPr>
              <a:spLocks noChangeShapeType="1"/>
            </p:cNvSpPr>
            <p:nvPr/>
          </p:nvSpPr>
          <p:spPr bwMode="auto">
            <a:xfrm flipV="1">
              <a:off x="1755" y="1335"/>
              <a:ext cx="139"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4" name="Line 40"/>
            <p:cNvSpPr>
              <a:spLocks noChangeShapeType="1"/>
            </p:cNvSpPr>
            <p:nvPr/>
          </p:nvSpPr>
          <p:spPr bwMode="auto">
            <a:xfrm flipV="1">
              <a:off x="3601" y="1335"/>
              <a:ext cx="138"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5" name="Line 41"/>
            <p:cNvSpPr>
              <a:spLocks noChangeShapeType="1"/>
            </p:cNvSpPr>
            <p:nvPr/>
          </p:nvSpPr>
          <p:spPr bwMode="auto">
            <a:xfrm flipH="1" flipV="1">
              <a:off x="2355" y="1335"/>
              <a:ext cx="139"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6" name="Line 42"/>
            <p:cNvSpPr>
              <a:spLocks noChangeShapeType="1"/>
            </p:cNvSpPr>
            <p:nvPr/>
          </p:nvSpPr>
          <p:spPr bwMode="auto">
            <a:xfrm flipH="1" flipV="1">
              <a:off x="4200" y="1335"/>
              <a:ext cx="139" cy="171"/>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37" name="Text Box 73"/>
            <p:cNvSpPr txBox="1">
              <a:spLocks noChangeArrowheads="1"/>
            </p:cNvSpPr>
            <p:nvPr/>
          </p:nvSpPr>
          <p:spPr bwMode="auto">
            <a:xfrm>
              <a:off x="1584" y="1248"/>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-2</a:t>
              </a:r>
            </a:p>
          </p:txBody>
        </p:sp>
        <p:sp>
          <p:nvSpPr>
            <p:cNvPr id="164938" name="Text Box 74"/>
            <p:cNvSpPr txBox="1">
              <a:spLocks noChangeArrowheads="1"/>
            </p:cNvSpPr>
            <p:nvPr/>
          </p:nvSpPr>
          <p:spPr bwMode="auto">
            <a:xfrm>
              <a:off x="2444" y="1248"/>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-1</a:t>
              </a:r>
            </a:p>
          </p:txBody>
        </p:sp>
        <p:sp>
          <p:nvSpPr>
            <p:cNvPr id="164939" name="Text Box 75"/>
            <p:cNvSpPr txBox="1">
              <a:spLocks noChangeArrowheads="1"/>
            </p:cNvSpPr>
            <p:nvPr/>
          </p:nvSpPr>
          <p:spPr bwMode="auto">
            <a:xfrm>
              <a:off x="3360" y="1248"/>
              <a:ext cx="2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+3</a:t>
              </a:r>
            </a:p>
          </p:txBody>
        </p:sp>
        <p:sp>
          <p:nvSpPr>
            <p:cNvPr id="164940" name="Text Box 76"/>
            <p:cNvSpPr txBox="1">
              <a:spLocks noChangeArrowheads="1"/>
            </p:cNvSpPr>
            <p:nvPr/>
          </p:nvSpPr>
          <p:spPr bwMode="auto">
            <a:xfrm>
              <a:off x="4224" y="1200"/>
              <a:ext cx="2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+1</a:t>
              </a:r>
            </a:p>
          </p:txBody>
        </p:sp>
      </p:grpSp>
      <p:grpSp>
        <p:nvGrpSpPr>
          <p:cNvPr id="164947" name="Group 83"/>
          <p:cNvGrpSpPr>
            <a:grpSpLocks/>
          </p:cNvGrpSpPr>
          <p:nvPr/>
        </p:nvGrpSpPr>
        <p:grpSpPr bwMode="auto">
          <a:xfrm>
            <a:off x="3581400" y="1143000"/>
            <a:ext cx="2501900" cy="381000"/>
            <a:chOff x="2256" y="720"/>
            <a:chExt cx="1576" cy="240"/>
          </a:xfrm>
        </p:grpSpPr>
        <p:sp>
          <p:nvSpPr>
            <p:cNvPr id="164907" name="Line 43"/>
            <p:cNvSpPr>
              <a:spLocks noChangeShapeType="1"/>
            </p:cNvSpPr>
            <p:nvPr/>
          </p:nvSpPr>
          <p:spPr bwMode="auto">
            <a:xfrm flipV="1">
              <a:off x="2401" y="821"/>
              <a:ext cx="231" cy="128"/>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08" name="Line 44"/>
            <p:cNvSpPr>
              <a:spLocks noChangeShapeType="1"/>
            </p:cNvSpPr>
            <p:nvPr/>
          </p:nvSpPr>
          <p:spPr bwMode="auto">
            <a:xfrm flipH="1" flipV="1">
              <a:off x="3462" y="821"/>
              <a:ext cx="231" cy="128"/>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41" name="Text Box 77"/>
            <p:cNvSpPr txBox="1">
              <a:spLocks noChangeArrowheads="1"/>
            </p:cNvSpPr>
            <p:nvPr/>
          </p:nvSpPr>
          <p:spPr bwMode="auto">
            <a:xfrm>
              <a:off x="3552" y="720"/>
              <a:ext cx="2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+4</a:t>
              </a:r>
            </a:p>
          </p:txBody>
        </p:sp>
        <p:sp>
          <p:nvSpPr>
            <p:cNvPr id="164942" name="Text Box 78"/>
            <p:cNvSpPr txBox="1">
              <a:spLocks noChangeArrowheads="1"/>
            </p:cNvSpPr>
            <p:nvPr/>
          </p:nvSpPr>
          <p:spPr bwMode="auto">
            <a:xfrm>
              <a:off x="2256" y="729"/>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-2</a:t>
              </a:r>
            </a:p>
          </p:txBody>
        </p:sp>
      </p:grpSp>
      <p:grpSp>
        <p:nvGrpSpPr>
          <p:cNvPr id="164949" name="Group 85"/>
          <p:cNvGrpSpPr>
            <a:grpSpLocks/>
          </p:cNvGrpSpPr>
          <p:nvPr/>
        </p:nvGrpSpPr>
        <p:grpSpPr bwMode="auto">
          <a:xfrm>
            <a:off x="4495800" y="1447800"/>
            <a:ext cx="450850" cy="1873250"/>
            <a:chOff x="2832" y="912"/>
            <a:chExt cx="284" cy="1180"/>
          </a:xfrm>
        </p:grpSpPr>
        <p:sp>
          <p:nvSpPr>
            <p:cNvPr id="164943" name="Line 79"/>
            <p:cNvSpPr>
              <a:spLocks noChangeShapeType="1"/>
            </p:cNvSpPr>
            <p:nvPr/>
          </p:nvSpPr>
          <p:spPr bwMode="auto">
            <a:xfrm flipH="1" flipV="1">
              <a:off x="3072" y="912"/>
              <a:ext cx="44" cy="118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4944" name="Text Box 80"/>
            <p:cNvSpPr txBox="1">
              <a:spLocks noChangeArrowheads="1"/>
            </p:cNvSpPr>
            <p:nvPr/>
          </p:nvSpPr>
          <p:spPr bwMode="auto">
            <a:xfrm>
              <a:off x="2832" y="1392"/>
              <a:ext cx="2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-1</a:t>
              </a:r>
            </a:p>
          </p:txBody>
        </p:sp>
      </p:grpSp>
      <p:sp>
        <p:nvSpPr>
          <p:cNvPr id="164953" name="Text Box 89"/>
          <p:cNvSpPr txBox="1">
            <a:spLocks noChangeArrowheads="1"/>
          </p:cNvSpPr>
          <p:nvPr/>
        </p:nvSpPr>
        <p:spPr bwMode="auto">
          <a:xfrm>
            <a:off x="5943600" y="838200"/>
            <a:ext cx="2000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it-IT">
                <a:solidFill>
                  <a:schemeClr val="hlink"/>
                </a:solidFill>
              </a:rPr>
              <a:t>#sent - # received</a:t>
            </a:r>
          </a:p>
        </p:txBody>
      </p:sp>
      <p:sp>
        <p:nvSpPr>
          <p:cNvPr id="164954" name="Line 90"/>
          <p:cNvSpPr>
            <a:spLocks noChangeShapeType="1"/>
          </p:cNvSpPr>
          <p:nvPr/>
        </p:nvSpPr>
        <p:spPr bwMode="auto">
          <a:xfrm flipH="1">
            <a:off x="4953000" y="990600"/>
            <a:ext cx="990600" cy="76200"/>
          </a:xfrm>
          <a:prstGeom prst="line">
            <a:avLst/>
          </a:prstGeom>
          <a:noFill/>
          <a:ln w="127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64956" name="Group 92"/>
          <p:cNvGrpSpPr>
            <a:grpSpLocks/>
          </p:cNvGrpSpPr>
          <p:nvPr/>
        </p:nvGrpSpPr>
        <p:grpSpPr bwMode="auto">
          <a:xfrm>
            <a:off x="304800" y="1524000"/>
            <a:ext cx="4572000" cy="1981200"/>
            <a:chOff x="192" y="960"/>
            <a:chExt cx="2880" cy="1248"/>
          </a:xfrm>
        </p:grpSpPr>
        <p:sp>
          <p:nvSpPr>
            <p:cNvPr id="164948" name="Text Box 84"/>
            <p:cNvSpPr txBox="1">
              <a:spLocks noChangeArrowheads="1"/>
            </p:cNvSpPr>
            <p:nvPr/>
          </p:nvSpPr>
          <p:spPr bwMode="auto">
            <a:xfrm>
              <a:off x="192" y="960"/>
              <a:ext cx="135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it-IT"/>
                <a:t>Receive transient message</a:t>
              </a:r>
            </a:p>
          </p:txBody>
        </p:sp>
        <p:sp>
          <p:nvSpPr>
            <p:cNvPr id="164955" name="Line 91"/>
            <p:cNvSpPr>
              <a:spLocks noChangeShapeType="1"/>
            </p:cNvSpPr>
            <p:nvPr/>
          </p:nvSpPr>
          <p:spPr bwMode="auto">
            <a:xfrm>
              <a:off x="1248" y="1200"/>
              <a:ext cx="1824" cy="10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2" name="Segnaposto data 1">
            <a:extLst>
              <a:ext uri="{FF2B5EF4-FFF2-40B4-BE49-F238E27FC236}">
                <a16:creationId xmlns:a16="http://schemas.microsoft.com/office/drawing/2014/main" id="{4168F3A1-9497-D39F-A241-0A0B4C46CD1A}"/>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A1478502-0425-0A5D-2B77-2FEDEB87D87D}"/>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026B4915-946B-4C9B-99A5-2FF985956038}"/>
              </a:ext>
            </a:extLst>
          </p:cNvPr>
          <p:cNvSpPr>
            <a:spLocks noGrp="1"/>
          </p:cNvSpPr>
          <p:nvPr>
            <p:ph type="sldNum" sz="quarter" idx="4"/>
          </p:nvPr>
        </p:nvSpPr>
        <p:spPr/>
        <p:txBody>
          <a:bodyPr/>
          <a:lstStyle/>
          <a:p>
            <a:fld id="{9BFB3A76-8619-A843-8C67-B9C7C140DBAC}" type="slidenum">
              <a:rPr lang="en-US" smtClean="0"/>
              <a:t>57</a:t>
            </a:fld>
            <a:endParaRPr lang="en-US"/>
          </a:p>
        </p:txBody>
      </p:sp>
    </p:spTree>
    <p:extLst>
      <p:ext uri="{BB962C8B-B14F-4D97-AF65-F5344CB8AC3E}">
        <p14:creationId xmlns:p14="http://schemas.microsoft.com/office/powerpoint/2010/main" val="1343784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dissolve">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4867">
                                            <p:txEl>
                                              <p:pRg st="1" end="1"/>
                                            </p:txEl>
                                          </p:spTgt>
                                        </p:tgtEl>
                                        <p:attrNameLst>
                                          <p:attrName>style.visibility</p:attrName>
                                        </p:attrNameLst>
                                      </p:cBhvr>
                                      <p:to>
                                        <p:strVal val="visible"/>
                                      </p:to>
                                    </p:set>
                                    <p:animEffect transition="in" filter="dissolve">
                                      <p:cBhvr>
                                        <p:cTn id="12" dur="500"/>
                                        <p:tgtEl>
                                          <p:spTgt spid="164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4867">
                                            <p:txEl>
                                              <p:pRg st="2" end="2"/>
                                            </p:txEl>
                                          </p:spTgt>
                                        </p:tgtEl>
                                        <p:attrNameLst>
                                          <p:attrName>style.visibility</p:attrName>
                                        </p:attrNameLst>
                                      </p:cBhvr>
                                      <p:to>
                                        <p:strVal val="visible"/>
                                      </p:to>
                                    </p:set>
                                    <p:animEffect transition="in" filter="dissolve">
                                      <p:cBhvr>
                                        <p:cTn id="17" dur="500"/>
                                        <p:tgtEl>
                                          <p:spTgt spid="164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4867">
                                            <p:txEl>
                                              <p:pRg st="3" end="3"/>
                                            </p:txEl>
                                          </p:spTgt>
                                        </p:tgtEl>
                                        <p:attrNameLst>
                                          <p:attrName>style.visibility</p:attrName>
                                        </p:attrNameLst>
                                      </p:cBhvr>
                                      <p:to>
                                        <p:strVal val="visible"/>
                                      </p:to>
                                    </p:set>
                                    <p:animEffect transition="in" filter="dissolve">
                                      <p:cBhvr>
                                        <p:cTn id="22" dur="500"/>
                                        <p:tgtEl>
                                          <p:spTgt spid="1648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64945"/>
                                        </p:tgtEl>
                                        <p:attrNameLst>
                                          <p:attrName>style.visibility</p:attrName>
                                        </p:attrNameLst>
                                      </p:cBhvr>
                                      <p:to>
                                        <p:strVal val="visible"/>
                                      </p:to>
                                    </p:set>
                                    <p:animEffect transition="in" filter="dissolve">
                                      <p:cBhvr>
                                        <p:cTn id="27" dur="500"/>
                                        <p:tgtEl>
                                          <p:spTgt spid="1649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64946"/>
                                        </p:tgtEl>
                                        <p:attrNameLst>
                                          <p:attrName>style.visibility</p:attrName>
                                        </p:attrNameLst>
                                      </p:cBhvr>
                                      <p:to>
                                        <p:strVal val="visible"/>
                                      </p:to>
                                    </p:set>
                                    <p:animEffect transition="in" filter="dissolve">
                                      <p:cBhvr>
                                        <p:cTn id="32" dur="500"/>
                                        <p:tgtEl>
                                          <p:spTgt spid="1649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64947"/>
                                        </p:tgtEl>
                                        <p:attrNameLst>
                                          <p:attrName>style.visibility</p:attrName>
                                        </p:attrNameLst>
                                      </p:cBhvr>
                                      <p:to>
                                        <p:strVal val="visible"/>
                                      </p:to>
                                    </p:set>
                                    <p:animEffect transition="in" filter="dissolve">
                                      <p:cBhvr>
                                        <p:cTn id="37" dur="500"/>
                                        <p:tgtEl>
                                          <p:spTgt spid="1649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64956"/>
                                        </p:tgtEl>
                                        <p:attrNameLst>
                                          <p:attrName>style.visibility</p:attrName>
                                        </p:attrNameLst>
                                      </p:cBhvr>
                                      <p:to>
                                        <p:strVal val="visible"/>
                                      </p:to>
                                    </p:set>
                                    <p:animEffect transition="in" filter="dissolve">
                                      <p:cBhvr>
                                        <p:cTn id="42" dur="500"/>
                                        <p:tgtEl>
                                          <p:spTgt spid="16495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164949"/>
                                        </p:tgtEl>
                                        <p:attrNameLst>
                                          <p:attrName>style.visibility</p:attrName>
                                        </p:attrNameLst>
                                      </p:cBhvr>
                                      <p:to>
                                        <p:strVal val="visible"/>
                                      </p:to>
                                    </p:set>
                                    <p:animEffect transition="in" filter="dissolve">
                                      <p:cBhvr>
                                        <p:cTn id="47" dur="500"/>
                                        <p:tgtEl>
                                          <p:spTgt spid="16494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164928"/>
                                        </p:tgtEl>
                                        <p:attrNameLst>
                                          <p:attrName>style.visibility</p:attrName>
                                        </p:attrNameLst>
                                      </p:cBhvr>
                                      <p:to>
                                        <p:strVal val="visible"/>
                                      </p:to>
                                    </p:set>
                                    <p:animEffect transition="in" filter="dissolve">
                                      <p:cBhvr>
                                        <p:cTn id="52" dur="500"/>
                                        <p:tgtEl>
                                          <p:spTgt spid="164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bldLvl="2"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it-IT"/>
              <a:t>Outline</a:t>
            </a:r>
          </a:p>
        </p:txBody>
      </p:sp>
      <p:sp>
        <p:nvSpPr>
          <p:cNvPr id="142339" name="Rectangle 3"/>
          <p:cNvSpPr>
            <a:spLocks noGrp="1" noChangeArrowheads="1"/>
          </p:cNvSpPr>
          <p:nvPr>
            <p:ph type="body" idx="1"/>
          </p:nvPr>
        </p:nvSpPr>
        <p:spPr>
          <a:xfrm>
            <a:off x="471488" y="990600"/>
            <a:ext cx="8353425" cy="2884379"/>
          </a:xfrm>
        </p:spPr>
        <p:txBody>
          <a:bodyPr/>
          <a:lstStyle/>
          <a:p>
            <a:r>
              <a:rPr lang="en-US" altLang="it-IT"/>
              <a:t>Synchronous Algorithms</a:t>
            </a:r>
          </a:p>
          <a:p>
            <a:pPr lvl="1"/>
            <a:r>
              <a:rPr lang="en-US" altLang="it-IT"/>
              <a:t>Barrier mechanisms</a:t>
            </a:r>
          </a:p>
          <a:p>
            <a:pPr lvl="1"/>
            <a:r>
              <a:rPr lang="en-US" altLang="it-IT"/>
              <a:t>Centralized Barriers</a:t>
            </a:r>
          </a:p>
          <a:p>
            <a:pPr lvl="1"/>
            <a:r>
              <a:rPr lang="en-US" altLang="it-IT"/>
              <a:t>Tree Barrier</a:t>
            </a:r>
          </a:p>
          <a:p>
            <a:r>
              <a:rPr lang="en-US" altLang="it-IT"/>
              <a:t>Transient Message Problem</a:t>
            </a:r>
          </a:p>
          <a:p>
            <a:r>
              <a:rPr lang="en-US" altLang="it-IT">
                <a:solidFill>
                  <a:srgbClr val="C00000"/>
                </a:solidFill>
              </a:rPr>
              <a:t>Performance of Conservative Approaches</a:t>
            </a:r>
          </a:p>
        </p:txBody>
      </p:sp>
      <p:sp>
        <p:nvSpPr>
          <p:cNvPr id="2" name="Segnaposto data 1">
            <a:extLst>
              <a:ext uri="{FF2B5EF4-FFF2-40B4-BE49-F238E27FC236}">
                <a16:creationId xmlns:a16="http://schemas.microsoft.com/office/drawing/2014/main" id="{27149ED6-BADD-191F-6FB3-C5751C967375}"/>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72A142D7-49E9-9ABC-6792-ECA9685A6227}"/>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3FC1529F-CF3E-DE62-8825-7CE047329AD3}"/>
              </a:ext>
            </a:extLst>
          </p:cNvPr>
          <p:cNvSpPr>
            <a:spLocks noGrp="1"/>
          </p:cNvSpPr>
          <p:nvPr>
            <p:ph type="sldNum" sz="quarter" idx="4"/>
          </p:nvPr>
        </p:nvSpPr>
        <p:spPr/>
        <p:txBody>
          <a:bodyPr/>
          <a:lstStyle/>
          <a:p>
            <a:fld id="{9BFB3A76-8619-A843-8C67-B9C7C140DBAC}" type="slidenum">
              <a:rPr lang="en-US" smtClean="0"/>
              <a:t>58</a:t>
            </a:fld>
            <a:endParaRPr lang="en-US"/>
          </a:p>
        </p:txBody>
      </p:sp>
    </p:spTree>
    <p:extLst>
      <p:ext uri="{BB962C8B-B14F-4D97-AF65-F5344CB8AC3E}">
        <p14:creationId xmlns:p14="http://schemas.microsoft.com/office/powerpoint/2010/main" val="20087421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type="title"/>
          </p:nvPr>
        </p:nvSpPr>
        <p:spPr>
          <a:xfrm>
            <a:off x="84138" y="123825"/>
            <a:ext cx="89757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Performance</a:t>
            </a:r>
          </a:p>
        </p:txBody>
      </p:sp>
      <p:sp>
        <p:nvSpPr>
          <p:cNvPr id="159782" name="Rectangle 38"/>
          <p:cNvSpPr>
            <a:spLocks noChangeArrowheads="1"/>
          </p:cNvSpPr>
          <p:nvPr/>
        </p:nvSpPr>
        <p:spPr bwMode="auto">
          <a:xfrm>
            <a:off x="5395913" y="763588"/>
            <a:ext cx="276542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 = arrival time of job</a:t>
            </a:r>
          </a:p>
          <a:p>
            <a:r>
              <a:rPr lang="en-US" altLang="it-IT"/>
              <a:t>Q = waiting time in queue</a:t>
            </a:r>
          </a:p>
          <a:p>
            <a:r>
              <a:rPr lang="en-US" altLang="it-IT"/>
              <a:t>S = service time</a:t>
            </a:r>
          </a:p>
        </p:txBody>
      </p:sp>
      <p:sp>
        <p:nvSpPr>
          <p:cNvPr id="159783" name="Rectangle 39"/>
          <p:cNvSpPr>
            <a:spLocks noChangeArrowheads="1"/>
          </p:cNvSpPr>
          <p:nvPr/>
        </p:nvSpPr>
        <p:spPr bwMode="auto">
          <a:xfrm>
            <a:off x="152400" y="1008063"/>
            <a:ext cx="49942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t>Example: Tandem first-come-first-serve queues</a:t>
            </a:r>
          </a:p>
        </p:txBody>
      </p:sp>
      <p:grpSp>
        <p:nvGrpSpPr>
          <p:cNvPr id="159816" name="Group 72"/>
          <p:cNvGrpSpPr>
            <a:grpSpLocks/>
          </p:cNvGrpSpPr>
          <p:nvPr/>
        </p:nvGrpSpPr>
        <p:grpSpPr bwMode="auto">
          <a:xfrm>
            <a:off x="82550" y="1606550"/>
            <a:ext cx="4483100" cy="4559300"/>
            <a:chOff x="52" y="1012"/>
            <a:chExt cx="2824" cy="2872"/>
          </a:xfrm>
        </p:grpSpPr>
        <p:sp>
          <p:nvSpPr>
            <p:cNvPr id="159746" name="Rectangle 2"/>
            <p:cNvSpPr>
              <a:spLocks noChangeArrowheads="1"/>
            </p:cNvSpPr>
            <p:nvPr/>
          </p:nvSpPr>
          <p:spPr bwMode="auto">
            <a:xfrm>
              <a:off x="52" y="1012"/>
              <a:ext cx="2824" cy="2872"/>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59748" name="Group 4"/>
            <p:cNvGrpSpPr>
              <a:grpSpLocks/>
            </p:cNvGrpSpPr>
            <p:nvPr/>
          </p:nvGrpSpPr>
          <p:grpSpPr bwMode="auto">
            <a:xfrm>
              <a:off x="400" y="1400"/>
              <a:ext cx="2416" cy="272"/>
              <a:chOff x="400" y="1400"/>
              <a:chExt cx="2416" cy="272"/>
            </a:xfrm>
          </p:grpSpPr>
          <p:grpSp>
            <p:nvGrpSpPr>
              <p:cNvPr id="159749" name="Group 5"/>
              <p:cNvGrpSpPr>
                <a:grpSpLocks/>
              </p:cNvGrpSpPr>
              <p:nvPr/>
            </p:nvGrpSpPr>
            <p:grpSpPr bwMode="auto">
              <a:xfrm>
                <a:off x="824" y="1400"/>
                <a:ext cx="656" cy="272"/>
                <a:chOff x="824" y="1400"/>
                <a:chExt cx="656" cy="272"/>
              </a:xfrm>
            </p:grpSpPr>
            <p:sp>
              <p:nvSpPr>
                <p:cNvPr id="159750" name="Oval 6"/>
                <p:cNvSpPr>
                  <a:spLocks noChangeArrowheads="1"/>
                </p:cNvSpPr>
                <p:nvPr/>
              </p:nvSpPr>
              <p:spPr bwMode="auto">
                <a:xfrm>
                  <a:off x="1208" y="1400"/>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51" name="Rectangle 7"/>
                <p:cNvSpPr>
                  <a:spLocks noChangeArrowheads="1"/>
                </p:cNvSpPr>
                <p:nvPr/>
              </p:nvSpPr>
              <p:spPr bwMode="auto">
                <a:xfrm>
                  <a:off x="1112"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52" name="Rectangle 8"/>
                <p:cNvSpPr>
                  <a:spLocks noChangeArrowheads="1"/>
                </p:cNvSpPr>
                <p:nvPr/>
              </p:nvSpPr>
              <p:spPr bwMode="auto">
                <a:xfrm>
                  <a:off x="1016"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53" name="Rectangle 9"/>
                <p:cNvSpPr>
                  <a:spLocks noChangeArrowheads="1"/>
                </p:cNvSpPr>
                <p:nvPr/>
              </p:nvSpPr>
              <p:spPr bwMode="auto">
                <a:xfrm>
                  <a:off x="920"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54" name="Rectangle 10"/>
                <p:cNvSpPr>
                  <a:spLocks noChangeArrowheads="1"/>
                </p:cNvSpPr>
                <p:nvPr/>
              </p:nvSpPr>
              <p:spPr bwMode="auto">
                <a:xfrm>
                  <a:off x="824"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59755" name="Group 11"/>
              <p:cNvGrpSpPr>
                <a:grpSpLocks/>
              </p:cNvGrpSpPr>
              <p:nvPr/>
            </p:nvGrpSpPr>
            <p:grpSpPr bwMode="auto">
              <a:xfrm>
                <a:off x="1832" y="1400"/>
                <a:ext cx="656" cy="272"/>
                <a:chOff x="1832" y="1400"/>
                <a:chExt cx="656" cy="272"/>
              </a:xfrm>
            </p:grpSpPr>
            <p:sp>
              <p:nvSpPr>
                <p:cNvPr id="159756" name="Oval 12"/>
                <p:cNvSpPr>
                  <a:spLocks noChangeArrowheads="1"/>
                </p:cNvSpPr>
                <p:nvPr/>
              </p:nvSpPr>
              <p:spPr bwMode="auto">
                <a:xfrm>
                  <a:off x="2216" y="1400"/>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57" name="Rectangle 13"/>
                <p:cNvSpPr>
                  <a:spLocks noChangeArrowheads="1"/>
                </p:cNvSpPr>
                <p:nvPr/>
              </p:nvSpPr>
              <p:spPr bwMode="auto">
                <a:xfrm>
                  <a:off x="2120"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58" name="Rectangle 14"/>
                <p:cNvSpPr>
                  <a:spLocks noChangeArrowheads="1"/>
                </p:cNvSpPr>
                <p:nvPr/>
              </p:nvSpPr>
              <p:spPr bwMode="auto">
                <a:xfrm>
                  <a:off x="2024"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59" name="Rectangle 15"/>
                <p:cNvSpPr>
                  <a:spLocks noChangeArrowheads="1"/>
                </p:cNvSpPr>
                <p:nvPr/>
              </p:nvSpPr>
              <p:spPr bwMode="auto">
                <a:xfrm>
                  <a:off x="1928"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60" name="Rectangle 16"/>
                <p:cNvSpPr>
                  <a:spLocks noChangeArrowheads="1"/>
                </p:cNvSpPr>
                <p:nvPr/>
              </p:nvSpPr>
              <p:spPr bwMode="auto">
                <a:xfrm>
                  <a:off x="1832"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761" name="Line 17"/>
              <p:cNvSpPr>
                <a:spLocks noChangeShapeType="1"/>
              </p:cNvSpPr>
              <p:nvPr/>
            </p:nvSpPr>
            <p:spPr bwMode="auto">
              <a:xfrm>
                <a:off x="400" y="1536"/>
                <a:ext cx="4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62" name="Line 18"/>
              <p:cNvSpPr>
                <a:spLocks noChangeShapeType="1"/>
              </p:cNvSpPr>
              <p:nvPr/>
            </p:nvSpPr>
            <p:spPr bwMode="auto">
              <a:xfrm>
                <a:off x="1504" y="1536"/>
                <a:ext cx="304"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63" name="Line 19"/>
              <p:cNvSpPr>
                <a:spLocks noChangeShapeType="1"/>
              </p:cNvSpPr>
              <p:nvPr/>
            </p:nvSpPr>
            <p:spPr bwMode="auto">
              <a:xfrm>
                <a:off x="2512" y="1536"/>
                <a:ext cx="304"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765" name="Rectangle 21"/>
            <p:cNvSpPr>
              <a:spLocks noChangeArrowheads="1"/>
            </p:cNvSpPr>
            <p:nvPr/>
          </p:nvSpPr>
          <p:spPr bwMode="auto">
            <a:xfrm>
              <a:off x="315" y="1042"/>
              <a:ext cx="225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t>“Classical” approach: lookahead?</a:t>
              </a:r>
            </a:p>
          </p:txBody>
        </p:sp>
        <p:sp>
          <p:nvSpPr>
            <p:cNvPr id="159766" name="Line 22"/>
            <p:cNvSpPr>
              <a:spLocks noChangeShapeType="1"/>
            </p:cNvSpPr>
            <p:nvPr/>
          </p:nvSpPr>
          <p:spPr bwMode="auto">
            <a:xfrm flipV="1">
              <a:off x="672" y="1776"/>
              <a:ext cx="0" cy="177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67" name="Line 23"/>
            <p:cNvSpPr>
              <a:spLocks noChangeShapeType="1"/>
            </p:cNvSpPr>
            <p:nvPr/>
          </p:nvSpPr>
          <p:spPr bwMode="auto">
            <a:xfrm>
              <a:off x="688" y="3552"/>
              <a:ext cx="184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68" name="Rectangle 24"/>
            <p:cNvSpPr>
              <a:spLocks noChangeArrowheads="1"/>
            </p:cNvSpPr>
            <p:nvPr/>
          </p:nvSpPr>
          <p:spPr bwMode="auto">
            <a:xfrm>
              <a:off x="951" y="3634"/>
              <a:ext cx="3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LP</a:t>
              </a:r>
              <a:r>
                <a:rPr lang="en-US" altLang="it-IT" baseline="-25000"/>
                <a:t>1</a:t>
              </a:r>
            </a:p>
          </p:txBody>
        </p:sp>
        <p:sp>
          <p:nvSpPr>
            <p:cNvPr id="159769" name="Rectangle 25"/>
            <p:cNvSpPr>
              <a:spLocks noChangeArrowheads="1"/>
            </p:cNvSpPr>
            <p:nvPr/>
          </p:nvSpPr>
          <p:spPr bwMode="auto">
            <a:xfrm>
              <a:off x="2055" y="3634"/>
              <a:ext cx="3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LP</a:t>
              </a:r>
              <a:r>
                <a:rPr lang="en-US" altLang="it-IT" baseline="-25000"/>
                <a:t>2</a:t>
              </a:r>
            </a:p>
          </p:txBody>
        </p:sp>
        <p:sp>
          <p:nvSpPr>
            <p:cNvPr id="159770" name="Rectangle 26"/>
            <p:cNvSpPr>
              <a:spLocks noChangeArrowheads="1"/>
            </p:cNvSpPr>
            <p:nvPr/>
          </p:nvSpPr>
          <p:spPr bwMode="auto">
            <a:xfrm>
              <a:off x="772" y="3028"/>
              <a:ext cx="664" cy="32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arrival</a:t>
              </a:r>
            </a:p>
            <a:p>
              <a:pPr algn="ctr"/>
              <a:r>
                <a:rPr lang="en-US" altLang="it-IT"/>
                <a:t>event</a:t>
              </a:r>
            </a:p>
          </p:txBody>
        </p:sp>
        <p:sp>
          <p:nvSpPr>
            <p:cNvPr id="159771" name="Rectangle 27"/>
            <p:cNvSpPr>
              <a:spLocks noChangeArrowheads="1"/>
            </p:cNvSpPr>
            <p:nvPr/>
          </p:nvSpPr>
          <p:spPr bwMode="auto">
            <a:xfrm>
              <a:off x="772" y="2020"/>
              <a:ext cx="664" cy="32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departure</a:t>
              </a:r>
            </a:p>
            <a:p>
              <a:pPr algn="ctr"/>
              <a:r>
                <a:rPr lang="en-US" altLang="it-IT"/>
                <a:t>event</a:t>
              </a:r>
            </a:p>
          </p:txBody>
        </p:sp>
        <p:sp>
          <p:nvSpPr>
            <p:cNvPr id="159772" name="Rectangle 28"/>
            <p:cNvSpPr>
              <a:spLocks noChangeArrowheads="1"/>
            </p:cNvSpPr>
            <p:nvPr/>
          </p:nvSpPr>
          <p:spPr bwMode="auto">
            <a:xfrm>
              <a:off x="1876" y="2020"/>
              <a:ext cx="664" cy="32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arrival</a:t>
              </a:r>
            </a:p>
            <a:p>
              <a:pPr algn="ctr"/>
              <a:r>
                <a:rPr lang="en-US" altLang="it-IT"/>
                <a:t>event</a:t>
              </a:r>
            </a:p>
          </p:txBody>
        </p:sp>
        <p:sp>
          <p:nvSpPr>
            <p:cNvPr id="159773" name="Line 29"/>
            <p:cNvSpPr>
              <a:spLocks noChangeShapeType="1"/>
            </p:cNvSpPr>
            <p:nvPr/>
          </p:nvSpPr>
          <p:spPr bwMode="auto">
            <a:xfrm>
              <a:off x="920" y="2592"/>
              <a:ext cx="3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74" name="Line 30"/>
            <p:cNvSpPr>
              <a:spLocks noChangeShapeType="1"/>
            </p:cNvSpPr>
            <p:nvPr/>
          </p:nvSpPr>
          <p:spPr bwMode="auto">
            <a:xfrm flipH="1">
              <a:off x="624" y="3216"/>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75" name="Line 31"/>
            <p:cNvSpPr>
              <a:spLocks noChangeShapeType="1"/>
            </p:cNvSpPr>
            <p:nvPr/>
          </p:nvSpPr>
          <p:spPr bwMode="auto">
            <a:xfrm flipH="1">
              <a:off x="624" y="2592"/>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76" name="Line 32"/>
            <p:cNvSpPr>
              <a:spLocks noChangeShapeType="1"/>
            </p:cNvSpPr>
            <p:nvPr/>
          </p:nvSpPr>
          <p:spPr bwMode="auto">
            <a:xfrm flipH="1">
              <a:off x="624" y="2208"/>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77" name="Rectangle 33"/>
            <p:cNvSpPr>
              <a:spLocks noChangeArrowheads="1"/>
            </p:cNvSpPr>
            <p:nvPr/>
          </p:nvSpPr>
          <p:spPr bwMode="auto">
            <a:xfrm>
              <a:off x="475" y="3106"/>
              <a:ext cx="20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a:t>
              </a:r>
            </a:p>
          </p:txBody>
        </p:sp>
        <p:sp>
          <p:nvSpPr>
            <p:cNvPr id="159778" name="Rectangle 34"/>
            <p:cNvSpPr>
              <a:spLocks noChangeArrowheads="1"/>
            </p:cNvSpPr>
            <p:nvPr/>
          </p:nvSpPr>
          <p:spPr bwMode="auto">
            <a:xfrm>
              <a:off x="279" y="2482"/>
              <a:ext cx="39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T+Q</a:t>
              </a:r>
            </a:p>
          </p:txBody>
        </p:sp>
        <p:sp>
          <p:nvSpPr>
            <p:cNvPr id="159779" name="Rectangle 35"/>
            <p:cNvSpPr>
              <a:spLocks noChangeArrowheads="1"/>
            </p:cNvSpPr>
            <p:nvPr/>
          </p:nvSpPr>
          <p:spPr bwMode="auto">
            <a:xfrm>
              <a:off x="99" y="2098"/>
              <a:ext cx="57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T+Q+S</a:t>
              </a:r>
            </a:p>
          </p:txBody>
        </p:sp>
        <p:sp>
          <p:nvSpPr>
            <p:cNvPr id="159780" name="Line 36"/>
            <p:cNvSpPr>
              <a:spLocks noChangeShapeType="1"/>
            </p:cNvSpPr>
            <p:nvPr/>
          </p:nvSpPr>
          <p:spPr bwMode="auto">
            <a:xfrm flipV="1">
              <a:off x="1104" y="2352"/>
              <a:ext cx="0" cy="2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81" name="Line 37"/>
            <p:cNvSpPr>
              <a:spLocks noChangeShapeType="1"/>
            </p:cNvSpPr>
            <p:nvPr/>
          </p:nvSpPr>
          <p:spPr bwMode="auto">
            <a:xfrm>
              <a:off x="1448" y="2208"/>
              <a:ext cx="41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84" name="Rectangle 40"/>
            <p:cNvSpPr>
              <a:spLocks noChangeArrowheads="1"/>
            </p:cNvSpPr>
            <p:nvPr/>
          </p:nvSpPr>
          <p:spPr bwMode="auto">
            <a:xfrm>
              <a:off x="1287" y="2496"/>
              <a:ext cx="86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1600"/>
                <a:t>begin service</a:t>
              </a:r>
            </a:p>
          </p:txBody>
        </p:sp>
      </p:grpSp>
      <p:grpSp>
        <p:nvGrpSpPr>
          <p:cNvPr id="159818" name="Group 74"/>
          <p:cNvGrpSpPr>
            <a:grpSpLocks/>
          </p:cNvGrpSpPr>
          <p:nvPr/>
        </p:nvGrpSpPr>
        <p:grpSpPr bwMode="auto">
          <a:xfrm>
            <a:off x="55563" y="1606550"/>
            <a:ext cx="9005887" cy="5084763"/>
            <a:chOff x="35" y="1012"/>
            <a:chExt cx="5673" cy="3203"/>
          </a:xfrm>
        </p:grpSpPr>
        <p:grpSp>
          <p:nvGrpSpPr>
            <p:cNvPr id="159817" name="Group 73"/>
            <p:cNvGrpSpPr>
              <a:grpSpLocks/>
            </p:cNvGrpSpPr>
            <p:nvPr/>
          </p:nvGrpSpPr>
          <p:grpSpPr bwMode="auto">
            <a:xfrm>
              <a:off x="2883" y="1012"/>
              <a:ext cx="2825" cy="2872"/>
              <a:chOff x="2883" y="1012"/>
              <a:chExt cx="2825" cy="2872"/>
            </a:xfrm>
          </p:grpSpPr>
          <p:sp>
            <p:nvSpPr>
              <p:cNvPr id="159764" name="Rectangle 20"/>
              <p:cNvSpPr>
                <a:spLocks noChangeArrowheads="1"/>
              </p:cNvSpPr>
              <p:nvPr/>
            </p:nvSpPr>
            <p:spPr bwMode="auto">
              <a:xfrm>
                <a:off x="2884" y="1012"/>
                <a:ext cx="2824" cy="2872"/>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59785" name="Group 41"/>
              <p:cNvGrpSpPr>
                <a:grpSpLocks/>
              </p:cNvGrpSpPr>
              <p:nvPr/>
            </p:nvGrpSpPr>
            <p:grpSpPr bwMode="auto">
              <a:xfrm>
                <a:off x="3184" y="1400"/>
                <a:ext cx="2416" cy="272"/>
                <a:chOff x="3184" y="1400"/>
                <a:chExt cx="2416" cy="272"/>
              </a:xfrm>
            </p:grpSpPr>
            <p:grpSp>
              <p:nvGrpSpPr>
                <p:cNvPr id="159786" name="Group 42"/>
                <p:cNvGrpSpPr>
                  <a:grpSpLocks/>
                </p:cNvGrpSpPr>
                <p:nvPr/>
              </p:nvGrpSpPr>
              <p:grpSpPr bwMode="auto">
                <a:xfrm>
                  <a:off x="3608" y="1400"/>
                  <a:ext cx="656" cy="272"/>
                  <a:chOff x="3608" y="1400"/>
                  <a:chExt cx="656" cy="272"/>
                </a:xfrm>
              </p:grpSpPr>
              <p:sp>
                <p:nvSpPr>
                  <p:cNvPr id="159787" name="Oval 43"/>
                  <p:cNvSpPr>
                    <a:spLocks noChangeArrowheads="1"/>
                  </p:cNvSpPr>
                  <p:nvPr/>
                </p:nvSpPr>
                <p:spPr bwMode="auto">
                  <a:xfrm>
                    <a:off x="3992" y="1400"/>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88" name="Rectangle 44"/>
                  <p:cNvSpPr>
                    <a:spLocks noChangeArrowheads="1"/>
                  </p:cNvSpPr>
                  <p:nvPr/>
                </p:nvSpPr>
                <p:spPr bwMode="auto">
                  <a:xfrm>
                    <a:off x="3896"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89" name="Rectangle 45"/>
                  <p:cNvSpPr>
                    <a:spLocks noChangeArrowheads="1"/>
                  </p:cNvSpPr>
                  <p:nvPr/>
                </p:nvSpPr>
                <p:spPr bwMode="auto">
                  <a:xfrm>
                    <a:off x="3800"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0" name="Rectangle 46"/>
                  <p:cNvSpPr>
                    <a:spLocks noChangeArrowheads="1"/>
                  </p:cNvSpPr>
                  <p:nvPr/>
                </p:nvSpPr>
                <p:spPr bwMode="auto">
                  <a:xfrm>
                    <a:off x="3704"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1" name="Rectangle 47"/>
                  <p:cNvSpPr>
                    <a:spLocks noChangeArrowheads="1"/>
                  </p:cNvSpPr>
                  <p:nvPr/>
                </p:nvSpPr>
                <p:spPr bwMode="auto">
                  <a:xfrm>
                    <a:off x="3608"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59792" name="Group 48"/>
                <p:cNvGrpSpPr>
                  <a:grpSpLocks/>
                </p:cNvGrpSpPr>
                <p:nvPr/>
              </p:nvGrpSpPr>
              <p:grpSpPr bwMode="auto">
                <a:xfrm>
                  <a:off x="4616" y="1400"/>
                  <a:ext cx="656" cy="272"/>
                  <a:chOff x="4616" y="1400"/>
                  <a:chExt cx="656" cy="272"/>
                </a:xfrm>
              </p:grpSpPr>
              <p:sp>
                <p:nvSpPr>
                  <p:cNvPr id="159793" name="Oval 49"/>
                  <p:cNvSpPr>
                    <a:spLocks noChangeArrowheads="1"/>
                  </p:cNvSpPr>
                  <p:nvPr/>
                </p:nvSpPr>
                <p:spPr bwMode="auto">
                  <a:xfrm>
                    <a:off x="5000" y="1400"/>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4" name="Rectangle 50"/>
                  <p:cNvSpPr>
                    <a:spLocks noChangeArrowheads="1"/>
                  </p:cNvSpPr>
                  <p:nvPr/>
                </p:nvSpPr>
                <p:spPr bwMode="auto">
                  <a:xfrm>
                    <a:off x="4904"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5" name="Rectangle 51"/>
                  <p:cNvSpPr>
                    <a:spLocks noChangeArrowheads="1"/>
                  </p:cNvSpPr>
                  <p:nvPr/>
                </p:nvSpPr>
                <p:spPr bwMode="auto">
                  <a:xfrm>
                    <a:off x="4808"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6" name="Rectangle 52"/>
                  <p:cNvSpPr>
                    <a:spLocks noChangeArrowheads="1"/>
                  </p:cNvSpPr>
                  <p:nvPr/>
                </p:nvSpPr>
                <p:spPr bwMode="auto">
                  <a:xfrm>
                    <a:off x="4712"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7" name="Rectangle 53"/>
                  <p:cNvSpPr>
                    <a:spLocks noChangeArrowheads="1"/>
                  </p:cNvSpPr>
                  <p:nvPr/>
                </p:nvSpPr>
                <p:spPr bwMode="auto">
                  <a:xfrm>
                    <a:off x="4616"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798" name="Line 54"/>
                <p:cNvSpPr>
                  <a:spLocks noChangeShapeType="1"/>
                </p:cNvSpPr>
                <p:nvPr/>
              </p:nvSpPr>
              <p:spPr bwMode="auto">
                <a:xfrm>
                  <a:off x="3184" y="1536"/>
                  <a:ext cx="4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9" name="Line 55"/>
                <p:cNvSpPr>
                  <a:spLocks noChangeShapeType="1"/>
                </p:cNvSpPr>
                <p:nvPr/>
              </p:nvSpPr>
              <p:spPr bwMode="auto">
                <a:xfrm>
                  <a:off x="4288" y="1536"/>
                  <a:ext cx="304"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0" name="Line 56"/>
                <p:cNvSpPr>
                  <a:spLocks noChangeShapeType="1"/>
                </p:cNvSpPr>
                <p:nvPr/>
              </p:nvSpPr>
              <p:spPr bwMode="auto">
                <a:xfrm>
                  <a:off x="5296" y="1536"/>
                  <a:ext cx="304"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801" name="Rectangle 57"/>
              <p:cNvSpPr>
                <a:spLocks noChangeArrowheads="1"/>
              </p:cNvSpPr>
              <p:nvPr/>
            </p:nvSpPr>
            <p:spPr bwMode="auto">
              <a:xfrm>
                <a:off x="3183" y="1042"/>
                <a:ext cx="208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t>Optimized to exploit lookahead</a:t>
                </a:r>
              </a:p>
            </p:txBody>
          </p:sp>
          <p:sp>
            <p:nvSpPr>
              <p:cNvPr id="159802" name="Line 58"/>
              <p:cNvSpPr>
                <a:spLocks noChangeShapeType="1"/>
              </p:cNvSpPr>
              <p:nvPr/>
            </p:nvSpPr>
            <p:spPr bwMode="auto">
              <a:xfrm flipV="1">
                <a:off x="3456" y="1776"/>
                <a:ext cx="0" cy="177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3" name="Line 59"/>
              <p:cNvSpPr>
                <a:spLocks noChangeShapeType="1"/>
              </p:cNvSpPr>
              <p:nvPr/>
            </p:nvSpPr>
            <p:spPr bwMode="auto">
              <a:xfrm>
                <a:off x="3472" y="3552"/>
                <a:ext cx="184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4" name="Rectangle 60"/>
              <p:cNvSpPr>
                <a:spLocks noChangeArrowheads="1"/>
              </p:cNvSpPr>
              <p:nvPr/>
            </p:nvSpPr>
            <p:spPr bwMode="auto">
              <a:xfrm>
                <a:off x="3735" y="3634"/>
                <a:ext cx="3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LP</a:t>
                </a:r>
                <a:r>
                  <a:rPr lang="en-US" altLang="it-IT" baseline="-25000"/>
                  <a:t>1</a:t>
                </a:r>
              </a:p>
            </p:txBody>
          </p:sp>
          <p:sp>
            <p:nvSpPr>
              <p:cNvPr id="159805" name="Rectangle 61"/>
              <p:cNvSpPr>
                <a:spLocks noChangeArrowheads="1"/>
              </p:cNvSpPr>
              <p:nvPr/>
            </p:nvSpPr>
            <p:spPr bwMode="auto">
              <a:xfrm>
                <a:off x="4839" y="3634"/>
                <a:ext cx="3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LP</a:t>
                </a:r>
                <a:r>
                  <a:rPr lang="en-US" altLang="it-IT" baseline="-25000"/>
                  <a:t>2</a:t>
                </a:r>
              </a:p>
            </p:txBody>
          </p:sp>
          <p:sp>
            <p:nvSpPr>
              <p:cNvPr id="159806" name="Rectangle 62"/>
              <p:cNvSpPr>
                <a:spLocks noChangeArrowheads="1"/>
              </p:cNvSpPr>
              <p:nvPr/>
            </p:nvSpPr>
            <p:spPr bwMode="auto">
              <a:xfrm>
                <a:off x="3556" y="3028"/>
                <a:ext cx="664" cy="32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arrival</a:t>
                </a:r>
              </a:p>
              <a:p>
                <a:pPr algn="ctr"/>
                <a:r>
                  <a:rPr lang="en-US" altLang="it-IT"/>
                  <a:t>event</a:t>
                </a:r>
              </a:p>
            </p:txBody>
          </p:sp>
          <p:sp>
            <p:nvSpPr>
              <p:cNvPr id="159807" name="Rectangle 63"/>
              <p:cNvSpPr>
                <a:spLocks noChangeArrowheads="1"/>
              </p:cNvSpPr>
              <p:nvPr/>
            </p:nvSpPr>
            <p:spPr bwMode="auto">
              <a:xfrm>
                <a:off x="4660" y="2020"/>
                <a:ext cx="664" cy="32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arrival</a:t>
                </a:r>
              </a:p>
              <a:p>
                <a:pPr algn="ctr"/>
                <a:r>
                  <a:rPr lang="en-US" altLang="it-IT"/>
                  <a:t>event</a:t>
                </a:r>
              </a:p>
            </p:txBody>
          </p:sp>
          <p:sp>
            <p:nvSpPr>
              <p:cNvPr id="159808" name="Line 64"/>
              <p:cNvSpPr>
                <a:spLocks noChangeShapeType="1"/>
              </p:cNvSpPr>
              <p:nvPr/>
            </p:nvSpPr>
            <p:spPr bwMode="auto">
              <a:xfrm flipH="1">
                <a:off x="3408" y="3216"/>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9" name="Line 65"/>
              <p:cNvSpPr>
                <a:spLocks noChangeShapeType="1"/>
              </p:cNvSpPr>
              <p:nvPr/>
            </p:nvSpPr>
            <p:spPr bwMode="auto">
              <a:xfrm flipH="1">
                <a:off x="3408" y="2592"/>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10" name="Line 66"/>
              <p:cNvSpPr>
                <a:spLocks noChangeShapeType="1"/>
              </p:cNvSpPr>
              <p:nvPr/>
            </p:nvSpPr>
            <p:spPr bwMode="auto">
              <a:xfrm flipH="1">
                <a:off x="3408" y="2208"/>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11" name="Rectangle 67"/>
              <p:cNvSpPr>
                <a:spLocks noChangeArrowheads="1"/>
              </p:cNvSpPr>
              <p:nvPr/>
            </p:nvSpPr>
            <p:spPr bwMode="auto">
              <a:xfrm>
                <a:off x="3259" y="3106"/>
                <a:ext cx="20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a:t>
                </a:r>
              </a:p>
            </p:txBody>
          </p:sp>
          <p:sp>
            <p:nvSpPr>
              <p:cNvPr id="159812" name="Rectangle 68"/>
              <p:cNvSpPr>
                <a:spLocks noChangeArrowheads="1"/>
              </p:cNvSpPr>
              <p:nvPr/>
            </p:nvSpPr>
            <p:spPr bwMode="auto">
              <a:xfrm>
                <a:off x="3063" y="2482"/>
                <a:ext cx="39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T+Q</a:t>
                </a:r>
              </a:p>
            </p:txBody>
          </p:sp>
          <p:sp>
            <p:nvSpPr>
              <p:cNvPr id="159813" name="Rectangle 69"/>
              <p:cNvSpPr>
                <a:spLocks noChangeArrowheads="1"/>
              </p:cNvSpPr>
              <p:nvPr/>
            </p:nvSpPr>
            <p:spPr bwMode="auto">
              <a:xfrm>
                <a:off x="2883" y="2098"/>
                <a:ext cx="57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T+Q+S</a:t>
                </a:r>
              </a:p>
            </p:txBody>
          </p:sp>
          <p:sp>
            <p:nvSpPr>
              <p:cNvPr id="159814" name="Line 70"/>
              <p:cNvSpPr>
                <a:spLocks noChangeShapeType="1"/>
              </p:cNvSpPr>
              <p:nvPr/>
            </p:nvSpPr>
            <p:spPr bwMode="auto">
              <a:xfrm flipV="1">
                <a:off x="4232" y="2352"/>
                <a:ext cx="416" cy="67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815" name="Rectangle 71"/>
            <p:cNvSpPr>
              <a:spLocks noChangeArrowheads="1"/>
            </p:cNvSpPr>
            <p:nvPr/>
          </p:nvSpPr>
          <p:spPr bwMode="auto">
            <a:xfrm>
              <a:off x="35" y="3929"/>
              <a:ext cx="5029" cy="286"/>
            </a:xfrm>
            <a:prstGeom prst="rect">
              <a:avLst/>
            </a:prstGeom>
            <a:noFill/>
            <a:ln>
              <a:noFill/>
            </a:ln>
            <a:effectLst/>
            <a:extLst>
              <a:ext uri="{909E8E84-426E-40DD-AFC4-6F175D3DCCD1}">
                <a14:hiddenFill xmlns:a14="http://schemas.microsoft.com/office/drawing/2010/main">
                  <a:solidFill>
                    <a:srgbClr val="FFC5C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sz="2400"/>
                <a:t>Maintain variable indicating departure time of previous job</a:t>
              </a:r>
            </a:p>
          </p:txBody>
        </p:sp>
      </p:grpSp>
      <p:sp>
        <p:nvSpPr>
          <p:cNvPr id="2" name="Segnaposto data 1">
            <a:extLst>
              <a:ext uri="{FF2B5EF4-FFF2-40B4-BE49-F238E27FC236}">
                <a16:creationId xmlns:a16="http://schemas.microsoft.com/office/drawing/2014/main" id="{64B3FB8B-0C2B-37AC-0954-85813242CB01}"/>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9AE438E0-7FF5-2C4C-A944-8B2F6FFC06F5}"/>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1E5CBC38-C5F8-0E96-2EC5-DB50BF4F2F55}"/>
              </a:ext>
            </a:extLst>
          </p:cNvPr>
          <p:cNvSpPr>
            <a:spLocks noGrp="1"/>
          </p:cNvSpPr>
          <p:nvPr>
            <p:ph type="sldNum" sz="quarter" idx="4"/>
          </p:nvPr>
        </p:nvSpPr>
        <p:spPr/>
        <p:txBody>
          <a:bodyPr/>
          <a:lstStyle/>
          <a:p>
            <a:fld id="{9BFB3A76-8619-A843-8C67-B9C7C140DBAC}" type="slidenum">
              <a:rPr lang="en-US" smtClean="0"/>
              <a:t>59</a:t>
            </a:fld>
            <a:endParaRPr lang="en-US"/>
          </a:p>
        </p:txBody>
      </p:sp>
    </p:spTree>
    <p:extLst>
      <p:ext uri="{BB962C8B-B14F-4D97-AF65-F5344CB8AC3E}">
        <p14:creationId xmlns:p14="http://schemas.microsoft.com/office/powerpoint/2010/main" val="36256099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9818"/>
                                        </p:tgtEl>
                                        <p:attrNameLst>
                                          <p:attrName>style.visibility</p:attrName>
                                        </p:attrNameLst>
                                      </p:cBhvr>
                                      <p:to>
                                        <p:strVal val="visible"/>
                                      </p:to>
                                    </p:set>
                                    <p:animEffect transition="in" filter="dissolve">
                                      <p:cBhvr>
                                        <p:cTn id="7" dur="500"/>
                                        <p:tgtEl>
                                          <p:spTgt spid="159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type="title"/>
          </p:nvPr>
        </p:nvSpPr>
        <p:spPr>
          <a:xfrm>
            <a:off x="84138" y="123825"/>
            <a:ext cx="89757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Performance</a:t>
            </a:r>
          </a:p>
        </p:txBody>
      </p:sp>
      <p:sp>
        <p:nvSpPr>
          <p:cNvPr id="159782" name="Rectangle 38"/>
          <p:cNvSpPr>
            <a:spLocks noChangeArrowheads="1"/>
          </p:cNvSpPr>
          <p:nvPr/>
        </p:nvSpPr>
        <p:spPr bwMode="auto">
          <a:xfrm>
            <a:off x="5395913" y="763588"/>
            <a:ext cx="276542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 = arrival time of job</a:t>
            </a:r>
          </a:p>
          <a:p>
            <a:r>
              <a:rPr lang="en-US" altLang="it-IT"/>
              <a:t>Q = waiting time in queue</a:t>
            </a:r>
          </a:p>
          <a:p>
            <a:r>
              <a:rPr lang="en-US" altLang="it-IT"/>
              <a:t>S = service time</a:t>
            </a:r>
          </a:p>
        </p:txBody>
      </p:sp>
      <p:grpSp>
        <p:nvGrpSpPr>
          <p:cNvPr id="159818" name="Group 74"/>
          <p:cNvGrpSpPr>
            <a:grpSpLocks/>
          </p:cNvGrpSpPr>
          <p:nvPr/>
        </p:nvGrpSpPr>
        <p:grpSpPr bwMode="auto">
          <a:xfrm>
            <a:off x="55563" y="1606550"/>
            <a:ext cx="9005887" cy="5224463"/>
            <a:chOff x="35" y="1012"/>
            <a:chExt cx="5673" cy="3291"/>
          </a:xfrm>
        </p:grpSpPr>
        <p:grpSp>
          <p:nvGrpSpPr>
            <p:cNvPr id="159817" name="Group 73"/>
            <p:cNvGrpSpPr>
              <a:grpSpLocks/>
            </p:cNvGrpSpPr>
            <p:nvPr/>
          </p:nvGrpSpPr>
          <p:grpSpPr bwMode="auto">
            <a:xfrm>
              <a:off x="2883" y="1012"/>
              <a:ext cx="2825" cy="2872"/>
              <a:chOff x="2883" y="1012"/>
              <a:chExt cx="2825" cy="2872"/>
            </a:xfrm>
          </p:grpSpPr>
          <p:sp>
            <p:nvSpPr>
              <p:cNvPr id="159764" name="Rectangle 20"/>
              <p:cNvSpPr>
                <a:spLocks noChangeArrowheads="1"/>
              </p:cNvSpPr>
              <p:nvPr/>
            </p:nvSpPr>
            <p:spPr bwMode="auto">
              <a:xfrm>
                <a:off x="2884" y="1012"/>
                <a:ext cx="2824" cy="2872"/>
              </a:xfrm>
              <a:prstGeom prst="rect">
                <a:avLst/>
              </a:prstGeom>
              <a:solidFill>
                <a:srgbClr val="FDE3BA"/>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59785" name="Group 41"/>
              <p:cNvGrpSpPr>
                <a:grpSpLocks/>
              </p:cNvGrpSpPr>
              <p:nvPr/>
            </p:nvGrpSpPr>
            <p:grpSpPr bwMode="auto">
              <a:xfrm>
                <a:off x="3184" y="1400"/>
                <a:ext cx="2416" cy="272"/>
                <a:chOff x="3184" y="1400"/>
                <a:chExt cx="2416" cy="272"/>
              </a:xfrm>
            </p:grpSpPr>
            <p:grpSp>
              <p:nvGrpSpPr>
                <p:cNvPr id="159786" name="Group 42"/>
                <p:cNvGrpSpPr>
                  <a:grpSpLocks/>
                </p:cNvGrpSpPr>
                <p:nvPr/>
              </p:nvGrpSpPr>
              <p:grpSpPr bwMode="auto">
                <a:xfrm>
                  <a:off x="3608" y="1400"/>
                  <a:ext cx="656" cy="272"/>
                  <a:chOff x="3608" y="1400"/>
                  <a:chExt cx="656" cy="272"/>
                </a:xfrm>
              </p:grpSpPr>
              <p:sp>
                <p:nvSpPr>
                  <p:cNvPr id="159787" name="Oval 43"/>
                  <p:cNvSpPr>
                    <a:spLocks noChangeArrowheads="1"/>
                  </p:cNvSpPr>
                  <p:nvPr/>
                </p:nvSpPr>
                <p:spPr bwMode="auto">
                  <a:xfrm>
                    <a:off x="3992" y="1400"/>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88" name="Rectangle 44"/>
                  <p:cNvSpPr>
                    <a:spLocks noChangeArrowheads="1"/>
                  </p:cNvSpPr>
                  <p:nvPr/>
                </p:nvSpPr>
                <p:spPr bwMode="auto">
                  <a:xfrm>
                    <a:off x="3896"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89" name="Rectangle 45"/>
                  <p:cNvSpPr>
                    <a:spLocks noChangeArrowheads="1"/>
                  </p:cNvSpPr>
                  <p:nvPr/>
                </p:nvSpPr>
                <p:spPr bwMode="auto">
                  <a:xfrm>
                    <a:off x="3800"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0" name="Rectangle 46"/>
                  <p:cNvSpPr>
                    <a:spLocks noChangeArrowheads="1"/>
                  </p:cNvSpPr>
                  <p:nvPr/>
                </p:nvSpPr>
                <p:spPr bwMode="auto">
                  <a:xfrm>
                    <a:off x="3704"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1" name="Rectangle 47"/>
                  <p:cNvSpPr>
                    <a:spLocks noChangeArrowheads="1"/>
                  </p:cNvSpPr>
                  <p:nvPr/>
                </p:nvSpPr>
                <p:spPr bwMode="auto">
                  <a:xfrm>
                    <a:off x="3608"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59792" name="Group 48"/>
                <p:cNvGrpSpPr>
                  <a:grpSpLocks/>
                </p:cNvGrpSpPr>
                <p:nvPr/>
              </p:nvGrpSpPr>
              <p:grpSpPr bwMode="auto">
                <a:xfrm>
                  <a:off x="4616" y="1400"/>
                  <a:ext cx="656" cy="272"/>
                  <a:chOff x="4616" y="1400"/>
                  <a:chExt cx="656" cy="272"/>
                </a:xfrm>
              </p:grpSpPr>
              <p:sp>
                <p:nvSpPr>
                  <p:cNvPr id="159793" name="Oval 49"/>
                  <p:cNvSpPr>
                    <a:spLocks noChangeArrowheads="1"/>
                  </p:cNvSpPr>
                  <p:nvPr/>
                </p:nvSpPr>
                <p:spPr bwMode="auto">
                  <a:xfrm>
                    <a:off x="5000" y="1400"/>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4" name="Rectangle 50"/>
                  <p:cNvSpPr>
                    <a:spLocks noChangeArrowheads="1"/>
                  </p:cNvSpPr>
                  <p:nvPr/>
                </p:nvSpPr>
                <p:spPr bwMode="auto">
                  <a:xfrm>
                    <a:off x="4904"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5" name="Rectangle 51"/>
                  <p:cNvSpPr>
                    <a:spLocks noChangeArrowheads="1"/>
                  </p:cNvSpPr>
                  <p:nvPr/>
                </p:nvSpPr>
                <p:spPr bwMode="auto">
                  <a:xfrm>
                    <a:off x="4808"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6" name="Rectangle 52"/>
                  <p:cNvSpPr>
                    <a:spLocks noChangeArrowheads="1"/>
                  </p:cNvSpPr>
                  <p:nvPr/>
                </p:nvSpPr>
                <p:spPr bwMode="auto">
                  <a:xfrm>
                    <a:off x="4712"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7" name="Rectangle 53"/>
                  <p:cNvSpPr>
                    <a:spLocks noChangeArrowheads="1"/>
                  </p:cNvSpPr>
                  <p:nvPr/>
                </p:nvSpPr>
                <p:spPr bwMode="auto">
                  <a:xfrm>
                    <a:off x="4616" y="1400"/>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798" name="Line 54"/>
                <p:cNvSpPr>
                  <a:spLocks noChangeShapeType="1"/>
                </p:cNvSpPr>
                <p:nvPr/>
              </p:nvSpPr>
              <p:spPr bwMode="auto">
                <a:xfrm>
                  <a:off x="3184" y="1536"/>
                  <a:ext cx="4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799" name="Line 55"/>
                <p:cNvSpPr>
                  <a:spLocks noChangeShapeType="1"/>
                </p:cNvSpPr>
                <p:nvPr/>
              </p:nvSpPr>
              <p:spPr bwMode="auto">
                <a:xfrm>
                  <a:off x="4288" y="1536"/>
                  <a:ext cx="304"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0" name="Line 56"/>
                <p:cNvSpPr>
                  <a:spLocks noChangeShapeType="1"/>
                </p:cNvSpPr>
                <p:nvPr/>
              </p:nvSpPr>
              <p:spPr bwMode="auto">
                <a:xfrm>
                  <a:off x="5296" y="1536"/>
                  <a:ext cx="304"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801" name="Rectangle 57"/>
              <p:cNvSpPr>
                <a:spLocks noChangeArrowheads="1"/>
              </p:cNvSpPr>
              <p:nvPr/>
            </p:nvSpPr>
            <p:spPr bwMode="auto">
              <a:xfrm>
                <a:off x="3183" y="1042"/>
                <a:ext cx="208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t>Optimized to exploit lookahead</a:t>
                </a:r>
              </a:p>
            </p:txBody>
          </p:sp>
          <p:sp>
            <p:nvSpPr>
              <p:cNvPr id="159802" name="Line 58"/>
              <p:cNvSpPr>
                <a:spLocks noChangeShapeType="1"/>
              </p:cNvSpPr>
              <p:nvPr/>
            </p:nvSpPr>
            <p:spPr bwMode="auto">
              <a:xfrm flipV="1">
                <a:off x="3456" y="1776"/>
                <a:ext cx="0" cy="177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3" name="Line 59"/>
              <p:cNvSpPr>
                <a:spLocks noChangeShapeType="1"/>
              </p:cNvSpPr>
              <p:nvPr/>
            </p:nvSpPr>
            <p:spPr bwMode="auto">
              <a:xfrm>
                <a:off x="3472" y="3552"/>
                <a:ext cx="184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4" name="Rectangle 60"/>
              <p:cNvSpPr>
                <a:spLocks noChangeArrowheads="1"/>
              </p:cNvSpPr>
              <p:nvPr/>
            </p:nvSpPr>
            <p:spPr bwMode="auto">
              <a:xfrm>
                <a:off x="3735" y="3634"/>
                <a:ext cx="3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LP</a:t>
                </a:r>
                <a:r>
                  <a:rPr lang="en-US" altLang="it-IT" baseline="-25000"/>
                  <a:t>1</a:t>
                </a:r>
              </a:p>
            </p:txBody>
          </p:sp>
          <p:sp>
            <p:nvSpPr>
              <p:cNvPr id="159805" name="Rectangle 61"/>
              <p:cNvSpPr>
                <a:spLocks noChangeArrowheads="1"/>
              </p:cNvSpPr>
              <p:nvPr/>
            </p:nvSpPr>
            <p:spPr bwMode="auto">
              <a:xfrm>
                <a:off x="4839" y="3634"/>
                <a:ext cx="3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LP</a:t>
                </a:r>
                <a:r>
                  <a:rPr lang="en-US" altLang="it-IT" baseline="-25000"/>
                  <a:t>2</a:t>
                </a:r>
              </a:p>
            </p:txBody>
          </p:sp>
          <p:sp>
            <p:nvSpPr>
              <p:cNvPr id="159806" name="Rectangle 62"/>
              <p:cNvSpPr>
                <a:spLocks noChangeArrowheads="1"/>
              </p:cNvSpPr>
              <p:nvPr/>
            </p:nvSpPr>
            <p:spPr bwMode="auto">
              <a:xfrm>
                <a:off x="3556" y="3028"/>
                <a:ext cx="664" cy="32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arrival</a:t>
                </a:r>
              </a:p>
              <a:p>
                <a:pPr algn="ctr"/>
                <a:r>
                  <a:rPr lang="en-US" altLang="it-IT"/>
                  <a:t>event</a:t>
                </a:r>
              </a:p>
            </p:txBody>
          </p:sp>
          <p:sp>
            <p:nvSpPr>
              <p:cNvPr id="159807" name="Rectangle 63"/>
              <p:cNvSpPr>
                <a:spLocks noChangeArrowheads="1"/>
              </p:cNvSpPr>
              <p:nvPr/>
            </p:nvSpPr>
            <p:spPr bwMode="auto">
              <a:xfrm>
                <a:off x="4660" y="2020"/>
                <a:ext cx="664" cy="32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nchor="ctr"/>
              <a:lstStyle/>
              <a:p>
                <a:pPr algn="ctr"/>
                <a:r>
                  <a:rPr lang="en-US" altLang="it-IT"/>
                  <a:t>arrival</a:t>
                </a:r>
              </a:p>
              <a:p>
                <a:pPr algn="ctr"/>
                <a:r>
                  <a:rPr lang="en-US" altLang="it-IT"/>
                  <a:t>event</a:t>
                </a:r>
              </a:p>
            </p:txBody>
          </p:sp>
          <p:sp>
            <p:nvSpPr>
              <p:cNvPr id="159808" name="Line 64"/>
              <p:cNvSpPr>
                <a:spLocks noChangeShapeType="1"/>
              </p:cNvSpPr>
              <p:nvPr/>
            </p:nvSpPr>
            <p:spPr bwMode="auto">
              <a:xfrm flipH="1">
                <a:off x="3408" y="3216"/>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09" name="Line 65"/>
              <p:cNvSpPr>
                <a:spLocks noChangeShapeType="1"/>
              </p:cNvSpPr>
              <p:nvPr/>
            </p:nvSpPr>
            <p:spPr bwMode="auto">
              <a:xfrm flipH="1">
                <a:off x="3408" y="2592"/>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10" name="Line 66"/>
              <p:cNvSpPr>
                <a:spLocks noChangeShapeType="1"/>
              </p:cNvSpPr>
              <p:nvPr/>
            </p:nvSpPr>
            <p:spPr bwMode="auto">
              <a:xfrm flipH="1">
                <a:off x="3408" y="2208"/>
                <a:ext cx="9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9811" name="Rectangle 67"/>
              <p:cNvSpPr>
                <a:spLocks noChangeArrowheads="1"/>
              </p:cNvSpPr>
              <p:nvPr/>
            </p:nvSpPr>
            <p:spPr bwMode="auto">
              <a:xfrm>
                <a:off x="3259" y="3106"/>
                <a:ext cx="20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a:t>
                </a:r>
              </a:p>
            </p:txBody>
          </p:sp>
          <p:sp>
            <p:nvSpPr>
              <p:cNvPr id="159812" name="Rectangle 68"/>
              <p:cNvSpPr>
                <a:spLocks noChangeArrowheads="1"/>
              </p:cNvSpPr>
              <p:nvPr/>
            </p:nvSpPr>
            <p:spPr bwMode="auto">
              <a:xfrm>
                <a:off x="3063" y="2482"/>
                <a:ext cx="39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T+Q</a:t>
                </a:r>
              </a:p>
            </p:txBody>
          </p:sp>
          <p:sp>
            <p:nvSpPr>
              <p:cNvPr id="159813" name="Rectangle 69"/>
              <p:cNvSpPr>
                <a:spLocks noChangeArrowheads="1"/>
              </p:cNvSpPr>
              <p:nvPr/>
            </p:nvSpPr>
            <p:spPr bwMode="auto">
              <a:xfrm>
                <a:off x="2883" y="2098"/>
                <a:ext cx="578"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altLang="it-IT"/>
                  <a:t>T+Q+S</a:t>
                </a:r>
              </a:p>
            </p:txBody>
          </p:sp>
          <p:sp>
            <p:nvSpPr>
              <p:cNvPr id="159814" name="Line 70"/>
              <p:cNvSpPr>
                <a:spLocks noChangeShapeType="1"/>
              </p:cNvSpPr>
              <p:nvPr/>
            </p:nvSpPr>
            <p:spPr bwMode="auto">
              <a:xfrm flipV="1">
                <a:off x="4232" y="2352"/>
                <a:ext cx="416" cy="67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59815" name="Rectangle 71"/>
            <p:cNvSpPr>
              <a:spLocks noChangeArrowheads="1"/>
            </p:cNvSpPr>
            <p:nvPr/>
          </p:nvSpPr>
          <p:spPr bwMode="auto">
            <a:xfrm>
              <a:off x="35" y="4014"/>
              <a:ext cx="115" cy="289"/>
            </a:xfrm>
            <a:prstGeom prst="rect">
              <a:avLst/>
            </a:prstGeom>
            <a:noFill/>
            <a:ln>
              <a:noFill/>
            </a:ln>
            <a:effectLst/>
            <a:extLst>
              <a:ext uri="{909E8E84-426E-40DD-AFC4-6F175D3DCCD1}">
                <a14:hiddenFill xmlns:a14="http://schemas.microsoft.com/office/drawing/2010/main">
                  <a:solidFill>
                    <a:srgbClr val="FFC5C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endParaRPr lang="en-US" altLang="it-IT" sz="2400"/>
            </a:p>
          </p:txBody>
        </p:sp>
      </p:grpSp>
      <p:sp>
        <p:nvSpPr>
          <p:cNvPr id="2" name="Rectangle 38">
            <a:extLst>
              <a:ext uri="{FF2B5EF4-FFF2-40B4-BE49-F238E27FC236}">
                <a16:creationId xmlns:a16="http://schemas.microsoft.com/office/drawing/2014/main" id="{97238724-C67A-F0E6-8563-0ED4A5E7286F}"/>
              </a:ext>
            </a:extLst>
          </p:cNvPr>
          <p:cNvSpPr>
            <a:spLocks noChangeArrowheads="1"/>
          </p:cNvSpPr>
          <p:nvPr/>
        </p:nvSpPr>
        <p:spPr bwMode="auto">
          <a:xfrm>
            <a:off x="202407" y="955482"/>
            <a:ext cx="4241800" cy="2767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7" tIns="44450" rIns="90487" bIns="44450">
            <a:spAutoFit/>
          </a:bodyPr>
          <a:lstStyle/>
          <a:p>
            <a:pPr>
              <a:spcBef>
                <a:spcPts val="1200"/>
              </a:spcBef>
            </a:pPr>
            <a:r>
              <a:rPr lang="en-US" altLang="it-IT"/>
              <a:t>The variable </a:t>
            </a:r>
            <a:r>
              <a:rPr lang="en-US" altLang="it-IT" b="1"/>
              <a:t>Done</a:t>
            </a:r>
            <a:r>
              <a:rPr lang="en-US" altLang="it-IT"/>
              <a:t> is introduced to indicate when the server would have served all jobs currently in the queue.</a:t>
            </a:r>
          </a:p>
          <a:p>
            <a:pPr>
              <a:spcBef>
                <a:spcPts val="0"/>
              </a:spcBef>
            </a:pPr>
            <a:r>
              <a:rPr lang="en-US" altLang="it-IT"/>
              <a:t> </a:t>
            </a:r>
          </a:p>
          <a:p>
            <a:pPr marL="285750" indent="-285750">
              <a:buFont typeface="Arial" panose="020B0604020202020204" pitchFamily="34" charset="0"/>
              <a:buChar char="•"/>
            </a:pPr>
            <a:r>
              <a:rPr lang="en-US" altLang="it-IT" sz="1600"/>
              <a:t>If arrival time Ta &gt; Done </a:t>
            </a:r>
          </a:p>
          <a:p>
            <a:pPr marL="742950" lvl="1" indent="-285750">
              <a:buFont typeface="Wingdings" pitchFamily="2" charset="2"/>
              <a:buChar char="ü"/>
            </a:pPr>
            <a:r>
              <a:rPr lang="en-US" altLang="it-IT" sz="1400"/>
              <a:t>the server is idle when the job arrives, </a:t>
            </a:r>
          </a:p>
          <a:p>
            <a:pPr marL="742950" lvl="1" indent="-285750">
              <a:buFont typeface="Wingdings" pitchFamily="2" charset="2"/>
              <a:buChar char="ü"/>
            </a:pPr>
            <a:r>
              <a:rPr lang="en-US" altLang="it-IT" sz="1400"/>
              <a:t>the job completes service at time </a:t>
            </a:r>
            <a:r>
              <a:rPr lang="en-US" altLang="it-IT" sz="1400" err="1"/>
              <a:t>Now+S</a:t>
            </a:r>
            <a:r>
              <a:rPr lang="en-US" altLang="it-IT" sz="1400"/>
              <a:t>. </a:t>
            </a:r>
          </a:p>
          <a:p>
            <a:pPr marL="285750" indent="-285750">
              <a:buFont typeface="Arial" panose="020B0604020202020204" pitchFamily="34" charset="0"/>
              <a:buChar char="•"/>
            </a:pPr>
            <a:r>
              <a:rPr lang="en-US" altLang="it-IT" sz="1600"/>
              <a:t>Otherwise, </a:t>
            </a:r>
          </a:p>
          <a:p>
            <a:pPr marL="742950" lvl="1" indent="-285750">
              <a:buFont typeface="Wingdings" pitchFamily="2" charset="2"/>
              <a:buChar char="ü"/>
            </a:pPr>
            <a:r>
              <a:rPr lang="en-US" altLang="it-IT" sz="1400"/>
              <a:t>the server is busy until the time stored in the Done variable. </a:t>
            </a:r>
          </a:p>
          <a:p>
            <a:pPr marL="742950" lvl="1" indent="-285750">
              <a:buFont typeface="Wingdings" pitchFamily="2" charset="2"/>
              <a:buChar char="ü"/>
            </a:pPr>
            <a:r>
              <a:rPr lang="en-US" altLang="it-IT" sz="1400"/>
              <a:t>The job will depart at time </a:t>
            </a:r>
            <a:r>
              <a:rPr lang="en-US" altLang="it-IT" sz="1400" err="1"/>
              <a:t>Done+S</a:t>
            </a:r>
            <a:r>
              <a:rPr lang="en-US" altLang="it-IT" sz="1400"/>
              <a:t>.</a:t>
            </a:r>
          </a:p>
        </p:txBody>
      </p:sp>
      <p:sp>
        <p:nvSpPr>
          <p:cNvPr id="4" name="CasellaDiTesto 3">
            <a:extLst>
              <a:ext uri="{FF2B5EF4-FFF2-40B4-BE49-F238E27FC236}">
                <a16:creationId xmlns:a16="http://schemas.microsoft.com/office/drawing/2014/main" id="{E5F22745-D66A-57DC-CB69-E03AD0B5BA6E}"/>
              </a:ext>
            </a:extLst>
          </p:cNvPr>
          <p:cNvSpPr txBox="1"/>
          <p:nvPr/>
        </p:nvSpPr>
        <p:spPr>
          <a:xfrm>
            <a:off x="263524" y="3897749"/>
            <a:ext cx="3892551" cy="1169551"/>
          </a:xfrm>
          <a:prstGeom prst="rect">
            <a:avLst/>
          </a:prstGeom>
          <a:solidFill>
            <a:srgbClr val="FFC000"/>
          </a:solidFill>
          <a:ln>
            <a:solidFill>
              <a:schemeClr val="tx1"/>
            </a:solidFill>
          </a:ln>
        </p:spPr>
        <p:txBody>
          <a:bodyPr wrap="square">
            <a:spAutoFit/>
          </a:bodyPr>
          <a:lstStyle/>
          <a:p>
            <a:r>
              <a:rPr lang="en-US" sz="1400" b="1"/>
              <a:t>Observation</a:t>
            </a:r>
            <a:r>
              <a:rPr lang="en-US" sz="1400"/>
              <a:t>: one way of viewing </a:t>
            </a:r>
            <a:r>
              <a:rPr lang="en-US" sz="1400" b="1"/>
              <a:t>lookahead</a:t>
            </a:r>
            <a:r>
              <a:rPr lang="en-US" sz="1400"/>
              <a:t> is to note that the arrival event at time T + Q + S is invariant to any other events occurring in the interval </a:t>
            </a:r>
            <a:r>
              <a:rPr lang="en-US" sz="1400" b="1"/>
              <a:t>[T, T + Q + S]. </a:t>
            </a:r>
            <a:r>
              <a:rPr lang="en-US" sz="1400"/>
              <a:t>This allows the event to be generated at time T</a:t>
            </a:r>
          </a:p>
        </p:txBody>
      </p:sp>
      <p:sp>
        <p:nvSpPr>
          <p:cNvPr id="7" name="CasellaDiTesto 6">
            <a:extLst>
              <a:ext uri="{FF2B5EF4-FFF2-40B4-BE49-F238E27FC236}">
                <a16:creationId xmlns:a16="http://schemas.microsoft.com/office/drawing/2014/main" id="{98CB9FAC-EBF2-0236-A6F0-E829333FBAC4}"/>
              </a:ext>
            </a:extLst>
          </p:cNvPr>
          <p:cNvSpPr txBox="1"/>
          <p:nvPr/>
        </p:nvSpPr>
        <p:spPr>
          <a:xfrm>
            <a:off x="231774" y="5273511"/>
            <a:ext cx="3892551" cy="1169551"/>
          </a:xfrm>
          <a:prstGeom prst="rect">
            <a:avLst/>
          </a:prstGeom>
          <a:solidFill>
            <a:srgbClr val="FFC000"/>
          </a:solidFill>
          <a:ln>
            <a:solidFill>
              <a:schemeClr val="tx1"/>
            </a:solidFill>
          </a:ln>
        </p:spPr>
        <p:txBody>
          <a:bodyPr wrap="square">
            <a:spAutoFit/>
          </a:bodyPr>
          <a:lstStyle/>
          <a:p>
            <a:r>
              <a:rPr lang="en-US" sz="1400"/>
              <a:t>The classical simulation program has poor lookahead properties because LP1 must advance to simulation time T + Q + S before it can generate the new arrival event with time stamp T + Q + S-&gt; </a:t>
            </a:r>
            <a:r>
              <a:rPr lang="en-US" sz="1400" b="1">
                <a:solidFill>
                  <a:srgbClr val="C00000"/>
                </a:solidFill>
              </a:rPr>
              <a:t>zero lookahead</a:t>
            </a:r>
          </a:p>
        </p:txBody>
      </p:sp>
      <p:sp>
        <p:nvSpPr>
          <p:cNvPr id="3" name="Segnaposto data 2">
            <a:extLst>
              <a:ext uri="{FF2B5EF4-FFF2-40B4-BE49-F238E27FC236}">
                <a16:creationId xmlns:a16="http://schemas.microsoft.com/office/drawing/2014/main" id="{A8656529-10CD-6EA4-5072-49CDC90E61DD}"/>
              </a:ext>
            </a:extLst>
          </p:cNvPr>
          <p:cNvSpPr>
            <a:spLocks noGrp="1"/>
          </p:cNvSpPr>
          <p:nvPr>
            <p:ph type="dt" sz="half" idx="2"/>
          </p:nvPr>
        </p:nvSpPr>
        <p:spPr/>
        <p:txBody>
          <a:bodyPr/>
          <a:lstStyle/>
          <a:p>
            <a:r>
              <a:rPr lang="it-IT"/>
              <a:t>Distributed Simulation Systems</a:t>
            </a:r>
            <a:endParaRPr lang="en-US"/>
          </a:p>
        </p:txBody>
      </p:sp>
      <p:sp>
        <p:nvSpPr>
          <p:cNvPr id="5" name="Segnaposto piè di pagina 4">
            <a:extLst>
              <a:ext uri="{FF2B5EF4-FFF2-40B4-BE49-F238E27FC236}">
                <a16:creationId xmlns:a16="http://schemas.microsoft.com/office/drawing/2014/main" id="{0724EE31-2534-610B-2240-014BC52EB02B}"/>
              </a:ext>
            </a:extLst>
          </p:cNvPr>
          <p:cNvSpPr>
            <a:spLocks noGrp="1"/>
          </p:cNvSpPr>
          <p:nvPr>
            <p:ph type="ftr" sz="quarter" idx="3"/>
          </p:nvPr>
        </p:nvSpPr>
        <p:spPr/>
        <p:txBody>
          <a:bodyPr/>
          <a:lstStyle/>
          <a:p>
            <a:r>
              <a:rPr lang="en-US"/>
              <a:t>paolo.bocciarelli@uniroma2.it</a:t>
            </a:r>
          </a:p>
        </p:txBody>
      </p:sp>
      <p:sp>
        <p:nvSpPr>
          <p:cNvPr id="6" name="Segnaposto numero diapositiva 5">
            <a:extLst>
              <a:ext uri="{FF2B5EF4-FFF2-40B4-BE49-F238E27FC236}">
                <a16:creationId xmlns:a16="http://schemas.microsoft.com/office/drawing/2014/main" id="{8EEAF6D9-CD31-8F60-C501-A9D4E3AC458B}"/>
              </a:ext>
            </a:extLst>
          </p:cNvPr>
          <p:cNvSpPr>
            <a:spLocks noGrp="1"/>
          </p:cNvSpPr>
          <p:nvPr>
            <p:ph type="sldNum" sz="quarter" idx="4"/>
          </p:nvPr>
        </p:nvSpPr>
        <p:spPr/>
        <p:txBody>
          <a:bodyPr/>
          <a:lstStyle/>
          <a:p>
            <a:fld id="{9BFB3A76-8619-A843-8C67-B9C7C140DBAC}" type="slidenum">
              <a:rPr lang="en-US" smtClean="0"/>
              <a:t>60</a:t>
            </a:fld>
            <a:endParaRPr lang="en-US"/>
          </a:p>
        </p:txBody>
      </p:sp>
    </p:spTree>
    <p:extLst>
      <p:ext uri="{BB962C8B-B14F-4D97-AF65-F5344CB8AC3E}">
        <p14:creationId xmlns:p14="http://schemas.microsoft.com/office/powerpoint/2010/main" val="10583653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9818"/>
                                        </p:tgtEl>
                                        <p:attrNameLst>
                                          <p:attrName>style.visibility</p:attrName>
                                        </p:attrNameLst>
                                      </p:cBhvr>
                                      <p:to>
                                        <p:strVal val="visible"/>
                                      </p:to>
                                    </p:set>
                                    <p:animEffect transition="in" filter="dissolve">
                                      <p:cBhvr>
                                        <p:cTn id="7" dur="500"/>
                                        <p:tgtEl>
                                          <p:spTgt spid="159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type="title"/>
          </p:nvPr>
        </p:nvSpPr>
        <p:spPr>
          <a:xfrm>
            <a:off x="84138" y="123825"/>
            <a:ext cx="8975725" cy="63817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a:t>Performance</a:t>
            </a:r>
          </a:p>
        </p:txBody>
      </p:sp>
      <p:sp>
        <p:nvSpPr>
          <p:cNvPr id="3" name="CasellaDiTesto 2">
            <a:extLst>
              <a:ext uri="{FF2B5EF4-FFF2-40B4-BE49-F238E27FC236}">
                <a16:creationId xmlns:a16="http://schemas.microsoft.com/office/drawing/2014/main" id="{3FF216D4-ADF2-0769-5F1E-9CBAD88CA668}"/>
              </a:ext>
            </a:extLst>
          </p:cNvPr>
          <p:cNvSpPr txBox="1"/>
          <p:nvPr/>
        </p:nvSpPr>
        <p:spPr>
          <a:xfrm>
            <a:off x="323528" y="1587356"/>
            <a:ext cx="3888432" cy="4770537"/>
          </a:xfrm>
          <a:prstGeom prst="rect">
            <a:avLst/>
          </a:prstGeom>
          <a:solidFill>
            <a:srgbClr val="FFC000"/>
          </a:solidFill>
          <a:ln>
            <a:solidFill>
              <a:schemeClr val="tx1"/>
            </a:solidFill>
          </a:ln>
        </p:spPr>
        <p:txBody>
          <a:bodyPr wrap="square">
            <a:spAutoFit/>
          </a:bodyPr>
          <a:lstStyle/>
          <a:p>
            <a:pPr lvl="0"/>
            <a:r>
              <a:rPr lang="en-US" sz="1600" i="1" kern="1200">
                <a:solidFill>
                  <a:schemeClr val="tx1"/>
                </a:solidFill>
                <a:effectLst/>
                <a:latin typeface="+mn-lt"/>
                <a:ea typeface="+mn-ea"/>
                <a:cs typeface="+mn-cs"/>
              </a:rPr>
              <a:t>Now = current simulation time</a:t>
            </a:r>
            <a:endParaRPr lang="it-IT" sz="1600" i="1" kern="1200">
              <a:solidFill>
                <a:schemeClr val="tx1"/>
              </a:solidFill>
              <a:effectLst/>
              <a:latin typeface="+mn-lt"/>
              <a:ea typeface="+mn-ea"/>
              <a:cs typeface="+mn-cs"/>
            </a:endParaRPr>
          </a:p>
          <a:p>
            <a:pPr lvl="0"/>
            <a:r>
              <a:rPr lang="en-US" sz="1600" i="1" kern="1200">
                <a:solidFill>
                  <a:schemeClr val="tx1"/>
                </a:solidFill>
                <a:effectLst/>
                <a:latin typeface="+mn-lt"/>
                <a:ea typeface="+mn-ea"/>
                <a:cs typeface="+mn-cs"/>
              </a:rPr>
              <a:t>S = service time for job</a:t>
            </a:r>
            <a:endParaRPr lang="it-IT" sz="1600" i="1" kern="1200">
              <a:solidFill>
                <a:schemeClr val="tx1"/>
              </a:solidFill>
              <a:effectLst/>
              <a:latin typeface="+mn-lt"/>
              <a:ea typeface="+mn-ea"/>
              <a:cs typeface="+mn-cs"/>
            </a:endParaRPr>
          </a:p>
          <a:p>
            <a:pPr lvl="0"/>
            <a:r>
              <a:rPr lang="en-US" sz="1600" i="1" kern="1200" err="1">
                <a:solidFill>
                  <a:schemeClr val="tx1"/>
                </a:solidFill>
                <a:effectLst/>
                <a:latin typeface="+mn-lt"/>
                <a:ea typeface="+mn-ea"/>
                <a:cs typeface="+mn-cs"/>
              </a:rPr>
              <a:t>NWait</a:t>
            </a:r>
            <a:r>
              <a:rPr lang="en-US" sz="1600" i="1" kern="1200">
                <a:solidFill>
                  <a:schemeClr val="tx1"/>
                </a:solidFill>
                <a:effectLst/>
                <a:latin typeface="+mn-lt"/>
                <a:ea typeface="+mn-ea"/>
                <a:cs typeface="+mn-cs"/>
              </a:rPr>
              <a:t> = number of jobs in queue</a:t>
            </a:r>
          </a:p>
          <a:p>
            <a:pPr lvl="0"/>
            <a:r>
              <a:rPr lang="en-US" sz="1600" i="1" kern="1200">
                <a:solidFill>
                  <a:schemeClr val="tx1"/>
                </a:solidFill>
                <a:effectLst/>
                <a:latin typeface="+mn-lt"/>
                <a:ea typeface="+mn-ea"/>
                <a:cs typeface="+mn-cs"/>
              </a:rPr>
              <a:t>Busy = true if server busy</a:t>
            </a:r>
            <a:endParaRPr lang="it-IT" sz="1600" i="1" kern="1200">
              <a:solidFill>
                <a:schemeClr val="tx1"/>
              </a:solidFill>
              <a:effectLst/>
              <a:latin typeface="+mn-lt"/>
              <a:ea typeface="+mn-ea"/>
              <a:cs typeface="+mn-cs"/>
            </a:endParaRPr>
          </a:p>
          <a:p>
            <a:endParaRPr lang="en-US" sz="1600" kern="1200">
              <a:solidFill>
                <a:schemeClr val="tx1"/>
              </a:solidFill>
              <a:effectLst/>
              <a:latin typeface="+mn-lt"/>
              <a:ea typeface="+mn-ea"/>
              <a:cs typeface="+mn-cs"/>
            </a:endParaRPr>
          </a:p>
          <a:p>
            <a:r>
              <a:rPr lang="en-US" sz="1600" b="1" kern="1200">
                <a:solidFill>
                  <a:srgbClr val="C00000"/>
                </a:solidFill>
                <a:effectLst/>
                <a:latin typeface="+mn-lt"/>
                <a:ea typeface="+mn-ea"/>
                <a:cs typeface="+mn-cs"/>
              </a:rPr>
              <a:t>Arrival Event</a:t>
            </a:r>
            <a:r>
              <a:rPr lang="en-US" sz="1600" b="1" kern="1200">
                <a:solidFill>
                  <a:schemeClr val="tx1"/>
                </a:solidFill>
                <a:effectLst/>
                <a:latin typeface="+mn-lt"/>
                <a:ea typeface="+mn-ea"/>
                <a:cs typeface="+mn-cs"/>
              </a:rPr>
              <a:t>:</a:t>
            </a:r>
            <a:r>
              <a:rPr lang="en-US" sz="1600" kern="1200">
                <a:solidFill>
                  <a:schemeClr val="tx1"/>
                </a:solidFill>
                <a:effectLst/>
                <a:latin typeface="+mn-lt"/>
                <a:ea typeface="+mn-ea"/>
                <a:cs typeface="+mn-cs"/>
              </a:rPr>
              <a:t> </a:t>
            </a:r>
          </a:p>
          <a:p>
            <a:r>
              <a:rPr lang="en-US" sz="1600" kern="1200">
                <a:solidFill>
                  <a:schemeClr val="tx1"/>
                </a:solidFill>
                <a:effectLst/>
                <a:latin typeface="+mn-lt"/>
                <a:ea typeface="+mn-ea"/>
                <a:cs typeface="+mn-cs"/>
              </a:rPr>
              <a:t>if (not Busy)</a:t>
            </a:r>
            <a:endParaRPr lang="it-IT" sz="1600" kern="1200">
              <a:solidFill>
                <a:schemeClr val="tx1"/>
              </a:solidFill>
              <a:effectLst/>
              <a:latin typeface="+mn-lt"/>
              <a:ea typeface="+mn-ea"/>
              <a:cs typeface="+mn-cs"/>
            </a:endParaRPr>
          </a:p>
          <a:p>
            <a:r>
              <a:rPr lang="en-US" sz="1600" kern="1200">
                <a:solidFill>
                  <a:schemeClr val="tx1"/>
                </a:solidFill>
                <a:effectLst/>
                <a:latin typeface="+mn-lt"/>
                <a:ea typeface="+mn-ea"/>
                <a:cs typeface="+mn-cs"/>
              </a:rPr>
              <a:t>    Busy := true;</a:t>
            </a:r>
            <a:endParaRPr lang="it-IT" sz="1600" kern="1200">
              <a:solidFill>
                <a:schemeClr val="tx1"/>
              </a:solidFill>
              <a:effectLst/>
              <a:latin typeface="+mn-lt"/>
              <a:ea typeface="+mn-ea"/>
              <a:cs typeface="+mn-cs"/>
            </a:endParaRPr>
          </a:p>
          <a:p>
            <a:r>
              <a:rPr lang="en-US" sz="1600" kern="1200">
                <a:solidFill>
                  <a:schemeClr val="tx1"/>
                </a:solidFill>
                <a:effectLst/>
                <a:latin typeface="+mn-lt"/>
                <a:ea typeface="+mn-ea"/>
                <a:cs typeface="+mn-cs"/>
              </a:rPr>
              <a:t>    schedule departure event at </a:t>
            </a:r>
            <a:r>
              <a:rPr lang="en-US" sz="1600" kern="1200" err="1">
                <a:solidFill>
                  <a:schemeClr val="tx1"/>
                </a:solidFill>
                <a:effectLst/>
                <a:latin typeface="+mn-lt"/>
                <a:ea typeface="+mn-ea"/>
                <a:cs typeface="+mn-cs"/>
              </a:rPr>
              <a:t>Now+S</a:t>
            </a:r>
            <a:r>
              <a:rPr lang="en-US" sz="1600" kern="1200">
                <a:solidFill>
                  <a:schemeClr val="tx1"/>
                </a:solidFill>
                <a:effectLst/>
                <a:latin typeface="+mn-lt"/>
                <a:ea typeface="+mn-ea"/>
                <a:cs typeface="+mn-cs"/>
              </a:rPr>
              <a:t>; </a:t>
            </a:r>
          </a:p>
          <a:p>
            <a:r>
              <a:rPr lang="en-US" sz="1600" kern="1200">
                <a:solidFill>
                  <a:schemeClr val="tx1"/>
                </a:solidFill>
                <a:effectLst/>
                <a:latin typeface="+mn-lt"/>
                <a:ea typeface="+mn-ea"/>
                <a:cs typeface="+mn-cs"/>
              </a:rPr>
              <a:t>else</a:t>
            </a:r>
            <a:endParaRPr lang="it-IT" sz="1600" kern="1200">
              <a:solidFill>
                <a:schemeClr val="tx1"/>
              </a:solidFill>
              <a:effectLst/>
              <a:latin typeface="+mn-lt"/>
              <a:ea typeface="+mn-ea"/>
              <a:cs typeface="+mn-cs"/>
            </a:endParaRPr>
          </a:p>
          <a:p>
            <a:r>
              <a:rPr lang="en-US" sz="1600">
                <a:latin typeface="+mn-lt"/>
              </a:rPr>
              <a:t>    </a:t>
            </a:r>
            <a:r>
              <a:rPr lang="en-US" sz="1600" kern="1200" err="1">
                <a:solidFill>
                  <a:schemeClr val="tx1"/>
                </a:solidFill>
                <a:effectLst/>
                <a:latin typeface="+mn-lt"/>
                <a:ea typeface="+mn-ea"/>
                <a:cs typeface="+mn-cs"/>
              </a:rPr>
              <a:t>NWait</a:t>
            </a:r>
            <a:r>
              <a:rPr lang="en-US" sz="1600" kern="1200">
                <a:solidFill>
                  <a:schemeClr val="tx1"/>
                </a:solidFill>
                <a:effectLst/>
                <a:latin typeface="+mn-lt"/>
                <a:ea typeface="+mn-ea"/>
                <a:cs typeface="+mn-cs"/>
              </a:rPr>
              <a:t> := NWait+1;</a:t>
            </a:r>
            <a:endParaRPr lang="it-IT" sz="1600" kern="1200">
              <a:solidFill>
                <a:schemeClr val="tx1"/>
              </a:solidFill>
              <a:effectLst/>
              <a:latin typeface="+mn-lt"/>
              <a:ea typeface="+mn-ea"/>
              <a:cs typeface="+mn-cs"/>
            </a:endParaRPr>
          </a:p>
          <a:p>
            <a:endParaRPr lang="en-US" sz="1600" b="1" kern="1200">
              <a:solidFill>
                <a:schemeClr val="tx1"/>
              </a:solidFill>
              <a:effectLst/>
              <a:latin typeface="+mn-lt"/>
              <a:ea typeface="+mn-ea"/>
              <a:cs typeface="+mn-cs"/>
            </a:endParaRPr>
          </a:p>
          <a:p>
            <a:r>
              <a:rPr lang="en-US" sz="1600" b="1" kern="1200">
                <a:solidFill>
                  <a:srgbClr val="C00000"/>
                </a:solidFill>
                <a:effectLst/>
                <a:latin typeface="+mn-lt"/>
                <a:ea typeface="+mn-ea"/>
                <a:cs typeface="+mn-cs"/>
              </a:rPr>
              <a:t>Departure Event</a:t>
            </a:r>
            <a:r>
              <a:rPr lang="en-US" sz="1600" b="1" kern="1200">
                <a:solidFill>
                  <a:schemeClr val="tx1"/>
                </a:solidFill>
                <a:effectLst/>
                <a:latin typeface="+mn-lt"/>
                <a:ea typeface="+mn-ea"/>
                <a:cs typeface="+mn-cs"/>
              </a:rPr>
              <a:t>:</a:t>
            </a:r>
            <a:endParaRPr lang="it-IT" sz="1600" b="1" kern="1200">
              <a:solidFill>
                <a:schemeClr val="tx1"/>
              </a:solidFill>
              <a:effectLst/>
              <a:latin typeface="+mn-lt"/>
              <a:ea typeface="+mn-ea"/>
              <a:cs typeface="+mn-cs"/>
            </a:endParaRPr>
          </a:p>
          <a:p>
            <a:r>
              <a:rPr lang="en-US" sz="1600" kern="1200">
                <a:solidFill>
                  <a:schemeClr val="tx1"/>
                </a:solidFill>
                <a:effectLst/>
                <a:latin typeface="+mn-lt"/>
                <a:ea typeface="+mn-ea"/>
                <a:cs typeface="+mn-cs"/>
              </a:rPr>
              <a:t>schedule Arrival event at LP2 at Now </a:t>
            </a:r>
          </a:p>
          <a:p>
            <a:r>
              <a:rPr lang="en-US" sz="1600" kern="1200">
                <a:solidFill>
                  <a:schemeClr val="tx1"/>
                </a:solidFill>
                <a:effectLst/>
                <a:latin typeface="+mn-lt"/>
                <a:ea typeface="+mn-ea"/>
                <a:cs typeface="+mn-cs"/>
              </a:rPr>
              <a:t>if (</a:t>
            </a:r>
            <a:r>
              <a:rPr lang="en-US" sz="1600" kern="1200" err="1">
                <a:solidFill>
                  <a:schemeClr val="tx1"/>
                </a:solidFill>
                <a:effectLst/>
                <a:latin typeface="+mn-lt"/>
                <a:ea typeface="+mn-ea"/>
                <a:cs typeface="+mn-cs"/>
              </a:rPr>
              <a:t>NWait</a:t>
            </a:r>
            <a:r>
              <a:rPr lang="en-US" sz="1600" kern="1200">
                <a:solidFill>
                  <a:schemeClr val="tx1"/>
                </a:solidFill>
                <a:effectLst/>
                <a:latin typeface="+mn-lt"/>
                <a:ea typeface="+mn-ea"/>
                <a:cs typeface="+mn-cs"/>
              </a:rPr>
              <a:t>&gt;0)</a:t>
            </a:r>
            <a:endParaRPr lang="it-IT" sz="1600" kern="1200">
              <a:solidFill>
                <a:schemeClr val="tx1"/>
              </a:solidFill>
              <a:effectLst/>
              <a:latin typeface="+mn-lt"/>
              <a:ea typeface="+mn-ea"/>
              <a:cs typeface="+mn-cs"/>
            </a:endParaRPr>
          </a:p>
          <a:p>
            <a:r>
              <a:rPr lang="en-US" sz="1600">
                <a:latin typeface="+mn-lt"/>
              </a:rPr>
              <a:t>   </a:t>
            </a:r>
            <a:r>
              <a:rPr lang="en-US" sz="1600" kern="1200" err="1">
                <a:solidFill>
                  <a:schemeClr val="tx1"/>
                </a:solidFill>
                <a:effectLst/>
                <a:latin typeface="+mn-lt"/>
                <a:ea typeface="+mn-ea"/>
                <a:cs typeface="+mn-cs"/>
              </a:rPr>
              <a:t>NWait</a:t>
            </a:r>
            <a:r>
              <a:rPr lang="en-US" sz="1600" kern="1200">
                <a:solidFill>
                  <a:schemeClr val="tx1"/>
                </a:solidFill>
                <a:effectLst/>
                <a:latin typeface="+mn-lt"/>
                <a:ea typeface="+mn-ea"/>
                <a:cs typeface="+mn-cs"/>
              </a:rPr>
              <a:t> := NWait-1;</a:t>
            </a:r>
            <a:endParaRPr lang="it-IT" sz="1600" kern="1200">
              <a:solidFill>
                <a:schemeClr val="tx1"/>
              </a:solidFill>
              <a:effectLst/>
              <a:latin typeface="+mn-lt"/>
              <a:ea typeface="+mn-ea"/>
              <a:cs typeface="+mn-cs"/>
            </a:endParaRPr>
          </a:p>
          <a:p>
            <a:r>
              <a:rPr lang="en-US" sz="1600">
                <a:latin typeface="+mn-lt"/>
              </a:rPr>
              <a:t>   </a:t>
            </a:r>
            <a:r>
              <a:rPr lang="en-US" sz="1600" kern="1200">
                <a:solidFill>
                  <a:schemeClr val="tx1"/>
                </a:solidFill>
                <a:effectLst/>
                <a:latin typeface="+mn-lt"/>
                <a:ea typeface="+mn-ea"/>
                <a:cs typeface="+mn-cs"/>
              </a:rPr>
              <a:t>schedule departure event at </a:t>
            </a:r>
            <a:r>
              <a:rPr lang="en-US" sz="1600" kern="1200" err="1">
                <a:solidFill>
                  <a:schemeClr val="tx1"/>
                </a:solidFill>
                <a:effectLst/>
                <a:latin typeface="+mn-lt"/>
                <a:ea typeface="+mn-ea"/>
                <a:cs typeface="+mn-cs"/>
              </a:rPr>
              <a:t>Now+S</a:t>
            </a:r>
            <a:r>
              <a:rPr lang="en-US" sz="1600" kern="1200">
                <a:solidFill>
                  <a:schemeClr val="tx1"/>
                </a:solidFill>
                <a:effectLst/>
                <a:latin typeface="+mn-lt"/>
                <a:ea typeface="+mn-ea"/>
                <a:cs typeface="+mn-cs"/>
              </a:rPr>
              <a:t>; </a:t>
            </a:r>
          </a:p>
          <a:p>
            <a:r>
              <a:rPr lang="en-US" sz="1600" kern="1200">
                <a:solidFill>
                  <a:schemeClr val="tx1"/>
                </a:solidFill>
                <a:effectLst/>
                <a:latin typeface="+mn-lt"/>
                <a:ea typeface="+mn-ea"/>
                <a:cs typeface="+mn-cs"/>
              </a:rPr>
              <a:t>else</a:t>
            </a:r>
            <a:endParaRPr lang="it-IT" sz="1600" kern="1200">
              <a:solidFill>
                <a:schemeClr val="tx1"/>
              </a:solidFill>
              <a:effectLst/>
              <a:latin typeface="+mn-lt"/>
              <a:ea typeface="+mn-ea"/>
              <a:cs typeface="+mn-cs"/>
            </a:endParaRPr>
          </a:p>
          <a:p>
            <a:r>
              <a:rPr lang="en-US" sz="1600">
                <a:latin typeface="+mn-lt"/>
              </a:rPr>
              <a:t>   </a:t>
            </a:r>
            <a:r>
              <a:rPr lang="en-US" sz="1600" kern="1200">
                <a:solidFill>
                  <a:schemeClr val="tx1"/>
                </a:solidFill>
                <a:effectLst/>
                <a:latin typeface="+mn-lt"/>
                <a:ea typeface="+mn-ea"/>
                <a:cs typeface="+mn-cs"/>
              </a:rPr>
              <a:t>Busy := false;</a:t>
            </a:r>
            <a:r>
              <a:rPr lang="it-IT" sz="1600">
                <a:effectLst/>
                <a:latin typeface="+mn-lt"/>
              </a:rPr>
              <a:t> </a:t>
            </a:r>
          </a:p>
        </p:txBody>
      </p:sp>
      <p:sp>
        <p:nvSpPr>
          <p:cNvPr id="5" name="CasellaDiTesto 4">
            <a:extLst>
              <a:ext uri="{FF2B5EF4-FFF2-40B4-BE49-F238E27FC236}">
                <a16:creationId xmlns:a16="http://schemas.microsoft.com/office/drawing/2014/main" id="{3277530C-5838-F09D-F7FE-8DC2AE0490BE}"/>
              </a:ext>
            </a:extLst>
          </p:cNvPr>
          <p:cNvSpPr txBox="1"/>
          <p:nvPr/>
        </p:nvSpPr>
        <p:spPr>
          <a:xfrm>
            <a:off x="4355976" y="1633040"/>
            <a:ext cx="4572000" cy="3293209"/>
          </a:xfrm>
          <a:prstGeom prst="rect">
            <a:avLst/>
          </a:prstGeom>
          <a:solidFill>
            <a:srgbClr val="FCFEB9"/>
          </a:solidFill>
          <a:ln>
            <a:solidFill>
              <a:schemeClr val="tx1"/>
            </a:solidFill>
          </a:ln>
        </p:spPr>
        <p:txBody>
          <a:bodyPr wrap="square">
            <a:spAutoFit/>
          </a:bodyPr>
          <a:lstStyle/>
          <a:p>
            <a:r>
              <a:rPr lang="en-US" sz="1600" i="1">
                <a:latin typeface="+mn-lt"/>
              </a:rPr>
              <a:t>Now = current simulation time</a:t>
            </a:r>
          </a:p>
          <a:p>
            <a:r>
              <a:rPr lang="en-US" sz="1600" i="1">
                <a:latin typeface="+mn-lt"/>
              </a:rPr>
              <a:t>S = service time for job</a:t>
            </a:r>
          </a:p>
          <a:p>
            <a:r>
              <a:rPr lang="en-US" sz="1600" i="1">
                <a:latin typeface="+mn-lt"/>
              </a:rPr>
              <a:t>Done = time server will become idle</a:t>
            </a:r>
          </a:p>
          <a:p>
            <a:endParaRPr lang="en-US" sz="1600">
              <a:latin typeface="+mn-lt"/>
            </a:endParaRPr>
          </a:p>
          <a:p>
            <a:r>
              <a:rPr lang="en-US" sz="1600" b="1">
                <a:solidFill>
                  <a:srgbClr val="C00000"/>
                </a:solidFill>
                <a:latin typeface="+mn-lt"/>
              </a:rPr>
              <a:t>Arrival Event:</a:t>
            </a:r>
          </a:p>
          <a:p>
            <a:r>
              <a:rPr lang="en-US" sz="1600">
                <a:latin typeface="+mn-lt"/>
              </a:rPr>
              <a:t>if (Now &lt; Done) </a:t>
            </a:r>
          </a:p>
          <a:p>
            <a:r>
              <a:rPr lang="en-US" sz="1600">
                <a:latin typeface="+mn-lt"/>
              </a:rPr>
              <a:t>    </a:t>
            </a:r>
            <a:r>
              <a:rPr lang="en-US" sz="1600" i="1">
                <a:latin typeface="+mn-lt"/>
              </a:rPr>
              <a:t>/* if server busy */</a:t>
            </a:r>
          </a:p>
          <a:p>
            <a:r>
              <a:rPr lang="en-US" sz="1600">
                <a:latin typeface="+mn-lt"/>
              </a:rPr>
              <a:t>    Done := </a:t>
            </a:r>
            <a:r>
              <a:rPr lang="en-US" sz="1600" err="1">
                <a:latin typeface="+mn-lt"/>
              </a:rPr>
              <a:t>Done+S</a:t>
            </a:r>
            <a:r>
              <a:rPr lang="en-US" sz="1600">
                <a:latin typeface="+mn-lt"/>
              </a:rPr>
              <a:t>;</a:t>
            </a:r>
          </a:p>
          <a:p>
            <a:r>
              <a:rPr lang="en-US" sz="1600">
                <a:latin typeface="+mn-lt"/>
              </a:rPr>
              <a:t>    schedule arrival event at LP2 at Done;</a:t>
            </a:r>
          </a:p>
          <a:p>
            <a:r>
              <a:rPr lang="en-US" sz="1600">
                <a:latin typeface="+mn-lt"/>
              </a:rPr>
              <a:t>else </a:t>
            </a:r>
          </a:p>
          <a:p>
            <a:r>
              <a:rPr lang="en-US" sz="1600">
                <a:latin typeface="+mn-lt"/>
              </a:rPr>
              <a:t>    </a:t>
            </a:r>
            <a:r>
              <a:rPr lang="en-US" sz="1600" i="1">
                <a:latin typeface="+mn-lt"/>
              </a:rPr>
              <a:t>/* server is idle */</a:t>
            </a:r>
          </a:p>
          <a:p>
            <a:r>
              <a:rPr lang="en-US" sz="1600">
                <a:latin typeface="+mn-lt"/>
              </a:rPr>
              <a:t>     Done := </a:t>
            </a:r>
            <a:r>
              <a:rPr lang="en-US" sz="1600" err="1">
                <a:latin typeface="+mn-lt"/>
              </a:rPr>
              <a:t>Now+S</a:t>
            </a:r>
            <a:r>
              <a:rPr lang="en-US" sz="1600">
                <a:latin typeface="+mn-lt"/>
              </a:rPr>
              <a:t>;</a:t>
            </a:r>
          </a:p>
          <a:p>
            <a:r>
              <a:rPr lang="en-US" sz="1600">
                <a:latin typeface="+mn-lt"/>
              </a:rPr>
              <a:t>     schedule arrival event at LP2 at Done;</a:t>
            </a:r>
          </a:p>
        </p:txBody>
      </p:sp>
      <p:sp>
        <p:nvSpPr>
          <p:cNvPr id="9" name="CasellaDiTesto 8">
            <a:extLst>
              <a:ext uri="{FF2B5EF4-FFF2-40B4-BE49-F238E27FC236}">
                <a16:creationId xmlns:a16="http://schemas.microsoft.com/office/drawing/2014/main" id="{88FE1734-518D-0C32-44A2-934F8DFDF062}"/>
              </a:ext>
            </a:extLst>
          </p:cNvPr>
          <p:cNvSpPr txBox="1"/>
          <p:nvPr/>
        </p:nvSpPr>
        <p:spPr>
          <a:xfrm>
            <a:off x="323528" y="1196752"/>
            <a:ext cx="3888432" cy="369332"/>
          </a:xfrm>
          <a:prstGeom prst="rect">
            <a:avLst/>
          </a:prstGeom>
          <a:noFill/>
        </p:spPr>
        <p:txBody>
          <a:bodyPr wrap="square">
            <a:spAutoFit/>
          </a:bodyPr>
          <a:lstStyle/>
          <a:p>
            <a:pPr algn="ctr"/>
            <a:r>
              <a:rPr lang="en-US" sz="1800" b="1" i="1" kern="1200">
                <a:solidFill>
                  <a:schemeClr val="tx1"/>
                </a:solidFill>
                <a:effectLst/>
                <a:latin typeface="+mn-lt"/>
                <a:ea typeface="+mn-ea"/>
                <a:cs typeface="+mn-cs"/>
              </a:rPr>
              <a:t>Classical Approach (LP1)</a:t>
            </a:r>
            <a:endParaRPr lang="en-US" b="1"/>
          </a:p>
        </p:txBody>
      </p:sp>
      <p:sp>
        <p:nvSpPr>
          <p:cNvPr id="10" name="CasellaDiTesto 9">
            <a:extLst>
              <a:ext uri="{FF2B5EF4-FFF2-40B4-BE49-F238E27FC236}">
                <a16:creationId xmlns:a16="http://schemas.microsoft.com/office/drawing/2014/main" id="{95C76511-A08C-9666-381A-FC5BC5C35471}"/>
              </a:ext>
            </a:extLst>
          </p:cNvPr>
          <p:cNvSpPr txBox="1"/>
          <p:nvPr/>
        </p:nvSpPr>
        <p:spPr>
          <a:xfrm>
            <a:off x="4697760" y="1228696"/>
            <a:ext cx="3888432" cy="369332"/>
          </a:xfrm>
          <a:prstGeom prst="rect">
            <a:avLst/>
          </a:prstGeom>
          <a:noFill/>
        </p:spPr>
        <p:txBody>
          <a:bodyPr wrap="square">
            <a:spAutoFit/>
          </a:bodyPr>
          <a:lstStyle/>
          <a:p>
            <a:pPr algn="ctr"/>
            <a:r>
              <a:rPr lang="en-US" sz="1800" b="1" i="1" kern="1200">
                <a:solidFill>
                  <a:schemeClr val="tx1"/>
                </a:solidFill>
                <a:effectLst/>
                <a:latin typeface="+mn-lt"/>
                <a:ea typeface="+mn-ea"/>
                <a:cs typeface="+mn-cs"/>
              </a:rPr>
              <a:t>Optimized Approach (LP1)</a:t>
            </a:r>
            <a:endParaRPr lang="en-US" b="1"/>
          </a:p>
        </p:txBody>
      </p:sp>
      <p:sp>
        <p:nvSpPr>
          <p:cNvPr id="2" name="Segnaposto data 1">
            <a:extLst>
              <a:ext uri="{FF2B5EF4-FFF2-40B4-BE49-F238E27FC236}">
                <a16:creationId xmlns:a16="http://schemas.microsoft.com/office/drawing/2014/main" id="{8F5F7166-C940-CEC9-AB78-018DE826B363}"/>
              </a:ext>
            </a:extLst>
          </p:cNvPr>
          <p:cNvSpPr>
            <a:spLocks noGrp="1"/>
          </p:cNvSpPr>
          <p:nvPr>
            <p:ph type="dt" sz="half" idx="2"/>
          </p:nvPr>
        </p:nvSpPr>
        <p:spPr/>
        <p:txBody>
          <a:bodyPr/>
          <a:lstStyle/>
          <a:p>
            <a:r>
              <a:rPr lang="it-IT"/>
              <a:t>Distributed Simulation Systems</a:t>
            </a:r>
            <a:endParaRPr lang="en-US"/>
          </a:p>
        </p:txBody>
      </p:sp>
      <p:sp>
        <p:nvSpPr>
          <p:cNvPr id="4" name="Segnaposto piè di pagina 3">
            <a:extLst>
              <a:ext uri="{FF2B5EF4-FFF2-40B4-BE49-F238E27FC236}">
                <a16:creationId xmlns:a16="http://schemas.microsoft.com/office/drawing/2014/main" id="{2643394B-0C3E-FF40-7E53-D69764646E4E}"/>
              </a:ext>
            </a:extLst>
          </p:cNvPr>
          <p:cNvSpPr>
            <a:spLocks noGrp="1"/>
          </p:cNvSpPr>
          <p:nvPr>
            <p:ph type="ftr" sz="quarter" idx="3"/>
          </p:nvPr>
        </p:nvSpPr>
        <p:spPr/>
        <p:txBody>
          <a:bodyPr/>
          <a:lstStyle/>
          <a:p>
            <a:r>
              <a:rPr lang="en-US"/>
              <a:t>paolo.bocciarelli@uniroma2.it</a:t>
            </a:r>
          </a:p>
        </p:txBody>
      </p:sp>
      <p:sp>
        <p:nvSpPr>
          <p:cNvPr id="6" name="Segnaposto numero diapositiva 5">
            <a:extLst>
              <a:ext uri="{FF2B5EF4-FFF2-40B4-BE49-F238E27FC236}">
                <a16:creationId xmlns:a16="http://schemas.microsoft.com/office/drawing/2014/main" id="{901D2CDA-1D18-6F1E-135B-62BB2CF72008}"/>
              </a:ext>
            </a:extLst>
          </p:cNvPr>
          <p:cNvSpPr>
            <a:spLocks noGrp="1"/>
          </p:cNvSpPr>
          <p:nvPr>
            <p:ph type="sldNum" sz="quarter" idx="4"/>
          </p:nvPr>
        </p:nvSpPr>
        <p:spPr/>
        <p:txBody>
          <a:bodyPr/>
          <a:lstStyle/>
          <a:p>
            <a:fld id="{9BFB3A76-8619-A843-8C67-B9C7C140DBAC}" type="slidenum">
              <a:rPr lang="en-US" smtClean="0"/>
              <a:t>61</a:t>
            </a:fld>
            <a:endParaRPr lang="en-US"/>
          </a:p>
        </p:txBody>
      </p:sp>
    </p:spTree>
    <p:extLst>
      <p:ext uri="{BB962C8B-B14F-4D97-AF65-F5344CB8AC3E}">
        <p14:creationId xmlns:p14="http://schemas.microsoft.com/office/powerpoint/2010/main" val="12920668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320675" y="185738"/>
            <a:ext cx="8670925" cy="576262"/>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t>Efficiency of Queueing Network Simulation</a:t>
            </a:r>
          </a:p>
        </p:txBody>
      </p:sp>
      <p:graphicFrame>
        <p:nvGraphicFramePr>
          <p:cNvPr id="160771" name="Object 3"/>
          <p:cNvGraphicFramePr>
            <a:graphicFrameLocks noGrp="1"/>
          </p:cNvGraphicFramePr>
          <p:nvPr>
            <p:ph type="chart" idx="1"/>
          </p:nvPr>
        </p:nvGraphicFramePr>
        <p:xfrm>
          <a:off x="234950" y="2652713"/>
          <a:ext cx="8674100" cy="4129087"/>
        </p:xfrm>
        <a:graphic>
          <a:graphicData uri="http://schemas.openxmlformats.org/presentationml/2006/ole">
            <mc:AlternateContent xmlns:mc="http://schemas.openxmlformats.org/markup-compatibility/2006">
              <mc:Choice xmlns:v="urn:schemas-microsoft-com:vml" Requires="v">
                <p:oleObj name="Chart" r:id="rId3" imgW="8674100" imgH="4343400" progId="MSGraph.Chart.5">
                  <p:embed/>
                </p:oleObj>
              </mc:Choice>
              <mc:Fallback>
                <p:oleObj name="Chart" r:id="rId3" imgW="8674100" imgH="4343400" progId="MSGraph.Chart.5">
                  <p:embed/>
                  <p:pic>
                    <p:nvPicPr>
                      <p:cNvPr id="16077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950" y="2652713"/>
                        <a:ext cx="8674100" cy="4129087"/>
                      </a:xfrm>
                      <a:prstGeom prst="rect">
                        <a:avLst/>
                      </a:prstGeom>
                      <a:solidFill>
                        <a:srgbClr val="FDE3BA"/>
                      </a:solidFill>
                      <a:ln w="12700" cap="flat" cmpd="sng">
                        <a:solidFill>
                          <a:schemeClr val="tx1"/>
                        </a:solidFill>
                        <a:prstDash val="solid"/>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160773" name="Group 5"/>
          <p:cNvGrpSpPr>
            <a:grpSpLocks/>
          </p:cNvGrpSpPr>
          <p:nvPr/>
        </p:nvGrpSpPr>
        <p:grpSpPr bwMode="auto">
          <a:xfrm>
            <a:off x="7175500" y="1079500"/>
            <a:ext cx="1041400" cy="431800"/>
            <a:chOff x="4520" y="584"/>
            <a:chExt cx="656" cy="272"/>
          </a:xfrm>
        </p:grpSpPr>
        <p:sp>
          <p:nvSpPr>
            <p:cNvPr id="160774" name="Oval 6"/>
            <p:cNvSpPr>
              <a:spLocks noChangeArrowheads="1"/>
            </p:cNvSpPr>
            <p:nvPr/>
          </p:nvSpPr>
          <p:spPr bwMode="auto">
            <a:xfrm>
              <a:off x="4904" y="584"/>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75" name="Rectangle 7"/>
            <p:cNvSpPr>
              <a:spLocks noChangeArrowheads="1"/>
            </p:cNvSpPr>
            <p:nvPr/>
          </p:nvSpPr>
          <p:spPr bwMode="auto">
            <a:xfrm>
              <a:off x="4808" y="58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76" name="Rectangle 8"/>
            <p:cNvSpPr>
              <a:spLocks noChangeArrowheads="1"/>
            </p:cNvSpPr>
            <p:nvPr/>
          </p:nvSpPr>
          <p:spPr bwMode="auto">
            <a:xfrm>
              <a:off x="4712" y="58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77" name="Rectangle 9"/>
            <p:cNvSpPr>
              <a:spLocks noChangeArrowheads="1"/>
            </p:cNvSpPr>
            <p:nvPr/>
          </p:nvSpPr>
          <p:spPr bwMode="auto">
            <a:xfrm>
              <a:off x="4616" y="58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78" name="Rectangle 10"/>
            <p:cNvSpPr>
              <a:spLocks noChangeArrowheads="1"/>
            </p:cNvSpPr>
            <p:nvPr/>
          </p:nvSpPr>
          <p:spPr bwMode="auto">
            <a:xfrm>
              <a:off x="4520" y="58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60779" name="Group 11"/>
          <p:cNvGrpSpPr>
            <a:grpSpLocks/>
          </p:cNvGrpSpPr>
          <p:nvPr/>
        </p:nvGrpSpPr>
        <p:grpSpPr bwMode="auto">
          <a:xfrm>
            <a:off x="7175500" y="1841500"/>
            <a:ext cx="1041400" cy="431800"/>
            <a:chOff x="4520" y="1064"/>
            <a:chExt cx="656" cy="272"/>
          </a:xfrm>
        </p:grpSpPr>
        <p:sp>
          <p:nvSpPr>
            <p:cNvPr id="160780" name="Oval 12"/>
            <p:cNvSpPr>
              <a:spLocks noChangeArrowheads="1"/>
            </p:cNvSpPr>
            <p:nvPr/>
          </p:nvSpPr>
          <p:spPr bwMode="auto">
            <a:xfrm>
              <a:off x="4904" y="1064"/>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1" name="Rectangle 13"/>
            <p:cNvSpPr>
              <a:spLocks noChangeArrowheads="1"/>
            </p:cNvSpPr>
            <p:nvPr/>
          </p:nvSpPr>
          <p:spPr bwMode="auto">
            <a:xfrm>
              <a:off x="4808" y="106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2" name="Rectangle 14"/>
            <p:cNvSpPr>
              <a:spLocks noChangeArrowheads="1"/>
            </p:cNvSpPr>
            <p:nvPr/>
          </p:nvSpPr>
          <p:spPr bwMode="auto">
            <a:xfrm>
              <a:off x="4712" y="106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3" name="Rectangle 15"/>
            <p:cNvSpPr>
              <a:spLocks noChangeArrowheads="1"/>
            </p:cNvSpPr>
            <p:nvPr/>
          </p:nvSpPr>
          <p:spPr bwMode="auto">
            <a:xfrm>
              <a:off x="4616" y="106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4" name="Rectangle 16"/>
            <p:cNvSpPr>
              <a:spLocks noChangeArrowheads="1"/>
            </p:cNvSpPr>
            <p:nvPr/>
          </p:nvSpPr>
          <p:spPr bwMode="auto">
            <a:xfrm>
              <a:off x="4520" y="106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60785" name="Line 17"/>
          <p:cNvSpPr>
            <a:spLocks noChangeShapeType="1"/>
          </p:cNvSpPr>
          <p:nvPr/>
        </p:nvSpPr>
        <p:spPr bwMode="auto">
          <a:xfrm>
            <a:off x="4064000" y="1676400"/>
            <a:ext cx="4826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6" name="Line 18"/>
          <p:cNvSpPr>
            <a:spLocks noChangeShapeType="1"/>
          </p:cNvSpPr>
          <p:nvPr/>
        </p:nvSpPr>
        <p:spPr bwMode="auto">
          <a:xfrm>
            <a:off x="5664200" y="1676400"/>
            <a:ext cx="4826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87" name="Line 19"/>
          <p:cNvSpPr>
            <a:spLocks noChangeShapeType="1"/>
          </p:cNvSpPr>
          <p:nvPr/>
        </p:nvSpPr>
        <p:spPr bwMode="auto">
          <a:xfrm>
            <a:off x="6654800" y="1295400"/>
            <a:ext cx="4826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60788" name="Group 20"/>
          <p:cNvGrpSpPr>
            <a:grpSpLocks/>
          </p:cNvGrpSpPr>
          <p:nvPr/>
        </p:nvGrpSpPr>
        <p:grpSpPr bwMode="auto">
          <a:xfrm>
            <a:off x="4584700" y="1460500"/>
            <a:ext cx="1041400" cy="431800"/>
            <a:chOff x="2888" y="824"/>
            <a:chExt cx="656" cy="272"/>
          </a:xfrm>
        </p:grpSpPr>
        <p:sp>
          <p:nvSpPr>
            <p:cNvPr id="160789" name="Oval 21"/>
            <p:cNvSpPr>
              <a:spLocks noChangeArrowheads="1"/>
            </p:cNvSpPr>
            <p:nvPr/>
          </p:nvSpPr>
          <p:spPr bwMode="auto">
            <a:xfrm>
              <a:off x="3272" y="824"/>
              <a:ext cx="272" cy="272"/>
            </a:xfrm>
            <a:prstGeom prst="ellipse">
              <a:avLst/>
            </a:prstGeom>
            <a:solidFill>
              <a:srgbClr val="714400"/>
            </a:solidFill>
            <a:ln w="254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0" name="Rectangle 22"/>
            <p:cNvSpPr>
              <a:spLocks noChangeArrowheads="1"/>
            </p:cNvSpPr>
            <p:nvPr/>
          </p:nvSpPr>
          <p:spPr bwMode="auto">
            <a:xfrm>
              <a:off x="3176" y="82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1" name="Rectangle 23"/>
            <p:cNvSpPr>
              <a:spLocks noChangeArrowheads="1"/>
            </p:cNvSpPr>
            <p:nvPr/>
          </p:nvSpPr>
          <p:spPr bwMode="auto">
            <a:xfrm>
              <a:off x="3080" y="82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2" name="Rectangle 24"/>
            <p:cNvSpPr>
              <a:spLocks noChangeArrowheads="1"/>
            </p:cNvSpPr>
            <p:nvPr/>
          </p:nvSpPr>
          <p:spPr bwMode="auto">
            <a:xfrm>
              <a:off x="2984" y="82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3" name="Rectangle 25"/>
            <p:cNvSpPr>
              <a:spLocks noChangeArrowheads="1"/>
            </p:cNvSpPr>
            <p:nvPr/>
          </p:nvSpPr>
          <p:spPr bwMode="auto">
            <a:xfrm>
              <a:off x="2888" y="824"/>
              <a:ext cx="80" cy="272"/>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60794" name="Rectangle 26"/>
          <p:cNvSpPr>
            <a:spLocks noChangeArrowheads="1"/>
          </p:cNvSpPr>
          <p:nvPr/>
        </p:nvSpPr>
        <p:spPr bwMode="auto">
          <a:xfrm>
            <a:off x="6184900" y="1079500"/>
            <a:ext cx="431800" cy="1193800"/>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5" name="Rectangle 27"/>
          <p:cNvSpPr>
            <a:spLocks noChangeArrowheads="1"/>
          </p:cNvSpPr>
          <p:nvPr/>
        </p:nvSpPr>
        <p:spPr bwMode="auto">
          <a:xfrm>
            <a:off x="3594100" y="1079500"/>
            <a:ext cx="431800" cy="1193800"/>
          </a:xfrm>
          <a:prstGeom prst="rect">
            <a:avLst/>
          </a:prstGeom>
          <a:solidFill>
            <a:srgbClr val="AD6900"/>
          </a:solidFill>
          <a:ln w="254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6" name="Line 28"/>
          <p:cNvSpPr>
            <a:spLocks noChangeShapeType="1"/>
          </p:cNvSpPr>
          <p:nvPr/>
        </p:nvSpPr>
        <p:spPr bwMode="auto">
          <a:xfrm>
            <a:off x="6654800" y="2057400"/>
            <a:ext cx="4826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7" name="Line 29"/>
          <p:cNvSpPr>
            <a:spLocks noChangeShapeType="1"/>
          </p:cNvSpPr>
          <p:nvPr/>
        </p:nvSpPr>
        <p:spPr bwMode="auto">
          <a:xfrm>
            <a:off x="3048000" y="1295400"/>
            <a:ext cx="5080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8" name="Line 30"/>
          <p:cNvSpPr>
            <a:spLocks noChangeShapeType="1"/>
          </p:cNvSpPr>
          <p:nvPr/>
        </p:nvSpPr>
        <p:spPr bwMode="auto">
          <a:xfrm>
            <a:off x="3048000" y="2057400"/>
            <a:ext cx="5080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799" name="Line 31"/>
          <p:cNvSpPr>
            <a:spLocks noChangeShapeType="1"/>
          </p:cNvSpPr>
          <p:nvPr/>
        </p:nvSpPr>
        <p:spPr bwMode="auto">
          <a:xfrm>
            <a:off x="3048000" y="914400"/>
            <a:ext cx="5410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0" name="Line 32"/>
          <p:cNvSpPr>
            <a:spLocks noChangeShapeType="1"/>
          </p:cNvSpPr>
          <p:nvPr/>
        </p:nvSpPr>
        <p:spPr bwMode="auto">
          <a:xfrm>
            <a:off x="8229600" y="1295400"/>
            <a:ext cx="2286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1" name="Line 33"/>
          <p:cNvSpPr>
            <a:spLocks noChangeShapeType="1"/>
          </p:cNvSpPr>
          <p:nvPr/>
        </p:nvSpPr>
        <p:spPr bwMode="auto">
          <a:xfrm flipV="1">
            <a:off x="8458200" y="914400"/>
            <a:ext cx="0" cy="381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2" name="Line 34"/>
          <p:cNvSpPr>
            <a:spLocks noChangeShapeType="1"/>
          </p:cNvSpPr>
          <p:nvPr/>
        </p:nvSpPr>
        <p:spPr bwMode="auto">
          <a:xfrm flipV="1">
            <a:off x="3048000" y="914400"/>
            <a:ext cx="0" cy="381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3" name="Line 35"/>
          <p:cNvSpPr>
            <a:spLocks noChangeShapeType="1"/>
          </p:cNvSpPr>
          <p:nvPr/>
        </p:nvSpPr>
        <p:spPr bwMode="auto">
          <a:xfrm>
            <a:off x="3048000" y="2438400"/>
            <a:ext cx="5410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4" name="Line 36"/>
          <p:cNvSpPr>
            <a:spLocks noChangeShapeType="1"/>
          </p:cNvSpPr>
          <p:nvPr/>
        </p:nvSpPr>
        <p:spPr bwMode="auto">
          <a:xfrm>
            <a:off x="8229600" y="2057400"/>
            <a:ext cx="2286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5" name="Line 37"/>
          <p:cNvSpPr>
            <a:spLocks noChangeShapeType="1"/>
          </p:cNvSpPr>
          <p:nvPr/>
        </p:nvSpPr>
        <p:spPr bwMode="auto">
          <a:xfrm>
            <a:off x="8458200" y="2057400"/>
            <a:ext cx="0" cy="381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6" name="Line 38"/>
          <p:cNvSpPr>
            <a:spLocks noChangeShapeType="1"/>
          </p:cNvSpPr>
          <p:nvPr/>
        </p:nvSpPr>
        <p:spPr bwMode="auto">
          <a:xfrm>
            <a:off x="3048000" y="2057400"/>
            <a:ext cx="0" cy="381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07" name="Rectangle 39"/>
          <p:cNvSpPr>
            <a:spLocks noChangeArrowheads="1"/>
          </p:cNvSpPr>
          <p:nvPr/>
        </p:nvSpPr>
        <p:spPr bwMode="auto">
          <a:xfrm>
            <a:off x="549275" y="1273175"/>
            <a:ext cx="20986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t>Parallel Simulation</a:t>
            </a:r>
          </a:p>
          <a:p>
            <a:pPr algn="ctr"/>
            <a:r>
              <a:rPr lang="en-US" altLang="it-IT"/>
              <a:t>of a Central Server</a:t>
            </a:r>
          </a:p>
          <a:p>
            <a:pPr algn="ctr"/>
            <a:r>
              <a:rPr lang="en-US" altLang="it-IT"/>
              <a:t>Queueing Network</a:t>
            </a:r>
          </a:p>
        </p:txBody>
      </p:sp>
      <p:sp>
        <p:nvSpPr>
          <p:cNvPr id="160808" name="Rectangle 40"/>
          <p:cNvSpPr>
            <a:spLocks noChangeArrowheads="1"/>
          </p:cNvSpPr>
          <p:nvPr/>
        </p:nvSpPr>
        <p:spPr bwMode="auto">
          <a:xfrm>
            <a:off x="6005513" y="5845175"/>
            <a:ext cx="27717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b="1"/>
              <a:t>Deadlock Detection and</a:t>
            </a:r>
          </a:p>
          <a:p>
            <a:pPr algn="ctr"/>
            <a:r>
              <a:rPr lang="en-US" altLang="it-IT" b="1"/>
              <a:t>Recovery Algorithm</a:t>
            </a:r>
          </a:p>
          <a:p>
            <a:pPr algn="ctr"/>
            <a:r>
              <a:rPr lang="en-US" altLang="it-IT"/>
              <a:t>(5 processors)</a:t>
            </a:r>
          </a:p>
        </p:txBody>
      </p:sp>
      <p:sp>
        <p:nvSpPr>
          <p:cNvPr id="160809" name="Line 41"/>
          <p:cNvSpPr>
            <a:spLocks noChangeShapeType="1"/>
          </p:cNvSpPr>
          <p:nvPr/>
        </p:nvSpPr>
        <p:spPr bwMode="auto">
          <a:xfrm>
            <a:off x="3587750" y="1301750"/>
            <a:ext cx="444500" cy="36830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10" name="Line 42"/>
          <p:cNvSpPr>
            <a:spLocks noChangeShapeType="1"/>
          </p:cNvSpPr>
          <p:nvPr/>
        </p:nvSpPr>
        <p:spPr bwMode="auto">
          <a:xfrm flipV="1">
            <a:off x="3587750" y="1676400"/>
            <a:ext cx="444500" cy="38100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11" name="Line 43"/>
          <p:cNvSpPr>
            <a:spLocks noChangeShapeType="1"/>
          </p:cNvSpPr>
          <p:nvPr/>
        </p:nvSpPr>
        <p:spPr bwMode="auto">
          <a:xfrm flipV="1">
            <a:off x="6178550" y="1295400"/>
            <a:ext cx="444500" cy="38100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12" name="Line 44"/>
          <p:cNvSpPr>
            <a:spLocks noChangeShapeType="1"/>
          </p:cNvSpPr>
          <p:nvPr/>
        </p:nvSpPr>
        <p:spPr bwMode="auto">
          <a:xfrm>
            <a:off x="6178550" y="1682750"/>
            <a:ext cx="444500" cy="36830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813" name="Rectangle 45"/>
          <p:cNvSpPr>
            <a:spLocks noChangeArrowheads="1"/>
          </p:cNvSpPr>
          <p:nvPr/>
        </p:nvSpPr>
        <p:spPr bwMode="auto">
          <a:xfrm>
            <a:off x="4000500" y="2005013"/>
            <a:ext cx="68262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400"/>
              <a:t>merge</a:t>
            </a:r>
          </a:p>
        </p:txBody>
      </p:sp>
      <p:sp>
        <p:nvSpPr>
          <p:cNvPr id="160814" name="Rectangle 46"/>
          <p:cNvSpPr>
            <a:spLocks noChangeArrowheads="1"/>
          </p:cNvSpPr>
          <p:nvPr/>
        </p:nvSpPr>
        <p:spPr bwMode="auto">
          <a:xfrm>
            <a:off x="5703888" y="2005013"/>
            <a:ext cx="4762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sz="1400"/>
              <a:t>fork</a:t>
            </a:r>
          </a:p>
        </p:txBody>
      </p:sp>
      <p:sp>
        <p:nvSpPr>
          <p:cNvPr id="2" name="Segnaposto data 1">
            <a:extLst>
              <a:ext uri="{FF2B5EF4-FFF2-40B4-BE49-F238E27FC236}">
                <a16:creationId xmlns:a16="http://schemas.microsoft.com/office/drawing/2014/main" id="{F4DD9355-83DF-3A68-E71D-7AA1ED8A9905}"/>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5F089C55-F650-5CF3-3999-1DE8D7AD3AFD}"/>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376F2A81-052B-54B3-833C-22A980D67899}"/>
              </a:ext>
            </a:extLst>
          </p:cNvPr>
          <p:cNvSpPr>
            <a:spLocks noGrp="1"/>
          </p:cNvSpPr>
          <p:nvPr>
            <p:ph type="sldNum" sz="quarter" idx="4"/>
          </p:nvPr>
        </p:nvSpPr>
        <p:spPr/>
        <p:txBody>
          <a:bodyPr/>
          <a:lstStyle/>
          <a:p>
            <a:fld id="{9BFB3A76-8619-A843-8C67-B9C7C140DBAC}" type="slidenum">
              <a:rPr lang="en-US" smtClean="0"/>
              <a:t>62</a:t>
            </a:fld>
            <a:endParaRPr lang="en-US"/>
          </a:p>
        </p:txBody>
      </p:sp>
    </p:spTree>
    <p:extLst>
      <p:ext uri="{BB962C8B-B14F-4D97-AF65-F5344CB8AC3E}">
        <p14:creationId xmlns:p14="http://schemas.microsoft.com/office/powerpoint/2010/main" val="2515978201"/>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312738" y="168275"/>
            <a:ext cx="8670925" cy="57626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it-IT" sz="3200"/>
              <a:t>Speedup of Queueing Network Simulation</a:t>
            </a:r>
          </a:p>
        </p:txBody>
      </p:sp>
      <p:graphicFrame>
        <p:nvGraphicFramePr>
          <p:cNvPr id="157699" name="Object 3"/>
          <p:cNvGraphicFramePr>
            <a:graphicFrameLocks noGrp="1"/>
          </p:cNvGraphicFramePr>
          <p:nvPr>
            <p:ph type="chart" idx="1"/>
          </p:nvPr>
        </p:nvGraphicFramePr>
        <p:xfrm>
          <a:off x="311150" y="1377950"/>
          <a:ext cx="8674100" cy="4864100"/>
        </p:xfrm>
        <a:graphic>
          <a:graphicData uri="http://schemas.openxmlformats.org/presentationml/2006/ole">
            <mc:AlternateContent xmlns:mc="http://schemas.openxmlformats.org/markup-compatibility/2006">
              <mc:Choice xmlns:v="urn:schemas-microsoft-com:vml" Requires="v">
                <p:oleObj name="Chart" r:id="rId3" imgW="8674100" imgH="4343400" progId="MSGraph.Chart.5">
                  <p:embed/>
                </p:oleObj>
              </mc:Choice>
              <mc:Fallback>
                <p:oleObj name="Chart" r:id="rId3" imgW="8674100" imgH="4343400" progId="MSGraph.Chart.5">
                  <p:embed/>
                  <p:pic>
                    <p:nvPicPr>
                      <p:cNvPr id="15769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50" y="1377950"/>
                        <a:ext cx="8674100" cy="4864100"/>
                      </a:xfrm>
                      <a:prstGeom prst="rect">
                        <a:avLst/>
                      </a:prstGeom>
                      <a:solidFill>
                        <a:srgbClr val="FDE3BA"/>
                      </a:solidFill>
                      <a:ln w="12700" cap="flat" cmpd="sng">
                        <a:solidFill>
                          <a:schemeClr val="tx1"/>
                        </a:solidFill>
                        <a:prstDash val="solid"/>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57700" name="Rectangle 4"/>
          <p:cNvSpPr>
            <a:spLocks noChangeArrowheads="1"/>
          </p:cNvSpPr>
          <p:nvPr/>
        </p:nvSpPr>
        <p:spPr bwMode="auto">
          <a:xfrm>
            <a:off x="3819448" y="739775"/>
            <a:ext cx="165750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ctr"/>
            <a:r>
              <a:rPr lang="en-US" altLang="it-IT"/>
              <a:t>(5 processors)</a:t>
            </a:r>
          </a:p>
        </p:txBody>
      </p:sp>
      <p:sp>
        <p:nvSpPr>
          <p:cNvPr id="157701" name="Rectangle 5"/>
          <p:cNvSpPr>
            <a:spLocks noChangeArrowheads="1"/>
          </p:cNvSpPr>
          <p:nvPr/>
        </p:nvSpPr>
        <p:spPr bwMode="auto">
          <a:xfrm>
            <a:off x="311150" y="6254750"/>
            <a:ext cx="8674100" cy="455613"/>
          </a:xfrm>
          <a:prstGeom prst="rect">
            <a:avLst/>
          </a:prstGeom>
          <a:solidFill>
            <a:srgbClr val="FFC5C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lstStyle>
            <a:lvl1pPr marL="342900" indent="-342900">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lgn="ctr">
              <a:spcBef>
                <a:spcPct val="20000"/>
              </a:spcBef>
            </a:pPr>
            <a:r>
              <a:rPr lang="en-US" altLang="it-IT">
                <a:latin typeface="Helvetica" charset="0"/>
              </a:rPr>
              <a:t>Exploiting lookahead is essential to obtain good performance</a:t>
            </a:r>
          </a:p>
        </p:txBody>
      </p:sp>
      <p:sp>
        <p:nvSpPr>
          <p:cNvPr id="2" name="Segnaposto data 1">
            <a:extLst>
              <a:ext uri="{FF2B5EF4-FFF2-40B4-BE49-F238E27FC236}">
                <a16:creationId xmlns:a16="http://schemas.microsoft.com/office/drawing/2014/main" id="{C4C01687-4767-F050-6DC6-F30C37F99026}"/>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30EC3A65-0A84-25C9-F872-8997437BABB4}"/>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77A133C6-027B-BD71-1E93-4210D9067178}"/>
              </a:ext>
            </a:extLst>
          </p:cNvPr>
          <p:cNvSpPr>
            <a:spLocks noGrp="1"/>
          </p:cNvSpPr>
          <p:nvPr>
            <p:ph type="sldNum" sz="quarter" idx="4"/>
          </p:nvPr>
        </p:nvSpPr>
        <p:spPr/>
        <p:txBody>
          <a:bodyPr/>
          <a:lstStyle/>
          <a:p>
            <a:fld id="{9BFB3A76-8619-A843-8C67-B9C7C140DBAC}" type="slidenum">
              <a:rPr lang="en-US" smtClean="0"/>
              <a:t>63</a:t>
            </a:fld>
            <a:endParaRPr lang="en-US"/>
          </a:p>
        </p:txBody>
      </p:sp>
    </p:spTree>
    <p:extLst>
      <p:ext uri="{BB962C8B-B14F-4D97-AF65-F5344CB8AC3E}">
        <p14:creationId xmlns:p14="http://schemas.microsoft.com/office/powerpoint/2010/main" val="40732482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7701"/>
                                        </p:tgtEl>
                                        <p:attrNameLst>
                                          <p:attrName>style.visibility</p:attrName>
                                        </p:attrNameLst>
                                      </p:cBhvr>
                                      <p:to>
                                        <p:strVal val="visible"/>
                                      </p:to>
                                    </p:set>
                                    <p:animEffect transition="in" filter="dissolve">
                                      <p:cBhvr>
                                        <p:cTn id="7" dur="500"/>
                                        <p:tgtEl>
                                          <p:spTgt spid="157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it-IT"/>
              <a:t>Summary</a:t>
            </a:r>
          </a:p>
        </p:txBody>
      </p:sp>
      <p:sp>
        <p:nvSpPr>
          <p:cNvPr id="142339" name="Rectangle 3"/>
          <p:cNvSpPr>
            <a:spLocks noGrp="1" noChangeArrowheads="1"/>
          </p:cNvSpPr>
          <p:nvPr>
            <p:ph type="body" idx="1"/>
          </p:nvPr>
        </p:nvSpPr>
        <p:spPr>
          <a:xfrm>
            <a:off x="471488" y="908720"/>
            <a:ext cx="8353425" cy="5727700"/>
          </a:xfrm>
        </p:spPr>
        <p:txBody>
          <a:bodyPr/>
          <a:lstStyle/>
          <a:p>
            <a:r>
              <a:rPr lang="en-US" altLang="it-IT"/>
              <a:t>Barrier mechanisms</a:t>
            </a:r>
          </a:p>
          <a:p>
            <a:pPr lvl="1"/>
            <a:r>
              <a:rPr lang="en-US" altLang="it-IT"/>
              <a:t>Synchronous execution approach</a:t>
            </a:r>
          </a:p>
          <a:p>
            <a:pPr lvl="1"/>
            <a:r>
              <a:rPr lang="en-US" altLang="it-IT"/>
              <a:t>Simple barriers using broadcast or central controller OK for small number of processors</a:t>
            </a:r>
          </a:p>
          <a:p>
            <a:pPr lvl="1"/>
            <a:r>
              <a:rPr lang="en-US" altLang="it-IT"/>
              <a:t>Tree give more scalable performance</a:t>
            </a:r>
          </a:p>
          <a:p>
            <a:r>
              <a:rPr lang="en-US" altLang="it-IT"/>
              <a:t>Transient messages must be accounted for by the synchronization algorithm</a:t>
            </a:r>
          </a:p>
          <a:p>
            <a:pPr lvl="1"/>
            <a:r>
              <a:rPr lang="en-US" altLang="it-IT"/>
              <a:t>Flush barrier</a:t>
            </a:r>
          </a:p>
          <a:p>
            <a:pPr lvl="1"/>
            <a:r>
              <a:rPr lang="en-US" altLang="it-IT"/>
              <a:t>Send and receive counters</a:t>
            </a:r>
          </a:p>
          <a:p>
            <a:r>
              <a:rPr lang="en-US" altLang="it-IT"/>
              <a:t>Performance of Conservative Approaches</a:t>
            </a:r>
          </a:p>
          <a:p>
            <a:pPr lvl="1"/>
            <a:r>
              <a:rPr lang="en-US" altLang="it-IT"/>
              <a:t>Parallel/Distributed simulation not always performs better that the sequential one!</a:t>
            </a:r>
          </a:p>
          <a:p>
            <a:pPr lvl="1"/>
            <a:r>
              <a:rPr lang="en-US" altLang="it-IT"/>
              <a:t>Optimization is required</a:t>
            </a:r>
          </a:p>
        </p:txBody>
      </p:sp>
      <p:sp>
        <p:nvSpPr>
          <p:cNvPr id="2" name="Segnaposto data 1">
            <a:extLst>
              <a:ext uri="{FF2B5EF4-FFF2-40B4-BE49-F238E27FC236}">
                <a16:creationId xmlns:a16="http://schemas.microsoft.com/office/drawing/2014/main" id="{B02142C5-1FA0-2BBD-890E-784DB4BA9525}"/>
              </a:ext>
            </a:extLst>
          </p:cNvPr>
          <p:cNvSpPr>
            <a:spLocks noGrp="1"/>
          </p:cNvSpPr>
          <p:nvPr>
            <p:ph type="dt" sz="half" idx="2"/>
          </p:nvPr>
        </p:nvSpPr>
        <p:spPr/>
        <p:txBody>
          <a:bodyPr/>
          <a:lstStyle/>
          <a:p>
            <a:r>
              <a:rPr lang="it-IT"/>
              <a:t>Distributed Simulation Systems</a:t>
            </a:r>
            <a:endParaRPr lang="en-US"/>
          </a:p>
        </p:txBody>
      </p:sp>
      <p:sp>
        <p:nvSpPr>
          <p:cNvPr id="3" name="Segnaposto piè di pagina 2">
            <a:extLst>
              <a:ext uri="{FF2B5EF4-FFF2-40B4-BE49-F238E27FC236}">
                <a16:creationId xmlns:a16="http://schemas.microsoft.com/office/drawing/2014/main" id="{1A4CE9E8-D9A4-8A3B-6FE3-4C4A2732EFDA}"/>
              </a:ext>
            </a:extLst>
          </p:cNvPr>
          <p:cNvSpPr>
            <a:spLocks noGrp="1"/>
          </p:cNvSpPr>
          <p:nvPr>
            <p:ph type="ftr" sz="quarter" idx="3"/>
          </p:nvPr>
        </p:nvSpPr>
        <p:spPr/>
        <p:txBody>
          <a:bodyPr/>
          <a:lstStyle/>
          <a:p>
            <a:r>
              <a:rPr lang="en-US"/>
              <a:t>paolo.bocciarelli@uniroma2.it</a:t>
            </a:r>
          </a:p>
        </p:txBody>
      </p:sp>
      <p:sp>
        <p:nvSpPr>
          <p:cNvPr id="4" name="Segnaposto numero diapositiva 3">
            <a:extLst>
              <a:ext uri="{FF2B5EF4-FFF2-40B4-BE49-F238E27FC236}">
                <a16:creationId xmlns:a16="http://schemas.microsoft.com/office/drawing/2014/main" id="{84E63CE5-414D-0925-536D-5A1F55277AA0}"/>
              </a:ext>
            </a:extLst>
          </p:cNvPr>
          <p:cNvSpPr>
            <a:spLocks noGrp="1"/>
          </p:cNvSpPr>
          <p:nvPr>
            <p:ph type="sldNum" sz="quarter" idx="4"/>
          </p:nvPr>
        </p:nvSpPr>
        <p:spPr/>
        <p:txBody>
          <a:bodyPr/>
          <a:lstStyle/>
          <a:p>
            <a:fld id="{9BFB3A76-8619-A843-8C67-B9C7C140DBAC}" type="slidenum">
              <a:rPr lang="en-US" smtClean="0"/>
              <a:t>64</a:t>
            </a:fld>
            <a:endParaRPr lang="en-US"/>
          </a:p>
        </p:txBody>
      </p:sp>
    </p:spTree>
    <p:extLst>
      <p:ext uri="{BB962C8B-B14F-4D97-AF65-F5344CB8AC3E}">
        <p14:creationId xmlns:p14="http://schemas.microsoft.com/office/powerpoint/2010/main" val="1502496128"/>
      </p:ext>
    </p:extLst>
  </p:cSld>
  <p:clrMapOvr>
    <a:masterClrMapping/>
  </p:clrMapOvr>
</p:sld>
</file>

<file path=ppt/theme/theme1.xml><?xml version="1.0" encoding="utf-8"?>
<a:theme xmlns:a="http://schemas.openxmlformats.org/drawingml/2006/main" name="Microsoft Office 98">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Microsoft Office 98">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a:ln>
              <a:noFill/>
            </a:ln>
            <a:solidFill>
              <a:schemeClr val="tx1"/>
            </a:solidFill>
            <a:effectLst/>
            <a:latin typeface="Helvetica" charset="0"/>
          </a:defRPr>
        </a:defPPr>
      </a:lstStyle>
    </a:lnDef>
  </a:objectDefaults>
  <a:extraClrSchemeLst>
    <a:extraClrScheme>
      <a:clrScheme name="Microsoft Office 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icrosoft Office 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icrosoft Office 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icrosoft Office 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crosoft Office 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icrosoft Office 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icrosoft Office 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icrosoft Office 98">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Microsoft Office 98">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a:ln>
              <a:noFill/>
            </a:ln>
            <a:solidFill>
              <a:schemeClr val="tx1"/>
            </a:solidFill>
            <a:effectLst/>
            <a:latin typeface="Helvetica" charset="0"/>
          </a:defRPr>
        </a:defPPr>
      </a:lstStyle>
    </a:lnDef>
  </a:objectDefaults>
  <a:extraClrSchemeLst>
    <a:extraClrScheme>
      <a:clrScheme name="Microsoft Office 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icrosoft Office 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icrosoft Office 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icrosoft Office 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crosoft Office 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icrosoft Office 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icrosoft Office 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i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376CA047E588144AD3C6559A5B73BC3" ma:contentTypeVersion="7" ma:contentTypeDescription="Creare un nuovo documento." ma:contentTypeScope="" ma:versionID="bb507da00041ee796464020af59b3f11">
  <xsd:schema xmlns:xsd="http://www.w3.org/2001/XMLSchema" xmlns:xs="http://www.w3.org/2001/XMLSchema" xmlns:p="http://schemas.microsoft.com/office/2006/metadata/properties" xmlns:ns2="5dc7dec2-400c-4f62-ba00-f12d68d1b8dd" targetNamespace="http://schemas.microsoft.com/office/2006/metadata/properties" ma:root="true" ma:fieldsID="9a5e7d06571df64c473765204e1529a4" ns2:_="">
    <xsd:import namespace="5dc7dec2-400c-4f62-ba00-f12d68d1b8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c7dec2-400c-4f62-ba00-f12d68d1b8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FC1FA60-452D-4AFE-9986-A99277037461}"/>
</file>

<file path=customXml/itemProps2.xml><?xml version="1.0" encoding="utf-8"?>
<ds:datastoreItem xmlns:ds="http://schemas.openxmlformats.org/officeDocument/2006/customXml" ds:itemID="{2B600537-35AF-4135-9045-A3FE4B88C3EF}"/>
</file>

<file path=customXml/itemProps3.xml><?xml version="1.0" encoding="utf-8"?>
<ds:datastoreItem xmlns:ds="http://schemas.openxmlformats.org/officeDocument/2006/customXml" ds:itemID="{7D166755-864C-4725-A74D-1C3E9088C871}"/>
</file>

<file path=docProps/app.xml><?xml version="1.0" encoding="utf-8"?>
<Properties xmlns="http://schemas.openxmlformats.org/officeDocument/2006/extended-properties" xmlns:vt="http://schemas.openxmlformats.org/officeDocument/2006/docPropsVTypes">
  <Template/>
  <TotalTime>24471</TotalTime>
  <Pages>62</Pages>
  <Words>9433</Words>
  <Application>Microsoft Macintosh PowerPoint</Application>
  <PresentationFormat>Presentazione su schermo (4:3)</PresentationFormat>
  <Paragraphs>1272</Paragraphs>
  <Slides>64</Slides>
  <Notes>49</Notes>
  <HiddenSlides>0</HiddenSlides>
  <MMClips>0</MMClips>
  <ScaleCrop>false</ScaleCrop>
  <HeadingPairs>
    <vt:vector size="8" baseType="variant">
      <vt:variant>
        <vt:lpstr>Caratteri utilizzati</vt:lpstr>
      </vt:variant>
      <vt:variant>
        <vt:i4>6</vt:i4>
      </vt:variant>
      <vt:variant>
        <vt:lpstr>Tema</vt:lpstr>
      </vt:variant>
      <vt:variant>
        <vt:i4>2</vt:i4>
      </vt:variant>
      <vt:variant>
        <vt:lpstr>Server OLE incorporati</vt:lpstr>
      </vt:variant>
      <vt:variant>
        <vt:i4>1</vt:i4>
      </vt:variant>
      <vt:variant>
        <vt:lpstr>Titoli diapositive</vt:lpstr>
      </vt:variant>
      <vt:variant>
        <vt:i4>64</vt:i4>
      </vt:variant>
    </vt:vector>
  </HeadingPairs>
  <TitlesOfParts>
    <vt:vector size="73" baseType="lpstr">
      <vt:lpstr>Arial</vt:lpstr>
      <vt:lpstr>Courier</vt:lpstr>
      <vt:lpstr>Helvetica</vt:lpstr>
      <vt:lpstr>Times</vt:lpstr>
      <vt:lpstr>Times New Roman</vt:lpstr>
      <vt:lpstr>Wingdings</vt:lpstr>
      <vt:lpstr>Microsoft Office 98</vt:lpstr>
      <vt:lpstr>1_Microsoft Office 98</vt:lpstr>
      <vt:lpstr>Chart</vt:lpstr>
      <vt:lpstr>Parallel and Distributed Simulation</vt:lpstr>
      <vt:lpstr>Outline</vt:lpstr>
      <vt:lpstr>Event-Oriented Simulation</vt:lpstr>
      <vt:lpstr>Parallel Discrete Event Simulation</vt:lpstr>
      <vt:lpstr>Parallel Discrete Event Simulation Example</vt:lpstr>
      <vt:lpstr>LP Simulation Example</vt:lpstr>
      <vt:lpstr>Approach to Parallel/Distributed Execution</vt:lpstr>
      <vt:lpstr>Causality constraint</vt:lpstr>
      <vt:lpstr>The Synchronization Problem</vt:lpstr>
      <vt:lpstr>Synchronization Algorithms</vt:lpstr>
      <vt:lpstr>Outline</vt:lpstr>
      <vt:lpstr>Chandy/Misra/Bryant “Null Message” Algorithm</vt:lpstr>
      <vt:lpstr>A Simple Conservative Algorithm</vt:lpstr>
      <vt:lpstr>Deadlock Example</vt:lpstr>
      <vt:lpstr>Deadlock Avoidance Using Null Messages</vt:lpstr>
      <vt:lpstr>Deadlock Avoidance Using Null Messages</vt:lpstr>
      <vt:lpstr>Summary</vt:lpstr>
      <vt:lpstr>Parallel and Distributed Simulation</vt:lpstr>
      <vt:lpstr>Outline</vt:lpstr>
      <vt:lpstr>Deadlock Avoidance Using Null Messages</vt:lpstr>
      <vt:lpstr>The Time Creep Problem</vt:lpstr>
      <vt:lpstr>Livelock Can Occur!</vt:lpstr>
      <vt:lpstr>Lookahead</vt:lpstr>
      <vt:lpstr>Lookahead</vt:lpstr>
      <vt:lpstr>Lookahead and the Simulation Model</vt:lpstr>
      <vt:lpstr>Presentazione standard di PowerPoint</vt:lpstr>
      <vt:lpstr>Outline</vt:lpstr>
      <vt:lpstr>Changing Lookahead Values</vt:lpstr>
      <vt:lpstr>Example: Decreasing Lookahead</vt:lpstr>
      <vt:lpstr>Summary</vt:lpstr>
      <vt:lpstr>Parallel and Distributed Simulation</vt:lpstr>
      <vt:lpstr>Outline</vt:lpstr>
      <vt:lpstr>Deadlock Detection &amp; Recovery</vt:lpstr>
      <vt:lpstr>Deadlock Detection</vt:lpstr>
      <vt:lpstr>Basic Idea</vt:lpstr>
      <vt:lpstr>Example</vt:lpstr>
      <vt:lpstr>Implementation: Signaling Protocol</vt:lpstr>
      <vt:lpstr>Implementation (cont.)</vt:lpstr>
      <vt:lpstr>Example</vt:lpstr>
      <vt:lpstr>Example</vt:lpstr>
      <vt:lpstr>Deadlock Recovery</vt:lpstr>
      <vt:lpstr>Example deadlock recovery mechanism</vt:lpstr>
      <vt:lpstr>Summary</vt:lpstr>
      <vt:lpstr>Parallel and Distributed Simulation</vt:lpstr>
      <vt:lpstr>Outline</vt:lpstr>
      <vt:lpstr>Synchronous Execution</vt:lpstr>
      <vt:lpstr>Barrier Synchronization</vt:lpstr>
      <vt:lpstr>Barrier Implementation</vt:lpstr>
      <vt:lpstr>Algorithm for Barrier Synchronization</vt:lpstr>
      <vt:lpstr>Broadcast Barrier</vt:lpstr>
      <vt:lpstr>Tree Barrier</vt:lpstr>
      <vt:lpstr>Outline</vt:lpstr>
      <vt:lpstr>A Simple Synchronous Algorithm</vt:lpstr>
      <vt:lpstr>Transient Message Problem</vt:lpstr>
      <vt:lpstr>Flush Barrier</vt:lpstr>
      <vt:lpstr>Implementation</vt:lpstr>
      <vt:lpstr>Tree: Flush Barrier</vt:lpstr>
      <vt:lpstr>Outline</vt:lpstr>
      <vt:lpstr>Performance</vt:lpstr>
      <vt:lpstr>Performance</vt:lpstr>
      <vt:lpstr>Performance</vt:lpstr>
      <vt:lpstr>Efficiency of Queueing Network Simulation</vt:lpstr>
      <vt:lpstr>Speedup of Queueing Network Simulation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and Distributed Simulation (PADS, DIS, and the HLA)</dc:title>
  <dc:subject>tutorial on PADS, DIS, HLA</dc:subject>
  <dc:creator>Richard Fujimoto</dc:creator>
  <cp:keywords>PADS, DIS, HLA</cp:keywords>
  <dc:description>created for WSC 95</dc:description>
  <cp:lastModifiedBy>Paolo Bocciarelli</cp:lastModifiedBy>
  <cp:revision>298</cp:revision>
  <cp:lastPrinted>2026-04-20T10:32:48Z</cp:lastPrinted>
  <dcterms:created xsi:type="dcterms:W3CDTF">1996-05-16T09:55:30Z</dcterms:created>
  <dcterms:modified xsi:type="dcterms:W3CDTF">2026-04-23T15:28:00Z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0x0101004376CA047E588144AD3C6559A5B73BC3</vt:lpwstr>
  </property>
</Properties>
</file>