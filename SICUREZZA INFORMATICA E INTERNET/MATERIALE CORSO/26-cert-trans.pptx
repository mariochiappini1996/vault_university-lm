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679" r:id="rId2"/>
    <p:sldId id="717" r:id="rId3"/>
    <p:sldId id="718" r:id="rId4"/>
    <p:sldId id="719" r:id="rId5"/>
    <p:sldId id="720" r:id="rId6"/>
    <p:sldId id="721" r:id="rId7"/>
    <p:sldId id="256" r:id="rId8"/>
    <p:sldId id="707" r:id="rId9"/>
    <p:sldId id="708" r:id="rId10"/>
    <p:sldId id="709" r:id="rId11"/>
    <p:sldId id="710" r:id="rId12"/>
    <p:sldId id="711" r:id="rId13"/>
    <p:sldId id="712" r:id="rId14"/>
    <p:sldId id="713" r:id="rId15"/>
    <p:sldId id="876" r:id="rId16"/>
    <p:sldId id="714" r:id="rId17"/>
    <p:sldId id="715" r:id="rId18"/>
    <p:sldId id="716" r:id="rId19"/>
    <p:sldId id="705" r:id="rId20"/>
    <p:sldId id="704" r:id="rId21"/>
    <p:sldId id="692" r:id="rId22"/>
    <p:sldId id="693" r:id="rId23"/>
    <p:sldId id="691" r:id="rId24"/>
    <p:sldId id="694" r:id="rId25"/>
    <p:sldId id="695" r:id="rId26"/>
    <p:sldId id="697" r:id="rId27"/>
    <p:sldId id="696" r:id="rId28"/>
    <p:sldId id="875" r:id="rId29"/>
    <p:sldId id="699" r:id="rId30"/>
    <p:sldId id="872" r:id="rId31"/>
    <p:sldId id="873" r:id="rId3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8000"/>
    <a:srgbClr val="FFCC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122" autoAdjust="0"/>
  </p:normalViewPr>
  <p:slideViewPr>
    <p:cSldViewPr>
      <p:cViewPr varScale="1">
        <p:scale>
          <a:sx n="57" d="100"/>
          <a:sy n="57" d="100"/>
        </p:scale>
        <p:origin x="2103" y="27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defRPr/>
            </a:pPr>
            <a:fld id="{D40DAEC2-672B-4C89-85EC-6E159C55C312}" type="slidenum">
              <a:rPr lang="en-US" altLang="it-IT" sz="2500" smtClean="0">
                <a:latin typeface="Book Antiqua" pitchFamily="18" charset="0"/>
              </a:rPr>
              <a:pPr>
                <a:defRPr/>
              </a:pPr>
              <a:t>‹N›</a:t>
            </a:fld>
            <a:endParaRPr lang="en-US" altLang="it-IT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914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11272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4112A-CC0F-E1AE-37DA-469AE1B22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immagine diapositiva 1">
            <a:extLst>
              <a:ext uri="{FF2B5EF4-FFF2-40B4-BE49-F238E27FC236}">
                <a16:creationId xmlns:a16="http://schemas.microsoft.com/office/drawing/2014/main" id="{24AD944D-A161-C87F-A962-838194CBE0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Segnaposto note 2">
            <a:extLst>
              <a:ext uri="{FF2B5EF4-FFF2-40B4-BE49-F238E27FC236}">
                <a16:creationId xmlns:a16="http://schemas.microsoft.com/office/drawing/2014/main" id="{25BCB491-A36C-39FE-2BA6-46624C0BD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787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7882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18544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95101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70116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1639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44338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53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7442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9509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22484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57986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jp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jpg"/><Relationship Id="rId4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certificate.transparency.dev/logs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431800" y="2573338"/>
            <a:ext cx="8026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The failure of PKI </a:t>
            </a:r>
          </a:p>
          <a:p>
            <a:pPr marL="571500" indent="-571500" algn="ctr" eaLnBrk="0" hangingPunct="0">
              <a:buFont typeface="Wingdings" pitchFamily="2" charset="2"/>
              <a:buChar char="à"/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Certificate Transparency</a:t>
            </a: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algn="ctr" eaLnBrk="0" hangingPunct="0">
              <a:defRPr/>
            </a:pPr>
            <a:r>
              <a:rPr 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(with insights on hash based data</a:t>
            </a:r>
            <a:br>
              <a:rPr 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structures, specifically </a:t>
            </a:r>
            <a:r>
              <a:rPr lang="en-US" sz="32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Merkle</a:t>
            </a:r>
            <a:r>
              <a:rPr 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trees)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a VERY SERIOUS real world problem: fake certificates</a:t>
            </a:r>
          </a:p>
        </p:txBody>
      </p:sp>
    </p:spTree>
    <p:extLst>
      <p:ext uri="{BB962C8B-B14F-4D97-AF65-F5344CB8AC3E}">
        <p14:creationId xmlns:p14="http://schemas.microsoft.com/office/powerpoint/2010/main" val="12508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3508" y="225425"/>
            <a:ext cx="8820980" cy="649288"/>
          </a:xfrm>
        </p:spPr>
        <p:txBody>
          <a:bodyPr/>
          <a:lstStyle/>
          <a:p>
            <a:r>
              <a:rPr lang="it-IT" dirty="0"/>
              <a:t>Web security pillar: </a:t>
            </a:r>
            <a:br>
              <a:rPr lang="it-IT" dirty="0"/>
            </a:br>
            <a:r>
              <a:rPr lang="it-IT" dirty="0"/>
              <a:t>Certificate </a:t>
            </a:r>
            <a:r>
              <a:rPr lang="it-IT" dirty="0" err="1"/>
              <a:t>Authorities</a:t>
            </a:r>
            <a:r>
              <a:rPr lang="it-IT" dirty="0"/>
              <a:t> ARE </a:t>
            </a:r>
            <a:r>
              <a:rPr lang="it-IT" dirty="0" err="1"/>
              <a:t>trusted</a:t>
            </a:r>
            <a:r>
              <a:rPr lang="it-IT" dirty="0"/>
              <a:t>!</a:t>
            </a:r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650916"/>
            <a:ext cx="87788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2641451" y="4857291"/>
            <a:ext cx="3455988" cy="622300"/>
          </a:xfrm>
          <a:prstGeom prst="rightArrow">
            <a:avLst>
              <a:gd name="adj1" fmla="val 68463"/>
              <a:gd name="adj2" fmla="val 43297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https://www.google.it</a:t>
            </a: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auto">
          <a:xfrm flipH="1">
            <a:off x="2641451" y="5470066"/>
            <a:ext cx="3348038" cy="514350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CERTIFICATE(I </a:t>
            </a:r>
            <a:r>
              <a:rPr lang="it-IT" altLang="it-IT" sz="1800" dirty="0" err="1">
                <a:latin typeface="Arial Narrow" pitchFamily="34" charset="0"/>
              </a:rPr>
              <a:t>am</a:t>
            </a:r>
            <a:r>
              <a:rPr lang="it-IT" altLang="it-IT" sz="1800" dirty="0">
                <a:latin typeface="Arial Narrow" pitchFamily="34" charset="0"/>
              </a:rPr>
              <a:t> </a:t>
            </a:r>
            <a:r>
              <a:rPr lang="it-IT" altLang="it-IT" sz="1800" dirty="0" err="1">
                <a:latin typeface="Arial Narrow" pitchFamily="34" charset="0"/>
              </a:rPr>
              <a:t>google</a:t>
            </a:r>
            <a:r>
              <a:rPr lang="it-IT" altLang="it-IT" sz="1800" dirty="0">
                <a:latin typeface="Arial Narrow" pitchFamily="34" charset="0"/>
              </a:rPr>
              <a:t>)</a:t>
            </a:r>
            <a:r>
              <a:rPr lang="it-IT" altLang="it-IT" sz="1800" baseline="-25000" dirty="0">
                <a:latin typeface="Arial Narrow" pitchFamily="34" charset="0"/>
              </a:rPr>
              <a:t>LUNATRUST</a:t>
            </a:r>
          </a:p>
        </p:txBody>
      </p:sp>
      <p:graphicFrame>
        <p:nvGraphicFramePr>
          <p:cNvPr id="23" name="Oggetto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4860074"/>
              </p:ext>
            </p:extLst>
          </p:nvPr>
        </p:nvGraphicFramePr>
        <p:xfrm>
          <a:off x="6471986" y="2070870"/>
          <a:ext cx="1512540" cy="1731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ClipArt Gallery" r:id="rId3" imgW="2898000" imgH="4004280" progId="">
                  <p:embed/>
                </p:oleObj>
              </mc:Choice>
              <mc:Fallback>
                <p:oleObj name="Microsoft ClipArt Gallery" r:id="rId3" imgW="2898000" imgH="400428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1986" y="2070870"/>
                        <a:ext cx="1512540" cy="1731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asellaDiTesto 23"/>
          <p:cNvSpPr txBox="1"/>
          <p:nvPr/>
        </p:nvSpPr>
        <p:spPr>
          <a:xfrm>
            <a:off x="7659428" y="2319583"/>
            <a:ext cx="130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LUNATRUST</a:t>
            </a:r>
          </a:p>
        </p:txBody>
      </p:sp>
      <p:pic>
        <p:nvPicPr>
          <p:cNvPr id="25" name="Picture 3" descr="Screen shot 2012-06-04 at 6.35.54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666" y="2034136"/>
            <a:ext cx="112236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ight Arrow 5"/>
          <p:cNvSpPr/>
          <p:nvPr/>
        </p:nvSpPr>
        <p:spPr>
          <a:xfrm rot="5400000">
            <a:off x="6859629" y="3806349"/>
            <a:ext cx="724039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CasellaDiTesto 26"/>
          <p:cNvSpPr txBox="1"/>
          <p:nvPr/>
        </p:nvSpPr>
        <p:spPr>
          <a:xfrm>
            <a:off x="3496639" y="1664804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UNIVERSETRUST</a:t>
            </a:r>
          </a:p>
        </p:txBody>
      </p:sp>
      <p:sp>
        <p:nvSpPr>
          <p:cNvPr id="28" name="Right Arrow 5"/>
          <p:cNvSpPr/>
          <p:nvPr/>
        </p:nvSpPr>
        <p:spPr>
          <a:xfrm>
            <a:off x="5067830" y="2574926"/>
            <a:ext cx="1222375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Ovale 28"/>
          <p:cNvSpPr/>
          <p:nvPr/>
        </p:nvSpPr>
        <p:spPr bwMode="auto">
          <a:xfrm>
            <a:off x="6192862" y="4544256"/>
            <a:ext cx="2052228" cy="1693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30" name="Immagin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976" y="4714416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7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225425"/>
            <a:ext cx="9144000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Fact</a:t>
            </a:r>
            <a:r>
              <a:rPr lang="it-IT" dirty="0"/>
              <a:t>: </a:t>
            </a:r>
            <a:r>
              <a:rPr lang="it-IT" dirty="0" err="1"/>
              <a:t>trusted</a:t>
            </a:r>
            <a:r>
              <a:rPr lang="it-IT" dirty="0"/>
              <a:t> CA </a:t>
            </a:r>
            <a:r>
              <a:rPr lang="it-IT" dirty="0" err="1"/>
              <a:t>assumption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stake</a:t>
            </a:r>
            <a:r>
              <a:rPr lang="it-IT" dirty="0"/>
              <a:t> </a:t>
            </a:r>
          </a:p>
        </p:txBody>
      </p: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624205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484313"/>
            <a:ext cx="5902325" cy="480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8" y="1473200"/>
            <a:ext cx="5265737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5098431"/>
            <a:ext cx="4643437" cy="128605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575556" y="3573016"/>
            <a:ext cx="4504418" cy="1859930"/>
          </a:xfr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>
            <a:normAutofit fontScale="475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Google’s</a:t>
            </a:r>
            <a:r>
              <a:rPr lang="it-IT" dirty="0"/>
              <a:t> VALID </a:t>
            </a:r>
            <a:r>
              <a:rPr lang="it-IT" dirty="0" err="1"/>
              <a:t>fake</a:t>
            </a:r>
            <a:r>
              <a:rPr lang="it-IT" dirty="0"/>
              <a:t> </a:t>
            </a:r>
            <a:r>
              <a:rPr lang="it-IT" dirty="0" err="1"/>
              <a:t>Certificates</a:t>
            </a:r>
            <a:r>
              <a:rPr lang="it-IT" dirty="0"/>
              <a:t> </a:t>
            </a:r>
            <a:r>
              <a:rPr lang="it-IT" dirty="0" err="1"/>
              <a:t>mistakenly</a:t>
            </a:r>
            <a:r>
              <a:rPr lang="it-IT" dirty="0"/>
              <a:t> (?) </a:t>
            </a:r>
            <a:r>
              <a:rPr lang="it-IT" dirty="0" err="1"/>
              <a:t>issued</a:t>
            </a:r>
            <a:r>
              <a:rPr lang="it-IT" dirty="0"/>
              <a:t> </a:t>
            </a:r>
          </a:p>
          <a:p>
            <a:pPr lvl="1">
              <a:buFont typeface="Wingdings" charset="2"/>
              <a:buChar char="è"/>
              <a:defRPr/>
            </a:pPr>
            <a:r>
              <a:rPr lang="it-IT" dirty="0"/>
              <a:t>by </a:t>
            </a:r>
            <a:r>
              <a:rPr lang="it-IT" dirty="0" err="1"/>
              <a:t>TurkTrust</a:t>
            </a:r>
            <a:r>
              <a:rPr lang="it-IT" dirty="0"/>
              <a:t> (2012), ANSSI France (2013), </a:t>
            </a:r>
            <a:r>
              <a:rPr lang="it-IT" dirty="0" err="1"/>
              <a:t>etc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Smaller</a:t>
            </a:r>
            <a:r>
              <a:rPr lang="it-IT" dirty="0"/>
              <a:t> </a:t>
            </a:r>
            <a:r>
              <a:rPr lang="it-IT" dirty="0" err="1"/>
              <a:t>CAs</a:t>
            </a:r>
            <a:r>
              <a:rPr lang="it-IT" dirty="0"/>
              <a:t>: </a:t>
            </a:r>
            <a:r>
              <a:rPr lang="it-IT" dirty="0" err="1"/>
              <a:t>compromised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Holland</a:t>
            </a:r>
            <a:r>
              <a:rPr lang="it-IT" dirty="0"/>
              <a:t>: </a:t>
            </a:r>
            <a:r>
              <a:rPr lang="it-IT" dirty="0" err="1"/>
              <a:t>Dgnotar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Malaysia</a:t>
            </a:r>
            <a:r>
              <a:rPr lang="it-IT" dirty="0"/>
              <a:t>: </a:t>
            </a:r>
            <a:r>
              <a:rPr lang="it-IT" dirty="0" err="1"/>
              <a:t>DigiCert</a:t>
            </a:r>
            <a:r>
              <a:rPr lang="it-IT" dirty="0"/>
              <a:t> </a:t>
            </a:r>
            <a:r>
              <a:rPr lang="it-IT" dirty="0" err="1"/>
              <a:t>sdn</a:t>
            </a:r>
            <a:r>
              <a:rPr lang="it-IT" dirty="0"/>
              <a:t>. </a:t>
            </a:r>
            <a:r>
              <a:rPr lang="it-IT" dirty="0" err="1"/>
              <a:t>Bhd</a:t>
            </a:r>
            <a:r>
              <a:rPr lang="it-IT" dirty="0"/>
              <a:t>.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etc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endParaRPr lang="it-IT" dirty="0"/>
          </a:p>
          <a:p>
            <a:pPr lvl="1">
              <a:buFont typeface="Wingdings" charset="2"/>
              <a:buChar char="ð"/>
              <a:defRPr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940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A </a:t>
            </a:r>
            <a:r>
              <a:rPr lang="it-IT" dirty="0" err="1"/>
              <a:t>serious</a:t>
            </a:r>
            <a:r>
              <a:rPr lang="it-IT" dirty="0"/>
              <a:t> </a:t>
            </a:r>
            <a:r>
              <a:rPr lang="it-IT" dirty="0" err="1"/>
              <a:t>problem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498975"/>
          </a:xfrm>
        </p:spPr>
        <p:txBody>
          <a:bodyPr>
            <a:normAutofit fontScale="775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Fake</a:t>
            </a:r>
            <a:r>
              <a:rPr lang="it-IT" dirty="0"/>
              <a:t> VALID </a:t>
            </a:r>
            <a:r>
              <a:rPr lang="it-IT" dirty="0" err="1"/>
              <a:t>certificates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Variuous</a:t>
            </a:r>
            <a:r>
              <a:rPr lang="it-IT" dirty="0"/>
              <a:t> small/moderate CA «</a:t>
            </a:r>
            <a:r>
              <a:rPr lang="it-IT" dirty="0" err="1"/>
              <a:t>releasing</a:t>
            </a:r>
            <a:r>
              <a:rPr lang="it-IT" dirty="0"/>
              <a:t>» </a:t>
            </a:r>
            <a:r>
              <a:rPr lang="it-IT" dirty="0" err="1"/>
              <a:t>valid</a:t>
            </a:r>
            <a:r>
              <a:rPr lang="it-IT" dirty="0"/>
              <a:t> </a:t>
            </a:r>
            <a:r>
              <a:rPr lang="it-IT" dirty="0" err="1"/>
              <a:t>certificates</a:t>
            </a:r>
            <a:r>
              <a:rPr lang="it-IT" dirty="0"/>
              <a:t> for major </a:t>
            </a:r>
            <a:r>
              <a:rPr lang="it-IT" dirty="0" err="1"/>
              <a:t>sites</a:t>
            </a:r>
            <a:endParaRPr lang="it-IT" dirty="0"/>
          </a:p>
          <a:p>
            <a:pPr lvl="2">
              <a:buFont typeface="Wingdings" charset="2"/>
              <a:buChar char="à"/>
              <a:defRPr/>
            </a:pPr>
            <a:r>
              <a:rPr lang="it-IT" dirty="0" err="1"/>
              <a:t>Asked</a:t>
            </a:r>
            <a:r>
              <a:rPr lang="it-IT" dirty="0"/>
              <a:t> by </a:t>
            </a:r>
            <a:r>
              <a:rPr lang="it-IT" dirty="0" err="1"/>
              <a:t>governments</a:t>
            </a:r>
            <a:r>
              <a:rPr lang="it-IT" dirty="0"/>
              <a:t>? </a:t>
            </a:r>
            <a:r>
              <a:rPr lang="it-IT" dirty="0" err="1"/>
              <a:t>Mistakenly</a:t>
            </a:r>
            <a:r>
              <a:rPr lang="it-IT" dirty="0"/>
              <a:t>… </a:t>
            </a:r>
            <a:r>
              <a:rPr lang="it-IT" dirty="0" err="1"/>
              <a:t>lost</a:t>
            </a:r>
            <a:r>
              <a:rPr lang="it-IT" dirty="0"/>
              <a:t>?</a:t>
            </a:r>
          </a:p>
          <a:p>
            <a:pPr lvl="2">
              <a:buFont typeface="Wingdings" charset="2"/>
              <a:buChar char="à"/>
              <a:defRPr/>
            </a:pP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/>
              <a:t>google</a:t>
            </a:r>
            <a:r>
              <a:rPr lang="it-IT" dirty="0"/>
              <a:t> </a:t>
            </a:r>
            <a:r>
              <a:rPr lang="it-IT" dirty="0" err="1"/>
              <a:t>fake</a:t>
            </a:r>
            <a:r>
              <a:rPr lang="it-IT" dirty="0"/>
              <a:t> </a:t>
            </a:r>
            <a:r>
              <a:rPr lang="it-IT" dirty="0" err="1"/>
              <a:t>certificates</a:t>
            </a:r>
            <a:r>
              <a:rPr lang="it-IT" dirty="0"/>
              <a:t> </a:t>
            </a:r>
            <a:r>
              <a:rPr lang="it-IT" dirty="0" err="1"/>
              <a:t>issued</a:t>
            </a:r>
            <a:r>
              <a:rPr lang="it-IT" dirty="0"/>
              <a:t> by </a:t>
            </a:r>
          </a:p>
          <a:p>
            <a:pPr lvl="3">
              <a:defRPr/>
            </a:pPr>
            <a:r>
              <a:rPr lang="it-IT" dirty="0" err="1"/>
              <a:t>Turkey’s</a:t>
            </a:r>
            <a:r>
              <a:rPr lang="it-IT" dirty="0"/>
              <a:t> </a:t>
            </a:r>
            <a:r>
              <a:rPr lang="it-IT" dirty="0" err="1"/>
              <a:t>Turktrust</a:t>
            </a:r>
            <a:r>
              <a:rPr lang="it-IT" dirty="0"/>
              <a:t>, </a:t>
            </a:r>
            <a:r>
              <a:rPr lang="it-IT" dirty="0" err="1"/>
              <a:t>December</a:t>
            </a:r>
            <a:r>
              <a:rPr lang="it-IT" dirty="0"/>
              <a:t> 2012</a:t>
            </a:r>
          </a:p>
          <a:p>
            <a:pPr lvl="3">
              <a:defRPr/>
            </a:pPr>
            <a:r>
              <a:rPr lang="it-IT" dirty="0"/>
              <a:t>ANSSI in France on </a:t>
            </a:r>
            <a:r>
              <a:rPr lang="it-IT" dirty="0" err="1"/>
              <a:t>December</a:t>
            </a:r>
            <a:r>
              <a:rPr lang="it-IT" dirty="0"/>
              <a:t> 2013</a:t>
            </a:r>
          </a:p>
          <a:p>
            <a:pPr lvl="3">
              <a:defRPr/>
            </a:pPr>
            <a:r>
              <a:rPr lang="it-IT" dirty="0" err="1"/>
              <a:t>etc</a:t>
            </a:r>
            <a:r>
              <a:rPr lang="it-IT" dirty="0"/>
              <a:t> 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Conmpromised</a:t>
            </a:r>
            <a:r>
              <a:rPr lang="it-IT" dirty="0"/>
              <a:t> </a:t>
            </a:r>
            <a:r>
              <a:rPr lang="it-IT" dirty="0" err="1"/>
              <a:t>CAs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Holland</a:t>
            </a:r>
            <a:r>
              <a:rPr lang="it-IT" dirty="0"/>
              <a:t>: </a:t>
            </a:r>
            <a:r>
              <a:rPr lang="it-IT" dirty="0" err="1"/>
              <a:t>DGnotar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Malaysia</a:t>
            </a:r>
            <a:r>
              <a:rPr lang="it-IT" dirty="0"/>
              <a:t>: </a:t>
            </a:r>
            <a:r>
              <a:rPr lang="it-IT" dirty="0" err="1"/>
              <a:t>DigiCert</a:t>
            </a:r>
            <a:r>
              <a:rPr lang="it-IT" dirty="0"/>
              <a:t> </a:t>
            </a:r>
            <a:r>
              <a:rPr lang="it-IT" dirty="0" err="1"/>
              <a:t>sdn</a:t>
            </a:r>
            <a:r>
              <a:rPr lang="it-IT" dirty="0"/>
              <a:t>. </a:t>
            </a:r>
            <a:r>
              <a:rPr lang="it-IT" dirty="0" err="1"/>
              <a:t>Bhd</a:t>
            </a:r>
            <a:r>
              <a:rPr lang="it-IT" dirty="0"/>
              <a:t>.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etc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endParaRPr lang="it-IT" dirty="0"/>
          </a:p>
          <a:p>
            <a:pPr lvl="1">
              <a:buFont typeface="Wingdings" charset="2"/>
              <a:buChar char="ð"/>
              <a:defRPr/>
            </a:pPr>
            <a:endParaRPr lang="it-IT" dirty="0"/>
          </a:p>
        </p:txBody>
      </p:sp>
      <p:sp>
        <p:nvSpPr>
          <p:cNvPr id="4" name="CasellaDiTesto 3"/>
          <p:cNvSpPr txBox="1">
            <a:spLocks noChangeArrowheads="1"/>
          </p:cNvSpPr>
          <p:nvPr/>
        </p:nvSpPr>
        <p:spPr bwMode="auto">
          <a:xfrm>
            <a:off x="468313" y="5697538"/>
            <a:ext cx="86010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itchFamily="34" charset="0"/>
              </a:rPr>
              <a:t>With powerful threats (governments), and many players which can «make mistakes»</a:t>
            </a:r>
            <a:br>
              <a:rPr lang="it-IT" altLang="it-IT" sz="2000">
                <a:solidFill>
                  <a:srgbClr val="FF0000"/>
                </a:solidFill>
                <a:latin typeface="Arial Narrow" pitchFamily="34" charset="0"/>
              </a:rPr>
            </a:br>
            <a:r>
              <a:rPr lang="it-IT" altLang="it-IT" sz="2000">
                <a:solidFill>
                  <a:srgbClr val="FF0000"/>
                </a:solidFill>
                <a:latin typeface="Arial Narrow" pitchFamily="34" charset="0"/>
              </a:rPr>
              <a:t>the security of the PKI model is getting weaker and weaker</a:t>
            </a:r>
          </a:p>
        </p:txBody>
      </p:sp>
    </p:spTree>
    <p:extLst>
      <p:ext uri="{BB962C8B-B14F-4D97-AF65-F5344CB8AC3E}">
        <p14:creationId xmlns:p14="http://schemas.microsoft.com/office/powerpoint/2010/main" val="281633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3508" y="225425"/>
            <a:ext cx="8820980" cy="649288"/>
          </a:xfrm>
        </p:spPr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cope</a:t>
            </a:r>
            <a:r>
              <a:rPr lang="it-IT" dirty="0"/>
              <a:t> with </a:t>
            </a:r>
            <a:r>
              <a:rPr lang="it-IT" dirty="0" err="1"/>
              <a:t>malicious</a:t>
            </a:r>
            <a:r>
              <a:rPr lang="it-IT" dirty="0"/>
              <a:t> </a:t>
            </a:r>
            <a:r>
              <a:rPr lang="it-IT" dirty="0" err="1"/>
              <a:t>CAs</a:t>
            </a:r>
            <a:r>
              <a:rPr lang="it-IT" dirty="0"/>
              <a:t>?</a:t>
            </a:r>
            <a:br>
              <a:rPr lang="it-IT" dirty="0"/>
            </a:br>
            <a:r>
              <a:rPr lang="it-IT" sz="2400" dirty="0"/>
              <a:t>Idea: </a:t>
            </a:r>
            <a:r>
              <a:rPr lang="it-IT" sz="2400" dirty="0" err="1"/>
              <a:t>gigantic</a:t>
            </a:r>
            <a:r>
              <a:rPr lang="it-IT" sz="2400" dirty="0"/>
              <a:t> </a:t>
            </a:r>
            <a:r>
              <a:rPr lang="it-IT" sz="2400" dirty="0" err="1"/>
              <a:t>worldwide</a:t>
            </a:r>
            <a:r>
              <a:rPr lang="it-IT" sz="2400" dirty="0"/>
              <a:t> DB </a:t>
            </a:r>
            <a:r>
              <a:rPr lang="it-IT" sz="2400" dirty="0" err="1"/>
              <a:t>which</a:t>
            </a:r>
            <a:r>
              <a:rPr lang="it-IT" sz="2400" dirty="0"/>
              <a:t> </a:t>
            </a:r>
            <a:r>
              <a:rPr lang="it-IT" sz="2400" dirty="0" err="1"/>
              <a:t>anyone</a:t>
            </a:r>
            <a:r>
              <a:rPr lang="it-IT" sz="2400" dirty="0"/>
              <a:t> can </a:t>
            </a:r>
            <a:r>
              <a:rPr lang="it-IT" sz="2400" dirty="0" err="1"/>
              <a:t>check</a:t>
            </a:r>
            <a:r>
              <a:rPr lang="it-IT" sz="2400" dirty="0"/>
              <a:t>! </a:t>
            </a:r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244" y="4662356"/>
            <a:ext cx="1036516" cy="1502948"/>
          </a:xfrm>
          <a:prstGeom prst="rect">
            <a:avLst/>
          </a:prstGeom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650916"/>
            <a:ext cx="87788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2641451" y="4857291"/>
            <a:ext cx="3455988" cy="622300"/>
          </a:xfrm>
          <a:prstGeom prst="rightArrow">
            <a:avLst>
              <a:gd name="adj1" fmla="val 68463"/>
              <a:gd name="adj2" fmla="val 43297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https://www.google.it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auto">
          <a:xfrm flipH="1">
            <a:off x="2641451" y="5470066"/>
            <a:ext cx="3348038" cy="514350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CERTIFICATE(I </a:t>
            </a:r>
            <a:r>
              <a:rPr lang="it-IT" altLang="it-IT" sz="1800" dirty="0" err="1">
                <a:latin typeface="Arial Narrow" pitchFamily="34" charset="0"/>
              </a:rPr>
              <a:t>am</a:t>
            </a:r>
            <a:r>
              <a:rPr lang="it-IT" altLang="it-IT" sz="1800" dirty="0">
                <a:latin typeface="Arial Narrow" pitchFamily="34" charset="0"/>
              </a:rPr>
              <a:t> </a:t>
            </a:r>
            <a:r>
              <a:rPr lang="it-IT" altLang="it-IT" sz="1800" dirty="0" err="1">
                <a:latin typeface="Arial Narrow" pitchFamily="34" charset="0"/>
              </a:rPr>
              <a:t>google</a:t>
            </a:r>
            <a:r>
              <a:rPr lang="it-IT" altLang="it-IT" sz="1800" dirty="0">
                <a:latin typeface="Arial Narrow" pitchFamily="34" charset="0"/>
              </a:rPr>
              <a:t>)</a:t>
            </a:r>
            <a:r>
              <a:rPr lang="it-IT" altLang="it-IT" sz="1800" baseline="-25000" dirty="0">
                <a:latin typeface="Arial Narrow" pitchFamily="34" charset="0"/>
              </a:rPr>
              <a:t>LUNATRUST</a:t>
            </a:r>
          </a:p>
        </p:txBody>
      </p:sp>
      <p:sp>
        <p:nvSpPr>
          <p:cNvPr id="19" name="Ovale 18"/>
          <p:cNvSpPr/>
          <p:nvPr/>
        </p:nvSpPr>
        <p:spPr bwMode="auto">
          <a:xfrm>
            <a:off x="6192862" y="4544256"/>
            <a:ext cx="2052228" cy="1693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7766758" y="2319583"/>
            <a:ext cx="130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LUNATRUST</a:t>
            </a:r>
          </a:p>
        </p:txBody>
      </p:sp>
      <p:pic>
        <p:nvPicPr>
          <p:cNvPr id="21" name="Picture 3" descr="Screen shot 2012-06-04 at 6.35.54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666" y="2034136"/>
            <a:ext cx="112236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ight Arrow 5"/>
          <p:cNvSpPr/>
          <p:nvPr/>
        </p:nvSpPr>
        <p:spPr>
          <a:xfrm rot="5400000">
            <a:off x="6859629" y="3806349"/>
            <a:ext cx="724039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CasellaDiTesto 22"/>
          <p:cNvSpPr txBox="1"/>
          <p:nvPr/>
        </p:nvSpPr>
        <p:spPr>
          <a:xfrm>
            <a:off x="3496639" y="1664804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UNIVERSETRUST</a:t>
            </a:r>
          </a:p>
        </p:txBody>
      </p:sp>
      <p:sp>
        <p:nvSpPr>
          <p:cNvPr id="24" name="Right Arrow 5"/>
          <p:cNvSpPr/>
          <p:nvPr/>
        </p:nvSpPr>
        <p:spPr>
          <a:xfrm>
            <a:off x="5067830" y="2574926"/>
            <a:ext cx="1222375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5" name="Immagin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934" y="1849470"/>
            <a:ext cx="1162050" cy="1746250"/>
          </a:xfrm>
          <a:prstGeom prst="rect">
            <a:avLst/>
          </a:prstGeom>
        </p:spPr>
      </p:pic>
      <p:pic>
        <p:nvPicPr>
          <p:cNvPr id="26" name="Immagin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8" y="2600908"/>
            <a:ext cx="1270000" cy="1270000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 bwMode="auto">
          <a:xfrm rot="16200000">
            <a:off x="4045660" y="3730748"/>
            <a:ext cx="4761820" cy="107291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7" name="Disco magnetico 26"/>
          <p:cNvSpPr/>
          <p:nvPr/>
        </p:nvSpPr>
        <p:spPr bwMode="auto">
          <a:xfrm>
            <a:off x="395536" y="1403484"/>
            <a:ext cx="2916324" cy="837384"/>
          </a:xfrm>
          <a:prstGeom prst="flowChartMagneticDisk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Certificate </a:t>
            </a:r>
            <a:r>
              <a:rPr kumimoji="0" 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Transparency</a:t>
            </a: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DB</a:t>
            </a:r>
          </a:p>
        </p:txBody>
      </p:sp>
      <p:sp>
        <p:nvSpPr>
          <p:cNvPr id="28" name="Freccia bidirezionale verticale 27"/>
          <p:cNvSpPr/>
          <p:nvPr/>
        </p:nvSpPr>
        <p:spPr bwMode="auto">
          <a:xfrm>
            <a:off x="688316" y="2337137"/>
            <a:ext cx="391296" cy="654507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9" name="Freccia bidirezionale verticale 28"/>
          <p:cNvSpPr/>
          <p:nvPr/>
        </p:nvSpPr>
        <p:spPr bwMode="auto">
          <a:xfrm>
            <a:off x="1755669" y="2351122"/>
            <a:ext cx="368059" cy="2311234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0" name="Freccia bidirezionale verticale 29"/>
          <p:cNvSpPr/>
          <p:nvPr/>
        </p:nvSpPr>
        <p:spPr bwMode="auto">
          <a:xfrm rot="18931038">
            <a:off x="2813858" y="2181285"/>
            <a:ext cx="368059" cy="1048831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1439652" y="5625244"/>
            <a:ext cx="1298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/>
              <a:t>Fake</a:t>
            </a:r>
            <a:r>
              <a:rPr lang="it-IT" sz="3600" b="1" dirty="0"/>
              <a:t>!!</a:t>
            </a:r>
          </a:p>
        </p:txBody>
      </p:sp>
      <p:sp>
        <p:nvSpPr>
          <p:cNvPr id="32" name="CasellaDiTesto 31"/>
          <p:cNvSpPr txBox="1"/>
          <p:nvPr/>
        </p:nvSpPr>
        <p:spPr>
          <a:xfrm>
            <a:off x="64580" y="3392996"/>
            <a:ext cx="175400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 err="1"/>
              <a:t>They</a:t>
            </a:r>
            <a:r>
              <a:rPr lang="it-IT" sz="3200" b="1" dirty="0"/>
              <a:t> are </a:t>
            </a:r>
            <a:br>
              <a:rPr lang="it-IT" sz="3200" b="1" dirty="0"/>
            </a:br>
            <a:r>
              <a:rPr lang="it-IT" sz="3200" b="1" dirty="0" err="1"/>
              <a:t>using</a:t>
            </a:r>
            <a:r>
              <a:rPr lang="it-IT" sz="3200" b="1" dirty="0"/>
              <a:t> </a:t>
            </a:r>
            <a:r>
              <a:rPr lang="it-IT" sz="3200" b="1" dirty="0" err="1"/>
              <a:t>my</a:t>
            </a:r>
            <a:r>
              <a:rPr lang="it-IT" sz="3200" b="1" dirty="0"/>
              <a:t> </a:t>
            </a:r>
            <a:br>
              <a:rPr lang="it-IT" sz="3200" b="1" dirty="0"/>
            </a:br>
            <a:r>
              <a:rPr lang="it-IT" sz="3200" b="1" dirty="0" err="1"/>
              <a:t>name</a:t>
            </a:r>
            <a:r>
              <a:rPr lang="it-IT" sz="32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5725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How to implement such gigantic Database of certificates?</a:t>
            </a:r>
          </a:p>
          <a:p>
            <a:pPr algn="ctr" eaLnBrk="0" hangingPunct="0">
              <a:defRPr/>
            </a:pP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algn="ctr" eaLnBrk="0" hangingPunct="0">
              <a:defRPr/>
            </a:pP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A </a:t>
            </a:r>
            <a:r>
              <a:rPr lang="en-US" sz="36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parethesis</a:t>
            </a: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: </a:t>
            </a:r>
            <a:r>
              <a:rPr lang="en-US" sz="36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Merkle</a:t>
            </a: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Trees</a:t>
            </a:r>
            <a:endParaRPr lang="en-US" sz="24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/>
          <p:cNvSpPr/>
          <p:nvPr/>
        </p:nvSpPr>
        <p:spPr bwMode="auto">
          <a:xfrm>
            <a:off x="1591418" y="5642608"/>
            <a:ext cx="1072370" cy="525109"/>
          </a:xfrm>
          <a:prstGeom prst="rect">
            <a:avLst/>
          </a:prstGeom>
          <a:pattFill prst="lgCheck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secure</a:t>
            </a:r>
            <a:r>
              <a:rPr lang="it-IT" dirty="0"/>
              <a:t> a file</a:t>
            </a:r>
            <a:br>
              <a:rPr lang="it-IT" dirty="0"/>
            </a:br>
            <a:r>
              <a:rPr lang="it-IT" sz="2000" dirty="0"/>
              <a:t>(</a:t>
            </a:r>
            <a:r>
              <a:rPr lang="it-IT" sz="2000" dirty="0" err="1"/>
              <a:t>when</a:t>
            </a:r>
            <a:r>
              <a:rPr lang="it-IT" sz="2000" dirty="0"/>
              <a:t> </a:t>
            </a:r>
            <a:r>
              <a:rPr lang="it-IT" sz="2000" dirty="0" err="1"/>
              <a:t>you</a:t>
            </a:r>
            <a:r>
              <a:rPr lang="it-IT" sz="2000" dirty="0"/>
              <a:t> </a:t>
            </a:r>
            <a:r>
              <a:rPr lang="it-IT" sz="2000" dirty="0" err="1"/>
              <a:t>don’t</a:t>
            </a:r>
            <a:r>
              <a:rPr lang="it-IT" sz="2000" dirty="0"/>
              <a:t> </a:t>
            </a:r>
            <a:r>
              <a:rPr lang="it-IT" sz="2000" dirty="0" err="1"/>
              <a:t>have</a:t>
            </a:r>
            <a:r>
              <a:rPr lang="it-IT" sz="2000" dirty="0"/>
              <a:t> a large </a:t>
            </a:r>
            <a:r>
              <a:rPr lang="it-IT" sz="2000" dirty="0" err="1"/>
              <a:t>secure</a:t>
            </a:r>
            <a:r>
              <a:rPr lang="it-IT" sz="2000" dirty="0"/>
              <a:t> </a:t>
            </a:r>
            <a:r>
              <a:rPr lang="it-IT" sz="2000" dirty="0" err="1"/>
              <a:t>storage</a:t>
            </a:r>
            <a:r>
              <a:rPr lang="it-IT" sz="2000" dirty="0"/>
              <a:t> </a:t>
            </a:r>
            <a:r>
              <a:rPr lang="it-IT" sz="2000" dirty="0" err="1"/>
              <a:t>available</a:t>
            </a:r>
            <a:r>
              <a:rPr lang="it-IT" sz="2000" dirty="0"/>
              <a:t>)</a:t>
            </a:r>
            <a:endParaRPr lang="it-IT" dirty="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691318" y="1124744"/>
            <a:ext cx="900100" cy="3276364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>
                <a:latin typeface="Arial Narrow" pitchFamily="34" charset="0"/>
              </a:rPr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>
                <a:latin typeface="Arial Narrow" pitchFamily="34" charset="0"/>
              </a:rPr>
              <a:t> </a:t>
            </a:r>
            <a:br>
              <a:rPr lang="it-IT" altLang="it-IT" sz="2000" dirty="0">
                <a:latin typeface="Arial Narrow" pitchFamily="34" charset="0"/>
              </a:rPr>
            </a:br>
            <a:r>
              <a:rPr lang="it-IT" altLang="it-IT" sz="1400" dirty="0">
                <a:latin typeface="Arial Narrow" pitchFamily="34" charset="0"/>
              </a:rPr>
              <a:t>long msg!</a:t>
            </a:r>
            <a:endParaRPr lang="it-IT" altLang="it-IT" sz="1800" dirty="0">
              <a:latin typeface="Arial Narrow" pitchFamily="34" charset="0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78605" y="4755046"/>
            <a:ext cx="912813" cy="33013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</a:t>
            </a:r>
            <a:r>
              <a:rPr lang="it-IT" altLang="it-IT" sz="1400" dirty="0">
                <a:latin typeface="Arial Narrow" pitchFamily="34" charset="0"/>
              </a:rPr>
              <a:t>(FILE)</a:t>
            </a:r>
          </a:p>
        </p:txBody>
      </p:sp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1943708" y="1268761"/>
            <a:ext cx="7092788" cy="342038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en-US" dirty="0"/>
              <a:t>Step 1: make “fingerprint” of the file</a:t>
            </a:r>
          </a:p>
          <a:p>
            <a:pPr lvl="1" eaLnBrk="1" hangingPunct="1">
              <a:defRPr/>
            </a:pPr>
            <a:r>
              <a:rPr lang="en-US" dirty="0"/>
              <a:t>Via a cryptographic hash function</a:t>
            </a:r>
          </a:p>
          <a:p>
            <a:pPr lvl="1" eaLnBrk="1" hangingPunct="1">
              <a:defRPr/>
            </a:pPr>
            <a:r>
              <a:rPr lang="en-US" dirty="0"/>
              <a:t>large file </a:t>
            </a:r>
            <a:r>
              <a:rPr lang="en-US" dirty="0">
                <a:sym typeface="Wingdings" panose="05000000000000000000" pitchFamily="2" charset="2"/>
              </a:rPr>
              <a:t> small fingerprint! </a:t>
            </a: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Step 2: “secure” the fingerprint!</a:t>
            </a:r>
          </a:p>
          <a:p>
            <a:pPr lvl="1" eaLnBrk="1" hangingPunct="1">
              <a:defRPr/>
            </a:pPr>
            <a:r>
              <a:rPr lang="en-US" dirty="0"/>
              <a:t>By copying it in a secure storage</a:t>
            </a:r>
          </a:p>
          <a:p>
            <a:pPr lvl="1" eaLnBrk="1" hangingPunct="1">
              <a:defRPr/>
            </a:pPr>
            <a:r>
              <a:rPr lang="en-US" dirty="0"/>
              <a:t>… or…</a:t>
            </a:r>
          </a:p>
          <a:p>
            <a:pPr lvl="1" eaLnBrk="1" hangingPunct="1">
              <a:defRPr/>
            </a:pPr>
            <a:r>
              <a:rPr lang="en-US" dirty="0"/>
              <a:t>By digitally signing the hash fingerprint</a:t>
            </a:r>
          </a:p>
        </p:txBody>
      </p:sp>
      <p:pic>
        <p:nvPicPr>
          <p:cNvPr id="8" name="Picture 2" descr="Risultati immagini per USB pen with l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" y="5318212"/>
            <a:ext cx="1027113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reccia in giù 8"/>
          <p:cNvSpPr/>
          <p:nvPr/>
        </p:nvSpPr>
        <p:spPr bwMode="auto">
          <a:xfrm>
            <a:off x="540945" y="4473358"/>
            <a:ext cx="1188132" cy="215782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cxnSp>
        <p:nvCxnSpPr>
          <p:cNvPr id="12" name="Connettore 2 11"/>
          <p:cNvCxnSpPr/>
          <p:nvPr/>
        </p:nvCxnSpPr>
        <p:spPr bwMode="auto">
          <a:xfrm flipH="1">
            <a:off x="727322" y="5121188"/>
            <a:ext cx="288032" cy="474154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508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</p:cxn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619310" y="5640195"/>
            <a:ext cx="456407" cy="16506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050" dirty="0">
                <a:latin typeface="Arial Narrow" pitchFamily="34" charset="0"/>
              </a:rPr>
              <a:t>H</a:t>
            </a:r>
            <a:r>
              <a:rPr lang="it-IT" altLang="it-IT" sz="900" dirty="0">
                <a:latin typeface="Arial Narrow" pitchFamily="34" charset="0"/>
              </a:rPr>
              <a:t>(FILE)</a:t>
            </a:r>
          </a:p>
        </p:txBody>
      </p:sp>
      <p:cxnSp>
        <p:nvCxnSpPr>
          <p:cNvPr id="14" name="Connettore 2 13"/>
          <p:cNvCxnSpPr/>
          <p:nvPr/>
        </p:nvCxnSpPr>
        <p:spPr bwMode="auto">
          <a:xfrm>
            <a:off x="1447402" y="5157192"/>
            <a:ext cx="288032" cy="474154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508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</p:cxn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650713" y="5697252"/>
            <a:ext cx="912813" cy="33013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</a:t>
            </a:r>
            <a:r>
              <a:rPr lang="it-IT" altLang="it-IT" sz="1400" dirty="0">
                <a:latin typeface="Arial Narrow" pitchFamily="34" charset="0"/>
              </a:rPr>
              <a:t>(FILE)</a:t>
            </a:r>
          </a:p>
        </p:txBody>
      </p:sp>
    </p:spTree>
    <p:extLst>
      <p:ext uri="{BB962C8B-B14F-4D97-AF65-F5344CB8AC3E}">
        <p14:creationId xmlns:p14="http://schemas.microsoft.com/office/powerpoint/2010/main" val="136125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5" grpId="0" animBg="1"/>
      <p:bldP spid="7" grpId="0" build="p"/>
      <p:bldP spid="9" grpId="0" animBg="1"/>
      <p:bldP spid="13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225425"/>
            <a:ext cx="8676964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«</a:t>
            </a:r>
            <a:r>
              <a:rPr lang="it-IT" dirty="0" err="1"/>
              <a:t>chunked</a:t>
            </a:r>
            <a:r>
              <a:rPr lang="it-IT" dirty="0"/>
              <a:t>» </a:t>
            </a:r>
            <a:r>
              <a:rPr lang="it-IT" dirty="0" err="1"/>
              <a:t>messages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2041525"/>
            <a:ext cx="8026660" cy="4054475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defRPr/>
            </a:pPr>
            <a:r>
              <a:rPr lang="en-US" dirty="0"/>
              <a:t>Peer-to-peer delivery</a:t>
            </a:r>
          </a:p>
          <a:p>
            <a:pPr lvl="1" eaLnBrk="1" hangingPunct="1">
              <a:defRPr/>
            </a:pPr>
            <a:r>
              <a:rPr lang="en-US" dirty="0"/>
              <a:t>Message divided into independent chunks</a:t>
            </a:r>
          </a:p>
          <a:p>
            <a:pPr lvl="1" eaLnBrk="1" hangingPunct="1">
              <a:defRPr/>
            </a:pPr>
            <a:r>
              <a:rPr lang="en-US" dirty="0"/>
              <a:t>Frequently received out of order, and from distinct peers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Signature verification: needs to wait until COMPLETE message reconstruction</a:t>
            </a:r>
          </a:p>
          <a:p>
            <a:pPr lvl="1" eaLnBrk="1" hangingPunct="1">
              <a:defRPr/>
            </a:pPr>
            <a:r>
              <a:rPr lang="en-US" dirty="0"/>
              <a:t>But what about fake injected chunks?</a:t>
            </a:r>
          </a:p>
        </p:txBody>
      </p:sp>
      <p:sp>
        <p:nvSpPr>
          <p:cNvPr id="15364" name="Rectangle 9"/>
          <p:cNvSpPr>
            <a:spLocks noChangeArrowheads="1"/>
          </p:cNvSpPr>
          <p:nvPr/>
        </p:nvSpPr>
        <p:spPr bwMode="auto">
          <a:xfrm>
            <a:off x="971550" y="1384300"/>
            <a:ext cx="5499100" cy="4429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VERY LONG MESSAGE</a:t>
            </a:r>
          </a:p>
        </p:txBody>
      </p:sp>
      <p:sp>
        <p:nvSpPr>
          <p:cNvPr id="15365" name="Rectangle 9"/>
          <p:cNvSpPr>
            <a:spLocks noChangeArrowheads="1"/>
          </p:cNvSpPr>
          <p:nvPr/>
        </p:nvSpPr>
        <p:spPr bwMode="auto">
          <a:xfrm>
            <a:off x="6470650" y="1384300"/>
            <a:ext cx="912813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SIGNATURE</a:t>
            </a:r>
          </a:p>
        </p:txBody>
      </p:sp>
      <p:sp>
        <p:nvSpPr>
          <p:cNvPr id="3078" name="Rectangle 9"/>
          <p:cNvSpPr>
            <a:spLocks noChangeArrowheads="1"/>
          </p:cNvSpPr>
          <p:nvPr/>
        </p:nvSpPr>
        <p:spPr bwMode="auto">
          <a:xfrm>
            <a:off x="971550" y="3737409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1</a:t>
            </a:r>
          </a:p>
        </p:txBody>
      </p:sp>
      <p:sp>
        <p:nvSpPr>
          <p:cNvPr id="3079" name="Rectangle 9"/>
          <p:cNvSpPr>
            <a:spLocks noChangeArrowheads="1"/>
          </p:cNvSpPr>
          <p:nvPr/>
        </p:nvSpPr>
        <p:spPr bwMode="auto">
          <a:xfrm>
            <a:off x="2139950" y="3737409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2</a:t>
            </a:r>
          </a:p>
        </p:txBody>
      </p:sp>
      <p:sp>
        <p:nvSpPr>
          <p:cNvPr id="3080" name="Rectangle 9"/>
          <p:cNvSpPr>
            <a:spLocks noChangeArrowheads="1"/>
          </p:cNvSpPr>
          <p:nvPr/>
        </p:nvSpPr>
        <p:spPr bwMode="auto">
          <a:xfrm>
            <a:off x="3308350" y="3742171"/>
            <a:ext cx="1154113" cy="4429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3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4476750" y="3742171"/>
            <a:ext cx="1154113" cy="4429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4</a:t>
            </a:r>
          </a:p>
        </p:txBody>
      </p:sp>
      <p:sp>
        <p:nvSpPr>
          <p:cNvPr id="3082" name="Rectangle 9"/>
          <p:cNvSpPr>
            <a:spLocks noChangeArrowheads="1"/>
          </p:cNvSpPr>
          <p:nvPr/>
        </p:nvSpPr>
        <p:spPr bwMode="auto">
          <a:xfrm>
            <a:off x="6156325" y="3737409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N</a:t>
            </a:r>
          </a:p>
        </p:txBody>
      </p:sp>
      <p:sp>
        <p:nvSpPr>
          <p:cNvPr id="3083" name="CasellaDiTesto 11"/>
          <p:cNvSpPr txBox="1">
            <a:spLocks noChangeArrowheads="1"/>
          </p:cNvSpPr>
          <p:nvPr/>
        </p:nvSpPr>
        <p:spPr bwMode="auto">
          <a:xfrm>
            <a:off x="5630863" y="3559609"/>
            <a:ext cx="520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b="0">
                <a:latin typeface="Arial Narrow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515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078" grpId="0" animBg="1"/>
      <p:bldP spid="3079" grpId="0" animBg="1"/>
      <p:bldP spid="3080" grpId="0" animBg="1"/>
      <p:bldP spid="3081" grpId="0" animBg="1"/>
      <p:bldP spid="3082" grpId="0" animBg="1"/>
      <p:bldP spid="30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225425"/>
            <a:ext cx="8676964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«</a:t>
            </a:r>
            <a:r>
              <a:rPr lang="it-IT" dirty="0" err="1"/>
              <a:t>partial</a:t>
            </a:r>
            <a:r>
              <a:rPr lang="it-IT" dirty="0"/>
              <a:t>» </a:t>
            </a:r>
            <a:r>
              <a:rPr lang="it-IT" dirty="0" err="1"/>
              <a:t>verification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56220" y="4509120"/>
            <a:ext cx="7552184" cy="756084"/>
          </a:xfrm>
        </p:spPr>
        <p:txBody>
          <a:bodyPr>
            <a:normAutofit fontScale="85000" lnSpcReduction="20000"/>
          </a:bodyPr>
          <a:lstStyle/>
          <a:p>
            <a:pPr marL="0" indent="0" eaLnBrk="1" hangingPunct="1">
              <a:buNone/>
              <a:defRPr/>
            </a:pPr>
            <a:r>
              <a:rPr lang="en-US" dirty="0"/>
              <a:t>Signature verification: </a:t>
            </a:r>
            <a:br>
              <a:rPr lang="en-US" dirty="0"/>
            </a:br>
            <a:r>
              <a:rPr lang="en-US" dirty="0"/>
              <a:t>need to retrieve the whole database??</a:t>
            </a:r>
          </a:p>
        </p:txBody>
      </p:sp>
      <p:sp>
        <p:nvSpPr>
          <p:cNvPr id="15364" name="Rectangle 9"/>
          <p:cNvSpPr>
            <a:spLocks noChangeArrowheads="1"/>
          </p:cNvSpPr>
          <p:nvPr/>
        </p:nvSpPr>
        <p:spPr bwMode="auto">
          <a:xfrm>
            <a:off x="971550" y="1384300"/>
            <a:ext cx="5499100" cy="4429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VERY LONG MESSAGE / DB</a:t>
            </a:r>
          </a:p>
        </p:txBody>
      </p:sp>
      <p:sp>
        <p:nvSpPr>
          <p:cNvPr id="15365" name="Rectangle 9"/>
          <p:cNvSpPr>
            <a:spLocks noChangeArrowheads="1"/>
          </p:cNvSpPr>
          <p:nvPr/>
        </p:nvSpPr>
        <p:spPr bwMode="auto">
          <a:xfrm>
            <a:off x="6470650" y="1384300"/>
            <a:ext cx="912813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SIGNATURE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971600" y="2338015"/>
            <a:ext cx="5499100" cy="4429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400" dirty="0">
              <a:latin typeface="Arial Narrow" pitchFamily="34" charset="0"/>
            </a:endParaRP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6470700" y="2338015"/>
            <a:ext cx="912813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SIGNATURE</a:t>
            </a:r>
          </a:p>
        </p:txBody>
      </p:sp>
      <p:sp>
        <p:nvSpPr>
          <p:cNvPr id="3078" name="Rectangle 9"/>
          <p:cNvSpPr>
            <a:spLocks noChangeArrowheads="1"/>
          </p:cNvSpPr>
          <p:nvPr/>
        </p:nvSpPr>
        <p:spPr bwMode="auto">
          <a:xfrm>
            <a:off x="971600" y="2338016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Part A</a:t>
            </a: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2123728" y="2338016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Part B</a:t>
            </a: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4463988" y="2338016"/>
            <a:ext cx="1154113" cy="4429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Part GB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3635896" y="2204864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…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5820574" y="2204864"/>
            <a:ext cx="479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…</a:t>
            </a:r>
          </a:p>
        </p:txBody>
      </p:sp>
      <p:cxnSp>
        <p:nvCxnSpPr>
          <p:cNvPr id="8" name="Connettore 1 7"/>
          <p:cNvCxnSpPr/>
          <p:nvPr/>
        </p:nvCxnSpPr>
        <p:spPr bwMode="auto">
          <a:xfrm flipH="1">
            <a:off x="3815916" y="2780928"/>
            <a:ext cx="648072" cy="504056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" name="Connettore 1 9"/>
          <p:cNvCxnSpPr/>
          <p:nvPr/>
        </p:nvCxnSpPr>
        <p:spPr bwMode="auto">
          <a:xfrm flipV="1">
            <a:off x="3815916" y="3284984"/>
            <a:ext cx="0" cy="324036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" name="Connettore 1 25"/>
          <p:cNvCxnSpPr/>
          <p:nvPr/>
        </p:nvCxnSpPr>
        <p:spPr bwMode="auto">
          <a:xfrm>
            <a:off x="5616116" y="2780928"/>
            <a:ext cx="648072" cy="504056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" name="Connettore 1 26"/>
          <p:cNvCxnSpPr/>
          <p:nvPr/>
        </p:nvCxnSpPr>
        <p:spPr bwMode="auto">
          <a:xfrm flipH="1" flipV="1">
            <a:off x="6264188" y="3284984"/>
            <a:ext cx="0" cy="324036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CasellaDiTesto 11"/>
          <p:cNvSpPr txBox="1"/>
          <p:nvPr/>
        </p:nvSpPr>
        <p:spPr>
          <a:xfrm>
            <a:off x="3995936" y="3284984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Only</a:t>
            </a:r>
            <a:r>
              <a:rPr lang="it-IT" dirty="0"/>
              <a:t> part to be </a:t>
            </a:r>
            <a:r>
              <a:rPr lang="it-IT" dirty="0" err="1"/>
              <a:t>verified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715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3078" grpId="0" animBg="1"/>
      <p:bldP spid="17" grpId="0" animBg="1"/>
      <p:bldP spid="18" grpId="0" animBg="1"/>
      <p:bldP spid="6" grpId="0"/>
      <p:bldP spid="2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225425"/>
            <a:ext cx="8676964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Per-</a:t>
            </a:r>
            <a:r>
              <a:rPr lang="it-IT" dirty="0" err="1"/>
              <a:t>chunk</a:t>
            </a:r>
            <a:r>
              <a:rPr lang="it-IT" dirty="0"/>
              <a:t> </a:t>
            </a:r>
            <a:r>
              <a:rPr lang="it-IT" dirty="0" err="1"/>
              <a:t>signatures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68388" y="1520788"/>
            <a:ext cx="8496944" cy="3312368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defRPr/>
            </a:pPr>
            <a:r>
              <a:rPr lang="en-US" dirty="0"/>
              <a:t>OK but…</a:t>
            </a:r>
          </a:p>
          <a:p>
            <a:pPr lvl="4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Computational overhead </a:t>
            </a:r>
          </a:p>
          <a:p>
            <a:pPr lvl="1" eaLnBrk="1" hangingPunct="1">
              <a:defRPr/>
            </a:pPr>
            <a:r>
              <a:rPr lang="en-US" dirty="0"/>
              <a:t>Signature = </a:t>
            </a:r>
            <a:r>
              <a:rPr lang="en-US" dirty="0" err="1"/>
              <a:t>anymmetric</a:t>
            </a:r>
            <a:r>
              <a:rPr lang="en-US" dirty="0"/>
              <a:t> crypto = o(1000+) x hash computation cost</a:t>
            </a:r>
          </a:p>
          <a:p>
            <a:pPr lvl="5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Storage overhead</a:t>
            </a:r>
          </a:p>
          <a:p>
            <a:pPr lvl="1" eaLnBrk="1" hangingPunct="1">
              <a:defRPr/>
            </a:pPr>
            <a:r>
              <a:rPr lang="en-US" dirty="0"/>
              <a:t>RSA2048 = 256 bytes</a:t>
            </a:r>
          </a:p>
          <a:p>
            <a:pPr lvl="1" eaLnBrk="1" hangingPunct="1">
              <a:defRPr/>
            </a:pPr>
            <a:r>
              <a:rPr lang="en-US" dirty="0"/>
              <a:t>Bitcoin’s ECDSA256 = 2 x 256 bit = 64 bytes</a:t>
            </a:r>
          </a:p>
          <a:p>
            <a:pPr lvl="2" eaLnBrk="1" hangingPunct="1">
              <a:defRPr/>
            </a:pPr>
            <a:r>
              <a:rPr lang="en-US" dirty="0"/>
              <a:t>still quite a lot f you need MANY of them (small chunks)</a:t>
            </a:r>
          </a:p>
          <a:p>
            <a:pPr lvl="5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No more integrity check for whole file (strip-type attacks)</a:t>
            </a:r>
          </a:p>
        </p:txBody>
      </p:sp>
      <p:sp>
        <p:nvSpPr>
          <p:cNvPr id="3078" name="Rectangle 9"/>
          <p:cNvSpPr>
            <a:spLocks noChangeArrowheads="1"/>
          </p:cNvSpPr>
          <p:nvPr/>
        </p:nvSpPr>
        <p:spPr bwMode="auto">
          <a:xfrm>
            <a:off x="971550" y="1018258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1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125664" y="1018258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SIG1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033488" y="1016732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CHUNK 2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4187602" y="1016732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SIG2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6129832" y="1022834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CHUNK N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7283946" y="1022834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SIG-N</a:t>
            </a:r>
          </a:p>
        </p:txBody>
      </p:sp>
      <p:grpSp>
        <p:nvGrpSpPr>
          <p:cNvPr id="4" name="Gruppo 3"/>
          <p:cNvGrpSpPr/>
          <p:nvPr/>
        </p:nvGrpSpPr>
        <p:grpSpPr>
          <a:xfrm>
            <a:off x="1259632" y="4833156"/>
            <a:ext cx="1034456" cy="336240"/>
            <a:chOff x="6705896" y="4983274"/>
            <a:chExt cx="1610520" cy="438150"/>
          </a:xfrm>
        </p:grpSpPr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4" y="4833156"/>
            <a:ext cx="777782" cy="957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uppo 24"/>
          <p:cNvGrpSpPr/>
          <p:nvPr/>
        </p:nvGrpSpPr>
        <p:grpSpPr>
          <a:xfrm>
            <a:off x="1412032" y="4985556"/>
            <a:ext cx="1034456" cy="336240"/>
            <a:chOff x="6705896" y="4983274"/>
            <a:chExt cx="1610520" cy="438150"/>
          </a:xfrm>
        </p:grpSpPr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grpSp>
        <p:nvGrpSpPr>
          <p:cNvPr id="28" name="Gruppo 27"/>
          <p:cNvGrpSpPr/>
          <p:nvPr/>
        </p:nvGrpSpPr>
        <p:grpSpPr>
          <a:xfrm>
            <a:off x="1564432" y="5137956"/>
            <a:ext cx="1034456" cy="336240"/>
            <a:chOff x="6705896" y="4983274"/>
            <a:chExt cx="1610520" cy="438150"/>
          </a:xfrm>
        </p:grpSpPr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grpSp>
        <p:nvGrpSpPr>
          <p:cNvPr id="6" name="Gruppo 5"/>
          <p:cNvGrpSpPr/>
          <p:nvPr/>
        </p:nvGrpSpPr>
        <p:grpSpPr>
          <a:xfrm>
            <a:off x="1716832" y="5290356"/>
            <a:ext cx="1339256" cy="641040"/>
            <a:chOff x="1716832" y="5290356"/>
            <a:chExt cx="1339256" cy="641040"/>
          </a:xfrm>
        </p:grpSpPr>
        <p:grpSp>
          <p:nvGrpSpPr>
            <p:cNvPr id="31" name="Gruppo 30"/>
            <p:cNvGrpSpPr/>
            <p:nvPr/>
          </p:nvGrpSpPr>
          <p:grpSpPr>
            <a:xfrm>
              <a:off x="1716832" y="5290356"/>
              <a:ext cx="1034456" cy="336240"/>
              <a:chOff x="6705896" y="4983274"/>
              <a:chExt cx="1610520" cy="438150"/>
            </a:xfrm>
          </p:grpSpPr>
          <p:sp>
            <p:nvSpPr>
              <p:cNvPr id="32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3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  <p:grpSp>
          <p:nvGrpSpPr>
            <p:cNvPr id="34" name="Gruppo 33"/>
            <p:cNvGrpSpPr/>
            <p:nvPr/>
          </p:nvGrpSpPr>
          <p:grpSpPr>
            <a:xfrm>
              <a:off x="1869232" y="5442756"/>
              <a:ext cx="1034456" cy="336240"/>
              <a:chOff x="6705896" y="4983274"/>
              <a:chExt cx="1610520" cy="438150"/>
            </a:xfrm>
          </p:grpSpPr>
          <p:sp>
            <p:nvSpPr>
              <p:cNvPr id="35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6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  <p:grpSp>
          <p:nvGrpSpPr>
            <p:cNvPr id="37" name="Gruppo 36"/>
            <p:cNvGrpSpPr/>
            <p:nvPr/>
          </p:nvGrpSpPr>
          <p:grpSpPr>
            <a:xfrm>
              <a:off x="2021632" y="5595156"/>
              <a:ext cx="1034456" cy="336240"/>
              <a:chOff x="6705896" y="4983274"/>
              <a:chExt cx="1610520" cy="438150"/>
            </a:xfrm>
          </p:grpSpPr>
          <p:sp>
            <p:nvSpPr>
              <p:cNvPr id="38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074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078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magine 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940" y="5208935"/>
            <a:ext cx="828092" cy="124440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225425"/>
            <a:ext cx="8676964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Per-</a:t>
            </a:r>
            <a:r>
              <a:rPr lang="it-IT" dirty="0" err="1"/>
              <a:t>chunk</a:t>
            </a:r>
            <a:r>
              <a:rPr lang="it-IT" dirty="0"/>
              <a:t> </a:t>
            </a:r>
            <a:r>
              <a:rPr lang="it-IT" dirty="0" err="1"/>
              <a:t>signatures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68388" y="1520788"/>
            <a:ext cx="8496944" cy="3312368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defRPr/>
            </a:pPr>
            <a:r>
              <a:rPr lang="en-US" dirty="0"/>
              <a:t>OK but…</a:t>
            </a:r>
          </a:p>
          <a:p>
            <a:pPr lvl="4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Computational overhead </a:t>
            </a:r>
          </a:p>
          <a:p>
            <a:pPr lvl="1" eaLnBrk="1" hangingPunct="1">
              <a:defRPr/>
            </a:pPr>
            <a:r>
              <a:rPr lang="en-US" dirty="0"/>
              <a:t>Signature = </a:t>
            </a:r>
            <a:r>
              <a:rPr lang="en-US" dirty="0" err="1"/>
              <a:t>anymmetric</a:t>
            </a:r>
            <a:r>
              <a:rPr lang="en-US" dirty="0"/>
              <a:t> crypto = o(1000+) x hash computation cost</a:t>
            </a:r>
          </a:p>
          <a:p>
            <a:pPr lvl="5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Storage overhead</a:t>
            </a:r>
          </a:p>
          <a:p>
            <a:pPr lvl="1" eaLnBrk="1" hangingPunct="1">
              <a:defRPr/>
            </a:pPr>
            <a:r>
              <a:rPr lang="en-US" dirty="0"/>
              <a:t>RSA2048 = 256 bytes</a:t>
            </a:r>
          </a:p>
          <a:p>
            <a:pPr lvl="1" eaLnBrk="1" hangingPunct="1">
              <a:defRPr/>
            </a:pPr>
            <a:r>
              <a:rPr lang="en-US" dirty="0"/>
              <a:t>Bitcoin’s ECDSA256 = 2 x 256 bit = 64 bytes</a:t>
            </a:r>
          </a:p>
          <a:p>
            <a:pPr lvl="2" eaLnBrk="1" hangingPunct="1">
              <a:defRPr/>
            </a:pPr>
            <a:r>
              <a:rPr lang="en-US" dirty="0"/>
              <a:t>still quite a lot f you need MANY of them (small chunks)</a:t>
            </a:r>
          </a:p>
          <a:p>
            <a:pPr lvl="5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No more integrity check for whole file (strip-type attacks)</a:t>
            </a:r>
          </a:p>
        </p:txBody>
      </p:sp>
      <p:sp>
        <p:nvSpPr>
          <p:cNvPr id="3078" name="Rectangle 9"/>
          <p:cNvSpPr>
            <a:spLocks noChangeArrowheads="1"/>
          </p:cNvSpPr>
          <p:nvPr/>
        </p:nvSpPr>
        <p:spPr bwMode="auto">
          <a:xfrm>
            <a:off x="971550" y="1018258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>
                <a:latin typeface="Arial Narrow" pitchFamily="34" charset="0"/>
              </a:rPr>
              <a:t>CHUNK 1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125664" y="1018258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SIG1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033488" y="1016732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CHUNK 2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4187602" y="1016732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SIG2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6129832" y="1022834"/>
            <a:ext cx="1154113" cy="438149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CHUNK N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7283946" y="1022834"/>
            <a:ext cx="456406" cy="43815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400" dirty="0">
                <a:latin typeface="Arial Narrow" pitchFamily="34" charset="0"/>
              </a:rPr>
              <a:t>SIG-N</a:t>
            </a:r>
          </a:p>
        </p:txBody>
      </p:sp>
      <p:grpSp>
        <p:nvGrpSpPr>
          <p:cNvPr id="4" name="Gruppo 3"/>
          <p:cNvGrpSpPr/>
          <p:nvPr/>
        </p:nvGrpSpPr>
        <p:grpSpPr>
          <a:xfrm>
            <a:off x="1259632" y="4833156"/>
            <a:ext cx="1034456" cy="336240"/>
            <a:chOff x="6705896" y="4983274"/>
            <a:chExt cx="1610520" cy="438150"/>
          </a:xfrm>
        </p:grpSpPr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4" y="4833156"/>
            <a:ext cx="777782" cy="957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uppo 24"/>
          <p:cNvGrpSpPr/>
          <p:nvPr/>
        </p:nvGrpSpPr>
        <p:grpSpPr>
          <a:xfrm>
            <a:off x="1412032" y="4985556"/>
            <a:ext cx="1034456" cy="336240"/>
            <a:chOff x="6705896" y="4983274"/>
            <a:chExt cx="1610520" cy="438150"/>
          </a:xfrm>
        </p:grpSpPr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grpSp>
        <p:nvGrpSpPr>
          <p:cNvPr id="28" name="Gruppo 27"/>
          <p:cNvGrpSpPr/>
          <p:nvPr/>
        </p:nvGrpSpPr>
        <p:grpSpPr>
          <a:xfrm>
            <a:off x="1564432" y="5137956"/>
            <a:ext cx="1034456" cy="336240"/>
            <a:chOff x="6705896" y="4983274"/>
            <a:chExt cx="1610520" cy="438150"/>
          </a:xfrm>
        </p:grpSpPr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6705896" y="4983274"/>
              <a:ext cx="1154113" cy="438149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CHUNK</a:t>
              </a: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7860010" y="4983274"/>
              <a:ext cx="456406" cy="43815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400" dirty="0">
                  <a:latin typeface="Arial Narrow" pitchFamily="34" charset="0"/>
                </a:rPr>
                <a:t>SIG</a:t>
              </a:r>
            </a:p>
          </p:txBody>
        </p:sp>
      </p:grpSp>
      <p:grpSp>
        <p:nvGrpSpPr>
          <p:cNvPr id="6" name="Gruppo 5"/>
          <p:cNvGrpSpPr/>
          <p:nvPr/>
        </p:nvGrpSpPr>
        <p:grpSpPr>
          <a:xfrm>
            <a:off x="1716832" y="5290356"/>
            <a:ext cx="1339256" cy="641040"/>
            <a:chOff x="1716832" y="5290356"/>
            <a:chExt cx="1339256" cy="641040"/>
          </a:xfrm>
        </p:grpSpPr>
        <p:grpSp>
          <p:nvGrpSpPr>
            <p:cNvPr id="31" name="Gruppo 30"/>
            <p:cNvGrpSpPr/>
            <p:nvPr/>
          </p:nvGrpSpPr>
          <p:grpSpPr>
            <a:xfrm>
              <a:off x="1716832" y="5290356"/>
              <a:ext cx="1034456" cy="336240"/>
              <a:chOff x="6705896" y="4983274"/>
              <a:chExt cx="1610520" cy="438150"/>
            </a:xfrm>
          </p:grpSpPr>
          <p:sp>
            <p:nvSpPr>
              <p:cNvPr id="32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3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  <p:grpSp>
          <p:nvGrpSpPr>
            <p:cNvPr id="34" name="Gruppo 33"/>
            <p:cNvGrpSpPr/>
            <p:nvPr/>
          </p:nvGrpSpPr>
          <p:grpSpPr>
            <a:xfrm>
              <a:off x="1869232" y="5442756"/>
              <a:ext cx="1034456" cy="336240"/>
              <a:chOff x="6705896" y="4983274"/>
              <a:chExt cx="1610520" cy="438150"/>
            </a:xfrm>
          </p:grpSpPr>
          <p:sp>
            <p:nvSpPr>
              <p:cNvPr id="35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6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  <p:grpSp>
          <p:nvGrpSpPr>
            <p:cNvPr id="37" name="Gruppo 36"/>
            <p:cNvGrpSpPr/>
            <p:nvPr/>
          </p:nvGrpSpPr>
          <p:grpSpPr>
            <a:xfrm>
              <a:off x="2021632" y="5595156"/>
              <a:ext cx="1034456" cy="336240"/>
              <a:chOff x="6705896" y="4983274"/>
              <a:chExt cx="1610520" cy="438150"/>
            </a:xfrm>
          </p:grpSpPr>
          <p:sp>
            <p:nvSpPr>
              <p:cNvPr id="38" name="Rectangle 9"/>
              <p:cNvSpPr>
                <a:spLocks noChangeArrowheads="1"/>
              </p:cNvSpPr>
              <p:nvPr/>
            </p:nvSpPr>
            <p:spPr bwMode="auto">
              <a:xfrm>
                <a:off x="6705896" y="4983274"/>
                <a:ext cx="1154113" cy="438149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CHUNK</a:t>
                </a: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7860010" y="4983274"/>
                <a:ext cx="456406" cy="438150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è"/>
                  <a:defRPr sz="3200" b="1">
                    <a:solidFill>
                      <a:schemeClr val="tx1"/>
                    </a:solidFill>
                    <a:latin typeface="Bookman Old Style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Font typeface="Wingdings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it-IT" altLang="it-IT" sz="1400" dirty="0">
                    <a:latin typeface="Arial Narrow" pitchFamily="34" charset="0"/>
                  </a:rPr>
                  <a:t>SIG</a:t>
                </a:r>
              </a:p>
            </p:txBody>
          </p:sp>
        </p:grpSp>
      </p:grpSp>
      <p:sp>
        <p:nvSpPr>
          <p:cNvPr id="5" name="Freccia a destra 4"/>
          <p:cNvSpPr/>
          <p:nvPr/>
        </p:nvSpPr>
        <p:spPr bwMode="auto">
          <a:xfrm>
            <a:off x="3239852" y="4761148"/>
            <a:ext cx="3132348" cy="446348"/>
          </a:xfrm>
          <a:prstGeom prst="rightArrow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3074" name="Picture 2" descr="Immagine correlat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70086" y="4725144"/>
            <a:ext cx="1050386" cy="105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/>
          <p:cNvSpPr txBox="1"/>
          <p:nvPr/>
        </p:nvSpPr>
        <p:spPr>
          <a:xfrm>
            <a:off x="1142971" y="5479066"/>
            <a:ext cx="2302233" cy="830997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rgbClr val="FF0000"/>
                </a:solidFill>
              </a:rPr>
              <a:t>Can </a:t>
            </a:r>
            <a:r>
              <a:rPr lang="it-IT" sz="2400" b="1" dirty="0" err="1">
                <a:solidFill>
                  <a:srgbClr val="FF0000"/>
                </a:solidFill>
              </a:rPr>
              <a:t>we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find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it-IT" sz="2400" b="1" dirty="0">
                <a:solidFill>
                  <a:srgbClr val="FF0000"/>
                </a:solidFill>
              </a:rPr>
              <a:t>a </a:t>
            </a:r>
            <a:r>
              <a:rPr lang="it-IT" sz="2400" b="1" dirty="0" err="1">
                <a:solidFill>
                  <a:srgbClr val="FF0000"/>
                </a:solidFill>
              </a:rPr>
              <a:t>better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solution</a:t>
            </a:r>
            <a:r>
              <a:rPr lang="it-IT" sz="2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0" name="CasellaDiTesto 39"/>
          <p:cNvSpPr txBox="1"/>
          <p:nvPr/>
        </p:nvSpPr>
        <p:spPr>
          <a:xfrm>
            <a:off x="7183789" y="5604229"/>
            <a:ext cx="1348446" cy="707886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000" b="1" i="1" dirty="0" err="1">
                <a:solidFill>
                  <a:schemeClr val="tx2"/>
                </a:solidFill>
              </a:rPr>
              <a:t>Ops</a:t>
            </a:r>
            <a:r>
              <a:rPr lang="it-IT" sz="2000" b="1" i="1" dirty="0">
                <a:solidFill>
                  <a:schemeClr val="tx2"/>
                </a:solidFill>
              </a:rPr>
              <a:t>… </a:t>
            </a:r>
            <a:r>
              <a:rPr lang="it-IT" sz="2000" b="1" i="1" dirty="0" err="1">
                <a:solidFill>
                  <a:schemeClr val="tx2"/>
                </a:solidFill>
              </a:rPr>
              <a:t>did</a:t>
            </a:r>
            <a:r>
              <a:rPr lang="it-IT" sz="2000" b="1" i="1" dirty="0">
                <a:solidFill>
                  <a:schemeClr val="tx2"/>
                </a:solidFill>
              </a:rPr>
              <a:t> I </a:t>
            </a:r>
            <a:br>
              <a:rPr lang="it-IT" sz="2000" b="1" i="1" dirty="0">
                <a:solidFill>
                  <a:schemeClr val="tx2"/>
                </a:solidFill>
              </a:rPr>
            </a:br>
            <a:r>
              <a:rPr lang="it-IT" sz="2000" b="1" i="1" dirty="0" err="1">
                <a:solidFill>
                  <a:schemeClr val="tx2"/>
                </a:solidFill>
              </a:rPr>
              <a:t>receive</a:t>
            </a:r>
            <a:r>
              <a:rPr lang="it-IT" sz="2000" b="1" i="1" dirty="0">
                <a:solidFill>
                  <a:schemeClr val="tx2"/>
                </a:solidFill>
              </a:rPr>
              <a:t> </a:t>
            </a:r>
            <a:r>
              <a:rPr lang="it-IT" sz="2000" b="1" i="1" dirty="0" err="1">
                <a:solidFill>
                  <a:schemeClr val="tx2"/>
                </a:solidFill>
              </a:rPr>
              <a:t>all</a:t>
            </a:r>
            <a:r>
              <a:rPr lang="it-IT" sz="2000" b="1" i="1" dirty="0">
                <a:solidFill>
                  <a:schemeClr val="tx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6553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0.55781 -0.0034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82" y="-185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0.55677 -0.0046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30" y="-23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11111E-6 L 0.55591 -0.0006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95" y="-46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44444E-6 L 0.17621 4.44444E-6 C 0.25555 4.44444E-6 0.3533 0.02338 0.3533 0.04282 L 0.3533 0.08611 " pathEditMode="relative" rAng="0" ptsTypes="FfFF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56" y="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4">
            <a:extLst>
              <a:ext uri="{FF2B5EF4-FFF2-40B4-BE49-F238E27FC236}">
                <a16:creationId xmlns:a16="http://schemas.microsoft.com/office/drawing/2014/main" id="{C01F93B2-0BB9-05F6-5D6D-7ADB30154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3" y="5456003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A</a:t>
            </a:r>
          </a:p>
        </p:txBody>
      </p:sp>
      <p:sp>
        <p:nvSpPr>
          <p:cNvPr id="5" name="Rettangolo 5">
            <a:extLst>
              <a:ext uri="{FF2B5EF4-FFF2-40B4-BE49-F238E27FC236}">
                <a16:creationId xmlns:a16="http://schemas.microsoft.com/office/drawing/2014/main" id="{4F8B1F7B-DA8F-975F-440E-CB4C9AB43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2" y="5456003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B</a:t>
            </a:r>
          </a:p>
        </p:txBody>
      </p:sp>
      <p:sp>
        <p:nvSpPr>
          <p:cNvPr id="6" name="Rettangolo 6">
            <a:extLst>
              <a:ext uri="{FF2B5EF4-FFF2-40B4-BE49-F238E27FC236}">
                <a16:creationId xmlns:a16="http://schemas.microsoft.com/office/drawing/2014/main" id="{42152E9C-8BFE-960A-5EBB-8F55BECB6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2" y="5456003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</a:t>
            </a:r>
          </a:p>
        </p:txBody>
      </p:sp>
      <p:sp>
        <p:nvSpPr>
          <p:cNvPr id="7" name="Rettangolo 7">
            <a:extLst>
              <a:ext uri="{FF2B5EF4-FFF2-40B4-BE49-F238E27FC236}">
                <a16:creationId xmlns:a16="http://schemas.microsoft.com/office/drawing/2014/main" id="{3D849892-27DE-0856-49C5-FA5E8D91F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8862" y="5456003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D</a:t>
            </a:r>
          </a:p>
        </p:txBody>
      </p:sp>
      <p:sp>
        <p:nvSpPr>
          <p:cNvPr id="8" name="Rettangolo 8">
            <a:extLst>
              <a:ext uri="{FF2B5EF4-FFF2-40B4-BE49-F238E27FC236}">
                <a16:creationId xmlns:a16="http://schemas.microsoft.com/office/drawing/2014/main" id="{582CB6FC-08CB-031B-5B60-45DBD4E52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3" y="5456003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E</a:t>
            </a:r>
          </a:p>
        </p:txBody>
      </p:sp>
      <p:sp>
        <p:nvSpPr>
          <p:cNvPr id="9" name="Rettangolo 9">
            <a:extLst>
              <a:ext uri="{FF2B5EF4-FFF2-40B4-BE49-F238E27FC236}">
                <a16:creationId xmlns:a16="http://schemas.microsoft.com/office/drawing/2014/main" id="{2C2BF792-409A-A6B2-6651-84F413F4B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073" y="5456003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F</a:t>
            </a:r>
          </a:p>
        </p:txBody>
      </p:sp>
      <p:sp>
        <p:nvSpPr>
          <p:cNvPr id="10" name="Rettangolo 10">
            <a:extLst>
              <a:ext uri="{FF2B5EF4-FFF2-40B4-BE49-F238E27FC236}">
                <a16:creationId xmlns:a16="http://schemas.microsoft.com/office/drawing/2014/main" id="{6CF169EF-3A96-8513-767E-C72691C2C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423" y="5456003"/>
            <a:ext cx="839788" cy="328613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GB</a:t>
            </a:r>
          </a:p>
        </p:txBody>
      </p:sp>
      <p:sp>
        <p:nvSpPr>
          <p:cNvPr id="11" name="Rettangolo 11">
            <a:extLst>
              <a:ext uri="{FF2B5EF4-FFF2-40B4-BE49-F238E27FC236}">
                <a16:creationId xmlns:a16="http://schemas.microsoft.com/office/drawing/2014/main" id="{3BF1ED1A-774D-CD1E-E895-8E63B66A1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4773" y="5456003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</a:t>
            </a:r>
          </a:p>
        </p:txBody>
      </p:sp>
      <p:sp>
        <p:nvSpPr>
          <p:cNvPr id="12" name="Freccia in giù 14">
            <a:extLst>
              <a:ext uri="{FF2B5EF4-FFF2-40B4-BE49-F238E27FC236}">
                <a16:creationId xmlns:a16="http://schemas.microsoft.com/office/drawing/2014/main" id="{BA7953E5-EB1C-CC39-9748-9EAFCF4FBD5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95348" y="4798778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3" name="Freccia in giù 15">
            <a:extLst>
              <a:ext uri="{FF2B5EF4-FFF2-40B4-BE49-F238E27FC236}">
                <a16:creationId xmlns:a16="http://schemas.microsoft.com/office/drawing/2014/main" id="{F38CB469-B07C-4657-2C8C-AEDE2875828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844673" y="4798778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4" name="Freccia in giù 16">
            <a:extLst>
              <a:ext uri="{FF2B5EF4-FFF2-40B4-BE49-F238E27FC236}">
                <a16:creationId xmlns:a16="http://schemas.microsoft.com/office/drawing/2014/main" id="{8B2C756D-C4BD-E1A3-CB55-9A773B1BDE2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940048" y="4798778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5" name="Freccia in giù 17">
            <a:extLst>
              <a:ext uri="{FF2B5EF4-FFF2-40B4-BE49-F238E27FC236}">
                <a16:creationId xmlns:a16="http://schemas.microsoft.com/office/drawing/2014/main" id="{425DAA46-C49D-BF2B-76CA-D3A3FFF0D84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889373" y="4798778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" name="Freccia in giù 18">
            <a:extLst>
              <a:ext uri="{FF2B5EF4-FFF2-40B4-BE49-F238E27FC236}">
                <a16:creationId xmlns:a16="http://schemas.microsoft.com/office/drawing/2014/main" id="{E40AE763-4C31-1B4F-6C6C-8E18ED54AF0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021262" y="4798778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" name="Freccia in giù 19">
            <a:extLst>
              <a:ext uri="{FF2B5EF4-FFF2-40B4-BE49-F238E27FC236}">
                <a16:creationId xmlns:a16="http://schemas.microsoft.com/office/drawing/2014/main" id="{B4E529DF-A5D6-0096-5B2A-36E76C237AF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970587" y="4798778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8" name="Freccia in giù 20">
            <a:extLst>
              <a:ext uri="{FF2B5EF4-FFF2-40B4-BE49-F238E27FC236}">
                <a16:creationId xmlns:a16="http://schemas.microsoft.com/office/drawing/2014/main" id="{21BF5F26-CF87-F609-C401-41448C0090F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031037" y="4798778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9" name="Freccia in giù 21">
            <a:extLst>
              <a:ext uri="{FF2B5EF4-FFF2-40B4-BE49-F238E27FC236}">
                <a16:creationId xmlns:a16="http://schemas.microsoft.com/office/drawing/2014/main" id="{784BE7DF-56A4-DDBF-3DFD-176FB8AAE8A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980362" y="4798778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20" name="CasellaDiTesto 22">
            <a:extLst>
              <a:ext uri="{FF2B5EF4-FFF2-40B4-BE49-F238E27FC236}">
                <a16:creationId xmlns:a16="http://schemas.microsoft.com/office/drawing/2014/main" id="{D6EF9A45-B53F-CB78-2B85-499F00F70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" y="4433652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H(A)</a:t>
            </a:r>
          </a:p>
        </p:txBody>
      </p:sp>
      <p:sp>
        <p:nvSpPr>
          <p:cNvPr id="21" name="CasellaDiTesto 23">
            <a:extLst>
              <a:ext uri="{FF2B5EF4-FFF2-40B4-BE49-F238E27FC236}">
                <a16:creationId xmlns:a16="http://schemas.microsoft.com/office/drawing/2014/main" id="{AAF0DB37-279A-94B2-FC1C-87D18369F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9737" y="4433652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H(B)</a:t>
            </a:r>
          </a:p>
        </p:txBody>
      </p:sp>
      <p:sp>
        <p:nvSpPr>
          <p:cNvPr id="22" name="CasellaDiTesto 24">
            <a:extLst>
              <a:ext uri="{FF2B5EF4-FFF2-40B4-BE49-F238E27FC236}">
                <a16:creationId xmlns:a16="http://schemas.microsoft.com/office/drawing/2014/main" id="{9BF75C06-37DF-98FD-26EF-7FC01FC53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3999" y="4433652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H(C)</a:t>
            </a:r>
          </a:p>
        </p:txBody>
      </p:sp>
      <p:sp>
        <p:nvSpPr>
          <p:cNvPr id="23" name="CasellaDiTesto 25">
            <a:extLst>
              <a:ext uri="{FF2B5EF4-FFF2-40B4-BE49-F238E27FC236}">
                <a16:creationId xmlns:a16="http://schemas.microsoft.com/office/drawing/2014/main" id="{05973017-D2AD-D811-2CA8-DB2B3D60E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4" y="4433652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H(D)</a:t>
            </a:r>
          </a:p>
        </p:txBody>
      </p:sp>
      <p:sp>
        <p:nvSpPr>
          <p:cNvPr id="24" name="CasellaDiTesto 26">
            <a:extLst>
              <a:ext uri="{FF2B5EF4-FFF2-40B4-BE49-F238E27FC236}">
                <a16:creationId xmlns:a16="http://schemas.microsoft.com/office/drawing/2014/main" id="{CEB88FC2-ED4C-96E1-FD17-867BB2DA5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687" y="4433652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H(E)</a:t>
            </a:r>
          </a:p>
        </p:txBody>
      </p:sp>
      <p:sp>
        <p:nvSpPr>
          <p:cNvPr id="25" name="CasellaDiTesto 27">
            <a:extLst>
              <a:ext uri="{FF2B5EF4-FFF2-40B4-BE49-F238E27FC236}">
                <a16:creationId xmlns:a16="http://schemas.microsoft.com/office/drawing/2014/main" id="{794E96F9-4653-BC99-64B6-FF28E7F7C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9612" y="4433652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H(F)</a:t>
            </a:r>
          </a:p>
        </p:txBody>
      </p:sp>
      <p:sp>
        <p:nvSpPr>
          <p:cNvPr id="26" name="CasellaDiTesto 28">
            <a:extLst>
              <a:ext uri="{FF2B5EF4-FFF2-40B4-BE49-F238E27FC236}">
                <a16:creationId xmlns:a16="http://schemas.microsoft.com/office/drawing/2014/main" id="{8125757F-BE60-8E84-1A51-F4D974FDC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49" y="4433652"/>
            <a:ext cx="593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H(G)</a:t>
            </a:r>
          </a:p>
        </p:txBody>
      </p:sp>
      <p:sp>
        <p:nvSpPr>
          <p:cNvPr id="27" name="CasellaDiTesto 29">
            <a:extLst>
              <a:ext uri="{FF2B5EF4-FFF2-40B4-BE49-F238E27FC236}">
                <a16:creationId xmlns:a16="http://schemas.microsoft.com/office/drawing/2014/main" id="{3A096609-E9FE-52FF-5E24-34D77CDCC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7799" y="4433652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H(H)</a:t>
            </a:r>
          </a:p>
        </p:txBody>
      </p:sp>
      <p:sp>
        <p:nvSpPr>
          <p:cNvPr id="28" name="CasellaDiTesto 30">
            <a:extLst>
              <a:ext uri="{FF2B5EF4-FFF2-40B4-BE49-F238E27FC236}">
                <a16:creationId xmlns:a16="http://schemas.microsoft.com/office/drawing/2014/main" id="{9A308BF5-4281-6F5E-AEEA-A5B111ED3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6" y="3666891"/>
            <a:ext cx="1255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H[H(A),H(B)]</a:t>
            </a:r>
          </a:p>
        </p:txBody>
      </p:sp>
      <p:sp>
        <p:nvSpPr>
          <p:cNvPr id="29" name="CasellaDiTesto 31">
            <a:extLst>
              <a:ext uri="{FF2B5EF4-FFF2-40B4-BE49-F238E27FC236}">
                <a16:creationId xmlns:a16="http://schemas.microsoft.com/office/drawing/2014/main" id="{F3DE58B4-DC35-A040-D9AA-B3B55BCA5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611" y="3666891"/>
            <a:ext cx="1274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H[H(C),H(D)]</a:t>
            </a:r>
          </a:p>
        </p:txBody>
      </p:sp>
      <p:sp>
        <p:nvSpPr>
          <p:cNvPr id="30" name="CasellaDiTesto 32">
            <a:extLst>
              <a:ext uri="{FF2B5EF4-FFF2-40B4-BE49-F238E27FC236}">
                <a16:creationId xmlns:a16="http://schemas.microsoft.com/office/drawing/2014/main" id="{2EAB20E9-00AB-D7CC-B885-2891B8FB4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799" y="3666891"/>
            <a:ext cx="1274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H[H(E),H(F)]</a:t>
            </a:r>
          </a:p>
        </p:txBody>
      </p:sp>
      <p:sp>
        <p:nvSpPr>
          <p:cNvPr id="31" name="CasellaDiTesto 33">
            <a:extLst>
              <a:ext uri="{FF2B5EF4-FFF2-40B4-BE49-F238E27FC236}">
                <a16:creationId xmlns:a16="http://schemas.microsoft.com/office/drawing/2014/main" id="{977A63C6-6391-1AD6-759E-FBAD65AE7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8011" y="3666891"/>
            <a:ext cx="1274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H[H(G),H(H)]</a:t>
            </a:r>
          </a:p>
        </p:txBody>
      </p:sp>
      <p:sp>
        <p:nvSpPr>
          <p:cNvPr id="32" name="CasellaDiTesto 34">
            <a:extLst>
              <a:ext uri="{FF2B5EF4-FFF2-40B4-BE49-F238E27FC236}">
                <a16:creationId xmlns:a16="http://schemas.microsoft.com/office/drawing/2014/main" id="{A60F19FE-5014-495E-EB51-AF9A5F9A9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262" y="2900127"/>
            <a:ext cx="2713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H{H[H(A),H(B)],H[H(C),H(D)]} </a:t>
            </a:r>
          </a:p>
        </p:txBody>
      </p:sp>
      <p:sp>
        <p:nvSpPr>
          <p:cNvPr id="33" name="CasellaDiTesto 35">
            <a:extLst>
              <a:ext uri="{FF2B5EF4-FFF2-40B4-BE49-F238E27FC236}">
                <a16:creationId xmlns:a16="http://schemas.microsoft.com/office/drawing/2014/main" id="{18D5A398-D249-EF5D-50EF-D04ADE008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4762" y="2900127"/>
            <a:ext cx="2713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H{H[H(E),H(F)],H[H(G),H(H)]} </a:t>
            </a:r>
          </a:p>
        </p:txBody>
      </p:sp>
      <p:sp>
        <p:nvSpPr>
          <p:cNvPr id="34" name="CasellaDiTesto 36">
            <a:extLst>
              <a:ext uri="{FF2B5EF4-FFF2-40B4-BE49-F238E27FC236}">
                <a16:creationId xmlns:a16="http://schemas.microsoft.com/office/drawing/2014/main" id="{42D982E2-F523-5774-111B-7193A1F56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7" y="2096852"/>
            <a:ext cx="6473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ROOT = H( H{H[H(A),H(B)],H[H(C),H(D)]} , H{H[H(E),H(F)],H[H(G),H(H)]} ) </a:t>
            </a:r>
          </a:p>
        </p:txBody>
      </p:sp>
      <p:cxnSp>
        <p:nvCxnSpPr>
          <p:cNvPr id="35" name="Connettore 2 38">
            <a:extLst>
              <a:ext uri="{FF2B5EF4-FFF2-40B4-BE49-F238E27FC236}">
                <a16:creationId xmlns:a16="http://schemas.microsoft.com/office/drawing/2014/main" id="{1EF8B022-1C2F-4B84-BA40-1F27894427B1}"/>
              </a:ext>
            </a:extLst>
          </p:cNvPr>
          <p:cNvCxnSpPr>
            <a:cxnSpLocks noChangeShapeType="1"/>
            <a:stCxn id="20" idx="0"/>
            <a:endCxn id="28" idx="2"/>
          </p:cNvCxnSpPr>
          <p:nvPr/>
        </p:nvCxnSpPr>
        <p:spPr bwMode="auto">
          <a:xfrm flipV="1">
            <a:off x="1072356" y="4036778"/>
            <a:ext cx="452436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Connettore 2 39">
            <a:extLst>
              <a:ext uri="{FF2B5EF4-FFF2-40B4-BE49-F238E27FC236}">
                <a16:creationId xmlns:a16="http://schemas.microsoft.com/office/drawing/2014/main" id="{F9E608C2-976C-EA3F-4E7D-E1F210315468}"/>
              </a:ext>
            </a:extLst>
          </p:cNvPr>
          <p:cNvCxnSpPr>
            <a:cxnSpLocks noChangeShapeType="1"/>
            <a:stCxn id="28" idx="0"/>
            <a:endCxn id="32" idx="2"/>
          </p:cNvCxnSpPr>
          <p:nvPr/>
        </p:nvCxnSpPr>
        <p:spPr bwMode="auto">
          <a:xfrm rot="5400000" flipH="1" flipV="1">
            <a:off x="1847055" y="2946959"/>
            <a:ext cx="396875" cy="10429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Connettore 2 42">
            <a:extLst>
              <a:ext uri="{FF2B5EF4-FFF2-40B4-BE49-F238E27FC236}">
                <a16:creationId xmlns:a16="http://schemas.microsoft.com/office/drawing/2014/main" id="{0D5A30A4-EFFF-2FC3-8849-BC9E856F902A}"/>
              </a:ext>
            </a:extLst>
          </p:cNvPr>
          <p:cNvCxnSpPr>
            <a:cxnSpLocks noChangeShapeType="1"/>
            <a:stCxn id="32" idx="0"/>
            <a:endCxn id="34" idx="2"/>
          </p:cNvCxnSpPr>
          <p:nvPr/>
        </p:nvCxnSpPr>
        <p:spPr bwMode="auto">
          <a:xfrm rot="5400000" flipH="1" flipV="1">
            <a:off x="3352799" y="1680928"/>
            <a:ext cx="433387" cy="20050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Connettore 2 45">
            <a:extLst>
              <a:ext uri="{FF2B5EF4-FFF2-40B4-BE49-F238E27FC236}">
                <a16:creationId xmlns:a16="http://schemas.microsoft.com/office/drawing/2014/main" id="{03A3206F-C286-B1F3-6AC5-0BFFA4F61187}"/>
              </a:ext>
            </a:extLst>
          </p:cNvPr>
          <p:cNvCxnSpPr>
            <a:cxnSpLocks noChangeShapeType="1"/>
            <a:stCxn id="33" idx="0"/>
            <a:endCxn id="34" idx="2"/>
          </p:cNvCxnSpPr>
          <p:nvPr/>
        </p:nvCxnSpPr>
        <p:spPr bwMode="auto">
          <a:xfrm rot="16200000" flipV="1">
            <a:off x="5290343" y="1748397"/>
            <a:ext cx="433387" cy="18700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Connettore 2 48">
            <a:extLst>
              <a:ext uri="{FF2B5EF4-FFF2-40B4-BE49-F238E27FC236}">
                <a16:creationId xmlns:a16="http://schemas.microsoft.com/office/drawing/2014/main" id="{D6C7169E-82AD-3E88-2E8A-42ECA985B8F6}"/>
              </a:ext>
            </a:extLst>
          </p:cNvPr>
          <p:cNvCxnSpPr>
            <a:cxnSpLocks noChangeShapeType="1"/>
            <a:stCxn id="30" idx="0"/>
            <a:endCxn id="33" idx="2"/>
          </p:cNvCxnSpPr>
          <p:nvPr/>
        </p:nvCxnSpPr>
        <p:spPr bwMode="auto">
          <a:xfrm rot="5400000" flipH="1" flipV="1">
            <a:off x="5779293" y="3004110"/>
            <a:ext cx="396875" cy="9286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Connettore 2 49">
            <a:extLst>
              <a:ext uri="{FF2B5EF4-FFF2-40B4-BE49-F238E27FC236}">
                <a16:creationId xmlns:a16="http://schemas.microsoft.com/office/drawing/2014/main" id="{FD70F451-B9B9-532E-5F1F-A007F7674D9D}"/>
              </a:ext>
            </a:extLst>
          </p:cNvPr>
          <p:cNvCxnSpPr>
            <a:cxnSpLocks noChangeShapeType="1"/>
            <a:stCxn id="23" idx="0"/>
            <a:endCxn id="29" idx="2"/>
          </p:cNvCxnSpPr>
          <p:nvPr/>
        </p:nvCxnSpPr>
        <p:spPr bwMode="auto">
          <a:xfrm flipH="1" flipV="1">
            <a:off x="3505992" y="4036778"/>
            <a:ext cx="503239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Connettore 2 50">
            <a:extLst>
              <a:ext uri="{FF2B5EF4-FFF2-40B4-BE49-F238E27FC236}">
                <a16:creationId xmlns:a16="http://schemas.microsoft.com/office/drawing/2014/main" id="{DC478FEA-B128-2052-5DF3-E1A7975CCCA7}"/>
              </a:ext>
            </a:extLst>
          </p:cNvPr>
          <p:cNvCxnSpPr>
            <a:cxnSpLocks noChangeShapeType="1"/>
            <a:stCxn id="31" idx="0"/>
            <a:endCxn id="33" idx="2"/>
          </p:cNvCxnSpPr>
          <p:nvPr/>
        </p:nvCxnSpPr>
        <p:spPr bwMode="auto">
          <a:xfrm rot="16200000" flipV="1">
            <a:off x="6820693" y="2891397"/>
            <a:ext cx="396875" cy="11541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Connettore 2 51">
            <a:extLst>
              <a:ext uri="{FF2B5EF4-FFF2-40B4-BE49-F238E27FC236}">
                <a16:creationId xmlns:a16="http://schemas.microsoft.com/office/drawing/2014/main" id="{C187ABE9-C9C4-AB65-99D0-C4F4EFEEE178}"/>
              </a:ext>
            </a:extLst>
          </p:cNvPr>
          <p:cNvCxnSpPr>
            <a:cxnSpLocks noChangeShapeType="1"/>
            <a:stCxn id="29" idx="0"/>
            <a:endCxn id="32" idx="2"/>
          </p:cNvCxnSpPr>
          <p:nvPr/>
        </p:nvCxnSpPr>
        <p:spPr bwMode="auto">
          <a:xfrm rot="16200000" flipV="1">
            <a:off x="2837655" y="2999347"/>
            <a:ext cx="396875" cy="9382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Connettore 2 60">
            <a:extLst>
              <a:ext uri="{FF2B5EF4-FFF2-40B4-BE49-F238E27FC236}">
                <a16:creationId xmlns:a16="http://schemas.microsoft.com/office/drawing/2014/main" id="{25FD988D-03F6-E8BD-2DD1-4D4CD368DD4D}"/>
              </a:ext>
            </a:extLst>
          </p:cNvPr>
          <p:cNvCxnSpPr>
            <a:cxnSpLocks noChangeShapeType="1"/>
            <a:stCxn id="22" idx="0"/>
            <a:endCxn id="29" idx="2"/>
          </p:cNvCxnSpPr>
          <p:nvPr/>
        </p:nvCxnSpPr>
        <p:spPr bwMode="auto">
          <a:xfrm flipV="1">
            <a:off x="3085306" y="4036778"/>
            <a:ext cx="420686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Connettore 2 61">
            <a:extLst>
              <a:ext uri="{FF2B5EF4-FFF2-40B4-BE49-F238E27FC236}">
                <a16:creationId xmlns:a16="http://schemas.microsoft.com/office/drawing/2014/main" id="{98F2D148-B7DF-376C-AB0B-6237E12C09B5}"/>
              </a:ext>
            </a:extLst>
          </p:cNvPr>
          <p:cNvCxnSpPr>
            <a:cxnSpLocks noChangeShapeType="1"/>
            <a:stCxn id="25" idx="0"/>
            <a:endCxn id="30" idx="2"/>
          </p:cNvCxnSpPr>
          <p:nvPr/>
        </p:nvCxnSpPr>
        <p:spPr bwMode="auto">
          <a:xfrm flipH="1" flipV="1">
            <a:off x="5514181" y="4036778"/>
            <a:ext cx="561975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Connettore 2 62">
            <a:extLst>
              <a:ext uri="{FF2B5EF4-FFF2-40B4-BE49-F238E27FC236}">
                <a16:creationId xmlns:a16="http://schemas.microsoft.com/office/drawing/2014/main" id="{845685B9-7FD5-CD19-F3FD-E1A58FC79587}"/>
              </a:ext>
            </a:extLst>
          </p:cNvPr>
          <p:cNvCxnSpPr>
            <a:cxnSpLocks noChangeShapeType="1"/>
            <a:stCxn id="24" idx="0"/>
            <a:endCxn id="30" idx="2"/>
          </p:cNvCxnSpPr>
          <p:nvPr/>
        </p:nvCxnSpPr>
        <p:spPr bwMode="auto">
          <a:xfrm flipV="1">
            <a:off x="5152231" y="4036778"/>
            <a:ext cx="361950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Connettore 2 69">
            <a:extLst>
              <a:ext uri="{FF2B5EF4-FFF2-40B4-BE49-F238E27FC236}">
                <a16:creationId xmlns:a16="http://schemas.microsoft.com/office/drawing/2014/main" id="{033140EE-166D-1799-6315-35DD56CFE055}"/>
              </a:ext>
            </a:extLst>
          </p:cNvPr>
          <p:cNvCxnSpPr>
            <a:cxnSpLocks noChangeShapeType="1"/>
            <a:stCxn id="21" idx="0"/>
            <a:endCxn id="28" idx="2"/>
          </p:cNvCxnSpPr>
          <p:nvPr/>
        </p:nvCxnSpPr>
        <p:spPr bwMode="auto">
          <a:xfrm flipH="1" flipV="1">
            <a:off x="1524792" y="4036778"/>
            <a:ext cx="471489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Connettore 2 72">
            <a:extLst>
              <a:ext uri="{FF2B5EF4-FFF2-40B4-BE49-F238E27FC236}">
                <a16:creationId xmlns:a16="http://schemas.microsoft.com/office/drawing/2014/main" id="{76715647-77B4-62C6-E383-CA63B288ACAB}"/>
              </a:ext>
            </a:extLst>
          </p:cNvPr>
          <p:cNvCxnSpPr>
            <a:cxnSpLocks noChangeShapeType="1"/>
            <a:stCxn id="26" idx="0"/>
          </p:cNvCxnSpPr>
          <p:nvPr/>
        </p:nvCxnSpPr>
        <p:spPr bwMode="auto">
          <a:xfrm rot="5400000" flipH="1" flipV="1">
            <a:off x="7166768" y="4001059"/>
            <a:ext cx="401637" cy="4635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Connettore 2 73">
            <a:extLst>
              <a:ext uri="{FF2B5EF4-FFF2-40B4-BE49-F238E27FC236}">
                <a16:creationId xmlns:a16="http://schemas.microsoft.com/office/drawing/2014/main" id="{06C68835-2CBB-07BC-B77B-0B0E20D0E193}"/>
              </a:ext>
            </a:extLst>
          </p:cNvPr>
          <p:cNvCxnSpPr>
            <a:cxnSpLocks noChangeShapeType="1"/>
            <a:stCxn id="26" idx="0"/>
            <a:endCxn id="31" idx="2"/>
          </p:cNvCxnSpPr>
          <p:nvPr/>
        </p:nvCxnSpPr>
        <p:spPr bwMode="auto">
          <a:xfrm rot="5400000" flipH="1" flipV="1">
            <a:off x="7167562" y="4005028"/>
            <a:ext cx="396875" cy="4603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Connettore 2 79">
            <a:extLst>
              <a:ext uri="{FF2B5EF4-FFF2-40B4-BE49-F238E27FC236}">
                <a16:creationId xmlns:a16="http://schemas.microsoft.com/office/drawing/2014/main" id="{9D1C2D0D-D979-5487-FB83-786082C55729}"/>
              </a:ext>
            </a:extLst>
          </p:cNvPr>
          <p:cNvCxnSpPr>
            <a:cxnSpLocks noChangeShapeType="1"/>
            <a:stCxn id="27" idx="0"/>
            <a:endCxn id="31" idx="2"/>
          </p:cNvCxnSpPr>
          <p:nvPr/>
        </p:nvCxnSpPr>
        <p:spPr bwMode="auto">
          <a:xfrm flipH="1" flipV="1">
            <a:off x="7595392" y="4036778"/>
            <a:ext cx="493714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Freccia in giù 82">
            <a:extLst>
              <a:ext uri="{FF2B5EF4-FFF2-40B4-BE49-F238E27FC236}">
                <a16:creationId xmlns:a16="http://schemas.microsoft.com/office/drawing/2014/main" id="{E1C25206-3F22-3915-70B3-2B4A1D6FFA2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97224" y="1841266"/>
            <a:ext cx="2665413" cy="25558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" name="CasellaDiTesto 83">
            <a:extLst>
              <a:ext uri="{FF2B5EF4-FFF2-40B4-BE49-F238E27FC236}">
                <a16:creationId xmlns:a16="http://schemas.microsoft.com/office/drawing/2014/main" id="{7E225392-7F99-6A8C-C7F6-36EABB4FA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6" y="1398352"/>
            <a:ext cx="1458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Digitally signed</a:t>
            </a:r>
          </a:p>
        </p:txBody>
      </p:sp>
      <p:sp>
        <p:nvSpPr>
          <p:cNvPr id="52" name="Titolo 1">
            <a:extLst>
              <a:ext uri="{FF2B5EF4-FFF2-40B4-BE49-F238E27FC236}">
                <a16:creationId xmlns:a16="http://schemas.microsoft.com/office/drawing/2014/main" id="{2CD65A28-4AB6-CE4B-301F-2BBFE5E4F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90" y="225425"/>
            <a:ext cx="8485274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! </a:t>
            </a:r>
            <a:br>
              <a:rPr lang="it-IT" dirty="0"/>
            </a:br>
            <a:r>
              <a:rPr lang="it-IT" dirty="0" err="1"/>
              <a:t>Merkle’s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 (1979)</a:t>
            </a:r>
          </a:p>
        </p:txBody>
      </p:sp>
    </p:spTree>
    <p:extLst>
      <p:ext uri="{BB962C8B-B14F-4D97-AF65-F5344CB8AC3E}">
        <p14:creationId xmlns:p14="http://schemas.microsoft.com/office/powerpoint/2010/main" val="193166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50" grpId="0" animBg="1"/>
      <p:bldP spid="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Single CERT </a:t>
            </a:r>
            <a:r>
              <a:rPr lang="it-IT" dirty="0" err="1"/>
              <a:t>verification</a:t>
            </a:r>
            <a:r>
              <a:rPr lang="it-IT" dirty="0"/>
              <a:t>: fast with “</a:t>
            </a:r>
            <a:r>
              <a:rPr lang="it-IT" dirty="0" err="1"/>
              <a:t>siblings</a:t>
            </a:r>
            <a:r>
              <a:rPr lang="it-IT" dirty="0"/>
              <a:t>”!</a:t>
            </a:r>
          </a:p>
        </p:txBody>
      </p:sp>
      <p:sp>
        <p:nvSpPr>
          <p:cNvPr id="17461" name="CasellaDiTesto 55"/>
          <p:cNvSpPr txBox="1">
            <a:spLocks noChangeArrowheads="1"/>
          </p:cNvSpPr>
          <p:nvPr/>
        </p:nvSpPr>
        <p:spPr bwMode="auto">
          <a:xfrm>
            <a:off x="3670250" y="6052640"/>
            <a:ext cx="2278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i="1" dirty="0">
                <a:solidFill>
                  <a:srgbClr val="FF0000"/>
                </a:solidFill>
                <a:latin typeface="Arial Narrow" pitchFamily="34" charset="0"/>
              </a:rPr>
              <a:t>Log(N) </a:t>
            </a:r>
            <a:r>
              <a:rPr lang="it-IT" altLang="it-IT" sz="1800" i="1" dirty="0" err="1">
                <a:solidFill>
                  <a:srgbClr val="FF0000"/>
                </a:solidFill>
                <a:latin typeface="Arial Narrow" pitchFamily="34" charset="0"/>
              </a:rPr>
              <a:t>siblings</a:t>
            </a:r>
            <a:r>
              <a:rPr lang="it-IT" altLang="it-IT" sz="1800" i="1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it-IT" altLang="it-IT" sz="1800" i="1" dirty="0" err="1">
                <a:solidFill>
                  <a:srgbClr val="FF0000"/>
                </a:solidFill>
                <a:latin typeface="Arial Narrow" pitchFamily="34" charset="0"/>
              </a:rPr>
              <a:t>needed</a:t>
            </a:r>
            <a:endParaRPr lang="it-IT" altLang="it-IT" sz="1800" i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" name="Ovale 51">
            <a:extLst>
              <a:ext uri="{FF2B5EF4-FFF2-40B4-BE49-F238E27FC236}">
                <a16:creationId xmlns:a16="http://schemas.microsoft.com/office/drawing/2014/main" id="{CFFB0531-5FD3-91E8-77F4-5BFE596D8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804" y="5510652"/>
            <a:ext cx="949325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4" name="Ovale 53">
            <a:extLst>
              <a:ext uri="{FF2B5EF4-FFF2-40B4-BE49-F238E27FC236}">
                <a16:creationId xmlns:a16="http://schemas.microsoft.com/office/drawing/2014/main" id="{6B1D86E0-3344-509B-1C60-B8C136DAF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2729" y="4579584"/>
            <a:ext cx="823841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F27938E-6CA6-3B90-C32B-E08B76E98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961" y="5711471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95ED872-A863-59B7-3B7F-0247C328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00" y="5711471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B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C39EB17-629D-63CB-1013-02E1D9CD3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0150" y="5711471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C306615-8A17-F3F1-B7DE-51A0665A7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500" y="5711471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D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C46CA08-CA12-0F79-0B2D-89EB10A3C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361" y="5711471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E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376E4D6-EFB1-DB23-37AD-525491065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711" y="5711471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F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84A577A-2BBF-C6D6-4AB2-1A7D5F145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061" y="5711471"/>
            <a:ext cx="839788" cy="328613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GB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EE6A528-17F8-940C-ED2D-43F741AF2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411" y="5711471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</a:t>
            </a:r>
          </a:p>
        </p:txBody>
      </p:sp>
      <p:sp>
        <p:nvSpPr>
          <p:cNvPr id="13" name="Freccia in giù 14">
            <a:extLst>
              <a:ext uri="{FF2B5EF4-FFF2-40B4-BE49-F238E27FC236}">
                <a16:creationId xmlns:a16="http://schemas.microsoft.com/office/drawing/2014/main" id="{46AC4539-07BE-0F9E-5579-236A859F593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88986" y="5054246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4" name="Freccia in giù 15">
            <a:extLst>
              <a:ext uri="{FF2B5EF4-FFF2-40B4-BE49-F238E27FC236}">
                <a16:creationId xmlns:a16="http://schemas.microsoft.com/office/drawing/2014/main" id="{23300105-3A3D-50DE-9B2C-D0DB1732060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138311" y="5054246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5" name="Freccia in giù 16">
            <a:extLst>
              <a:ext uri="{FF2B5EF4-FFF2-40B4-BE49-F238E27FC236}">
                <a16:creationId xmlns:a16="http://schemas.microsoft.com/office/drawing/2014/main" id="{E8C01B2E-CD05-51E9-54E4-82BC8EBF736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233686" y="5054246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6" name="Freccia in giù 17">
            <a:extLst>
              <a:ext uri="{FF2B5EF4-FFF2-40B4-BE49-F238E27FC236}">
                <a16:creationId xmlns:a16="http://schemas.microsoft.com/office/drawing/2014/main" id="{A1CED5A2-1DCD-3A9D-1970-DFD0F52975F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183011" y="5054246"/>
            <a:ext cx="255588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" name="Freccia in giù 18">
            <a:extLst>
              <a:ext uri="{FF2B5EF4-FFF2-40B4-BE49-F238E27FC236}">
                <a16:creationId xmlns:a16="http://schemas.microsoft.com/office/drawing/2014/main" id="{67491241-9A90-C7CE-E4DB-0CB4E4B8474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14900" y="5054246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8" name="Freccia in giù 19">
            <a:extLst>
              <a:ext uri="{FF2B5EF4-FFF2-40B4-BE49-F238E27FC236}">
                <a16:creationId xmlns:a16="http://schemas.microsoft.com/office/drawing/2014/main" id="{EC7F8CBF-C5B0-913A-9ADA-725AD6F56F8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64225" y="5054246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9" name="Freccia in giù 20">
            <a:extLst>
              <a:ext uri="{FF2B5EF4-FFF2-40B4-BE49-F238E27FC236}">
                <a16:creationId xmlns:a16="http://schemas.microsoft.com/office/drawing/2014/main" id="{CACFD84D-06A2-0642-3C66-284BC5F87BE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324675" y="5054246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20" name="Freccia in giù 21">
            <a:extLst>
              <a:ext uri="{FF2B5EF4-FFF2-40B4-BE49-F238E27FC236}">
                <a16:creationId xmlns:a16="http://schemas.microsoft.com/office/drawing/2014/main" id="{3086D830-5236-5CDD-ED24-B0695AD51C1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274000" y="5054246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21" name="CasellaDiTesto 22">
            <a:extLst>
              <a:ext uri="{FF2B5EF4-FFF2-40B4-BE49-F238E27FC236}">
                <a16:creationId xmlns:a16="http://schemas.microsoft.com/office/drawing/2014/main" id="{FC622B99-9DA0-BCCF-26E6-8ABE505C3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450" y="4689120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H(A)</a:t>
            </a:r>
          </a:p>
        </p:txBody>
      </p:sp>
      <p:sp>
        <p:nvSpPr>
          <p:cNvPr id="22" name="CasellaDiTesto 23">
            <a:extLst>
              <a:ext uri="{FF2B5EF4-FFF2-40B4-BE49-F238E27FC236}">
                <a16:creationId xmlns:a16="http://schemas.microsoft.com/office/drawing/2014/main" id="{DAEA6414-99AF-46A7-FC88-A596CBD5D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375" y="4689120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H(B)</a:t>
            </a:r>
          </a:p>
        </p:txBody>
      </p:sp>
      <p:sp>
        <p:nvSpPr>
          <p:cNvPr id="23" name="CasellaDiTesto 24">
            <a:extLst>
              <a:ext uri="{FF2B5EF4-FFF2-40B4-BE49-F238E27FC236}">
                <a16:creationId xmlns:a16="http://schemas.microsoft.com/office/drawing/2014/main" id="{5142B259-1E50-E5E0-BD4B-DD9C3D3F2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637" y="468912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H(C)</a:t>
            </a:r>
          </a:p>
        </p:txBody>
      </p:sp>
      <p:sp>
        <p:nvSpPr>
          <p:cNvPr id="24" name="CasellaDiTesto 25">
            <a:extLst>
              <a:ext uri="{FF2B5EF4-FFF2-40B4-BE49-F238E27FC236}">
                <a16:creationId xmlns:a16="http://schemas.microsoft.com/office/drawing/2014/main" id="{33EEF7E8-C3D2-E0F9-5D1D-013F40848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562" y="468912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H(D)</a:t>
            </a:r>
          </a:p>
        </p:txBody>
      </p:sp>
      <p:sp>
        <p:nvSpPr>
          <p:cNvPr id="25" name="CasellaDiTesto 26">
            <a:extLst>
              <a:ext uri="{FF2B5EF4-FFF2-40B4-BE49-F238E27FC236}">
                <a16:creationId xmlns:a16="http://schemas.microsoft.com/office/drawing/2014/main" id="{BEF993C2-419D-6DC4-6F51-84F25C95F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25" y="4689120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H(E)</a:t>
            </a:r>
          </a:p>
        </p:txBody>
      </p:sp>
      <p:sp>
        <p:nvSpPr>
          <p:cNvPr id="26" name="CasellaDiTesto 27">
            <a:extLst>
              <a:ext uri="{FF2B5EF4-FFF2-40B4-BE49-F238E27FC236}">
                <a16:creationId xmlns:a16="http://schemas.microsoft.com/office/drawing/2014/main" id="{5BC74D21-FC9D-4628-A4BA-3D03A6DD0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3250" y="4689120"/>
            <a:ext cx="573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H(F)</a:t>
            </a:r>
          </a:p>
        </p:txBody>
      </p:sp>
      <p:sp>
        <p:nvSpPr>
          <p:cNvPr id="27" name="CasellaDiTesto 28">
            <a:extLst>
              <a:ext uri="{FF2B5EF4-FFF2-40B4-BE49-F238E27FC236}">
                <a16:creationId xmlns:a16="http://schemas.microsoft.com/office/drawing/2014/main" id="{A3876A6E-A38F-B2EA-75F3-4E33C7816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587" y="4689120"/>
            <a:ext cx="593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H(G)</a:t>
            </a:r>
          </a:p>
        </p:txBody>
      </p:sp>
      <p:sp>
        <p:nvSpPr>
          <p:cNvPr id="28" name="CasellaDiTesto 29">
            <a:extLst>
              <a:ext uri="{FF2B5EF4-FFF2-40B4-BE49-F238E27FC236}">
                <a16:creationId xmlns:a16="http://schemas.microsoft.com/office/drawing/2014/main" id="{EE509568-44AD-B842-73B6-63AAA1BF6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1437" y="468912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H(H)</a:t>
            </a:r>
          </a:p>
        </p:txBody>
      </p:sp>
      <p:sp>
        <p:nvSpPr>
          <p:cNvPr id="29" name="CasellaDiTesto 30">
            <a:extLst>
              <a:ext uri="{FF2B5EF4-FFF2-40B4-BE49-F238E27FC236}">
                <a16:creationId xmlns:a16="http://schemas.microsoft.com/office/drawing/2014/main" id="{55B6A70F-B82E-F91E-3B7A-A4F0FB502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574" y="3922359"/>
            <a:ext cx="1255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H[H(A),H(B)]</a:t>
            </a:r>
          </a:p>
        </p:txBody>
      </p:sp>
      <p:sp>
        <p:nvSpPr>
          <p:cNvPr id="30" name="CasellaDiTesto 31">
            <a:extLst>
              <a:ext uri="{FF2B5EF4-FFF2-40B4-BE49-F238E27FC236}">
                <a16:creationId xmlns:a16="http://schemas.microsoft.com/office/drawing/2014/main" id="{5B91C53A-4813-2C60-5835-C7FA6DAB5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249" y="3922359"/>
            <a:ext cx="1274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H[H(C),H(D)]</a:t>
            </a:r>
          </a:p>
        </p:txBody>
      </p:sp>
      <p:sp>
        <p:nvSpPr>
          <p:cNvPr id="31" name="CasellaDiTesto 32">
            <a:extLst>
              <a:ext uri="{FF2B5EF4-FFF2-40B4-BE49-F238E27FC236}">
                <a16:creationId xmlns:a16="http://schemas.microsoft.com/office/drawing/2014/main" id="{2502B6F5-6EE6-0498-0032-FB4FC253C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0437" y="3922359"/>
            <a:ext cx="1274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H[H(E),H(F)]</a:t>
            </a:r>
          </a:p>
        </p:txBody>
      </p:sp>
      <p:sp>
        <p:nvSpPr>
          <p:cNvPr id="32" name="CasellaDiTesto 33">
            <a:extLst>
              <a:ext uri="{FF2B5EF4-FFF2-40B4-BE49-F238E27FC236}">
                <a16:creationId xmlns:a16="http://schemas.microsoft.com/office/drawing/2014/main" id="{7C11637F-6532-9429-8C56-145AEA9CD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649" y="3922359"/>
            <a:ext cx="1274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H[H(G),H(H)]</a:t>
            </a:r>
          </a:p>
        </p:txBody>
      </p:sp>
      <p:sp>
        <p:nvSpPr>
          <p:cNvPr id="33" name="CasellaDiTesto 34">
            <a:extLst>
              <a:ext uri="{FF2B5EF4-FFF2-40B4-BE49-F238E27FC236}">
                <a16:creationId xmlns:a16="http://schemas.microsoft.com/office/drawing/2014/main" id="{04ED640A-2AB9-B3D2-0BA6-8EB6538F3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00" y="3155595"/>
            <a:ext cx="2713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H{H[H(A),H(B)],H[H(C),H(D)]} </a:t>
            </a:r>
          </a:p>
        </p:txBody>
      </p:sp>
      <p:sp>
        <p:nvSpPr>
          <p:cNvPr id="34" name="CasellaDiTesto 35">
            <a:extLst>
              <a:ext uri="{FF2B5EF4-FFF2-40B4-BE49-F238E27FC236}">
                <a16:creationId xmlns:a16="http://schemas.microsoft.com/office/drawing/2014/main" id="{8CC2F3AD-9ABD-0F64-2851-ECCF06C82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00" y="3155595"/>
            <a:ext cx="2713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H{H[H(E),H(F)],H[H(G),H(H)]} </a:t>
            </a:r>
          </a:p>
        </p:txBody>
      </p:sp>
      <p:sp>
        <p:nvSpPr>
          <p:cNvPr id="35" name="CasellaDiTesto 36">
            <a:extLst>
              <a:ext uri="{FF2B5EF4-FFF2-40B4-BE49-F238E27FC236}">
                <a16:creationId xmlns:a16="http://schemas.microsoft.com/office/drawing/2014/main" id="{822F2113-4342-B773-0395-B2F80758A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992" y="2352320"/>
            <a:ext cx="7312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0000"/>
                </a:solidFill>
                <a:latin typeface="Arial Narrow" pitchFamily="34" charset="0"/>
              </a:rPr>
              <a:t>ROOT</a:t>
            </a:r>
          </a:p>
        </p:txBody>
      </p:sp>
      <p:cxnSp>
        <p:nvCxnSpPr>
          <p:cNvPr id="36" name="Connettore 2 38">
            <a:extLst>
              <a:ext uri="{FF2B5EF4-FFF2-40B4-BE49-F238E27FC236}">
                <a16:creationId xmlns:a16="http://schemas.microsoft.com/office/drawing/2014/main" id="{97609B6A-35A9-2A5A-8CEF-323BCDBF288B}"/>
              </a:ext>
            </a:extLst>
          </p:cNvPr>
          <p:cNvCxnSpPr>
            <a:cxnSpLocks noChangeShapeType="1"/>
            <a:stCxn id="21" idx="0"/>
            <a:endCxn id="29" idx="2"/>
          </p:cNvCxnSpPr>
          <p:nvPr/>
        </p:nvCxnSpPr>
        <p:spPr bwMode="auto">
          <a:xfrm flipV="1">
            <a:off x="1365994" y="4292246"/>
            <a:ext cx="452436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Connettore 2 39">
            <a:extLst>
              <a:ext uri="{FF2B5EF4-FFF2-40B4-BE49-F238E27FC236}">
                <a16:creationId xmlns:a16="http://schemas.microsoft.com/office/drawing/2014/main" id="{7D2F13FB-A8E1-77CC-E3AD-C7B3ECA42071}"/>
              </a:ext>
            </a:extLst>
          </p:cNvPr>
          <p:cNvCxnSpPr>
            <a:cxnSpLocks noChangeShapeType="1"/>
            <a:stCxn id="29" idx="0"/>
            <a:endCxn id="33" idx="2"/>
          </p:cNvCxnSpPr>
          <p:nvPr/>
        </p:nvCxnSpPr>
        <p:spPr bwMode="auto">
          <a:xfrm rot="5400000" flipH="1" flipV="1">
            <a:off x="2140693" y="3202427"/>
            <a:ext cx="396875" cy="10429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Connettore 2 42">
            <a:extLst>
              <a:ext uri="{FF2B5EF4-FFF2-40B4-BE49-F238E27FC236}">
                <a16:creationId xmlns:a16="http://schemas.microsoft.com/office/drawing/2014/main" id="{F88DC19C-524C-1C06-AD26-C7F261B9A0AF}"/>
              </a:ext>
            </a:extLst>
          </p:cNvPr>
          <p:cNvCxnSpPr>
            <a:cxnSpLocks noChangeShapeType="1"/>
            <a:stCxn id="33" idx="0"/>
            <a:endCxn id="35" idx="2"/>
          </p:cNvCxnSpPr>
          <p:nvPr/>
        </p:nvCxnSpPr>
        <p:spPr bwMode="auto">
          <a:xfrm flipV="1">
            <a:off x="2861419" y="2721652"/>
            <a:ext cx="2004218" cy="43394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Connettore 2 45">
            <a:extLst>
              <a:ext uri="{FF2B5EF4-FFF2-40B4-BE49-F238E27FC236}">
                <a16:creationId xmlns:a16="http://schemas.microsoft.com/office/drawing/2014/main" id="{DF9B8501-727B-8718-2915-9FB998598513}"/>
              </a:ext>
            </a:extLst>
          </p:cNvPr>
          <p:cNvCxnSpPr>
            <a:cxnSpLocks noChangeShapeType="1"/>
            <a:stCxn id="34" idx="0"/>
            <a:endCxn id="35" idx="2"/>
          </p:cNvCxnSpPr>
          <p:nvPr/>
        </p:nvCxnSpPr>
        <p:spPr bwMode="auto">
          <a:xfrm flipH="1" flipV="1">
            <a:off x="4865637" y="2721652"/>
            <a:ext cx="1869282" cy="43394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Connettore 2 48">
            <a:extLst>
              <a:ext uri="{FF2B5EF4-FFF2-40B4-BE49-F238E27FC236}">
                <a16:creationId xmlns:a16="http://schemas.microsoft.com/office/drawing/2014/main" id="{43CAC2A8-0F45-CED8-1A73-F90D8ABF5EE6}"/>
              </a:ext>
            </a:extLst>
          </p:cNvPr>
          <p:cNvCxnSpPr>
            <a:cxnSpLocks noChangeShapeType="1"/>
            <a:stCxn id="31" idx="0"/>
            <a:endCxn id="34" idx="2"/>
          </p:cNvCxnSpPr>
          <p:nvPr/>
        </p:nvCxnSpPr>
        <p:spPr bwMode="auto">
          <a:xfrm rot="5400000" flipH="1" flipV="1">
            <a:off x="6072931" y="3259578"/>
            <a:ext cx="396875" cy="9286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Connettore 2 49">
            <a:extLst>
              <a:ext uri="{FF2B5EF4-FFF2-40B4-BE49-F238E27FC236}">
                <a16:creationId xmlns:a16="http://schemas.microsoft.com/office/drawing/2014/main" id="{6D4CC742-65B5-2E4A-900E-977A92763FCF}"/>
              </a:ext>
            </a:extLst>
          </p:cNvPr>
          <p:cNvCxnSpPr>
            <a:cxnSpLocks noChangeShapeType="1"/>
            <a:stCxn id="24" idx="0"/>
            <a:endCxn id="30" idx="2"/>
          </p:cNvCxnSpPr>
          <p:nvPr/>
        </p:nvCxnSpPr>
        <p:spPr bwMode="auto">
          <a:xfrm flipH="1" flipV="1">
            <a:off x="3799630" y="4292246"/>
            <a:ext cx="503239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Connettore 2 50">
            <a:extLst>
              <a:ext uri="{FF2B5EF4-FFF2-40B4-BE49-F238E27FC236}">
                <a16:creationId xmlns:a16="http://schemas.microsoft.com/office/drawing/2014/main" id="{10E61097-A7D3-DFCD-4829-09EDC1637805}"/>
              </a:ext>
            </a:extLst>
          </p:cNvPr>
          <p:cNvCxnSpPr>
            <a:cxnSpLocks noChangeShapeType="1"/>
            <a:stCxn id="32" idx="0"/>
            <a:endCxn id="34" idx="2"/>
          </p:cNvCxnSpPr>
          <p:nvPr/>
        </p:nvCxnSpPr>
        <p:spPr bwMode="auto">
          <a:xfrm rot="16200000" flipV="1">
            <a:off x="7114331" y="3146865"/>
            <a:ext cx="396875" cy="11541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Connettore 2 51">
            <a:extLst>
              <a:ext uri="{FF2B5EF4-FFF2-40B4-BE49-F238E27FC236}">
                <a16:creationId xmlns:a16="http://schemas.microsoft.com/office/drawing/2014/main" id="{A6C28B15-76C8-0033-5D90-BA63AD2D5571}"/>
              </a:ext>
            </a:extLst>
          </p:cNvPr>
          <p:cNvCxnSpPr>
            <a:cxnSpLocks noChangeShapeType="1"/>
            <a:stCxn id="30" idx="0"/>
            <a:endCxn id="33" idx="2"/>
          </p:cNvCxnSpPr>
          <p:nvPr/>
        </p:nvCxnSpPr>
        <p:spPr bwMode="auto">
          <a:xfrm rot="16200000" flipV="1">
            <a:off x="3131293" y="3254815"/>
            <a:ext cx="396875" cy="9382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Connettore 2 60">
            <a:extLst>
              <a:ext uri="{FF2B5EF4-FFF2-40B4-BE49-F238E27FC236}">
                <a16:creationId xmlns:a16="http://schemas.microsoft.com/office/drawing/2014/main" id="{3EC7217A-37FB-9245-B7DD-F499DA9D4A3A}"/>
              </a:ext>
            </a:extLst>
          </p:cNvPr>
          <p:cNvCxnSpPr>
            <a:cxnSpLocks noChangeShapeType="1"/>
            <a:stCxn id="23" idx="0"/>
            <a:endCxn id="30" idx="2"/>
          </p:cNvCxnSpPr>
          <p:nvPr/>
        </p:nvCxnSpPr>
        <p:spPr bwMode="auto">
          <a:xfrm flipV="1">
            <a:off x="3378944" y="4292246"/>
            <a:ext cx="420686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Connettore 2 61">
            <a:extLst>
              <a:ext uri="{FF2B5EF4-FFF2-40B4-BE49-F238E27FC236}">
                <a16:creationId xmlns:a16="http://schemas.microsoft.com/office/drawing/2014/main" id="{9335209F-E136-6764-E6F0-A52D1C6F84CE}"/>
              </a:ext>
            </a:extLst>
          </p:cNvPr>
          <p:cNvCxnSpPr>
            <a:cxnSpLocks noChangeShapeType="1"/>
            <a:stCxn id="26" idx="0"/>
            <a:endCxn id="31" idx="2"/>
          </p:cNvCxnSpPr>
          <p:nvPr/>
        </p:nvCxnSpPr>
        <p:spPr bwMode="auto">
          <a:xfrm flipH="1" flipV="1">
            <a:off x="5807819" y="4292246"/>
            <a:ext cx="561975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Connettore 2 62">
            <a:extLst>
              <a:ext uri="{FF2B5EF4-FFF2-40B4-BE49-F238E27FC236}">
                <a16:creationId xmlns:a16="http://schemas.microsoft.com/office/drawing/2014/main" id="{57F313FA-824E-34A5-52CB-EF706AD34ACD}"/>
              </a:ext>
            </a:extLst>
          </p:cNvPr>
          <p:cNvCxnSpPr>
            <a:cxnSpLocks noChangeShapeType="1"/>
            <a:stCxn id="25" idx="0"/>
            <a:endCxn id="31" idx="2"/>
          </p:cNvCxnSpPr>
          <p:nvPr/>
        </p:nvCxnSpPr>
        <p:spPr bwMode="auto">
          <a:xfrm flipV="1">
            <a:off x="5445869" y="4292246"/>
            <a:ext cx="361950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Connettore 2 69">
            <a:extLst>
              <a:ext uri="{FF2B5EF4-FFF2-40B4-BE49-F238E27FC236}">
                <a16:creationId xmlns:a16="http://schemas.microsoft.com/office/drawing/2014/main" id="{C65EE635-3A40-3603-865A-AB897DC8DF98}"/>
              </a:ext>
            </a:extLst>
          </p:cNvPr>
          <p:cNvCxnSpPr>
            <a:cxnSpLocks noChangeShapeType="1"/>
            <a:stCxn id="22" idx="0"/>
            <a:endCxn id="29" idx="2"/>
          </p:cNvCxnSpPr>
          <p:nvPr/>
        </p:nvCxnSpPr>
        <p:spPr bwMode="auto">
          <a:xfrm flipH="1" flipV="1">
            <a:off x="1818430" y="4292246"/>
            <a:ext cx="471489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Connettore 2 72">
            <a:extLst>
              <a:ext uri="{FF2B5EF4-FFF2-40B4-BE49-F238E27FC236}">
                <a16:creationId xmlns:a16="http://schemas.microsoft.com/office/drawing/2014/main" id="{DB934932-C378-081D-D90D-B8BD78663009}"/>
              </a:ext>
            </a:extLst>
          </p:cNvPr>
          <p:cNvCxnSpPr>
            <a:cxnSpLocks noChangeShapeType="1"/>
            <a:stCxn id="27" idx="0"/>
          </p:cNvCxnSpPr>
          <p:nvPr/>
        </p:nvCxnSpPr>
        <p:spPr bwMode="auto">
          <a:xfrm rot="5400000" flipH="1" flipV="1">
            <a:off x="7460406" y="4256527"/>
            <a:ext cx="401637" cy="4635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Connettore 2 73">
            <a:extLst>
              <a:ext uri="{FF2B5EF4-FFF2-40B4-BE49-F238E27FC236}">
                <a16:creationId xmlns:a16="http://schemas.microsoft.com/office/drawing/2014/main" id="{4EFD82F0-FBDC-1AAC-7477-0ED54C0C059E}"/>
              </a:ext>
            </a:extLst>
          </p:cNvPr>
          <p:cNvCxnSpPr>
            <a:cxnSpLocks noChangeShapeType="1"/>
            <a:stCxn id="27" idx="0"/>
            <a:endCxn id="32" idx="2"/>
          </p:cNvCxnSpPr>
          <p:nvPr/>
        </p:nvCxnSpPr>
        <p:spPr bwMode="auto">
          <a:xfrm rot="5400000" flipH="1" flipV="1">
            <a:off x="7461200" y="4260496"/>
            <a:ext cx="396875" cy="4603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Connettore 2 79">
            <a:extLst>
              <a:ext uri="{FF2B5EF4-FFF2-40B4-BE49-F238E27FC236}">
                <a16:creationId xmlns:a16="http://schemas.microsoft.com/office/drawing/2014/main" id="{BAE88715-3A02-385C-B2DF-0FD90BB3A706}"/>
              </a:ext>
            </a:extLst>
          </p:cNvPr>
          <p:cNvCxnSpPr>
            <a:cxnSpLocks noChangeShapeType="1"/>
            <a:stCxn id="28" idx="0"/>
            <a:endCxn id="32" idx="2"/>
          </p:cNvCxnSpPr>
          <p:nvPr/>
        </p:nvCxnSpPr>
        <p:spPr bwMode="auto">
          <a:xfrm flipH="1" flipV="1">
            <a:off x="7889030" y="4292246"/>
            <a:ext cx="493714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2619F908-449D-B32F-A0B1-570204283926}"/>
              </a:ext>
            </a:extLst>
          </p:cNvPr>
          <p:cNvSpPr txBox="1"/>
          <p:nvPr/>
        </p:nvSpPr>
        <p:spPr>
          <a:xfrm>
            <a:off x="52279" y="649615"/>
            <a:ext cx="1426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/>
              <a:t>Give</a:t>
            </a:r>
            <a:r>
              <a:rPr lang="it-IT" sz="2800" b="1" dirty="0"/>
              <a:t> me: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30A50486-45E8-E0A1-225B-C9EB9AF99F64}"/>
              </a:ext>
            </a:extLst>
          </p:cNvPr>
          <p:cNvSpPr txBox="1"/>
          <p:nvPr/>
        </p:nvSpPr>
        <p:spPr>
          <a:xfrm>
            <a:off x="498213" y="1202113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- </a:t>
            </a:r>
            <a:r>
              <a:rPr lang="it-IT" sz="2800" b="1" dirty="0" err="1"/>
              <a:t>Cert</a:t>
            </a:r>
            <a:r>
              <a:rPr lang="it-IT" sz="2800" b="1" dirty="0"/>
              <a:t> GB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78A6D60E-672C-1222-B945-B643A9353784}"/>
              </a:ext>
            </a:extLst>
          </p:cNvPr>
          <p:cNvSpPr txBox="1"/>
          <p:nvPr/>
        </p:nvSpPr>
        <p:spPr>
          <a:xfrm>
            <a:off x="484339" y="1704077"/>
            <a:ext cx="1787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- </a:t>
            </a:r>
            <a:r>
              <a:rPr lang="it-IT" sz="2800" b="1" dirty="0" err="1"/>
              <a:t>Sibling</a:t>
            </a:r>
            <a:r>
              <a:rPr lang="it-IT" sz="2800" b="1" dirty="0"/>
              <a:t> S1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115B0501-642E-D1D2-D585-041F145F29A6}"/>
              </a:ext>
            </a:extLst>
          </p:cNvPr>
          <p:cNvSpPr txBox="1"/>
          <p:nvPr/>
        </p:nvSpPr>
        <p:spPr>
          <a:xfrm>
            <a:off x="484339" y="2206041"/>
            <a:ext cx="1787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- </a:t>
            </a:r>
            <a:r>
              <a:rPr lang="it-IT" sz="2800" b="1" dirty="0" err="1"/>
              <a:t>Sibling</a:t>
            </a:r>
            <a:r>
              <a:rPr lang="it-IT" sz="2800" b="1" dirty="0"/>
              <a:t> S2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46331209-6AA2-006D-31AB-C1D186DE4462}"/>
              </a:ext>
            </a:extLst>
          </p:cNvPr>
          <p:cNvSpPr txBox="1"/>
          <p:nvPr/>
        </p:nvSpPr>
        <p:spPr>
          <a:xfrm>
            <a:off x="484339" y="2708005"/>
            <a:ext cx="1787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- </a:t>
            </a:r>
            <a:r>
              <a:rPr lang="it-IT" sz="2800" b="1" dirty="0" err="1"/>
              <a:t>Sibling</a:t>
            </a:r>
            <a:r>
              <a:rPr lang="it-IT" sz="2800" b="1" dirty="0"/>
              <a:t> S3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8EA02943-4CAC-B7CA-FD67-4573764868B3}"/>
              </a:ext>
            </a:extLst>
          </p:cNvPr>
          <p:cNvSpPr txBox="1"/>
          <p:nvPr/>
        </p:nvSpPr>
        <p:spPr>
          <a:xfrm>
            <a:off x="8139986" y="4615520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solidFill>
                  <a:srgbClr val="FF0000"/>
                </a:solidFill>
              </a:rPr>
              <a:t>S1</a:t>
            </a:r>
          </a:p>
        </p:txBody>
      </p:sp>
      <p:sp>
        <p:nvSpPr>
          <p:cNvPr id="57" name="Ovale 53">
            <a:extLst>
              <a:ext uri="{FF2B5EF4-FFF2-40B4-BE49-F238E27FC236}">
                <a16:creationId xmlns:a16="http://schemas.microsoft.com/office/drawing/2014/main" id="{01BB1BE5-DC90-7BA2-C4BD-D790E848B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856" y="3024910"/>
            <a:ext cx="823841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E6E81B66-D0B7-343E-2590-E4E44A3B22BD}"/>
              </a:ext>
            </a:extLst>
          </p:cNvPr>
          <p:cNvSpPr txBox="1"/>
          <p:nvPr/>
        </p:nvSpPr>
        <p:spPr>
          <a:xfrm>
            <a:off x="2474113" y="3060846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solidFill>
                  <a:srgbClr val="FF0000"/>
                </a:solidFill>
              </a:rPr>
              <a:t>S3</a:t>
            </a:r>
          </a:p>
        </p:txBody>
      </p:sp>
      <p:sp>
        <p:nvSpPr>
          <p:cNvPr id="59" name="Ovale 53">
            <a:extLst>
              <a:ext uri="{FF2B5EF4-FFF2-40B4-BE49-F238E27FC236}">
                <a16:creationId xmlns:a16="http://schemas.microsoft.com/office/drawing/2014/main" id="{8D871349-F2DB-8785-9A8A-A2C808463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967" y="3730649"/>
            <a:ext cx="823841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AEBF7ACE-71E9-5090-C295-B31760DEE3D5}"/>
              </a:ext>
            </a:extLst>
          </p:cNvPr>
          <p:cNvSpPr txBox="1"/>
          <p:nvPr/>
        </p:nvSpPr>
        <p:spPr>
          <a:xfrm>
            <a:off x="5507224" y="376658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solidFill>
                  <a:srgbClr val="FF0000"/>
                </a:solidFill>
              </a:rPr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val="331510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61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8" grpId="0"/>
      <p:bldP spid="29" grpId="0"/>
      <p:bldP spid="30" grpId="0"/>
      <p:bldP spid="31" grpId="0"/>
      <p:bldP spid="33" grpId="0"/>
      <p:bldP spid="51" grpId="0"/>
      <p:bldP spid="52" grpId="0"/>
      <p:bldP spid="53" grpId="0"/>
      <p:bldP spid="54" grpId="0"/>
      <p:bldP spid="55" grpId="0"/>
      <p:bldP spid="56" grpId="0"/>
      <p:bldP spid="57" grpId="0" animBg="1"/>
      <p:bldP spid="58" grpId="0"/>
      <p:bldP spid="59" grpId="0" animBg="1"/>
      <p:bldP spid="6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5574C-6CAC-E93F-43F9-2B86A886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94D10C-316D-D039-1AE8-CC84BFB4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Single CERT </a:t>
            </a:r>
            <a:r>
              <a:rPr lang="it-IT" dirty="0" err="1"/>
              <a:t>verification</a:t>
            </a:r>
            <a:r>
              <a:rPr lang="it-IT" dirty="0"/>
              <a:t>: fast with “</a:t>
            </a:r>
            <a:r>
              <a:rPr lang="it-IT" dirty="0" err="1"/>
              <a:t>siblings</a:t>
            </a:r>
            <a:r>
              <a:rPr lang="it-IT" dirty="0"/>
              <a:t>”!</a:t>
            </a:r>
          </a:p>
        </p:txBody>
      </p:sp>
      <p:sp>
        <p:nvSpPr>
          <p:cNvPr id="3" name="Ovale 51">
            <a:extLst>
              <a:ext uri="{FF2B5EF4-FFF2-40B4-BE49-F238E27FC236}">
                <a16:creationId xmlns:a16="http://schemas.microsoft.com/office/drawing/2014/main" id="{F90D2FC3-6708-6211-6EF6-67EEB5EA0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804" y="5510652"/>
            <a:ext cx="949325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4" name="Ovale 53">
            <a:extLst>
              <a:ext uri="{FF2B5EF4-FFF2-40B4-BE49-F238E27FC236}">
                <a16:creationId xmlns:a16="http://schemas.microsoft.com/office/drawing/2014/main" id="{E7532844-7DE7-C581-B1C5-82156B831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2729" y="4579584"/>
            <a:ext cx="823841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126E344-F126-77A1-82FA-479B25E92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061" y="5711471"/>
            <a:ext cx="839788" cy="328613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GB</a:t>
            </a:r>
          </a:p>
        </p:txBody>
      </p:sp>
      <p:sp>
        <p:nvSpPr>
          <p:cNvPr id="19" name="Freccia in giù 20">
            <a:extLst>
              <a:ext uri="{FF2B5EF4-FFF2-40B4-BE49-F238E27FC236}">
                <a16:creationId xmlns:a16="http://schemas.microsoft.com/office/drawing/2014/main" id="{429E2FFF-BFB7-DF1F-D9AF-F2821BCB439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324675" y="5054246"/>
            <a:ext cx="255587" cy="620713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27" name="CasellaDiTesto 28">
            <a:extLst>
              <a:ext uri="{FF2B5EF4-FFF2-40B4-BE49-F238E27FC236}">
                <a16:creationId xmlns:a16="http://schemas.microsoft.com/office/drawing/2014/main" id="{D169B92D-79E8-428D-42DC-7A6F67E99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587" y="4689120"/>
            <a:ext cx="593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H(G)</a:t>
            </a:r>
          </a:p>
        </p:txBody>
      </p:sp>
      <p:sp>
        <p:nvSpPr>
          <p:cNvPr id="32" name="CasellaDiTesto 33">
            <a:extLst>
              <a:ext uri="{FF2B5EF4-FFF2-40B4-BE49-F238E27FC236}">
                <a16:creationId xmlns:a16="http://schemas.microsoft.com/office/drawing/2014/main" id="{B3156E95-E889-90B2-D614-AF6556C63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649" y="3922359"/>
            <a:ext cx="1274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H[H(G),H(H)]</a:t>
            </a:r>
          </a:p>
        </p:txBody>
      </p:sp>
      <p:sp>
        <p:nvSpPr>
          <p:cNvPr id="34" name="CasellaDiTesto 35">
            <a:extLst>
              <a:ext uri="{FF2B5EF4-FFF2-40B4-BE49-F238E27FC236}">
                <a16:creationId xmlns:a16="http://schemas.microsoft.com/office/drawing/2014/main" id="{541658F7-DC2C-1F77-2754-1A0411E5E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00" y="3155595"/>
            <a:ext cx="2713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H{H[H(E),H(F)],H[H(G),H(H)]} </a:t>
            </a:r>
          </a:p>
        </p:txBody>
      </p:sp>
      <p:sp>
        <p:nvSpPr>
          <p:cNvPr id="35" name="CasellaDiTesto 36">
            <a:extLst>
              <a:ext uri="{FF2B5EF4-FFF2-40B4-BE49-F238E27FC236}">
                <a16:creationId xmlns:a16="http://schemas.microsoft.com/office/drawing/2014/main" id="{3137EC43-01D7-8D61-86E2-10D8B1C9E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992" y="2352320"/>
            <a:ext cx="7312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0000"/>
                </a:solidFill>
                <a:latin typeface="Arial Narrow" pitchFamily="34" charset="0"/>
              </a:rPr>
              <a:t>ROOT</a:t>
            </a:r>
          </a:p>
        </p:txBody>
      </p:sp>
      <p:cxnSp>
        <p:nvCxnSpPr>
          <p:cNvPr id="39" name="Connettore 2 45">
            <a:extLst>
              <a:ext uri="{FF2B5EF4-FFF2-40B4-BE49-F238E27FC236}">
                <a16:creationId xmlns:a16="http://schemas.microsoft.com/office/drawing/2014/main" id="{405D121C-ADCF-4464-2CA0-464CE74D7F5A}"/>
              </a:ext>
            </a:extLst>
          </p:cNvPr>
          <p:cNvCxnSpPr>
            <a:cxnSpLocks noChangeShapeType="1"/>
            <a:stCxn id="34" idx="0"/>
            <a:endCxn id="35" idx="2"/>
          </p:cNvCxnSpPr>
          <p:nvPr/>
        </p:nvCxnSpPr>
        <p:spPr bwMode="auto">
          <a:xfrm flipH="1" flipV="1">
            <a:off x="4865637" y="2721652"/>
            <a:ext cx="1869282" cy="43394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Connettore 2 48">
            <a:extLst>
              <a:ext uri="{FF2B5EF4-FFF2-40B4-BE49-F238E27FC236}">
                <a16:creationId xmlns:a16="http://schemas.microsoft.com/office/drawing/2014/main" id="{A525189E-4CDD-CCAE-41BA-C0E198913B0A}"/>
              </a:ext>
            </a:extLst>
          </p:cNvPr>
          <p:cNvCxnSpPr>
            <a:cxnSpLocks noChangeShapeType="1"/>
            <a:endCxn id="34" idx="2"/>
          </p:cNvCxnSpPr>
          <p:nvPr/>
        </p:nvCxnSpPr>
        <p:spPr bwMode="auto">
          <a:xfrm rot="5400000" flipH="1" flipV="1">
            <a:off x="6072931" y="3259578"/>
            <a:ext cx="396875" cy="9286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Connettore 2 50">
            <a:extLst>
              <a:ext uri="{FF2B5EF4-FFF2-40B4-BE49-F238E27FC236}">
                <a16:creationId xmlns:a16="http://schemas.microsoft.com/office/drawing/2014/main" id="{CB416185-5E48-A074-370F-107A918458A3}"/>
              </a:ext>
            </a:extLst>
          </p:cNvPr>
          <p:cNvCxnSpPr>
            <a:cxnSpLocks noChangeShapeType="1"/>
            <a:stCxn id="32" idx="0"/>
            <a:endCxn id="34" idx="2"/>
          </p:cNvCxnSpPr>
          <p:nvPr/>
        </p:nvCxnSpPr>
        <p:spPr bwMode="auto">
          <a:xfrm rot="16200000" flipV="1">
            <a:off x="7114331" y="3146865"/>
            <a:ext cx="396875" cy="11541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Connettore 2 72">
            <a:extLst>
              <a:ext uri="{FF2B5EF4-FFF2-40B4-BE49-F238E27FC236}">
                <a16:creationId xmlns:a16="http://schemas.microsoft.com/office/drawing/2014/main" id="{F029E477-53AB-3846-CFA9-16062E49E60D}"/>
              </a:ext>
            </a:extLst>
          </p:cNvPr>
          <p:cNvCxnSpPr>
            <a:cxnSpLocks noChangeShapeType="1"/>
            <a:stCxn id="27" idx="0"/>
          </p:cNvCxnSpPr>
          <p:nvPr/>
        </p:nvCxnSpPr>
        <p:spPr bwMode="auto">
          <a:xfrm rot="5400000" flipH="1" flipV="1">
            <a:off x="7460406" y="4256527"/>
            <a:ext cx="401637" cy="4635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Connettore 2 73">
            <a:extLst>
              <a:ext uri="{FF2B5EF4-FFF2-40B4-BE49-F238E27FC236}">
                <a16:creationId xmlns:a16="http://schemas.microsoft.com/office/drawing/2014/main" id="{010E5BCF-CBC7-9C4D-2F07-DC6F0F6BF8FE}"/>
              </a:ext>
            </a:extLst>
          </p:cNvPr>
          <p:cNvCxnSpPr>
            <a:cxnSpLocks noChangeShapeType="1"/>
            <a:stCxn id="27" idx="0"/>
            <a:endCxn id="32" idx="2"/>
          </p:cNvCxnSpPr>
          <p:nvPr/>
        </p:nvCxnSpPr>
        <p:spPr bwMode="auto">
          <a:xfrm rot="5400000" flipH="1" flipV="1">
            <a:off x="7461200" y="4260496"/>
            <a:ext cx="396875" cy="4603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Connettore 2 79">
            <a:extLst>
              <a:ext uri="{FF2B5EF4-FFF2-40B4-BE49-F238E27FC236}">
                <a16:creationId xmlns:a16="http://schemas.microsoft.com/office/drawing/2014/main" id="{46FB7635-CF3E-7C37-4C30-DE845AA05613}"/>
              </a:ext>
            </a:extLst>
          </p:cNvPr>
          <p:cNvCxnSpPr>
            <a:cxnSpLocks noChangeShapeType="1"/>
            <a:endCxn id="32" idx="2"/>
          </p:cNvCxnSpPr>
          <p:nvPr/>
        </p:nvCxnSpPr>
        <p:spPr bwMode="auto">
          <a:xfrm flipH="1" flipV="1">
            <a:off x="7889030" y="4292246"/>
            <a:ext cx="493714" cy="39687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4FA032A-F656-F8CF-FA72-AB15EBA1EC54}"/>
              </a:ext>
            </a:extLst>
          </p:cNvPr>
          <p:cNvSpPr txBox="1"/>
          <p:nvPr/>
        </p:nvSpPr>
        <p:spPr>
          <a:xfrm>
            <a:off x="52279" y="649615"/>
            <a:ext cx="1426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/>
              <a:t>Give</a:t>
            </a:r>
            <a:r>
              <a:rPr lang="it-IT" sz="2800" b="1" dirty="0"/>
              <a:t> me: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21407415-F4E4-D6A4-73E9-18711FFCDF97}"/>
              </a:ext>
            </a:extLst>
          </p:cNvPr>
          <p:cNvSpPr txBox="1"/>
          <p:nvPr/>
        </p:nvSpPr>
        <p:spPr>
          <a:xfrm>
            <a:off x="498213" y="1202113"/>
            <a:ext cx="14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- </a:t>
            </a:r>
            <a:r>
              <a:rPr lang="it-IT" sz="2800" b="1" dirty="0" err="1"/>
              <a:t>Cert</a:t>
            </a:r>
            <a:r>
              <a:rPr lang="it-IT" sz="2800" b="1" dirty="0"/>
              <a:t> GB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18B608F6-6744-9800-2012-FDBB87AB7E9E}"/>
              </a:ext>
            </a:extLst>
          </p:cNvPr>
          <p:cNvSpPr txBox="1"/>
          <p:nvPr/>
        </p:nvSpPr>
        <p:spPr>
          <a:xfrm>
            <a:off x="484339" y="1704077"/>
            <a:ext cx="1787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- </a:t>
            </a:r>
            <a:r>
              <a:rPr lang="it-IT" sz="2800" b="1" dirty="0" err="1"/>
              <a:t>Sibling</a:t>
            </a:r>
            <a:r>
              <a:rPr lang="it-IT" sz="2800" b="1" dirty="0"/>
              <a:t> S1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76DDA326-C75C-63E8-6C09-CEB63F7F21BC}"/>
              </a:ext>
            </a:extLst>
          </p:cNvPr>
          <p:cNvSpPr txBox="1"/>
          <p:nvPr/>
        </p:nvSpPr>
        <p:spPr>
          <a:xfrm>
            <a:off x="484339" y="2206041"/>
            <a:ext cx="1787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- </a:t>
            </a:r>
            <a:r>
              <a:rPr lang="it-IT" sz="2800" b="1" dirty="0" err="1"/>
              <a:t>Sibling</a:t>
            </a:r>
            <a:r>
              <a:rPr lang="it-IT" sz="2800" b="1" dirty="0"/>
              <a:t> S2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54D8880E-EB80-217E-459B-43B87ED4E7F2}"/>
              </a:ext>
            </a:extLst>
          </p:cNvPr>
          <p:cNvSpPr txBox="1"/>
          <p:nvPr/>
        </p:nvSpPr>
        <p:spPr>
          <a:xfrm>
            <a:off x="484339" y="2708005"/>
            <a:ext cx="1787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- </a:t>
            </a:r>
            <a:r>
              <a:rPr lang="it-IT" sz="2800" b="1" dirty="0" err="1"/>
              <a:t>Sibling</a:t>
            </a:r>
            <a:r>
              <a:rPr lang="it-IT" sz="2800" b="1" dirty="0"/>
              <a:t> S3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D09CAABA-E886-231E-B978-805BBECFE66B}"/>
              </a:ext>
            </a:extLst>
          </p:cNvPr>
          <p:cNvSpPr txBox="1"/>
          <p:nvPr/>
        </p:nvSpPr>
        <p:spPr>
          <a:xfrm>
            <a:off x="8139986" y="4615520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solidFill>
                  <a:srgbClr val="FF0000"/>
                </a:solidFill>
              </a:rPr>
              <a:t>S1</a:t>
            </a:r>
          </a:p>
        </p:txBody>
      </p:sp>
      <p:sp>
        <p:nvSpPr>
          <p:cNvPr id="59" name="Ovale 53">
            <a:extLst>
              <a:ext uri="{FF2B5EF4-FFF2-40B4-BE49-F238E27FC236}">
                <a16:creationId xmlns:a16="http://schemas.microsoft.com/office/drawing/2014/main" id="{E9F1A00C-018F-7E78-1593-E5EA703D6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967" y="3730649"/>
            <a:ext cx="823841" cy="730250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89F0F2C2-CB04-C6E7-515F-FD46AD5AB287}"/>
              </a:ext>
            </a:extLst>
          </p:cNvPr>
          <p:cNvSpPr txBox="1"/>
          <p:nvPr/>
        </p:nvSpPr>
        <p:spPr>
          <a:xfrm>
            <a:off x="5507224" y="376658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solidFill>
                  <a:srgbClr val="FF0000"/>
                </a:solidFill>
              </a:rPr>
              <a:t>S2</a:t>
            </a:r>
          </a:p>
        </p:txBody>
      </p:sp>
      <p:pic>
        <p:nvPicPr>
          <p:cNvPr id="61" name="Picture 4">
            <a:extLst>
              <a:ext uri="{FF2B5EF4-FFF2-40B4-BE49-F238E27FC236}">
                <a16:creationId xmlns:a16="http://schemas.microsoft.com/office/drawing/2014/main" id="{A80BB3FE-2A07-C809-CA82-8DD396BFB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24" y="4697989"/>
            <a:ext cx="87788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AutoShape 5">
            <a:extLst>
              <a:ext uri="{FF2B5EF4-FFF2-40B4-BE49-F238E27FC236}">
                <a16:creationId xmlns:a16="http://schemas.microsoft.com/office/drawing/2014/main" id="{9CF2CCBC-4BA1-F50A-8B8B-917B38811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709" y="4904364"/>
            <a:ext cx="4510627" cy="622300"/>
          </a:xfrm>
          <a:prstGeom prst="rightArrow">
            <a:avLst>
              <a:gd name="adj1" fmla="val 68463"/>
              <a:gd name="adj2" fmla="val 43297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itchFamily="34" charset="0"/>
              </a:rPr>
              <a:t>Please</a:t>
            </a:r>
            <a:r>
              <a:rPr lang="it-IT" altLang="it-IT" sz="1800" dirty="0">
                <a:latin typeface="Arial Narrow" pitchFamily="34" charset="0"/>
              </a:rPr>
              <a:t> </a:t>
            </a:r>
            <a:r>
              <a:rPr lang="it-IT" altLang="it-IT" sz="1800" dirty="0" err="1">
                <a:latin typeface="Arial Narrow" pitchFamily="34" charset="0"/>
              </a:rPr>
              <a:t>give</a:t>
            </a:r>
            <a:r>
              <a:rPr lang="it-IT" altLang="it-IT" sz="1800" dirty="0">
                <a:latin typeface="Arial Narrow" pitchFamily="34" charset="0"/>
              </a:rPr>
              <a:t> me GB</a:t>
            </a:r>
          </a:p>
        </p:txBody>
      </p:sp>
      <p:sp>
        <p:nvSpPr>
          <p:cNvPr id="63" name="AutoShape 6">
            <a:extLst>
              <a:ext uri="{FF2B5EF4-FFF2-40B4-BE49-F238E27FC236}">
                <a16:creationId xmlns:a16="http://schemas.microsoft.com/office/drawing/2014/main" id="{59903416-CB1E-3A1E-A718-AFC1EDB2CD2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64709" y="5517139"/>
            <a:ext cx="4369735" cy="514350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GB + S1, S2, S3</a:t>
            </a:r>
            <a:endParaRPr lang="it-IT" altLang="it-IT" sz="1800" baseline="-25000" dirty="0">
              <a:latin typeface="Arial Narrow" pitchFamily="34" charset="0"/>
            </a:endParaRPr>
          </a:p>
        </p:txBody>
      </p:sp>
      <p:sp>
        <p:nvSpPr>
          <p:cNvPr id="17408" name="CasellaDiTesto 17407">
            <a:extLst>
              <a:ext uri="{FF2B5EF4-FFF2-40B4-BE49-F238E27FC236}">
                <a16:creationId xmlns:a16="http://schemas.microsoft.com/office/drawing/2014/main" id="{98D734EB-02FA-7AA1-275B-C2EDB34FAD6B}"/>
              </a:ext>
            </a:extLst>
          </p:cNvPr>
          <p:cNvSpPr txBox="1"/>
          <p:nvPr/>
        </p:nvSpPr>
        <p:spPr>
          <a:xfrm>
            <a:off x="2119673" y="5996107"/>
            <a:ext cx="34272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DATA + </a:t>
            </a:r>
            <a:r>
              <a:rPr lang="it-IT" sz="2000" b="1" dirty="0" err="1">
                <a:solidFill>
                  <a:srgbClr val="FF0000"/>
                </a:solidFill>
              </a:rPr>
              <a:t>Validation</a:t>
            </a:r>
            <a:r>
              <a:rPr lang="it-IT" sz="2000" b="1" dirty="0">
                <a:solidFill>
                  <a:srgbClr val="FF0000"/>
                </a:solidFill>
              </a:rPr>
              <a:t> «</a:t>
            </a:r>
            <a:r>
              <a:rPr lang="it-IT" sz="2000" b="1" dirty="0" err="1">
                <a:solidFill>
                  <a:srgbClr val="FF0000"/>
                </a:solidFill>
              </a:rPr>
              <a:t>coordinates</a:t>
            </a:r>
            <a:r>
              <a:rPr lang="it-IT" sz="2000" b="1" dirty="0">
                <a:solidFill>
                  <a:srgbClr val="FF0000"/>
                </a:solidFill>
              </a:rPr>
              <a:t>»</a:t>
            </a:r>
          </a:p>
        </p:txBody>
      </p:sp>
      <p:sp>
        <p:nvSpPr>
          <p:cNvPr id="17410" name="Freccia bidirezionale verticale 17409">
            <a:extLst>
              <a:ext uri="{FF2B5EF4-FFF2-40B4-BE49-F238E27FC236}">
                <a16:creationId xmlns:a16="http://schemas.microsoft.com/office/drawing/2014/main" id="{6F19FF0F-3D60-2C46-651E-7807854C0915}"/>
              </a:ext>
            </a:extLst>
          </p:cNvPr>
          <p:cNvSpPr/>
          <p:nvPr/>
        </p:nvSpPr>
        <p:spPr bwMode="auto">
          <a:xfrm rot="3194701">
            <a:off x="2930712" y="1969554"/>
            <a:ext cx="273161" cy="3424882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7411" name="CasellaDiTesto 17410">
            <a:extLst>
              <a:ext uri="{FF2B5EF4-FFF2-40B4-BE49-F238E27FC236}">
                <a16:creationId xmlns:a16="http://schemas.microsoft.com/office/drawing/2014/main" id="{A4FF64F0-C548-03FD-BF54-F17BAA75465D}"/>
              </a:ext>
            </a:extLst>
          </p:cNvPr>
          <p:cNvSpPr txBox="1"/>
          <p:nvPr/>
        </p:nvSpPr>
        <p:spPr>
          <a:xfrm>
            <a:off x="2788616" y="3583709"/>
            <a:ext cx="14350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dirty="0">
                <a:solidFill>
                  <a:srgbClr val="FF0000"/>
                </a:solidFill>
              </a:rPr>
              <a:t>Check </a:t>
            </a:r>
          </a:p>
          <a:p>
            <a:pPr algn="ctr"/>
            <a:r>
              <a:rPr lang="it-IT" sz="2000" b="1" dirty="0" err="1">
                <a:solidFill>
                  <a:srgbClr val="FF0000"/>
                </a:solidFill>
              </a:rPr>
              <a:t>authenticity</a:t>
            </a:r>
            <a:r>
              <a:rPr lang="it-IT" sz="2000" b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8153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17408" grpId="0"/>
      <p:bldP spid="17410" grpId="0" animBg="1"/>
      <p:bldP spid="174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20" y="225425"/>
            <a:ext cx="8604956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Extending</a:t>
            </a:r>
            <a:r>
              <a:rPr lang="it-IT" dirty="0"/>
              <a:t> </a:t>
            </a:r>
            <a:r>
              <a:rPr lang="it-IT" dirty="0" err="1"/>
              <a:t>merkle’s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 w. time</a:t>
            </a:r>
          </a:p>
        </p:txBody>
      </p:sp>
      <p:grpSp>
        <p:nvGrpSpPr>
          <p:cNvPr id="3" name="Gruppo 2"/>
          <p:cNvGrpSpPr/>
          <p:nvPr/>
        </p:nvGrpSpPr>
        <p:grpSpPr>
          <a:xfrm>
            <a:off x="251521" y="2954634"/>
            <a:ext cx="2763447" cy="2301278"/>
            <a:chOff x="251520" y="2333525"/>
            <a:chExt cx="8514214" cy="3687763"/>
          </a:xfrm>
        </p:grpSpPr>
        <p:sp>
          <p:nvSpPr>
            <p:cNvPr id="16387" name="Rettangolo 4"/>
            <p:cNvSpPr>
              <a:spLocks noChangeArrowheads="1"/>
            </p:cNvSpPr>
            <p:nvPr/>
          </p:nvSpPr>
          <p:spPr bwMode="auto">
            <a:xfrm>
              <a:off x="2515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A</a:t>
              </a:r>
            </a:p>
          </p:txBody>
        </p:sp>
        <p:sp>
          <p:nvSpPr>
            <p:cNvPr id="16388" name="Rettangolo 5"/>
            <p:cNvSpPr>
              <a:spLocks noChangeArrowheads="1"/>
            </p:cNvSpPr>
            <p:nvPr/>
          </p:nvSpPr>
          <p:spPr bwMode="auto">
            <a:xfrm>
              <a:off x="12373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B</a:t>
              </a:r>
            </a:p>
          </p:txBody>
        </p:sp>
        <p:sp>
          <p:nvSpPr>
            <p:cNvPr id="16389" name="Rettangolo 6"/>
            <p:cNvSpPr>
              <a:spLocks noChangeArrowheads="1"/>
            </p:cNvSpPr>
            <p:nvPr/>
          </p:nvSpPr>
          <p:spPr bwMode="auto">
            <a:xfrm>
              <a:off x="225970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C</a:t>
              </a:r>
            </a:p>
          </p:txBody>
        </p:sp>
        <p:sp>
          <p:nvSpPr>
            <p:cNvPr id="16390" name="Rettangolo 7"/>
            <p:cNvSpPr>
              <a:spLocks noChangeArrowheads="1"/>
            </p:cNvSpPr>
            <p:nvPr/>
          </p:nvSpPr>
          <p:spPr bwMode="auto">
            <a:xfrm>
              <a:off x="32820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D</a:t>
              </a:r>
            </a:p>
          </p:txBody>
        </p:sp>
        <p:sp>
          <p:nvSpPr>
            <p:cNvPr id="16391" name="Rettangolo 8"/>
            <p:cNvSpPr>
              <a:spLocks noChangeArrowheads="1"/>
            </p:cNvSpPr>
            <p:nvPr/>
          </p:nvSpPr>
          <p:spPr bwMode="auto">
            <a:xfrm>
              <a:off x="43409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E</a:t>
              </a:r>
            </a:p>
          </p:txBody>
        </p:sp>
        <p:sp>
          <p:nvSpPr>
            <p:cNvPr id="16392" name="Rettangolo 9"/>
            <p:cNvSpPr>
              <a:spLocks noChangeArrowheads="1"/>
            </p:cNvSpPr>
            <p:nvPr/>
          </p:nvSpPr>
          <p:spPr bwMode="auto">
            <a:xfrm>
              <a:off x="53632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F</a:t>
              </a:r>
            </a:p>
          </p:txBody>
        </p:sp>
        <p:sp>
          <p:nvSpPr>
            <p:cNvPr id="16393" name="Rettangolo 10"/>
            <p:cNvSpPr>
              <a:spLocks noChangeArrowheads="1"/>
            </p:cNvSpPr>
            <p:nvPr/>
          </p:nvSpPr>
          <p:spPr bwMode="auto">
            <a:xfrm>
              <a:off x="63856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G</a:t>
              </a:r>
            </a:p>
          </p:txBody>
        </p:sp>
        <p:sp>
          <p:nvSpPr>
            <p:cNvPr id="16394" name="Rettangolo 11"/>
            <p:cNvSpPr>
              <a:spLocks noChangeArrowheads="1"/>
            </p:cNvSpPr>
            <p:nvPr/>
          </p:nvSpPr>
          <p:spPr bwMode="auto">
            <a:xfrm>
              <a:off x="74079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</a:t>
              </a:r>
            </a:p>
          </p:txBody>
        </p:sp>
        <p:sp>
          <p:nvSpPr>
            <p:cNvPr id="16395" name="Freccia in giù 14"/>
            <p:cNvSpPr>
              <a:spLocks noChangeArrowheads="1"/>
            </p:cNvSpPr>
            <p:nvPr/>
          </p:nvSpPr>
          <p:spPr bwMode="auto">
            <a:xfrm flipV="1">
              <a:off x="5436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396" name="Freccia in giù 15"/>
            <p:cNvSpPr>
              <a:spLocks noChangeArrowheads="1"/>
            </p:cNvSpPr>
            <p:nvPr/>
          </p:nvSpPr>
          <p:spPr bwMode="auto">
            <a:xfrm flipV="1">
              <a:off x="14929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397" name="Freccia in giù 16"/>
            <p:cNvSpPr>
              <a:spLocks noChangeArrowheads="1"/>
            </p:cNvSpPr>
            <p:nvPr/>
          </p:nvSpPr>
          <p:spPr bwMode="auto">
            <a:xfrm flipV="1">
              <a:off x="25883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398" name="Freccia in giù 17"/>
            <p:cNvSpPr>
              <a:spLocks noChangeArrowheads="1"/>
            </p:cNvSpPr>
            <p:nvPr/>
          </p:nvSpPr>
          <p:spPr bwMode="auto">
            <a:xfrm flipV="1">
              <a:off x="35376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399" name="Freccia in giù 18"/>
            <p:cNvSpPr>
              <a:spLocks noChangeArrowheads="1"/>
            </p:cNvSpPr>
            <p:nvPr/>
          </p:nvSpPr>
          <p:spPr bwMode="auto">
            <a:xfrm flipV="1">
              <a:off x="46695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400" name="Freccia in giù 19"/>
            <p:cNvSpPr>
              <a:spLocks noChangeArrowheads="1"/>
            </p:cNvSpPr>
            <p:nvPr/>
          </p:nvSpPr>
          <p:spPr bwMode="auto">
            <a:xfrm flipV="1">
              <a:off x="56188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401" name="Freccia in giù 20"/>
            <p:cNvSpPr>
              <a:spLocks noChangeArrowheads="1"/>
            </p:cNvSpPr>
            <p:nvPr/>
          </p:nvSpPr>
          <p:spPr bwMode="auto">
            <a:xfrm flipV="1">
              <a:off x="67142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402" name="Freccia in giù 21"/>
            <p:cNvSpPr>
              <a:spLocks noChangeArrowheads="1"/>
            </p:cNvSpPr>
            <p:nvPr/>
          </p:nvSpPr>
          <p:spPr bwMode="auto">
            <a:xfrm flipV="1">
              <a:off x="76635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403" name="CasellaDiTesto 22"/>
            <p:cNvSpPr txBox="1">
              <a:spLocks noChangeArrowheads="1"/>
            </p:cNvSpPr>
            <p:nvPr/>
          </p:nvSpPr>
          <p:spPr bwMode="auto">
            <a:xfrm>
              <a:off x="434082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H(A)</a:t>
              </a:r>
            </a:p>
          </p:txBody>
        </p:sp>
        <p:sp>
          <p:nvSpPr>
            <p:cNvPr id="16404" name="CasellaDiTesto 23"/>
            <p:cNvSpPr txBox="1">
              <a:spLocks noChangeArrowheads="1"/>
            </p:cNvSpPr>
            <p:nvPr/>
          </p:nvSpPr>
          <p:spPr bwMode="auto">
            <a:xfrm>
              <a:off x="1358007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H(B)</a:t>
              </a:r>
            </a:p>
          </p:txBody>
        </p:sp>
        <p:sp>
          <p:nvSpPr>
            <p:cNvPr id="16405" name="CasellaDiTesto 24"/>
            <p:cNvSpPr txBox="1">
              <a:spLocks noChangeArrowheads="1"/>
            </p:cNvSpPr>
            <p:nvPr/>
          </p:nvSpPr>
          <p:spPr bwMode="auto">
            <a:xfrm>
              <a:off x="2442271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H(C)</a:t>
              </a:r>
            </a:p>
          </p:txBody>
        </p:sp>
        <p:sp>
          <p:nvSpPr>
            <p:cNvPr id="16406" name="CasellaDiTesto 25"/>
            <p:cNvSpPr txBox="1">
              <a:spLocks noChangeArrowheads="1"/>
            </p:cNvSpPr>
            <p:nvPr/>
          </p:nvSpPr>
          <p:spPr bwMode="auto">
            <a:xfrm>
              <a:off x="3366196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H(D)</a:t>
              </a:r>
            </a:p>
          </p:txBody>
        </p:sp>
        <p:sp>
          <p:nvSpPr>
            <p:cNvPr id="16407" name="CasellaDiTesto 26"/>
            <p:cNvSpPr txBox="1">
              <a:spLocks noChangeArrowheads="1"/>
            </p:cNvSpPr>
            <p:nvPr/>
          </p:nvSpPr>
          <p:spPr bwMode="auto">
            <a:xfrm>
              <a:off x="4513959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H(E)</a:t>
              </a:r>
            </a:p>
          </p:txBody>
        </p:sp>
        <p:sp>
          <p:nvSpPr>
            <p:cNvPr id="16408" name="CasellaDiTesto 27"/>
            <p:cNvSpPr txBox="1">
              <a:spLocks noChangeArrowheads="1"/>
            </p:cNvSpPr>
            <p:nvPr/>
          </p:nvSpPr>
          <p:spPr bwMode="auto">
            <a:xfrm>
              <a:off x="5437884" y="4670324"/>
              <a:ext cx="128015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H(F)</a:t>
              </a:r>
            </a:p>
          </p:txBody>
        </p:sp>
        <p:sp>
          <p:nvSpPr>
            <p:cNvPr id="16409" name="CasellaDiTesto 28"/>
            <p:cNvSpPr txBox="1">
              <a:spLocks noChangeArrowheads="1"/>
            </p:cNvSpPr>
            <p:nvPr/>
          </p:nvSpPr>
          <p:spPr bwMode="auto">
            <a:xfrm>
              <a:off x="6522145" y="4670324"/>
              <a:ext cx="1339421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H(G)</a:t>
              </a:r>
            </a:p>
          </p:txBody>
        </p:sp>
        <p:sp>
          <p:nvSpPr>
            <p:cNvPr id="16410" name="CasellaDiTesto 29"/>
            <p:cNvSpPr txBox="1">
              <a:spLocks noChangeArrowheads="1"/>
            </p:cNvSpPr>
            <p:nvPr/>
          </p:nvSpPr>
          <p:spPr bwMode="auto">
            <a:xfrm>
              <a:off x="7446069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H(H)</a:t>
              </a:r>
            </a:p>
          </p:txBody>
        </p:sp>
        <p:sp>
          <p:nvSpPr>
            <p:cNvPr id="16411" name="CasellaDiTesto 30"/>
            <p:cNvSpPr txBox="1">
              <a:spLocks noChangeArrowheads="1"/>
            </p:cNvSpPr>
            <p:nvPr/>
          </p:nvSpPr>
          <p:spPr bwMode="auto">
            <a:xfrm>
              <a:off x="508643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6412" name="CasellaDiTesto 31"/>
            <p:cNvSpPr txBox="1">
              <a:spLocks noChangeArrowheads="1"/>
            </p:cNvSpPr>
            <p:nvPr/>
          </p:nvSpPr>
          <p:spPr bwMode="auto">
            <a:xfrm>
              <a:off x="24898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6413" name="CasellaDiTesto 32"/>
            <p:cNvSpPr txBox="1">
              <a:spLocks noChangeArrowheads="1"/>
            </p:cNvSpPr>
            <p:nvPr/>
          </p:nvSpPr>
          <p:spPr bwMode="auto">
            <a:xfrm>
              <a:off x="4498030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6414" name="CasellaDiTesto 33"/>
            <p:cNvSpPr txBox="1">
              <a:spLocks noChangeArrowheads="1"/>
            </p:cNvSpPr>
            <p:nvPr/>
          </p:nvSpPr>
          <p:spPr bwMode="auto">
            <a:xfrm>
              <a:off x="65792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6415" name="CasellaDiTesto 34"/>
            <p:cNvSpPr txBox="1">
              <a:spLocks noChangeArrowheads="1"/>
            </p:cNvSpPr>
            <p:nvPr/>
          </p:nvSpPr>
          <p:spPr bwMode="auto">
            <a:xfrm>
              <a:off x="1502245" y="3136799"/>
              <a:ext cx="1497464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 </a:t>
              </a:r>
            </a:p>
          </p:txBody>
        </p:sp>
        <p:sp>
          <p:nvSpPr>
            <p:cNvPr id="16416" name="CasellaDiTesto 35"/>
            <p:cNvSpPr txBox="1">
              <a:spLocks noChangeArrowheads="1"/>
            </p:cNvSpPr>
            <p:nvPr/>
          </p:nvSpPr>
          <p:spPr bwMode="auto">
            <a:xfrm>
              <a:off x="5425131" y="3136799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6417" name="CasellaDiTesto 36"/>
            <p:cNvSpPr txBox="1">
              <a:spLocks noChangeArrowheads="1"/>
            </p:cNvSpPr>
            <p:nvPr/>
          </p:nvSpPr>
          <p:spPr bwMode="auto">
            <a:xfrm>
              <a:off x="2790326" y="2333525"/>
              <a:ext cx="2929738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ROOT = H[*,*] </a:t>
              </a:r>
            </a:p>
          </p:txBody>
        </p:sp>
        <p:cxnSp>
          <p:nvCxnSpPr>
            <p:cNvPr id="16418" name="Connettore 2 38"/>
            <p:cNvCxnSpPr>
              <a:cxnSpLocks noChangeShapeType="1"/>
              <a:stCxn id="16403" idx="0"/>
              <a:endCxn id="16411" idx="2"/>
            </p:cNvCxnSpPr>
            <p:nvPr/>
          </p:nvCxnSpPr>
          <p:spPr bwMode="auto">
            <a:xfrm flipV="1">
              <a:off x="1084037" y="4322789"/>
              <a:ext cx="123949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9" name="Connettore 2 39"/>
            <p:cNvCxnSpPr>
              <a:cxnSpLocks noChangeShapeType="1"/>
              <a:stCxn id="16411" idx="0"/>
              <a:endCxn id="16415" idx="2"/>
            </p:cNvCxnSpPr>
            <p:nvPr/>
          </p:nvCxnSpPr>
          <p:spPr bwMode="auto">
            <a:xfrm flipV="1">
              <a:off x="1207986" y="3556025"/>
              <a:ext cx="104299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0" name="Connettore 2 42"/>
            <p:cNvCxnSpPr>
              <a:cxnSpLocks noChangeShapeType="1"/>
              <a:stCxn id="16415" idx="0"/>
              <a:endCxn id="16417" idx="2"/>
            </p:cNvCxnSpPr>
            <p:nvPr/>
          </p:nvCxnSpPr>
          <p:spPr bwMode="auto">
            <a:xfrm flipV="1">
              <a:off x="2250977" y="2752751"/>
              <a:ext cx="2004220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1" name="Connettore 2 45"/>
            <p:cNvCxnSpPr>
              <a:cxnSpLocks noChangeShapeType="1"/>
              <a:stCxn id="16416" idx="0"/>
              <a:endCxn id="16417" idx="2"/>
            </p:cNvCxnSpPr>
            <p:nvPr/>
          </p:nvCxnSpPr>
          <p:spPr bwMode="auto">
            <a:xfrm flipH="1" flipV="1">
              <a:off x="4255197" y="2752751"/>
              <a:ext cx="1869278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2" name="Connettore 2 48"/>
            <p:cNvCxnSpPr>
              <a:cxnSpLocks noChangeShapeType="1"/>
              <a:stCxn id="16413" idx="0"/>
              <a:endCxn id="16416" idx="2"/>
            </p:cNvCxnSpPr>
            <p:nvPr/>
          </p:nvCxnSpPr>
          <p:spPr bwMode="auto">
            <a:xfrm flipV="1">
              <a:off x="5197373" y="3556025"/>
              <a:ext cx="927101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3" name="Connettore 2 49"/>
            <p:cNvCxnSpPr>
              <a:cxnSpLocks noChangeShapeType="1"/>
              <a:stCxn id="16406" idx="0"/>
              <a:endCxn id="16412" idx="2"/>
            </p:cNvCxnSpPr>
            <p:nvPr/>
          </p:nvCxnSpPr>
          <p:spPr bwMode="auto">
            <a:xfrm flipH="1" flipV="1">
              <a:off x="3189185" y="4322789"/>
              <a:ext cx="836843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4" name="Connettore 2 50"/>
            <p:cNvCxnSpPr>
              <a:cxnSpLocks noChangeShapeType="1"/>
              <a:stCxn id="16414" idx="0"/>
              <a:endCxn id="16416" idx="2"/>
            </p:cNvCxnSpPr>
            <p:nvPr/>
          </p:nvCxnSpPr>
          <p:spPr bwMode="auto">
            <a:xfrm flipH="1" flipV="1">
              <a:off x="6124475" y="3556025"/>
              <a:ext cx="115411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5" name="Connettore 2 51"/>
            <p:cNvCxnSpPr>
              <a:cxnSpLocks noChangeShapeType="1"/>
              <a:stCxn id="16412" idx="0"/>
              <a:endCxn id="16415" idx="2"/>
            </p:cNvCxnSpPr>
            <p:nvPr/>
          </p:nvCxnSpPr>
          <p:spPr bwMode="auto">
            <a:xfrm flipH="1" flipV="1">
              <a:off x="2250977" y="3556025"/>
              <a:ext cx="938208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6" name="Connettore 2 60"/>
            <p:cNvCxnSpPr>
              <a:cxnSpLocks noChangeShapeType="1"/>
              <a:stCxn id="16405" idx="0"/>
              <a:endCxn id="16412" idx="2"/>
            </p:cNvCxnSpPr>
            <p:nvPr/>
          </p:nvCxnSpPr>
          <p:spPr bwMode="auto">
            <a:xfrm flipV="1">
              <a:off x="3102103" y="4322789"/>
              <a:ext cx="87082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7" name="Connettore 2 61"/>
            <p:cNvCxnSpPr>
              <a:cxnSpLocks noChangeShapeType="1"/>
              <a:stCxn id="16408" idx="0"/>
              <a:endCxn id="16413" idx="2"/>
            </p:cNvCxnSpPr>
            <p:nvPr/>
          </p:nvCxnSpPr>
          <p:spPr bwMode="auto">
            <a:xfrm flipH="1" flipV="1">
              <a:off x="5197373" y="4322789"/>
              <a:ext cx="880587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8" name="Connettore 2 62"/>
            <p:cNvCxnSpPr>
              <a:cxnSpLocks noChangeShapeType="1"/>
              <a:stCxn id="16407" idx="0"/>
              <a:endCxn id="16413" idx="2"/>
            </p:cNvCxnSpPr>
            <p:nvPr/>
          </p:nvCxnSpPr>
          <p:spPr bwMode="auto">
            <a:xfrm flipV="1">
              <a:off x="5163914" y="4322789"/>
              <a:ext cx="3346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9" name="Connettore 2 69"/>
            <p:cNvCxnSpPr>
              <a:cxnSpLocks noChangeShapeType="1"/>
              <a:stCxn id="16404" idx="0"/>
              <a:endCxn id="16411" idx="2"/>
            </p:cNvCxnSpPr>
            <p:nvPr/>
          </p:nvCxnSpPr>
          <p:spPr bwMode="auto">
            <a:xfrm flipH="1" flipV="1">
              <a:off x="1207986" y="4322789"/>
              <a:ext cx="79997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30" name="Connettore 2 72"/>
            <p:cNvCxnSpPr>
              <a:cxnSpLocks noChangeShapeType="1"/>
              <a:stCxn id="16409" idx="0"/>
            </p:cNvCxnSpPr>
            <p:nvPr/>
          </p:nvCxnSpPr>
          <p:spPr bwMode="auto">
            <a:xfrm flipV="1">
              <a:off x="7191855" y="4268690"/>
              <a:ext cx="90702" cy="40163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31" name="Connettore 2 73"/>
            <p:cNvCxnSpPr>
              <a:cxnSpLocks noChangeShapeType="1"/>
              <a:stCxn id="16409" idx="0"/>
              <a:endCxn id="16414" idx="2"/>
            </p:cNvCxnSpPr>
            <p:nvPr/>
          </p:nvCxnSpPr>
          <p:spPr bwMode="auto">
            <a:xfrm flipV="1">
              <a:off x="7191854" y="4322789"/>
              <a:ext cx="8673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32" name="Connettore 2 79"/>
            <p:cNvCxnSpPr>
              <a:cxnSpLocks noChangeShapeType="1"/>
              <a:stCxn id="16410" idx="0"/>
              <a:endCxn id="16414" idx="2"/>
            </p:cNvCxnSpPr>
            <p:nvPr/>
          </p:nvCxnSpPr>
          <p:spPr bwMode="auto">
            <a:xfrm flipH="1" flipV="1">
              <a:off x="7278585" y="4322789"/>
              <a:ext cx="82731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" name="CasellaDiTesto 3"/>
          <p:cNvSpPr txBox="1"/>
          <p:nvPr/>
        </p:nvSpPr>
        <p:spPr>
          <a:xfrm>
            <a:off x="1259632" y="5291916"/>
            <a:ext cx="1116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Time-slot 1</a:t>
            </a:r>
          </a:p>
        </p:txBody>
      </p:sp>
      <p:grpSp>
        <p:nvGrpSpPr>
          <p:cNvPr id="100" name="Gruppo 99"/>
          <p:cNvGrpSpPr/>
          <p:nvPr/>
        </p:nvGrpSpPr>
        <p:grpSpPr>
          <a:xfrm>
            <a:off x="3232541" y="2951656"/>
            <a:ext cx="2763447" cy="2301278"/>
            <a:chOff x="251520" y="2333525"/>
            <a:chExt cx="8514214" cy="3687763"/>
          </a:xfrm>
        </p:grpSpPr>
        <p:sp>
          <p:nvSpPr>
            <p:cNvPr id="101" name="Rettangolo 4"/>
            <p:cNvSpPr>
              <a:spLocks noChangeArrowheads="1"/>
            </p:cNvSpPr>
            <p:nvPr/>
          </p:nvSpPr>
          <p:spPr bwMode="auto">
            <a:xfrm>
              <a:off x="2515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A</a:t>
              </a:r>
            </a:p>
          </p:txBody>
        </p:sp>
        <p:sp>
          <p:nvSpPr>
            <p:cNvPr id="102" name="Rettangolo 5"/>
            <p:cNvSpPr>
              <a:spLocks noChangeArrowheads="1"/>
            </p:cNvSpPr>
            <p:nvPr/>
          </p:nvSpPr>
          <p:spPr bwMode="auto">
            <a:xfrm>
              <a:off x="12373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B</a:t>
              </a:r>
            </a:p>
          </p:txBody>
        </p:sp>
        <p:sp>
          <p:nvSpPr>
            <p:cNvPr id="103" name="Rettangolo 6"/>
            <p:cNvSpPr>
              <a:spLocks noChangeArrowheads="1"/>
            </p:cNvSpPr>
            <p:nvPr/>
          </p:nvSpPr>
          <p:spPr bwMode="auto">
            <a:xfrm>
              <a:off x="225970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C</a:t>
              </a:r>
            </a:p>
          </p:txBody>
        </p:sp>
        <p:sp>
          <p:nvSpPr>
            <p:cNvPr id="104" name="Rettangolo 7"/>
            <p:cNvSpPr>
              <a:spLocks noChangeArrowheads="1"/>
            </p:cNvSpPr>
            <p:nvPr/>
          </p:nvSpPr>
          <p:spPr bwMode="auto">
            <a:xfrm>
              <a:off x="32820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D</a:t>
              </a:r>
            </a:p>
          </p:txBody>
        </p:sp>
        <p:sp>
          <p:nvSpPr>
            <p:cNvPr id="105" name="Rettangolo 8"/>
            <p:cNvSpPr>
              <a:spLocks noChangeArrowheads="1"/>
            </p:cNvSpPr>
            <p:nvPr/>
          </p:nvSpPr>
          <p:spPr bwMode="auto">
            <a:xfrm>
              <a:off x="43409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E</a:t>
              </a:r>
            </a:p>
          </p:txBody>
        </p:sp>
        <p:sp>
          <p:nvSpPr>
            <p:cNvPr id="106" name="Rettangolo 9"/>
            <p:cNvSpPr>
              <a:spLocks noChangeArrowheads="1"/>
            </p:cNvSpPr>
            <p:nvPr/>
          </p:nvSpPr>
          <p:spPr bwMode="auto">
            <a:xfrm>
              <a:off x="53632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F</a:t>
              </a:r>
            </a:p>
          </p:txBody>
        </p:sp>
        <p:sp>
          <p:nvSpPr>
            <p:cNvPr id="107" name="Rettangolo 10"/>
            <p:cNvSpPr>
              <a:spLocks noChangeArrowheads="1"/>
            </p:cNvSpPr>
            <p:nvPr/>
          </p:nvSpPr>
          <p:spPr bwMode="auto">
            <a:xfrm>
              <a:off x="63856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G</a:t>
              </a:r>
            </a:p>
          </p:txBody>
        </p:sp>
        <p:sp>
          <p:nvSpPr>
            <p:cNvPr id="108" name="Rettangolo 11"/>
            <p:cNvSpPr>
              <a:spLocks noChangeArrowheads="1"/>
            </p:cNvSpPr>
            <p:nvPr/>
          </p:nvSpPr>
          <p:spPr bwMode="auto">
            <a:xfrm>
              <a:off x="74079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</a:t>
              </a:r>
            </a:p>
          </p:txBody>
        </p:sp>
        <p:sp>
          <p:nvSpPr>
            <p:cNvPr id="109" name="Freccia in giù 14"/>
            <p:cNvSpPr>
              <a:spLocks noChangeArrowheads="1"/>
            </p:cNvSpPr>
            <p:nvPr/>
          </p:nvSpPr>
          <p:spPr bwMode="auto">
            <a:xfrm flipV="1">
              <a:off x="5436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0" name="Freccia in giù 15"/>
            <p:cNvSpPr>
              <a:spLocks noChangeArrowheads="1"/>
            </p:cNvSpPr>
            <p:nvPr/>
          </p:nvSpPr>
          <p:spPr bwMode="auto">
            <a:xfrm flipV="1">
              <a:off x="14929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1" name="Freccia in giù 16"/>
            <p:cNvSpPr>
              <a:spLocks noChangeArrowheads="1"/>
            </p:cNvSpPr>
            <p:nvPr/>
          </p:nvSpPr>
          <p:spPr bwMode="auto">
            <a:xfrm flipV="1">
              <a:off x="25883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2" name="Freccia in giù 17"/>
            <p:cNvSpPr>
              <a:spLocks noChangeArrowheads="1"/>
            </p:cNvSpPr>
            <p:nvPr/>
          </p:nvSpPr>
          <p:spPr bwMode="auto">
            <a:xfrm flipV="1">
              <a:off x="35376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3" name="Freccia in giù 18"/>
            <p:cNvSpPr>
              <a:spLocks noChangeArrowheads="1"/>
            </p:cNvSpPr>
            <p:nvPr/>
          </p:nvSpPr>
          <p:spPr bwMode="auto">
            <a:xfrm flipV="1">
              <a:off x="46695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4" name="Freccia in giù 19"/>
            <p:cNvSpPr>
              <a:spLocks noChangeArrowheads="1"/>
            </p:cNvSpPr>
            <p:nvPr/>
          </p:nvSpPr>
          <p:spPr bwMode="auto">
            <a:xfrm flipV="1">
              <a:off x="56188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5" name="Freccia in giù 20"/>
            <p:cNvSpPr>
              <a:spLocks noChangeArrowheads="1"/>
            </p:cNvSpPr>
            <p:nvPr/>
          </p:nvSpPr>
          <p:spPr bwMode="auto">
            <a:xfrm flipV="1">
              <a:off x="67142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6" name="Freccia in giù 21"/>
            <p:cNvSpPr>
              <a:spLocks noChangeArrowheads="1"/>
            </p:cNvSpPr>
            <p:nvPr/>
          </p:nvSpPr>
          <p:spPr bwMode="auto">
            <a:xfrm flipV="1">
              <a:off x="76635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17" name="CasellaDiTesto 22"/>
            <p:cNvSpPr txBox="1">
              <a:spLocks noChangeArrowheads="1"/>
            </p:cNvSpPr>
            <p:nvPr/>
          </p:nvSpPr>
          <p:spPr bwMode="auto">
            <a:xfrm>
              <a:off x="434082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H(A)</a:t>
              </a:r>
            </a:p>
          </p:txBody>
        </p:sp>
        <p:sp>
          <p:nvSpPr>
            <p:cNvPr id="118" name="CasellaDiTesto 23"/>
            <p:cNvSpPr txBox="1">
              <a:spLocks noChangeArrowheads="1"/>
            </p:cNvSpPr>
            <p:nvPr/>
          </p:nvSpPr>
          <p:spPr bwMode="auto">
            <a:xfrm>
              <a:off x="1358007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H(B)</a:t>
              </a:r>
            </a:p>
          </p:txBody>
        </p:sp>
        <p:sp>
          <p:nvSpPr>
            <p:cNvPr id="119" name="CasellaDiTesto 24"/>
            <p:cNvSpPr txBox="1">
              <a:spLocks noChangeArrowheads="1"/>
            </p:cNvSpPr>
            <p:nvPr/>
          </p:nvSpPr>
          <p:spPr bwMode="auto">
            <a:xfrm>
              <a:off x="2442271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H(C)</a:t>
              </a:r>
            </a:p>
          </p:txBody>
        </p:sp>
        <p:sp>
          <p:nvSpPr>
            <p:cNvPr id="120" name="CasellaDiTesto 25"/>
            <p:cNvSpPr txBox="1">
              <a:spLocks noChangeArrowheads="1"/>
            </p:cNvSpPr>
            <p:nvPr/>
          </p:nvSpPr>
          <p:spPr bwMode="auto">
            <a:xfrm>
              <a:off x="3366196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H(D)</a:t>
              </a:r>
            </a:p>
          </p:txBody>
        </p:sp>
        <p:sp>
          <p:nvSpPr>
            <p:cNvPr id="121" name="CasellaDiTesto 26"/>
            <p:cNvSpPr txBox="1">
              <a:spLocks noChangeArrowheads="1"/>
            </p:cNvSpPr>
            <p:nvPr/>
          </p:nvSpPr>
          <p:spPr bwMode="auto">
            <a:xfrm>
              <a:off x="4513959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H(E)</a:t>
              </a:r>
            </a:p>
          </p:txBody>
        </p:sp>
        <p:sp>
          <p:nvSpPr>
            <p:cNvPr id="122" name="CasellaDiTesto 27"/>
            <p:cNvSpPr txBox="1">
              <a:spLocks noChangeArrowheads="1"/>
            </p:cNvSpPr>
            <p:nvPr/>
          </p:nvSpPr>
          <p:spPr bwMode="auto">
            <a:xfrm>
              <a:off x="5437884" y="4670324"/>
              <a:ext cx="128015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H(F)</a:t>
              </a:r>
            </a:p>
          </p:txBody>
        </p:sp>
        <p:sp>
          <p:nvSpPr>
            <p:cNvPr id="123" name="CasellaDiTesto 28"/>
            <p:cNvSpPr txBox="1">
              <a:spLocks noChangeArrowheads="1"/>
            </p:cNvSpPr>
            <p:nvPr/>
          </p:nvSpPr>
          <p:spPr bwMode="auto">
            <a:xfrm>
              <a:off x="6522145" y="4670324"/>
              <a:ext cx="1339421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H(G)</a:t>
              </a:r>
            </a:p>
          </p:txBody>
        </p:sp>
        <p:sp>
          <p:nvSpPr>
            <p:cNvPr id="124" name="CasellaDiTesto 29"/>
            <p:cNvSpPr txBox="1">
              <a:spLocks noChangeArrowheads="1"/>
            </p:cNvSpPr>
            <p:nvPr/>
          </p:nvSpPr>
          <p:spPr bwMode="auto">
            <a:xfrm>
              <a:off x="7446069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H(H)</a:t>
              </a:r>
            </a:p>
          </p:txBody>
        </p:sp>
        <p:sp>
          <p:nvSpPr>
            <p:cNvPr id="125" name="CasellaDiTesto 30"/>
            <p:cNvSpPr txBox="1">
              <a:spLocks noChangeArrowheads="1"/>
            </p:cNvSpPr>
            <p:nvPr/>
          </p:nvSpPr>
          <p:spPr bwMode="auto">
            <a:xfrm>
              <a:off x="508643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26" name="CasellaDiTesto 31"/>
            <p:cNvSpPr txBox="1">
              <a:spLocks noChangeArrowheads="1"/>
            </p:cNvSpPr>
            <p:nvPr/>
          </p:nvSpPr>
          <p:spPr bwMode="auto">
            <a:xfrm>
              <a:off x="24898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27" name="CasellaDiTesto 32"/>
            <p:cNvSpPr txBox="1">
              <a:spLocks noChangeArrowheads="1"/>
            </p:cNvSpPr>
            <p:nvPr/>
          </p:nvSpPr>
          <p:spPr bwMode="auto">
            <a:xfrm>
              <a:off x="4498030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28" name="CasellaDiTesto 33"/>
            <p:cNvSpPr txBox="1">
              <a:spLocks noChangeArrowheads="1"/>
            </p:cNvSpPr>
            <p:nvPr/>
          </p:nvSpPr>
          <p:spPr bwMode="auto">
            <a:xfrm>
              <a:off x="65792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29" name="CasellaDiTesto 34"/>
            <p:cNvSpPr txBox="1">
              <a:spLocks noChangeArrowheads="1"/>
            </p:cNvSpPr>
            <p:nvPr/>
          </p:nvSpPr>
          <p:spPr bwMode="auto">
            <a:xfrm>
              <a:off x="1502245" y="3136799"/>
              <a:ext cx="1497464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 </a:t>
              </a:r>
            </a:p>
          </p:txBody>
        </p:sp>
        <p:sp>
          <p:nvSpPr>
            <p:cNvPr id="130" name="CasellaDiTesto 35"/>
            <p:cNvSpPr txBox="1">
              <a:spLocks noChangeArrowheads="1"/>
            </p:cNvSpPr>
            <p:nvPr/>
          </p:nvSpPr>
          <p:spPr bwMode="auto">
            <a:xfrm>
              <a:off x="5425131" y="3136799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31" name="CasellaDiTesto 36"/>
            <p:cNvSpPr txBox="1">
              <a:spLocks noChangeArrowheads="1"/>
            </p:cNvSpPr>
            <p:nvPr/>
          </p:nvSpPr>
          <p:spPr bwMode="auto">
            <a:xfrm>
              <a:off x="2790326" y="2333525"/>
              <a:ext cx="2929738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ROOT = H[*,*] </a:t>
              </a:r>
            </a:p>
          </p:txBody>
        </p:sp>
        <p:cxnSp>
          <p:nvCxnSpPr>
            <p:cNvPr id="132" name="Connettore 2 38"/>
            <p:cNvCxnSpPr>
              <a:cxnSpLocks noChangeShapeType="1"/>
              <a:stCxn id="117" idx="0"/>
              <a:endCxn id="125" idx="2"/>
            </p:cNvCxnSpPr>
            <p:nvPr/>
          </p:nvCxnSpPr>
          <p:spPr bwMode="auto">
            <a:xfrm flipV="1">
              <a:off x="1084037" y="4322789"/>
              <a:ext cx="123949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" name="Connettore 2 39"/>
            <p:cNvCxnSpPr>
              <a:cxnSpLocks noChangeShapeType="1"/>
              <a:stCxn id="125" idx="0"/>
              <a:endCxn id="129" idx="2"/>
            </p:cNvCxnSpPr>
            <p:nvPr/>
          </p:nvCxnSpPr>
          <p:spPr bwMode="auto">
            <a:xfrm flipV="1">
              <a:off x="1207986" y="3556025"/>
              <a:ext cx="104299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" name="Connettore 2 42"/>
            <p:cNvCxnSpPr>
              <a:cxnSpLocks noChangeShapeType="1"/>
              <a:stCxn id="129" idx="0"/>
              <a:endCxn id="131" idx="2"/>
            </p:cNvCxnSpPr>
            <p:nvPr/>
          </p:nvCxnSpPr>
          <p:spPr bwMode="auto">
            <a:xfrm flipV="1">
              <a:off x="2250977" y="2752751"/>
              <a:ext cx="2004220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5" name="Connettore 2 45"/>
            <p:cNvCxnSpPr>
              <a:cxnSpLocks noChangeShapeType="1"/>
              <a:stCxn id="130" idx="0"/>
              <a:endCxn id="131" idx="2"/>
            </p:cNvCxnSpPr>
            <p:nvPr/>
          </p:nvCxnSpPr>
          <p:spPr bwMode="auto">
            <a:xfrm flipH="1" flipV="1">
              <a:off x="4255197" y="2752751"/>
              <a:ext cx="1869278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6" name="Connettore 2 48"/>
            <p:cNvCxnSpPr>
              <a:cxnSpLocks noChangeShapeType="1"/>
              <a:stCxn id="127" idx="0"/>
              <a:endCxn id="130" idx="2"/>
            </p:cNvCxnSpPr>
            <p:nvPr/>
          </p:nvCxnSpPr>
          <p:spPr bwMode="auto">
            <a:xfrm flipV="1">
              <a:off x="5197373" y="3556025"/>
              <a:ext cx="927101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Connettore 2 49"/>
            <p:cNvCxnSpPr>
              <a:cxnSpLocks noChangeShapeType="1"/>
              <a:stCxn id="120" idx="0"/>
              <a:endCxn id="126" idx="2"/>
            </p:cNvCxnSpPr>
            <p:nvPr/>
          </p:nvCxnSpPr>
          <p:spPr bwMode="auto">
            <a:xfrm flipH="1" flipV="1">
              <a:off x="3189185" y="4322789"/>
              <a:ext cx="836843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Connettore 2 50"/>
            <p:cNvCxnSpPr>
              <a:cxnSpLocks noChangeShapeType="1"/>
              <a:stCxn id="128" idx="0"/>
              <a:endCxn id="130" idx="2"/>
            </p:cNvCxnSpPr>
            <p:nvPr/>
          </p:nvCxnSpPr>
          <p:spPr bwMode="auto">
            <a:xfrm flipH="1" flipV="1">
              <a:off x="6124475" y="3556025"/>
              <a:ext cx="115411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" name="Connettore 2 51"/>
            <p:cNvCxnSpPr>
              <a:cxnSpLocks noChangeShapeType="1"/>
              <a:stCxn id="126" idx="0"/>
              <a:endCxn id="129" idx="2"/>
            </p:cNvCxnSpPr>
            <p:nvPr/>
          </p:nvCxnSpPr>
          <p:spPr bwMode="auto">
            <a:xfrm flipH="1" flipV="1">
              <a:off x="2250977" y="3556025"/>
              <a:ext cx="938208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0" name="Connettore 2 60"/>
            <p:cNvCxnSpPr>
              <a:cxnSpLocks noChangeShapeType="1"/>
              <a:stCxn id="119" idx="0"/>
              <a:endCxn id="126" idx="2"/>
            </p:cNvCxnSpPr>
            <p:nvPr/>
          </p:nvCxnSpPr>
          <p:spPr bwMode="auto">
            <a:xfrm flipV="1">
              <a:off x="3102103" y="4322789"/>
              <a:ext cx="87082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Connettore 2 61"/>
            <p:cNvCxnSpPr>
              <a:cxnSpLocks noChangeShapeType="1"/>
              <a:stCxn id="122" idx="0"/>
              <a:endCxn id="127" idx="2"/>
            </p:cNvCxnSpPr>
            <p:nvPr/>
          </p:nvCxnSpPr>
          <p:spPr bwMode="auto">
            <a:xfrm flipH="1" flipV="1">
              <a:off x="5197373" y="4322789"/>
              <a:ext cx="880587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Connettore 2 62"/>
            <p:cNvCxnSpPr>
              <a:cxnSpLocks noChangeShapeType="1"/>
              <a:stCxn id="121" idx="0"/>
              <a:endCxn id="127" idx="2"/>
            </p:cNvCxnSpPr>
            <p:nvPr/>
          </p:nvCxnSpPr>
          <p:spPr bwMode="auto">
            <a:xfrm flipV="1">
              <a:off x="5163914" y="4322789"/>
              <a:ext cx="3346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" name="Connettore 2 69"/>
            <p:cNvCxnSpPr>
              <a:cxnSpLocks noChangeShapeType="1"/>
              <a:stCxn id="118" idx="0"/>
              <a:endCxn id="125" idx="2"/>
            </p:cNvCxnSpPr>
            <p:nvPr/>
          </p:nvCxnSpPr>
          <p:spPr bwMode="auto">
            <a:xfrm flipH="1" flipV="1">
              <a:off x="1207986" y="4322789"/>
              <a:ext cx="79997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Connettore 2 72"/>
            <p:cNvCxnSpPr>
              <a:cxnSpLocks noChangeShapeType="1"/>
              <a:stCxn id="123" idx="0"/>
            </p:cNvCxnSpPr>
            <p:nvPr/>
          </p:nvCxnSpPr>
          <p:spPr bwMode="auto">
            <a:xfrm flipV="1">
              <a:off x="7191855" y="4268690"/>
              <a:ext cx="90702" cy="40163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Connettore 2 73"/>
            <p:cNvCxnSpPr>
              <a:cxnSpLocks noChangeShapeType="1"/>
              <a:stCxn id="123" idx="0"/>
              <a:endCxn id="128" idx="2"/>
            </p:cNvCxnSpPr>
            <p:nvPr/>
          </p:nvCxnSpPr>
          <p:spPr bwMode="auto">
            <a:xfrm flipV="1">
              <a:off x="7191854" y="4322789"/>
              <a:ext cx="8673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Connettore 2 79"/>
            <p:cNvCxnSpPr>
              <a:cxnSpLocks noChangeShapeType="1"/>
              <a:stCxn id="124" idx="0"/>
              <a:endCxn id="128" idx="2"/>
            </p:cNvCxnSpPr>
            <p:nvPr/>
          </p:nvCxnSpPr>
          <p:spPr bwMode="auto">
            <a:xfrm flipH="1" flipV="1">
              <a:off x="7278585" y="4322789"/>
              <a:ext cx="82731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7" name="CasellaDiTesto 146"/>
          <p:cNvSpPr txBox="1"/>
          <p:nvPr/>
        </p:nvSpPr>
        <p:spPr>
          <a:xfrm>
            <a:off x="3995936" y="5263586"/>
            <a:ext cx="1116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Time-slot 2</a:t>
            </a:r>
          </a:p>
        </p:txBody>
      </p:sp>
      <p:sp>
        <p:nvSpPr>
          <p:cNvPr id="148" name="CasellaDiTesto 147"/>
          <p:cNvSpPr txBox="1"/>
          <p:nvPr/>
        </p:nvSpPr>
        <p:spPr>
          <a:xfrm>
            <a:off x="7020272" y="5255912"/>
            <a:ext cx="1116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Time-slot 3</a:t>
            </a:r>
          </a:p>
        </p:txBody>
      </p:sp>
      <p:cxnSp>
        <p:nvCxnSpPr>
          <p:cNvPr id="149" name="Connettore 2 42"/>
          <p:cNvCxnSpPr>
            <a:cxnSpLocks noChangeShapeType="1"/>
          </p:cNvCxnSpPr>
          <p:nvPr/>
        </p:nvCxnSpPr>
        <p:spPr bwMode="auto">
          <a:xfrm flipV="1">
            <a:off x="1674063" y="2663624"/>
            <a:ext cx="1277757" cy="32537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1" name="Connettore 2 42"/>
          <p:cNvCxnSpPr>
            <a:cxnSpLocks noChangeShapeType="1"/>
          </p:cNvCxnSpPr>
          <p:nvPr/>
        </p:nvCxnSpPr>
        <p:spPr bwMode="auto">
          <a:xfrm flipH="1" flipV="1">
            <a:off x="3042215" y="2663624"/>
            <a:ext cx="1277757" cy="32537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2" name="CasellaDiTesto 36"/>
          <p:cNvSpPr txBox="1">
            <a:spLocks noChangeArrowheads="1"/>
          </p:cNvSpPr>
          <p:nvPr/>
        </p:nvSpPr>
        <p:spPr bwMode="auto">
          <a:xfrm>
            <a:off x="2472076" y="2339588"/>
            <a:ext cx="101502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100" b="0" dirty="0">
                <a:latin typeface="Arial Narrow" pitchFamily="34" charset="0"/>
              </a:rPr>
              <a:t>ROOT2 = H[*,*] </a:t>
            </a:r>
          </a:p>
        </p:txBody>
      </p:sp>
      <p:grpSp>
        <p:nvGrpSpPr>
          <p:cNvPr id="153" name="Gruppo 152"/>
          <p:cNvGrpSpPr/>
          <p:nvPr/>
        </p:nvGrpSpPr>
        <p:grpSpPr>
          <a:xfrm>
            <a:off x="6201041" y="2411596"/>
            <a:ext cx="2763447" cy="2301278"/>
            <a:chOff x="251520" y="2333525"/>
            <a:chExt cx="8514214" cy="3687763"/>
          </a:xfrm>
        </p:grpSpPr>
        <p:sp>
          <p:nvSpPr>
            <p:cNvPr id="154" name="Rettangolo 4"/>
            <p:cNvSpPr>
              <a:spLocks noChangeArrowheads="1"/>
            </p:cNvSpPr>
            <p:nvPr/>
          </p:nvSpPr>
          <p:spPr bwMode="auto">
            <a:xfrm>
              <a:off x="2515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A</a:t>
              </a:r>
            </a:p>
          </p:txBody>
        </p:sp>
        <p:sp>
          <p:nvSpPr>
            <p:cNvPr id="155" name="Rettangolo 5"/>
            <p:cNvSpPr>
              <a:spLocks noChangeArrowheads="1"/>
            </p:cNvSpPr>
            <p:nvPr/>
          </p:nvSpPr>
          <p:spPr bwMode="auto">
            <a:xfrm>
              <a:off x="12373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B</a:t>
              </a:r>
            </a:p>
          </p:txBody>
        </p:sp>
        <p:sp>
          <p:nvSpPr>
            <p:cNvPr id="156" name="Rettangolo 6"/>
            <p:cNvSpPr>
              <a:spLocks noChangeArrowheads="1"/>
            </p:cNvSpPr>
            <p:nvPr/>
          </p:nvSpPr>
          <p:spPr bwMode="auto">
            <a:xfrm>
              <a:off x="225970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C</a:t>
              </a:r>
            </a:p>
          </p:txBody>
        </p:sp>
        <p:sp>
          <p:nvSpPr>
            <p:cNvPr id="157" name="Rettangolo 7"/>
            <p:cNvSpPr>
              <a:spLocks noChangeArrowheads="1"/>
            </p:cNvSpPr>
            <p:nvPr/>
          </p:nvSpPr>
          <p:spPr bwMode="auto">
            <a:xfrm>
              <a:off x="3282058" y="5692675"/>
              <a:ext cx="839787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D</a:t>
              </a:r>
            </a:p>
          </p:txBody>
        </p:sp>
        <p:sp>
          <p:nvSpPr>
            <p:cNvPr id="158" name="Rettangolo 8"/>
            <p:cNvSpPr>
              <a:spLocks noChangeArrowheads="1"/>
            </p:cNvSpPr>
            <p:nvPr/>
          </p:nvSpPr>
          <p:spPr bwMode="auto">
            <a:xfrm>
              <a:off x="43409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E</a:t>
              </a:r>
            </a:p>
          </p:txBody>
        </p:sp>
        <p:sp>
          <p:nvSpPr>
            <p:cNvPr id="159" name="Rettangolo 9"/>
            <p:cNvSpPr>
              <a:spLocks noChangeArrowheads="1"/>
            </p:cNvSpPr>
            <p:nvPr/>
          </p:nvSpPr>
          <p:spPr bwMode="auto">
            <a:xfrm>
              <a:off x="53632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F</a:t>
              </a:r>
            </a:p>
          </p:txBody>
        </p:sp>
        <p:sp>
          <p:nvSpPr>
            <p:cNvPr id="160" name="Rettangolo 10"/>
            <p:cNvSpPr>
              <a:spLocks noChangeArrowheads="1"/>
            </p:cNvSpPr>
            <p:nvPr/>
          </p:nvSpPr>
          <p:spPr bwMode="auto">
            <a:xfrm>
              <a:off x="638562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G</a:t>
              </a:r>
            </a:p>
          </p:txBody>
        </p:sp>
        <p:sp>
          <p:nvSpPr>
            <p:cNvPr id="161" name="Rettangolo 11"/>
            <p:cNvSpPr>
              <a:spLocks noChangeArrowheads="1"/>
            </p:cNvSpPr>
            <p:nvPr/>
          </p:nvSpPr>
          <p:spPr bwMode="auto">
            <a:xfrm>
              <a:off x="7407970" y="5692675"/>
              <a:ext cx="839788" cy="328613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</a:t>
              </a:r>
            </a:p>
          </p:txBody>
        </p:sp>
        <p:sp>
          <p:nvSpPr>
            <p:cNvPr id="162" name="Freccia in giù 14"/>
            <p:cNvSpPr>
              <a:spLocks noChangeArrowheads="1"/>
            </p:cNvSpPr>
            <p:nvPr/>
          </p:nvSpPr>
          <p:spPr bwMode="auto">
            <a:xfrm flipV="1">
              <a:off x="5436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3" name="Freccia in giù 15"/>
            <p:cNvSpPr>
              <a:spLocks noChangeArrowheads="1"/>
            </p:cNvSpPr>
            <p:nvPr/>
          </p:nvSpPr>
          <p:spPr bwMode="auto">
            <a:xfrm flipV="1">
              <a:off x="14929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4" name="Freccia in giù 16"/>
            <p:cNvSpPr>
              <a:spLocks noChangeArrowheads="1"/>
            </p:cNvSpPr>
            <p:nvPr/>
          </p:nvSpPr>
          <p:spPr bwMode="auto">
            <a:xfrm flipV="1">
              <a:off x="2588320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5" name="Freccia in giù 17"/>
            <p:cNvSpPr>
              <a:spLocks noChangeArrowheads="1"/>
            </p:cNvSpPr>
            <p:nvPr/>
          </p:nvSpPr>
          <p:spPr bwMode="auto">
            <a:xfrm flipV="1">
              <a:off x="3537645" y="5035450"/>
              <a:ext cx="255588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6" name="Freccia in giù 18"/>
            <p:cNvSpPr>
              <a:spLocks noChangeArrowheads="1"/>
            </p:cNvSpPr>
            <p:nvPr/>
          </p:nvSpPr>
          <p:spPr bwMode="auto">
            <a:xfrm flipV="1">
              <a:off x="46695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7" name="Freccia in giù 19"/>
            <p:cNvSpPr>
              <a:spLocks noChangeArrowheads="1"/>
            </p:cNvSpPr>
            <p:nvPr/>
          </p:nvSpPr>
          <p:spPr bwMode="auto">
            <a:xfrm flipV="1">
              <a:off x="56188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8" name="Freccia in giù 20"/>
            <p:cNvSpPr>
              <a:spLocks noChangeArrowheads="1"/>
            </p:cNvSpPr>
            <p:nvPr/>
          </p:nvSpPr>
          <p:spPr bwMode="auto">
            <a:xfrm flipV="1">
              <a:off x="6714233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69" name="Freccia in giù 21"/>
            <p:cNvSpPr>
              <a:spLocks noChangeArrowheads="1"/>
            </p:cNvSpPr>
            <p:nvPr/>
          </p:nvSpPr>
          <p:spPr bwMode="auto">
            <a:xfrm flipV="1">
              <a:off x="7663558" y="5035450"/>
              <a:ext cx="255587" cy="620713"/>
            </a:xfrm>
            <a:prstGeom prst="downArrow">
              <a:avLst>
                <a:gd name="adj1" fmla="val 50000"/>
                <a:gd name="adj2" fmla="val 49999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100" b="0">
                <a:latin typeface="Arial Narrow" pitchFamily="34" charset="0"/>
              </a:endParaRPr>
            </a:p>
          </p:txBody>
        </p:sp>
        <p:sp>
          <p:nvSpPr>
            <p:cNvPr id="170" name="CasellaDiTesto 22"/>
            <p:cNvSpPr txBox="1">
              <a:spLocks noChangeArrowheads="1"/>
            </p:cNvSpPr>
            <p:nvPr/>
          </p:nvSpPr>
          <p:spPr bwMode="auto">
            <a:xfrm>
              <a:off x="434082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H(A)</a:t>
              </a:r>
            </a:p>
          </p:txBody>
        </p:sp>
        <p:sp>
          <p:nvSpPr>
            <p:cNvPr id="171" name="CasellaDiTesto 23"/>
            <p:cNvSpPr txBox="1">
              <a:spLocks noChangeArrowheads="1"/>
            </p:cNvSpPr>
            <p:nvPr/>
          </p:nvSpPr>
          <p:spPr bwMode="auto">
            <a:xfrm>
              <a:off x="1358007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H(B)</a:t>
              </a:r>
            </a:p>
          </p:txBody>
        </p:sp>
        <p:sp>
          <p:nvSpPr>
            <p:cNvPr id="172" name="CasellaDiTesto 24"/>
            <p:cNvSpPr txBox="1">
              <a:spLocks noChangeArrowheads="1"/>
            </p:cNvSpPr>
            <p:nvPr/>
          </p:nvSpPr>
          <p:spPr bwMode="auto">
            <a:xfrm>
              <a:off x="2442271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H(C)</a:t>
              </a:r>
            </a:p>
          </p:txBody>
        </p:sp>
        <p:sp>
          <p:nvSpPr>
            <p:cNvPr id="173" name="CasellaDiTesto 25"/>
            <p:cNvSpPr txBox="1">
              <a:spLocks noChangeArrowheads="1"/>
            </p:cNvSpPr>
            <p:nvPr/>
          </p:nvSpPr>
          <p:spPr bwMode="auto">
            <a:xfrm>
              <a:off x="3366196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H(D)</a:t>
              </a:r>
            </a:p>
          </p:txBody>
        </p:sp>
        <p:sp>
          <p:nvSpPr>
            <p:cNvPr id="174" name="CasellaDiTesto 26"/>
            <p:cNvSpPr txBox="1">
              <a:spLocks noChangeArrowheads="1"/>
            </p:cNvSpPr>
            <p:nvPr/>
          </p:nvSpPr>
          <p:spPr bwMode="auto">
            <a:xfrm>
              <a:off x="4513959" y="4670324"/>
              <a:ext cx="1299910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H(E)</a:t>
              </a:r>
            </a:p>
          </p:txBody>
        </p:sp>
        <p:sp>
          <p:nvSpPr>
            <p:cNvPr id="175" name="CasellaDiTesto 27"/>
            <p:cNvSpPr txBox="1">
              <a:spLocks noChangeArrowheads="1"/>
            </p:cNvSpPr>
            <p:nvPr/>
          </p:nvSpPr>
          <p:spPr bwMode="auto">
            <a:xfrm>
              <a:off x="5437884" y="4670324"/>
              <a:ext cx="128015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H(F)</a:t>
              </a:r>
            </a:p>
          </p:txBody>
        </p:sp>
        <p:sp>
          <p:nvSpPr>
            <p:cNvPr id="176" name="CasellaDiTesto 28"/>
            <p:cNvSpPr txBox="1">
              <a:spLocks noChangeArrowheads="1"/>
            </p:cNvSpPr>
            <p:nvPr/>
          </p:nvSpPr>
          <p:spPr bwMode="auto">
            <a:xfrm>
              <a:off x="6522145" y="4670324"/>
              <a:ext cx="1339421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H(G)</a:t>
              </a:r>
            </a:p>
          </p:txBody>
        </p:sp>
        <p:sp>
          <p:nvSpPr>
            <p:cNvPr id="177" name="CasellaDiTesto 29"/>
            <p:cNvSpPr txBox="1">
              <a:spLocks noChangeArrowheads="1"/>
            </p:cNvSpPr>
            <p:nvPr/>
          </p:nvSpPr>
          <p:spPr bwMode="auto">
            <a:xfrm>
              <a:off x="7446069" y="4670324"/>
              <a:ext cx="1319665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>
                  <a:latin typeface="Arial Narrow" pitchFamily="34" charset="0"/>
                </a:rPr>
                <a:t>H(H)</a:t>
              </a:r>
            </a:p>
          </p:txBody>
        </p:sp>
        <p:sp>
          <p:nvSpPr>
            <p:cNvPr id="178" name="CasellaDiTesto 30"/>
            <p:cNvSpPr txBox="1">
              <a:spLocks noChangeArrowheads="1"/>
            </p:cNvSpPr>
            <p:nvPr/>
          </p:nvSpPr>
          <p:spPr bwMode="auto">
            <a:xfrm>
              <a:off x="508643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79" name="CasellaDiTesto 31"/>
            <p:cNvSpPr txBox="1">
              <a:spLocks noChangeArrowheads="1"/>
            </p:cNvSpPr>
            <p:nvPr/>
          </p:nvSpPr>
          <p:spPr bwMode="auto">
            <a:xfrm>
              <a:off x="24898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80" name="CasellaDiTesto 32"/>
            <p:cNvSpPr txBox="1">
              <a:spLocks noChangeArrowheads="1"/>
            </p:cNvSpPr>
            <p:nvPr/>
          </p:nvSpPr>
          <p:spPr bwMode="auto">
            <a:xfrm>
              <a:off x="4498030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81" name="CasellaDiTesto 33"/>
            <p:cNvSpPr txBox="1">
              <a:spLocks noChangeArrowheads="1"/>
            </p:cNvSpPr>
            <p:nvPr/>
          </p:nvSpPr>
          <p:spPr bwMode="auto">
            <a:xfrm>
              <a:off x="6579241" y="3903563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82" name="CasellaDiTesto 34"/>
            <p:cNvSpPr txBox="1">
              <a:spLocks noChangeArrowheads="1"/>
            </p:cNvSpPr>
            <p:nvPr/>
          </p:nvSpPr>
          <p:spPr bwMode="auto">
            <a:xfrm>
              <a:off x="1502245" y="3136799"/>
              <a:ext cx="1497464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 </a:t>
              </a:r>
            </a:p>
          </p:txBody>
        </p:sp>
        <p:sp>
          <p:nvSpPr>
            <p:cNvPr id="183" name="CasellaDiTesto 35"/>
            <p:cNvSpPr txBox="1">
              <a:spLocks noChangeArrowheads="1"/>
            </p:cNvSpPr>
            <p:nvPr/>
          </p:nvSpPr>
          <p:spPr bwMode="auto">
            <a:xfrm>
              <a:off x="5425131" y="3136799"/>
              <a:ext cx="1398687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H[*,*]</a:t>
              </a:r>
            </a:p>
          </p:txBody>
        </p:sp>
        <p:sp>
          <p:nvSpPr>
            <p:cNvPr id="184" name="CasellaDiTesto 36"/>
            <p:cNvSpPr txBox="1">
              <a:spLocks noChangeArrowheads="1"/>
            </p:cNvSpPr>
            <p:nvPr/>
          </p:nvSpPr>
          <p:spPr bwMode="auto">
            <a:xfrm>
              <a:off x="2790326" y="2333525"/>
              <a:ext cx="2929738" cy="41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ð"/>
                <a:defRPr sz="3200"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Char char="à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100" b="0" dirty="0">
                  <a:latin typeface="Arial Narrow" pitchFamily="34" charset="0"/>
                </a:rPr>
                <a:t>ROOT = H[*,*] </a:t>
              </a:r>
            </a:p>
          </p:txBody>
        </p:sp>
        <p:cxnSp>
          <p:nvCxnSpPr>
            <p:cNvPr id="185" name="Connettore 2 38"/>
            <p:cNvCxnSpPr>
              <a:cxnSpLocks noChangeShapeType="1"/>
              <a:stCxn id="170" idx="0"/>
              <a:endCxn id="178" idx="2"/>
            </p:cNvCxnSpPr>
            <p:nvPr/>
          </p:nvCxnSpPr>
          <p:spPr bwMode="auto">
            <a:xfrm flipV="1">
              <a:off x="1084037" y="4322789"/>
              <a:ext cx="123949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" name="Connettore 2 39"/>
            <p:cNvCxnSpPr>
              <a:cxnSpLocks noChangeShapeType="1"/>
              <a:stCxn id="178" idx="0"/>
              <a:endCxn id="182" idx="2"/>
            </p:cNvCxnSpPr>
            <p:nvPr/>
          </p:nvCxnSpPr>
          <p:spPr bwMode="auto">
            <a:xfrm flipV="1">
              <a:off x="1207986" y="3556025"/>
              <a:ext cx="104299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7" name="Connettore 2 42"/>
            <p:cNvCxnSpPr>
              <a:cxnSpLocks noChangeShapeType="1"/>
              <a:stCxn id="182" idx="0"/>
              <a:endCxn id="184" idx="2"/>
            </p:cNvCxnSpPr>
            <p:nvPr/>
          </p:nvCxnSpPr>
          <p:spPr bwMode="auto">
            <a:xfrm flipV="1">
              <a:off x="2250977" y="2752751"/>
              <a:ext cx="2004220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8" name="Connettore 2 45"/>
            <p:cNvCxnSpPr>
              <a:cxnSpLocks noChangeShapeType="1"/>
              <a:stCxn id="183" idx="0"/>
              <a:endCxn id="184" idx="2"/>
            </p:cNvCxnSpPr>
            <p:nvPr/>
          </p:nvCxnSpPr>
          <p:spPr bwMode="auto">
            <a:xfrm flipH="1" flipV="1">
              <a:off x="4255197" y="2752751"/>
              <a:ext cx="1869278" cy="38404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9" name="Connettore 2 48"/>
            <p:cNvCxnSpPr>
              <a:cxnSpLocks noChangeShapeType="1"/>
              <a:stCxn id="180" idx="0"/>
              <a:endCxn id="183" idx="2"/>
            </p:cNvCxnSpPr>
            <p:nvPr/>
          </p:nvCxnSpPr>
          <p:spPr bwMode="auto">
            <a:xfrm flipV="1">
              <a:off x="5197373" y="3556025"/>
              <a:ext cx="927101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0" name="Connettore 2 49"/>
            <p:cNvCxnSpPr>
              <a:cxnSpLocks noChangeShapeType="1"/>
              <a:stCxn id="173" idx="0"/>
              <a:endCxn id="179" idx="2"/>
            </p:cNvCxnSpPr>
            <p:nvPr/>
          </p:nvCxnSpPr>
          <p:spPr bwMode="auto">
            <a:xfrm flipH="1" flipV="1">
              <a:off x="3189185" y="4322789"/>
              <a:ext cx="836843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1" name="Connettore 2 50"/>
            <p:cNvCxnSpPr>
              <a:cxnSpLocks noChangeShapeType="1"/>
              <a:stCxn id="181" idx="0"/>
              <a:endCxn id="183" idx="2"/>
            </p:cNvCxnSpPr>
            <p:nvPr/>
          </p:nvCxnSpPr>
          <p:spPr bwMode="auto">
            <a:xfrm flipH="1" flipV="1">
              <a:off x="6124475" y="3556025"/>
              <a:ext cx="1154110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" name="Connettore 2 51"/>
            <p:cNvCxnSpPr>
              <a:cxnSpLocks noChangeShapeType="1"/>
              <a:stCxn id="179" idx="0"/>
              <a:endCxn id="182" idx="2"/>
            </p:cNvCxnSpPr>
            <p:nvPr/>
          </p:nvCxnSpPr>
          <p:spPr bwMode="auto">
            <a:xfrm flipH="1" flipV="1">
              <a:off x="2250977" y="3556025"/>
              <a:ext cx="938208" cy="34753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" name="Connettore 2 60"/>
            <p:cNvCxnSpPr>
              <a:cxnSpLocks noChangeShapeType="1"/>
              <a:stCxn id="172" idx="0"/>
              <a:endCxn id="179" idx="2"/>
            </p:cNvCxnSpPr>
            <p:nvPr/>
          </p:nvCxnSpPr>
          <p:spPr bwMode="auto">
            <a:xfrm flipV="1">
              <a:off x="3102103" y="4322789"/>
              <a:ext cx="87082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" name="Connettore 2 61"/>
            <p:cNvCxnSpPr>
              <a:cxnSpLocks noChangeShapeType="1"/>
              <a:stCxn id="175" idx="0"/>
              <a:endCxn id="180" idx="2"/>
            </p:cNvCxnSpPr>
            <p:nvPr/>
          </p:nvCxnSpPr>
          <p:spPr bwMode="auto">
            <a:xfrm flipH="1" flipV="1">
              <a:off x="5197373" y="4322789"/>
              <a:ext cx="880587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" name="Connettore 2 62"/>
            <p:cNvCxnSpPr>
              <a:cxnSpLocks noChangeShapeType="1"/>
              <a:stCxn id="174" idx="0"/>
              <a:endCxn id="180" idx="2"/>
            </p:cNvCxnSpPr>
            <p:nvPr/>
          </p:nvCxnSpPr>
          <p:spPr bwMode="auto">
            <a:xfrm flipV="1">
              <a:off x="5163914" y="4322789"/>
              <a:ext cx="3346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6" name="Connettore 2 69"/>
            <p:cNvCxnSpPr>
              <a:cxnSpLocks noChangeShapeType="1"/>
              <a:stCxn id="171" idx="0"/>
              <a:endCxn id="178" idx="2"/>
            </p:cNvCxnSpPr>
            <p:nvPr/>
          </p:nvCxnSpPr>
          <p:spPr bwMode="auto">
            <a:xfrm flipH="1" flipV="1">
              <a:off x="1207986" y="4322789"/>
              <a:ext cx="79997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7" name="Connettore 2 72"/>
            <p:cNvCxnSpPr>
              <a:cxnSpLocks noChangeShapeType="1"/>
              <a:stCxn id="176" idx="0"/>
            </p:cNvCxnSpPr>
            <p:nvPr/>
          </p:nvCxnSpPr>
          <p:spPr bwMode="auto">
            <a:xfrm flipV="1">
              <a:off x="7191855" y="4268690"/>
              <a:ext cx="90702" cy="40163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8" name="Connettore 2 73"/>
            <p:cNvCxnSpPr>
              <a:cxnSpLocks noChangeShapeType="1"/>
              <a:stCxn id="176" idx="0"/>
              <a:endCxn id="181" idx="2"/>
            </p:cNvCxnSpPr>
            <p:nvPr/>
          </p:nvCxnSpPr>
          <p:spPr bwMode="auto">
            <a:xfrm flipV="1">
              <a:off x="7191854" y="4322789"/>
              <a:ext cx="86730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9" name="Connettore 2 79"/>
            <p:cNvCxnSpPr>
              <a:cxnSpLocks noChangeShapeType="1"/>
              <a:stCxn id="177" idx="0"/>
              <a:endCxn id="181" idx="2"/>
            </p:cNvCxnSpPr>
            <p:nvPr/>
          </p:nvCxnSpPr>
          <p:spPr bwMode="auto">
            <a:xfrm flipH="1" flipV="1">
              <a:off x="7278585" y="4322789"/>
              <a:ext cx="827316" cy="34753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00" name="Connettore 2 42"/>
          <p:cNvCxnSpPr>
            <a:cxnSpLocks noChangeShapeType="1"/>
            <a:stCxn id="152" idx="0"/>
          </p:cNvCxnSpPr>
          <p:nvPr/>
        </p:nvCxnSpPr>
        <p:spPr bwMode="auto">
          <a:xfrm flipV="1">
            <a:off x="2979587" y="1943546"/>
            <a:ext cx="2451713" cy="39604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2" name="Connettore 2 42"/>
          <p:cNvCxnSpPr>
            <a:cxnSpLocks noChangeShapeType="1"/>
            <a:stCxn id="184" idx="0"/>
          </p:cNvCxnSpPr>
          <p:nvPr/>
        </p:nvCxnSpPr>
        <p:spPr bwMode="auto">
          <a:xfrm flipH="1" flipV="1">
            <a:off x="5472100" y="1943546"/>
            <a:ext cx="2028409" cy="4680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7" name="CasellaDiTesto 36"/>
          <p:cNvSpPr txBox="1">
            <a:spLocks noChangeArrowheads="1"/>
          </p:cNvSpPr>
          <p:nvPr/>
        </p:nvSpPr>
        <p:spPr bwMode="auto">
          <a:xfrm>
            <a:off x="4945572" y="1619508"/>
            <a:ext cx="101502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100" b="0" dirty="0">
                <a:latin typeface="Arial Narrow" pitchFamily="34" charset="0"/>
              </a:rPr>
              <a:t>ROOT3 = H[*,*] </a:t>
            </a:r>
          </a:p>
        </p:txBody>
      </p:sp>
      <p:sp>
        <p:nvSpPr>
          <p:cNvPr id="208" name="Ovale 51"/>
          <p:cNvSpPr>
            <a:spLocks noChangeArrowheads="1"/>
          </p:cNvSpPr>
          <p:nvPr/>
        </p:nvSpPr>
        <p:spPr bwMode="auto">
          <a:xfrm>
            <a:off x="3776251" y="4970816"/>
            <a:ext cx="474662" cy="365125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-36512" y="5801198"/>
            <a:ext cx="151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VALIDATION:</a:t>
            </a:r>
          </a:p>
        </p:txBody>
      </p:sp>
      <p:sp>
        <p:nvSpPr>
          <p:cNvPr id="210" name="CasellaDiTesto 209"/>
          <p:cNvSpPr txBox="1"/>
          <p:nvPr/>
        </p:nvSpPr>
        <p:spPr>
          <a:xfrm>
            <a:off x="1331640" y="5801198"/>
            <a:ext cx="2600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>
                <a:solidFill>
                  <a:srgbClr val="FF0000"/>
                </a:solidFill>
              </a:rPr>
              <a:t>Siblings</a:t>
            </a:r>
            <a:r>
              <a:rPr lang="it-IT" sz="2000" b="1" dirty="0">
                <a:solidFill>
                  <a:srgbClr val="FF0000"/>
                </a:solidFill>
              </a:rPr>
              <a:t> for «</a:t>
            </a:r>
            <a:r>
              <a:rPr lang="it-IT" sz="2000" b="1" dirty="0" err="1">
                <a:solidFill>
                  <a:srgbClr val="FF0000"/>
                </a:solidFill>
              </a:rPr>
              <a:t>your</a:t>
            </a:r>
            <a:r>
              <a:rPr lang="it-IT" sz="2000" b="1" dirty="0">
                <a:solidFill>
                  <a:srgbClr val="FF0000"/>
                </a:solidFill>
              </a:rPr>
              <a:t>» </a:t>
            </a:r>
            <a:r>
              <a:rPr lang="it-IT" sz="2000" b="1" dirty="0" err="1">
                <a:solidFill>
                  <a:srgbClr val="FF0000"/>
                </a:solidFill>
              </a:rPr>
              <a:t>tree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211" name="Ovale 51"/>
          <p:cNvSpPr>
            <a:spLocks noChangeArrowheads="1"/>
          </p:cNvSpPr>
          <p:nvPr/>
        </p:nvSpPr>
        <p:spPr bwMode="auto">
          <a:xfrm>
            <a:off x="4247964" y="4409891"/>
            <a:ext cx="405475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12" name="Ovale 51"/>
          <p:cNvSpPr>
            <a:spLocks noChangeArrowheads="1"/>
          </p:cNvSpPr>
          <p:nvPr/>
        </p:nvSpPr>
        <p:spPr bwMode="auto">
          <a:xfrm>
            <a:off x="3347864" y="3923764"/>
            <a:ext cx="405475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13" name="Ovale 51"/>
          <p:cNvSpPr>
            <a:spLocks noChangeArrowheads="1"/>
          </p:cNvSpPr>
          <p:nvPr/>
        </p:nvSpPr>
        <p:spPr bwMode="auto">
          <a:xfrm>
            <a:off x="4968044" y="3455712"/>
            <a:ext cx="405475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14" name="CasellaDiTesto 213"/>
          <p:cNvSpPr txBox="1"/>
          <p:nvPr/>
        </p:nvSpPr>
        <p:spPr>
          <a:xfrm>
            <a:off x="3671900" y="5801198"/>
            <a:ext cx="28857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 + </a:t>
            </a:r>
            <a:r>
              <a:rPr lang="it-IT" sz="2000" b="1" dirty="0" err="1">
                <a:solidFill>
                  <a:srgbClr val="FF0000"/>
                </a:solidFill>
              </a:rPr>
              <a:t>root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ot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previous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timeslot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215" name="CasellaDiTesto 214"/>
          <p:cNvSpPr txBox="1"/>
          <p:nvPr/>
        </p:nvSpPr>
        <p:spPr>
          <a:xfrm>
            <a:off x="6416308" y="5801198"/>
            <a:ext cx="2688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rgbClr val="FF0000"/>
                </a:solidFill>
              </a:rPr>
              <a:t> + </a:t>
            </a:r>
            <a:r>
              <a:rPr lang="it-IT" sz="2000" b="1" dirty="0" err="1">
                <a:solidFill>
                  <a:srgbClr val="FF0000"/>
                </a:solidFill>
              </a:rPr>
              <a:t>roots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ot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next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timeslots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216" name="Ovale 51"/>
          <p:cNvSpPr>
            <a:spLocks noChangeArrowheads="1"/>
          </p:cNvSpPr>
          <p:nvPr/>
        </p:nvSpPr>
        <p:spPr bwMode="auto">
          <a:xfrm>
            <a:off x="971600" y="2943019"/>
            <a:ext cx="1058000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17" name="Ovale 51"/>
          <p:cNvSpPr>
            <a:spLocks noChangeArrowheads="1"/>
          </p:cNvSpPr>
          <p:nvPr/>
        </p:nvSpPr>
        <p:spPr bwMode="auto">
          <a:xfrm>
            <a:off x="6971509" y="2389420"/>
            <a:ext cx="1058000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cxnSp>
        <p:nvCxnSpPr>
          <p:cNvPr id="218" name="Connettore 2 42"/>
          <p:cNvCxnSpPr>
            <a:cxnSpLocks noChangeShapeType="1"/>
          </p:cNvCxnSpPr>
          <p:nvPr/>
        </p:nvCxnSpPr>
        <p:spPr bwMode="auto">
          <a:xfrm flipH="1" flipV="1">
            <a:off x="6191792" y="1452699"/>
            <a:ext cx="658210" cy="27482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0" name="Connettore 2 42"/>
          <p:cNvCxnSpPr>
            <a:cxnSpLocks noChangeShapeType="1"/>
          </p:cNvCxnSpPr>
          <p:nvPr/>
        </p:nvCxnSpPr>
        <p:spPr bwMode="auto">
          <a:xfrm flipH="1" flipV="1">
            <a:off x="7026981" y="1069866"/>
            <a:ext cx="713371" cy="29761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1" name="Connettore 2 42"/>
          <p:cNvCxnSpPr>
            <a:cxnSpLocks noChangeShapeType="1"/>
            <a:stCxn id="207" idx="0"/>
          </p:cNvCxnSpPr>
          <p:nvPr/>
        </p:nvCxnSpPr>
        <p:spPr bwMode="auto">
          <a:xfrm flipV="1">
            <a:off x="5453083" y="1429906"/>
            <a:ext cx="673683" cy="18960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" name="Connettore 2 42"/>
          <p:cNvCxnSpPr>
            <a:cxnSpLocks noChangeShapeType="1"/>
          </p:cNvCxnSpPr>
          <p:nvPr/>
        </p:nvCxnSpPr>
        <p:spPr bwMode="auto">
          <a:xfrm flipV="1">
            <a:off x="6289533" y="1069866"/>
            <a:ext cx="673683" cy="18960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7" name="CasellaDiTesto 226"/>
          <p:cNvSpPr txBox="1"/>
          <p:nvPr/>
        </p:nvSpPr>
        <p:spPr>
          <a:xfrm>
            <a:off x="6885190" y="1723466"/>
            <a:ext cx="80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/>
              <a:t>Root</a:t>
            </a:r>
            <a:r>
              <a:rPr lang="it-IT" sz="1400" dirty="0"/>
              <a:t> TS4</a:t>
            </a:r>
          </a:p>
        </p:txBody>
      </p:sp>
      <p:sp>
        <p:nvSpPr>
          <p:cNvPr id="228" name="CasellaDiTesto 227"/>
          <p:cNvSpPr txBox="1"/>
          <p:nvPr/>
        </p:nvSpPr>
        <p:spPr>
          <a:xfrm>
            <a:off x="7707374" y="1331476"/>
            <a:ext cx="80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/>
              <a:t>Root</a:t>
            </a:r>
            <a:r>
              <a:rPr lang="it-IT" sz="1400" dirty="0"/>
              <a:t> TS5</a:t>
            </a:r>
          </a:p>
        </p:txBody>
      </p:sp>
      <p:sp>
        <p:nvSpPr>
          <p:cNvPr id="229" name="CasellaDiTesto 36"/>
          <p:cNvSpPr txBox="1">
            <a:spLocks noChangeArrowheads="1"/>
          </p:cNvSpPr>
          <p:nvPr/>
        </p:nvSpPr>
        <p:spPr bwMode="auto">
          <a:xfrm>
            <a:off x="5861997" y="1223464"/>
            <a:ext cx="58221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100" b="0" dirty="0">
                <a:latin typeface="Arial Narrow" pitchFamily="34" charset="0"/>
              </a:rPr>
              <a:t>ROOT4</a:t>
            </a:r>
          </a:p>
        </p:txBody>
      </p:sp>
      <p:sp>
        <p:nvSpPr>
          <p:cNvPr id="230" name="CasellaDiTesto 36"/>
          <p:cNvSpPr txBox="1">
            <a:spLocks noChangeArrowheads="1"/>
          </p:cNvSpPr>
          <p:nvPr/>
        </p:nvSpPr>
        <p:spPr bwMode="auto">
          <a:xfrm>
            <a:off x="6762097" y="791126"/>
            <a:ext cx="58221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100" b="0" dirty="0">
                <a:latin typeface="Arial Narrow" pitchFamily="34" charset="0"/>
              </a:rPr>
              <a:t>ROOT5</a:t>
            </a:r>
          </a:p>
        </p:txBody>
      </p:sp>
      <p:sp>
        <p:nvSpPr>
          <p:cNvPr id="231" name="Ovale 51"/>
          <p:cNvSpPr>
            <a:spLocks noChangeArrowheads="1"/>
          </p:cNvSpPr>
          <p:nvPr/>
        </p:nvSpPr>
        <p:spPr bwMode="auto">
          <a:xfrm>
            <a:off x="6754360" y="1700808"/>
            <a:ext cx="1058000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32" name="Ovale 51"/>
          <p:cNvSpPr>
            <a:spLocks noChangeArrowheads="1"/>
          </p:cNvSpPr>
          <p:nvPr/>
        </p:nvSpPr>
        <p:spPr bwMode="auto">
          <a:xfrm>
            <a:off x="7546448" y="1322839"/>
            <a:ext cx="1058000" cy="305961"/>
          </a:xfrm>
          <a:prstGeom prst="ellipse">
            <a:avLst/>
          </a:prstGeom>
          <a:noFill/>
          <a:ln w="38100" algn="ctr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solidFill>
                <a:srgbClr val="FF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58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7" grpId="0"/>
      <p:bldP spid="148" grpId="0"/>
      <p:bldP spid="152" grpId="0"/>
      <p:bldP spid="207" grpId="0"/>
      <p:bldP spid="208" grpId="0" animBg="1"/>
      <p:bldP spid="11" grpId="0"/>
      <p:bldP spid="210" grpId="0"/>
      <p:bldP spid="211" grpId="0" animBg="1"/>
      <p:bldP spid="212" grpId="0" animBg="1"/>
      <p:bldP spid="213" grpId="0" animBg="1"/>
      <p:bldP spid="214" grpId="0"/>
      <p:bldP spid="215" grpId="0"/>
      <p:bldP spid="216" grpId="0" animBg="1"/>
      <p:bldP spid="217" grpId="0" animBg="1"/>
      <p:bldP spid="227" grpId="0"/>
      <p:bldP spid="228" grpId="0"/>
      <p:bldP spid="229" grpId="0"/>
      <p:bldP spid="230" grpId="0"/>
      <p:bldP spid="231" grpId="0" animBg="1"/>
      <p:bldP spid="2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Merkle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 and </a:t>
            </a:r>
            <a:r>
              <a:rPr lang="it-IT" dirty="0" err="1"/>
              <a:t>blockchains</a:t>
            </a:r>
            <a:endParaRPr lang="it-IT" dirty="0"/>
          </a:p>
        </p:txBody>
      </p:sp>
      <p:sp>
        <p:nvSpPr>
          <p:cNvPr id="4" name="Rettangolo 4"/>
          <p:cNvSpPr>
            <a:spLocks noChangeArrowheads="1"/>
          </p:cNvSpPr>
          <p:nvPr/>
        </p:nvSpPr>
        <p:spPr bwMode="auto">
          <a:xfrm>
            <a:off x="1439626" y="1663860"/>
            <a:ext cx="1296293" cy="1740124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Merkle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Tree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Root</a:t>
            </a:r>
            <a:r>
              <a:rPr lang="it-IT" altLang="it-IT" sz="1800" b="0" dirty="0">
                <a:latin typeface="Arial Narrow" pitchFamily="34" charset="0"/>
              </a:rPr>
              <a:t> 1</a:t>
            </a:r>
          </a:p>
        </p:txBody>
      </p:sp>
      <p:sp>
        <p:nvSpPr>
          <p:cNvPr id="5" name="Rettangolo 4"/>
          <p:cNvSpPr>
            <a:spLocks noChangeArrowheads="1"/>
          </p:cNvSpPr>
          <p:nvPr/>
        </p:nvSpPr>
        <p:spPr bwMode="auto">
          <a:xfrm>
            <a:off x="3747218" y="1668028"/>
            <a:ext cx="1292163" cy="173595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Merkle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Tree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Root</a:t>
            </a:r>
            <a:r>
              <a:rPr lang="it-IT" altLang="it-IT" sz="1800" b="0" dirty="0">
                <a:latin typeface="Arial Narrow" pitchFamily="34" charset="0"/>
              </a:rPr>
              <a:t> 2</a:t>
            </a:r>
          </a:p>
        </p:txBody>
      </p:sp>
      <p:sp>
        <p:nvSpPr>
          <p:cNvPr id="6" name="Rettangolo 5"/>
          <p:cNvSpPr>
            <a:spLocks noChangeArrowheads="1"/>
          </p:cNvSpPr>
          <p:nvPr/>
        </p:nvSpPr>
        <p:spPr bwMode="auto">
          <a:xfrm>
            <a:off x="6102250" y="1663860"/>
            <a:ext cx="1458082" cy="1740124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Merkle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Tree</a:t>
            </a:r>
            <a:r>
              <a:rPr lang="it-IT" altLang="it-IT" sz="1800" b="0" dirty="0">
                <a:latin typeface="Arial Narrow" pitchFamily="34" charset="0"/>
              </a:rPr>
              <a:t> </a:t>
            </a:r>
            <a:r>
              <a:rPr lang="it-IT" altLang="it-IT" sz="1800" b="0" dirty="0" err="1">
                <a:latin typeface="Arial Narrow" pitchFamily="34" charset="0"/>
              </a:rPr>
              <a:t>root</a:t>
            </a:r>
            <a:r>
              <a:rPr lang="it-IT" altLang="it-IT" sz="1800" b="0" dirty="0">
                <a:latin typeface="Arial Narrow" pitchFamily="34" charset="0"/>
              </a:rPr>
              <a:t> 3</a:t>
            </a:r>
          </a:p>
        </p:txBody>
      </p:sp>
      <p:sp>
        <p:nvSpPr>
          <p:cNvPr id="7" name="Rettangolo 4"/>
          <p:cNvSpPr>
            <a:spLocks noChangeArrowheads="1"/>
          </p:cNvSpPr>
          <p:nvPr/>
        </p:nvSpPr>
        <p:spPr bwMode="auto">
          <a:xfrm>
            <a:off x="1439626" y="1305085"/>
            <a:ext cx="1296293" cy="35083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0000000</a:t>
            </a:r>
          </a:p>
        </p:txBody>
      </p:sp>
      <p:sp>
        <p:nvSpPr>
          <p:cNvPr id="8" name="Rettangolo 4"/>
          <p:cNvSpPr>
            <a:spLocks noChangeArrowheads="1"/>
          </p:cNvSpPr>
          <p:nvPr/>
        </p:nvSpPr>
        <p:spPr bwMode="auto">
          <a:xfrm>
            <a:off x="3747218" y="1309253"/>
            <a:ext cx="1292163" cy="35083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  ]</a:t>
            </a:r>
          </a:p>
        </p:txBody>
      </p:sp>
      <p:sp>
        <p:nvSpPr>
          <p:cNvPr id="9" name="Rettangolo 4"/>
          <p:cNvSpPr>
            <a:spLocks noChangeArrowheads="1"/>
          </p:cNvSpPr>
          <p:nvPr/>
        </p:nvSpPr>
        <p:spPr bwMode="auto">
          <a:xfrm>
            <a:off x="6102250" y="1305085"/>
            <a:ext cx="1458082" cy="35083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H[  ]</a:t>
            </a:r>
          </a:p>
        </p:txBody>
      </p:sp>
      <p:cxnSp>
        <p:nvCxnSpPr>
          <p:cNvPr id="12" name="Connettore 4 11"/>
          <p:cNvCxnSpPr>
            <a:cxnSpLocks noChangeShapeType="1"/>
            <a:stCxn id="4" idx="3"/>
            <a:endCxn id="8" idx="0"/>
          </p:cNvCxnSpPr>
          <p:nvPr/>
        </p:nvCxnSpPr>
        <p:spPr bwMode="auto">
          <a:xfrm flipV="1">
            <a:off x="2735919" y="1309253"/>
            <a:ext cx="1657381" cy="1224669"/>
          </a:xfrm>
          <a:prstGeom prst="bentConnector4">
            <a:avLst>
              <a:gd name="adj1" fmla="val 30509"/>
              <a:gd name="adj2" fmla="val 118666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Connettore 4 12"/>
          <p:cNvCxnSpPr>
            <a:cxnSpLocks noChangeShapeType="1"/>
            <a:stCxn id="5" idx="3"/>
            <a:endCxn id="9" idx="0"/>
          </p:cNvCxnSpPr>
          <p:nvPr/>
        </p:nvCxnSpPr>
        <p:spPr bwMode="auto">
          <a:xfrm flipV="1">
            <a:off x="5039381" y="1305085"/>
            <a:ext cx="1791910" cy="1230921"/>
          </a:xfrm>
          <a:prstGeom prst="bentConnector4">
            <a:avLst>
              <a:gd name="adj1" fmla="val 29657"/>
              <a:gd name="adj2" fmla="val 118571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ttangolo 4"/>
          <p:cNvSpPr>
            <a:spLocks noChangeArrowheads="1"/>
          </p:cNvSpPr>
          <p:nvPr/>
        </p:nvSpPr>
        <p:spPr bwMode="auto">
          <a:xfrm>
            <a:off x="899592" y="5908699"/>
            <a:ext cx="839788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Trans A</a:t>
            </a:r>
          </a:p>
        </p:txBody>
      </p:sp>
      <p:sp>
        <p:nvSpPr>
          <p:cNvPr id="17" name="Rettangolo 5"/>
          <p:cNvSpPr>
            <a:spLocks noChangeArrowheads="1"/>
          </p:cNvSpPr>
          <p:nvPr/>
        </p:nvSpPr>
        <p:spPr bwMode="auto">
          <a:xfrm>
            <a:off x="2231740" y="5908699"/>
            <a:ext cx="83978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Trans B</a:t>
            </a:r>
          </a:p>
        </p:txBody>
      </p:sp>
      <p:sp>
        <p:nvSpPr>
          <p:cNvPr id="18" name="Rettangolo 6"/>
          <p:cNvSpPr>
            <a:spLocks noChangeArrowheads="1"/>
          </p:cNvSpPr>
          <p:nvPr/>
        </p:nvSpPr>
        <p:spPr bwMode="auto">
          <a:xfrm>
            <a:off x="3254090" y="5908699"/>
            <a:ext cx="976572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Trans C</a:t>
            </a:r>
          </a:p>
        </p:txBody>
      </p:sp>
      <p:sp>
        <p:nvSpPr>
          <p:cNvPr id="19" name="Rettangolo 7"/>
          <p:cNvSpPr>
            <a:spLocks noChangeArrowheads="1"/>
          </p:cNvSpPr>
          <p:nvPr/>
        </p:nvSpPr>
        <p:spPr bwMode="auto">
          <a:xfrm>
            <a:off x="4463988" y="5908699"/>
            <a:ext cx="943632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Trans D</a:t>
            </a:r>
          </a:p>
        </p:txBody>
      </p:sp>
      <p:cxnSp>
        <p:nvCxnSpPr>
          <p:cNvPr id="40" name="Connettore 4 39"/>
          <p:cNvCxnSpPr>
            <a:cxnSpLocks noChangeShapeType="1"/>
          </p:cNvCxnSpPr>
          <p:nvPr/>
        </p:nvCxnSpPr>
        <p:spPr bwMode="auto">
          <a:xfrm rot="5400000" flipH="1" flipV="1">
            <a:off x="2585553" y="2765389"/>
            <a:ext cx="1647592" cy="310519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Rettangolo 4"/>
          <p:cNvSpPr>
            <a:spLocks noChangeArrowheads="1"/>
          </p:cNvSpPr>
          <p:nvPr/>
        </p:nvSpPr>
        <p:spPr bwMode="auto">
          <a:xfrm>
            <a:off x="2592326" y="3744444"/>
            <a:ext cx="115093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H[ ]  H[  ]</a:t>
            </a:r>
          </a:p>
        </p:txBody>
      </p:sp>
      <p:sp>
        <p:nvSpPr>
          <p:cNvPr id="44" name="Rettangolo 4"/>
          <p:cNvSpPr>
            <a:spLocks noChangeArrowheads="1"/>
          </p:cNvSpPr>
          <p:nvPr/>
        </p:nvSpPr>
        <p:spPr bwMode="auto">
          <a:xfrm>
            <a:off x="1593789" y="4756570"/>
            <a:ext cx="115093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H[ ]  H[  ]</a:t>
            </a:r>
          </a:p>
        </p:txBody>
      </p:sp>
      <p:sp>
        <p:nvSpPr>
          <p:cNvPr id="45" name="Rettangolo 4"/>
          <p:cNvSpPr>
            <a:spLocks noChangeArrowheads="1"/>
          </p:cNvSpPr>
          <p:nvPr/>
        </p:nvSpPr>
        <p:spPr bwMode="auto">
          <a:xfrm>
            <a:off x="3655194" y="4756571"/>
            <a:ext cx="1150937" cy="3286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H[ ]  H[  ]</a:t>
            </a:r>
          </a:p>
        </p:txBody>
      </p:sp>
      <p:cxnSp>
        <p:nvCxnSpPr>
          <p:cNvPr id="46" name="Connettore 4 45"/>
          <p:cNvCxnSpPr>
            <a:cxnSpLocks noChangeShapeType="1"/>
            <a:stCxn id="44" idx="0"/>
          </p:cNvCxnSpPr>
          <p:nvPr/>
        </p:nvCxnSpPr>
        <p:spPr bwMode="auto">
          <a:xfrm rot="5400000" flipH="1" flipV="1">
            <a:off x="2142829" y="3947579"/>
            <a:ext cx="835420" cy="782562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Connettore 4 48"/>
          <p:cNvCxnSpPr>
            <a:cxnSpLocks noChangeShapeType="1"/>
            <a:stCxn id="45" idx="0"/>
          </p:cNvCxnSpPr>
          <p:nvPr/>
        </p:nvCxnSpPr>
        <p:spPr bwMode="auto">
          <a:xfrm rot="16200000" flipV="1">
            <a:off x="3443562" y="3969470"/>
            <a:ext cx="835421" cy="738782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Connettore 4 51"/>
          <p:cNvCxnSpPr>
            <a:cxnSpLocks noChangeShapeType="1"/>
          </p:cNvCxnSpPr>
          <p:nvPr/>
        </p:nvCxnSpPr>
        <p:spPr bwMode="auto">
          <a:xfrm rot="5400000" flipH="1" flipV="1">
            <a:off x="1345240" y="5237716"/>
            <a:ext cx="800896" cy="468051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Connettore 4 52"/>
          <p:cNvCxnSpPr>
            <a:cxnSpLocks noChangeShapeType="1"/>
          </p:cNvCxnSpPr>
          <p:nvPr/>
        </p:nvCxnSpPr>
        <p:spPr bwMode="auto">
          <a:xfrm rot="16200000" flipV="1">
            <a:off x="2194657" y="5341627"/>
            <a:ext cx="787005" cy="274118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Connettore 4 56"/>
          <p:cNvCxnSpPr>
            <a:cxnSpLocks noChangeShapeType="1"/>
          </p:cNvCxnSpPr>
          <p:nvPr/>
        </p:nvCxnSpPr>
        <p:spPr bwMode="auto">
          <a:xfrm rot="5400000" flipH="1" flipV="1">
            <a:off x="3422696" y="5298386"/>
            <a:ext cx="750439" cy="468053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Connettore 4 57"/>
          <p:cNvCxnSpPr>
            <a:cxnSpLocks noChangeShapeType="1"/>
            <a:stCxn id="19" idx="0"/>
          </p:cNvCxnSpPr>
          <p:nvPr/>
        </p:nvCxnSpPr>
        <p:spPr bwMode="auto">
          <a:xfrm rot="16200000" flipV="1">
            <a:off x="4365578" y="5338473"/>
            <a:ext cx="751507" cy="388946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ttangolo 4"/>
          <p:cNvSpPr>
            <a:spLocks noChangeArrowheads="1"/>
          </p:cNvSpPr>
          <p:nvPr/>
        </p:nvSpPr>
        <p:spPr bwMode="auto">
          <a:xfrm>
            <a:off x="1475630" y="2283283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42" name="Rettangolo 4"/>
          <p:cNvSpPr>
            <a:spLocks noChangeArrowheads="1"/>
          </p:cNvSpPr>
          <p:nvPr/>
        </p:nvSpPr>
        <p:spPr bwMode="auto">
          <a:xfrm>
            <a:off x="1475630" y="2643323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47" name="Rettangolo 4"/>
          <p:cNvSpPr>
            <a:spLocks noChangeArrowheads="1"/>
          </p:cNvSpPr>
          <p:nvPr/>
        </p:nvSpPr>
        <p:spPr bwMode="auto">
          <a:xfrm>
            <a:off x="1475630" y="2967359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48" name="Rettangolo 4"/>
          <p:cNvSpPr>
            <a:spLocks noChangeArrowheads="1"/>
          </p:cNvSpPr>
          <p:nvPr/>
        </p:nvSpPr>
        <p:spPr bwMode="auto">
          <a:xfrm>
            <a:off x="3779884" y="2319287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50" name="Rettangolo 4"/>
          <p:cNvSpPr>
            <a:spLocks noChangeArrowheads="1"/>
          </p:cNvSpPr>
          <p:nvPr/>
        </p:nvSpPr>
        <p:spPr bwMode="auto">
          <a:xfrm>
            <a:off x="3779884" y="2679327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51" name="Rettangolo 4"/>
          <p:cNvSpPr>
            <a:spLocks noChangeArrowheads="1"/>
          </p:cNvSpPr>
          <p:nvPr/>
        </p:nvSpPr>
        <p:spPr bwMode="auto">
          <a:xfrm>
            <a:off x="3779884" y="3003363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54" name="Rettangolo 4"/>
          <p:cNvSpPr>
            <a:spLocks noChangeArrowheads="1"/>
          </p:cNvSpPr>
          <p:nvPr/>
        </p:nvSpPr>
        <p:spPr bwMode="auto">
          <a:xfrm>
            <a:off x="6228158" y="2319287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55" name="Rettangolo 4"/>
          <p:cNvSpPr>
            <a:spLocks noChangeArrowheads="1"/>
          </p:cNvSpPr>
          <p:nvPr/>
        </p:nvSpPr>
        <p:spPr bwMode="auto">
          <a:xfrm>
            <a:off x="6228158" y="2679327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56" name="Rettangolo 4"/>
          <p:cNvSpPr>
            <a:spLocks noChangeArrowheads="1"/>
          </p:cNvSpPr>
          <p:nvPr/>
        </p:nvSpPr>
        <p:spPr bwMode="auto">
          <a:xfrm>
            <a:off x="6228158" y="3003363"/>
            <a:ext cx="1224138" cy="32403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itchFamily="34" charset="0"/>
              </a:rPr>
              <a:t>transaction</a:t>
            </a:r>
            <a:endParaRPr lang="it-IT" altLang="it-IT" sz="1800" b="0" dirty="0">
              <a:latin typeface="Arial Narrow" pitchFamily="34" charset="0"/>
            </a:endParaRPr>
          </a:p>
        </p:txBody>
      </p:sp>
      <p:cxnSp>
        <p:nvCxnSpPr>
          <p:cNvPr id="59" name="Connettore 4 58"/>
          <p:cNvCxnSpPr>
            <a:cxnSpLocks noChangeShapeType="1"/>
          </p:cNvCxnSpPr>
          <p:nvPr/>
        </p:nvCxnSpPr>
        <p:spPr bwMode="auto">
          <a:xfrm flipV="1">
            <a:off x="3519369" y="2096852"/>
            <a:ext cx="521030" cy="1"/>
          </a:xfrm>
          <a:prstGeom prst="bentConnector3">
            <a:avLst>
              <a:gd name="adj1" fmla="val 50000"/>
            </a:avLst>
          </a:prstGeom>
          <a:noFill/>
          <a:ln w="50800" algn="ctr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" name="CasellaDiTesto 59"/>
          <p:cNvSpPr txBox="1">
            <a:spLocks noChangeArrowheads="1"/>
          </p:cNvSpPr>
          <p:nvPr/>
        </p:nvSpPr>
        <p:spPr bwMode="auto">
          <a:xfrm>
            <a:off x="5764213" y="3861048"/>
            <a:ext cx="345479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Transaction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can be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verified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b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without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downloading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content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b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of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block</a:t>
            </a:r>
            <a:endParaRPr lang="it-IT" altLang="it-IT" sz="2400" b="0" dirty="0">
              <a:solidFill>
                <a:srgbClr val="FF0000"/>
              </a:solidFill>
              <a:latin typeface="Arial Narrow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 b="0" dirty="0">
              <a:solidFill>
                <a:srgbClr val="FF0000"/>
              </a:solidFill>
              <a:latin typeface="Arial Narrow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[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Merkle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tree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root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stored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b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in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block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it-IT" altLang="it-IT" sz="2400" b="0" dirty="0" err="1">
                <a:solidFill>
                  <a:srgbClr val="FF0000"/>
                </a:solidFill>
                <a:latin typeface="Arial Narrow" pitchFamily="34" charset="0"/>
              </a:rPr>
              <a:t>header</a:t>
            </a:r>
            <a:r>
              <a:rPr lang="it-IT" altLang="it-IT" sz="2400" b="0" dirty="0">
                <a:solidFill>
                  <a:srgbClr val="FF0000"/>
                </a:solidFill>
                <a:latin typeface="Arial Narrow" pitchFamily="34" charset="0"/>
              </a:rPr>
              <a:t>]  </a:t>
            </a:r>
          </a:p>
        </p:txBody>
      </p:sp>
    </p:spTree>
    <p:extLst>
      <p:ext uri="{BB962C8B-B14F-4D97-AF65-F5344CB8AC3E}">
        <p14:creationId xmlns:p14="http://schemas.microsoft.com/office/powerpoint/2010/main" val="366916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43" grpId="0" animBg="1"/>
      <p:bldP spid="44" grpId="0" animBg="1"/>
      <p:bldP spid="45" grpId="0" animBg="1"/>
      <p:bldP spid="6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Merkle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: Applications</a:t>
            </a:r>
          </a:p>
        </p:txBody>
      </p:sp>
      <p:sp>
        <p:nvSpPr>
          <p:cNvPr id="18435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989888" cy="4970462"/>
          </a:xfrm>
        </p:spPr>
        <p:txBody>
          <a:bodyPr>
            <a:normAutofit fontScale="77500" lnSpcReduction="20000"/>
          </a:bodyPr>
          <a:lstStyle/>
          <a:p>
            <a:r>
              <a:rPr lang="it-IT" altLang="it-IT" dirty="0" err="1"/>
              <a:t>Efficient</a:t>
            </a:r>
            <a:r>
              <a:rPr lang="it-IT" altLang="it-IT" dirty="0"/>
              <a:t> </a:t>
            </a:r>
            <a:r>
              <a:rPr lang="it-IT" altLang="it-IT" dirty="0" err="1"/>
              <a:t>storage</a:t>
            </a:r>
            <a:r>
              <a:rPr lang="it-IT" altLang="it-IT" dirty="0"/>
              <a:t> in </a:t>
            </a:r>
            <a:r>
              <a:rPr lang="it-IT" altLang="it-IT" dirty="0" err="1"/>
              <a:t>blockchains</a:t>
            </a:r>
            <a:endParaRPr lang="it-IT" altLang="it-IT" dirty="0"/>
          </a:p>
          <a:p>
            <a:pPr lvl="1"/>
            <a:r>
              <a:rPr lang="it-IT" altLang="it-IT" dirty="0" err="1"/>
              <a:t>Bitcoin</a:t>
            </a:r>
            <a:r>
              <a:rPr lang="it-IT" altLang="it-IT" dirty="0"/>
              <a:t>, </a:t>
            </a:r>
            <a:r>
              <a:rPr lang="it-IT" altLang="it-IT" dirty="0" err="1"/>
              <a:t>Ethereum</a:t>
            </a:r>
            <a:r>
              <a:rPr lang="it-IT" altLang="it-IT" dirty="0"/>
              <a:t>, </a:t>
            </a:r>
            <a:r>
              <a:rPr lang="it-IT" altLang="it-IT" dirty="0" err="1"/>
              <a:t>etc</a:t>
            </a:r>
            <a:r>
              <a:rPr lang="it-IT" altLang="it-IT" dirty="0"/>
              <a:t> </a:t>
            </a:r>
          </a:p>
          <a:p>
            <a:pPr lvl="1"/>
            <a:r>
              <a:rPr lang="it-IT" altLang="it-IT" dirty="0" err="1"/>
              <a:t>Used</a:t>
            </a:r>
            <a:r>
              <a:rPr lang="it-IT" altLang="it-IT" dirty="0"/>
              <a:t> in </a:t>
            </a:r>
            <a:r>
              <a:rPr lang="it-IT" altLang="it-IT" dirty="0" err="1"/>
              <a:t>many</a:t>
            </a:r>
            <a:r>
              <a:rPr lang="it-IT" altLang="it-IT" dirty="0"/>
              <a:t> </a:t>
            </a:r>
            <a:r>
              <a:rPr lang="it-IT" altLang="it-IT" dirty="0" err="1"/>
              <a:t>parts</a:t>
            </a:r>
            <a:r>
              <a:rPr lang="it-IT" altLang="it-IT" dirty="0"/>
              <a:t> of </a:t>
            </a:r>
            <a:r>
              <a:rPr lang="it-IT" altLang="it-IT" dirty="0" err="1"/>
              <a:t>many</a:t>
            </a:r>
            <a:r>
              <a:rPr lang="it-IT" altLang="it-IT" dirty="0"/>
              <a:t> </a:t>
            </a:r>
            <a:r>
              <a:rPr lang="it-IT" altLang="it-IT" dirty="0" err="1"/>
              <a:t>blockchains</a:t>
            </a:r>
            <a:r>
              <a:rPr lang="it-IT" altLang="it-IT" dirty="0"/>
              <a:t>!</a:t>
            </a:r>
          </a:p>
          <a:p>
            <a:pPr lvl="5"/>
            <a:endParaRPr lang="it-IT" altLang="it-IT" dirty="0"/>
          </a:p>
          <a:p>
            <a:r>
              <a:rPr lang="it-IT" altLang="it-IT" dirty="0" err="1"/>
              <a:t>Google’s</a:t>
            </a:r>
            <a:r>
              <a:rPr lang="it-IT" altLang="it-IT" dirty="0"/>
              <a:t> Certificate </a:t>
            </a:r>
            <a:r>
              <a:rPr lang="it-IT" altLang="it-IT" dirty="0" err="1"/>
              <a:t>transparency</a:t>
            </a:r>
            <a:endParaRPr lang="it-IT" altLang="it-IT" dirty="0"/>
          </a:p>
          <a:p>
            <a:pPr lvl="4"/>
            <a:endParaRPr lang="it-IT" altLang="it-IT" dirty="0"/>
          </a:p>
          <a:p>
            <a:r>
              <a:rPr lang="it-IT" altLang="it-IT" dirty="0"/>
              <a:t>File </a:t>
            </a:r>
            <a:r>
              <a:rPr lang="it-IT" altLang="it-IT" dirty="0" err="1"/>
              <a:t>Chunk</a:t>
            </a:r>
            <a:r>
              <a:rPr lang="it-IT" altLang="it-IT" dirty="0"/>
              <a:t> </a:t>
            </a:r>
            <a:r>
              <a:rPr lang="it-IT" altLang="it-IT" dirty="0" err="1"/>
              <a:t>validation</a:t>
            </a:r>
            <a:endParaRPr lang="it-IT" altLang="it-IT" dirty="0"/>
          </a:p>
          <a:p>
            <a:pPr lvl="4"/>
            <a:endParaRPr lang="it-IT" altLang="it-IT" dirty="0"/>
          </a:p>
          <a:p>
            <a:r>
              <a:rPr lang="it-IT" altLang="it-IT" dirty="0"/>
              <a:t>And </a:t>
            </a:r>
            <a:r>
              <a:rPr lang="it-IT" altLang="it-IT" dirty="0" err="1"/>
              <a:t>many</a:t>
            </a:r>
            <a:r>
              <a:rPr lang="it-IT" altLang="it-IT" dirty="0"/>
              <a:t> more</a:t>
            </a:r>
          </a:p>
          <a:p>
            <a:pPr lvl="1"/>
            <a:r>
              <a:rPr lang="it-IT" altLang="it-IT" dirty="0" err="1"/>
              <a:t>One</a:t>
            </a:r>
            <a:r>
              <a:rPr lang="it-IT" altLang="it-IT" dirty="0"/>
              <a:t>-time </a:t>
            </a:r>
            <a:r>
              <a:rPr lang="it-IT" altLang="it-IT" dirty="0" err="1"/>
              <a:t>signatures</a:t>
            </a:r>
            <a:endParaRPr lang="it-IT" altLang="it-IT" dirty="0"/>
          </a:p>
          <a:p>
            <a:pPr lvl="1"/>
            <a:r>
              <a:rPr lang="it-IT" altLang="it-IT" dirty="0" err="1"/>
              <a:t>Node</a:t>
            </a:r>
            <a:r>
              <a:rPr lang="it-IT" altLang="it-IT" dirty="0"/>
              <a:t> </a:t>
            </a:r>
            <a:r>
              <a:rPr lang="it-IT" altLang="it-IT" dirty="0" err="1"/>
              <a:t>authentication</a:t>
            </a:r>
            <a:endParaRPr lang="it-IT" altLang="it-IT" dirty="0"/>
          </a:p>
          <a:p>
            <a:pPr lvl="1"/>
            <a:r>
              <a:rPr lang="it-IT" altLang="it-IT" dirty="0"/>
              <a:t>Memory &amp; </a:t>
            </a:r>
            <a:r>
              <a:rPr lang="it-IT" altLang="it-IT" dirty="0" err="1"/>
              <a:t>storage</a:t>
            </a:r>
            <a:r>
              <a:rPr lang="it-IT" altLang="it-IT" dirty="0"/>
              <a:t> </a:t>
            </a:r>
            <a:r>
              <a:rPr lang="it-IT" altLang="it-IT" dirty="0" err="1"/>
              <a:t>authentication</a:t>
            </a:r>
            <a:endParaRPr lang="it-IT" altLang="it-IT" dirty="0"/>
          </a:p>
          <a:p>
            <a:pPr lvl="1"/>
            <a:r>
              <a:rPr lang="it-IT" altLang="it-IT" dirty="0" err="1"/>
              <a:t>Signature</a:t>
            </a:r>
            <a:r>
              <a:rPr lang="it-IT" altLang="it-IT" dirty="0"/>
              <a:t> </a:t>
            </a:r>
            <a:r>
              <a:rPr lang="it-IT" altLang="it-IT" dirty="0" err="1"/>
              <a:t>spreading</a:t>
            </a:r>
            <a:endParaRPr lang="it-IT" altLang="it-IT" dirty="0"/>
          </a:p>
          <a:p>
            <a:pPr lvl="1"/>
            <a:r>
              <a:rPr lang="it-IT" altLang="it-IT" dirty="0"/>
              <a:t>…. </a:t>
            </a:r>
            <a:r>
              <a:rPr lang="it-IT" altLang="it-IT" dirty="0" err="1"/>
              <a:t>Etc</a:t>
            </a:r>
            <a:r>
              <a:rPr lang="it-IT" altLang="it-IT" dirty="0"/>
              <a:t> </a:t>
            </a:r>
            <a:r>
              <a:rPr lang="it-IT" altLang="it-IT" dirty="0" err="1"/>
              <a:t>etc</a:t>
            </a:r>
            <a:r>
              <a:rPr lang="it-IT" altLang="it-IT" dirty="0"/>
              <a:t> …</a:t>
            </a:r>
          </a:p>
          <a:p>
            <a:endParaRPr lang="it-IT" altLang="it-IT" dirty="0"/>
          </a:p>
          <a:p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1114881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Merkle</a:t>
            </a: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Trees’ application:</a:t>
            </a:r>
          </a:p>
          <a:p>
            <a:pPr algn="ctr" eaLnBrk="0" hangingPunct="0">
              <a:defRPr/>
            </a:pP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Certificate Transparency </a:t>
            </a:r>
            <a:endParaRPr lang="en-US" sz="24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167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3508" y="225425"/>
            <a:ext cx="8820980" cy="649288"/>
          </a:xfrm>
        </p:spPr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cope</a:t>
            </a:r>
            <a:r>
              <a:rPr lang="it-IT" dirty="0"/>
              <a:t> with </a:t>
            </a:r>
            <a:r>
              <a:rPr lang="it-IT" dirty="0" err="1"/>
              <a:t>malicious</a:t>
            </a:r>
            <a:r>
              <a:rPr lang="it-IT" dirty="0"/>
              <a:t> </a:t>
            </a:r>
            <a:r>
              <a:rPr lang="it-IT" dirty="0" err="1"/>
              <a:t>CAs</a:t>
            </a:r>
            <a:r>
              <a:rPr lang="it-IT" dirty="0"/>
              <a:t>?</a:t>
            </a:r>
            <a:br>
              <a:rPr lang="it-IT" dirty="0"/>
            </a:br>
            <a:r>
              <a:rPr lang="it-IT" sz="2400" dirty="0"/>
              <a:t>Idea: </a:t>
            </a:r>
            <a:r>
              <a:rPr lang="it-IT" sz="2400" dirty="0" err="1"/>
              <a:t>gigantic</a:t>
            </a:r>
            <a:r>
              <a:rPr lang="it-IT" sz="2400" dirty="0"/>
              <a:t> </a:t>
            </a:r>
            <a:r>
              <a:rPr lang="it-IT" sz="2400" dirty="0" err="1"/>
              <a:t>worldwide</a:t>
            </a:r>
            <a:r>
              <a:rPr lang="it-IT" sz="2400" dirty="0"/>
              <a:t> DB </a:t>
            </a:r>
            <a:r>
              <a:rPr lang="it-IT" sz="2400" dirty="0" err="1"/>
              <a:t>which</a:t>
            </a:r>
            <a:r>
              <a:rPr lang="it-IT" sz="2400" dirty="0"/>
              <a:t> </a:t>
            </a:r>
            <a:r>
              <a:rPr lang="it-IT" sz="2400" dirty="0" err="1"/>
              <a:t>anyone</a:t>
            </a:r>
            <a:r>
              <a:rPr lang="it-IT" sz="2400" dirty="0"/>
              <a:t> can </a:t>
            </a:r>
            <a:r>
              <a:rPr lang="it-IT" sz="2400" dirty="0" err="1"/>
              <a:t>check</a:t>
            </a:r>
            <a:r>
              <a:rPr lang="it-IT" sz="2400" dirty="0"/>
              <a:t>! </a:t>
            </a:r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244" y="4662356"/>
            <a:ext cx="1036516" cy="1502948"/>
          </a:xfrm>
          <a:prstGeom prst="rect">
            <a:avLst/>
          </a:prstGeom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650916"/>
            <a:ext cx="87788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2641451" y="4857291"/>
            <a:ext cx="3455988" cy="622300"/>
          </a:xfrm>
          <a:prstGeom prst="rightArrow">
            <a:avLst>
              <a:gd name="adj1" fmla="val 68463"/>
              <a:gd name="adj2" fmla="val 43297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https://www.google.it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auto">
          <a:xfrm flipH="1">
            <a:off x="2641451" y="5470066"/>
            <a:ext cx="3348038" cy="514350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CERTIFICATE(I </a:t>
            </a:r>
            <a:r>
              <a:rPr lang="it-IT" altLang="it-IT" sz="1800" dirty="0" err="1">
                <a:latin typeface="Arial Narrow" pitchFamily="34" charset="0"/>
              </a:rPr>
              <a:t>am</a:t>
            </a:r>
            <a:r>
              <a:rPr lang="it-IT" altLang="it-IT" sz="1800" dirty="0">
                <a:latin typeface="Arial Narrow" pitchFamily="34" charset="0"/>
              </a:rPr>
              <a:t> </a:t>
            </a:r>
            <a:r>
              <a:rPr lang="it-IT" altLang="it-IT" sz="1800" dirty="0" err="1">
                <a:latin typeface="Arial Narrow" pitchFamily="34" charset="0"/>
              </a:rPr>
              <a:t>google</a:t>
            </a:r>
            <a:r>
              <a:rPr lang="it-IT" altLang="it-IT" sz="1800" dirty="0">
                <a:latin typeface="Arial Narrow" pitchFamily="34" charset="0"/>
              </a:rPr>
              <a:t>)</a:t>
            </a:r>
            <a:r>
              <a:rPr lang="it-IT" altLang="it-IT" sz="1800" baseline="-25000" dirty="0">
                <a:latin typeface="Arial Narrow" pitchFamily="34" charset="0"/>
              </a:rPr>
              <a:t>LUNATRUST</a:t>
            </a:r>
          </a:p>
        </p:txBody>
      </p:sp>
      <p:sp>
        <p:nvSpPr>
          <p:cNvPr id="19" name="Ovale 18"/>
          <p:cNvSpPr/>
          <p:nvPr/>
        </p:nvSpPr>
        <p:spPr bwMode="auto">
          <a:xfrm>
            <a:off x="6192862" y="4544256"/>
            <a:ext cx="2052228" cy="1693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7766758" y="2319583"/>
            <a:ext cx="130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LUNATRUST</a:t>
            </a:r>
          </a:p>
        </p:txBody>
      </p:sp>
      <p:pic>
        <p:nvPicPr>
          <p:cNvPr id="21" name="Picture 3" descr="Screen shot 2012-06-04 at 6.35.54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666" y="2034136"/>
            <a:ext cx="112236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ight Arrow 5"/>
          <p:cNvSpPr/>
          <p:nvPr/>
        </p:nvSpPr>
        <p:spPr>
          <a:xfrm rot="5400000">
            <a:off x="6859629" y="3806349"/>
            <a:ext cx="724039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CasellaDiTesto 22"/>
          <p:cNvSpPr txBox="1"/>
          <p:nvPr/>
        </p:nvSpPr>
        <p:spPr>
          <a:xfrm>
            <a:off x="3496639" y="1664804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UNIVERSETRUST</a:t>
            </a:r>
          </a:p>
        </p:txBody>
      </p:sp>
      <p:sp>
        <p:nvSpPr>
          <p:cNvPr id="24" name="Right Arrow 5"/>
          <p:cNvSpPr/>
          <p:nvPr/>
        </p:nvSpPr>
        <p:spPr>
          <a:xfrm>
            <a:off x="5067830" y="2574926"/>
            <a:ext cx="1222375" cy="8334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9" tIns="45719" rIns="91439" bIns="45719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5" name="Immagin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934" y="1849470"/>
            <a:ext cx="1162050" cy="1746250"/>
          </a:xfrm>
          <a:prstGeom prst="rect">
            <a:avLst/>
          </a:prstGeom>
        </p:spPr>
      </p:pic>
      <p:pic>
        <p:nvPicPr>
          <p:cNvPr id="26" name="Immagin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8" y="2600908"/>
            <a:ext cx="1270000" cy="1270000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 bwMode="auto">
          <a:xfrm rot="16200000">
            <a:off x="4045660" y="3730748"/>
            <a:ext cx="4761820" cy="107291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7" name="Disco magnetico 26"/>
          <p:cNvSpPr/>
          <p:nvPr/>
        </p:nvSpPr>
        <p:spPr bwMode="auto">
          <a:xfrm>
            <a:off x="395536" y="1403484"/>
            <a:ext cx="2916324" cy="837384"/>
          </a:xfrm>
          <a:prstGeom prst="flowChartMagneticDisk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Certificate </a:t>
            </a:r>
            <a:r>
              <a:rPr kumimoji="0" 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Transparency</a:t>
            </a: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DB</a:t>
            </a:r>
          </a:p>
        </p:txBody>
      </p:sp>
      <p:sp>
        <p:nvSpPr>
          <p:cNvPr id="28" name="Freccia bidirezionale verticale 27"/>
          <p:cNvSpPr/>
          <p:nvPr/>
        </p:nvSpPr>
        <p:spPr bwMode="auto">
          <a:xfrm>
            <a:off x="688316" y="2337137"/>
            <a:ext cx="391296" cy="654507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9" name="Freccia bidirezionale verticale 28"/>
          <p:cNvSpPr/>
          <p:nvPr/>
        </p:nvSpPr>
        <p:spPr bwMode="auto">
          <a:xfrm>
            <a:off x="1755669" y="2351122"/>
            <a:ext cx="368059" cy="2311234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0" name="Freccia bidirezionale verticale 29"/>
          <p:cNvSpPr/>
          <p:nvPr/>
        </p:nvSpPr>
        <p:spPr bwMode="auto">
          <a:xfrm rot="18931038">
            <a:off x="2813858" y="2181285"/>
            <a:ext cx="368059" cy="1048831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1439652" y="5625244"/>
            <a:ext cx="1298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/>
              <a:t>Fake</a:t>
            </a:r>
            <a:r>
              <a:rPr lang="it-IT" sz="3600" b="1" dirty="0"/>
              <a:t>!!</a:t>
            </a:r>
          </a:p>
        </p:txBody>
      </p:sp>
      <p:sp>
        <p:nvSpPr>
          <p:cNvPr id="32" name="CasellaDiTesto 31"/>
          <p:cNvSpPr txBox="1"/>
          <p:nvPr/>
        </p:nvSpPr>
        <p:spPr>
          <a:xfrm>
            <a:off x="64580" y="3392996"/>
            <a:ext cx="175400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 err="1"/>
              <a:t>They</a:t>
            </a:r>
            <a:r>
              <a:rPr lang="it-IT" sz="3200" b="1" dirty="0"/>
              <a:t> are </a:t>
            </a:r>
            <a:br>
              <a:rPr lang="it-IT" sz="3200" b="1" dirty="0"/>
            </a:br>
            <a:r>
              <a:rPr lang="it-IT" sz="3200" b="1" dirty="0" err="1"/>
              <a:t>using</a:t>
            </a:r>
            <a:r>
              <a:rPr lang="it-IT" sz="3200" b="1" dirty="0"/>
              <a:t> </a:t>
            </a:r>
            <a:r>
              <a:rPr lang="it-IT" sz="3200" b="1" dirty="0" err="1"/>
              <a:t>my</a:t>
            </a:r>
            <a:r>
              <a:rPr lang="it-IT" sz="3200" b="1" dirty="0"/>
              <a:t> </a:t>
            </a:r>
            <a:br>
              <a:rPr lang="it-IT" sz="3200" b="1" dirty="0"/>
            </a:br>
            <a:r>
              <a:rPr lang="it-IT" sz="3200" b="1" dirty="0" err="1"/>
              <a:t>name</a:t>
            </a:r>
            <a:r>
              <a:rPr lang="it-IT" sz="32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1708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Why</a:t>
            </a:r>
            <a:r>
              <a:rPr lang="it-IT" dirty="0"/>
              <a:t> certificate </a:t>
            </a:r>
            <a:r>
              <a:rPr lang="it-IT" dirty="0" err="1"/>
              <a:t>transparency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charset="2"/>
              <a:buChar char="è"/>
              <a:defRPr/>
            </a:pPr>
            <a:r>
              <a:rPr lang="en-US" dirty="0"/>
              <a:t>Make it almost impossible for a CA to issue a SSL certificate for a domain without the certificate being visible to the owner of that domain.</a:t>
            </a:r>
          </a:p>
          <a:p>
            <a:pPr>
              <a:buFont typeface="Wingdings" charset="2"/>
              <a:buChar char="è"/>
              <a:defRPr/>
            </a:pPr>
            <a:r>
              <a:rPr lang="en-US" dirty="0"/>
              <a:t>Idea: put all certificates in a gigantic public list, that everyone can access and consult</a:t>
            </a:r>
          </a:p>
          <a:p>
            <a:pPr>
              <a:buFont typeface="Wingdings" charset="2"/>
              <a:buChar char="è"/>
              <a:defRPr/>
            </a:pPr>
            <a:r>
              <a:rPr lang="en-US" dirty="0"/>
              <a:t>Further idea: make sure that we all see the “same” list!!</a:t>
            </a:r>
          </a:p>
          <a:p>
            <a:pPr lvl="1">
              <a:buFont typeface="Wingdings" charset="2"/>
              <a:buChar char="ð"/>
              <a:defRPr/>
            </a:pPr>
            <a:r>
              <a:rPr lang="en-US" dirty="0"/>
              <a:t>New threat: “split world”: the public list you see is different (and crafted!) from what the rest of the world sees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Certificate </a:t>
            </a:r>
            <a:r>
              <a:rPr lang="it-IT" dirty="0" err="1"/>
              <a:t>Transparency</a:t>
            </a:r>
            <a:r>
              <a:rPr lang="it-IT" dirty="0"/>
              <a:t> in a </a:t>
            </a:r>
            <a:r>
              <a:rPr lang="it-IT" dirty="0" err="1"/>
              <a:t>nutshell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15900" y="1557338"/>
            <a:ext cx="4716463" cy="4538662"/>
          </a:xfrm>
        </p:spPr>
        <p:txBody>
          <a:bodyPr>
            <a:normAutofit fontScale="850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issuing</a:t>
            </a:r>
            <a:r>
              <a:rPr lang="it-IT" dirty="0"/>
              <a:t> certificate: </a:t>
            </a:r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to the log server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Returns</a:t>
            </a:r>
            <a:r>
              <a:rPr lang="it-IT" dirty="0"/>
              <a:t> a </a:t>
            </a:r>
            <a:r>
              <a:rPr lang="it-IT" dirty="0" err="1"/>
              <a:t>Signed</a:t>
            </a:r>
            <a:r>
              <a:rPr lang="it-IT" dirty="0"/>
              <a:t> Certificate </a:t>
            </a:r>
            <a:r>
              <a:rPr lang="it-IT" dirty="0" err="1"/>
              <a:t>Timestamp</a:t>
            </a:r>
            <a:r>
              <a:rPr lang="it-IT" dirty="0"/>
              <a:t> (SCT)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During</a:t>
            </a:r>
            <a:r>
              <a:rPr lang="it-IT" dirty="0"/>
              <a:t> TLS </a:t>
            </a:r>
            <a:r>
              <a:rPr lang="it-IT" dirty="0" err="1"/>
              <a:t>handshake</a:t>
            </a:r>
            <a:r>
              <a:rPr lang="it-IT" dirty="0"/>
              <a:t>: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Check</a:t>
            </a:r>
            <a:r>
              <a:rPr lang="it-IT" dirty="0"/>
              <a:t> certificate </a:t>
            </a:r>
            <a:r>
              <a:rPr lang="it-IT" dirty="0" err="1"/>
              <a:t>validity</a:t>
            </a:r>
            <a:r>
              <a:rPr lang="it-IT" dirty="0"/>
              <a:t> (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usual</a:t>
            </a:r>
            <a:r>
              <a:rPr lang="it-IT" dirty="0"/>
              <a:t>)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Follow</a:t>
            </a:r>
            <a:r>
              <a:rPr lang="it-IT" dirty="0"/>
              <a:t> up with an </a:t>
            </a:r>
            <a:r>
              <a:rPr lang="it-IT" b="1" dirty="0" err="1"/>
              <a:t>additional</a:t>
            </a:r>
            <a:r>
              <a:rPr lang="it-IT" dirty="0"/>
              <a:t> Extended </a:t>
            </a:r>
            <a:r>
              <a:rPr lang="it-IT" dirty="0" err="1"/>
              <a:t>Validation</a:t>
            </a:r>
            <a:r>
              <a:rPr lang="it-IT" dirty="0"/>
              <a:t> (EV) by </a:t>
            </a:r>
            <a:r>
              <a:rPr lang="it-IT" dirty="0" err="1"/>
              <a:t>verifying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certificate </a:t>
            </a:r>
            <a:r>
              <a:rPr lang="it-IT" dirty="0" err="1"/>
              <a:t>is</a:t>
            </a:r>
            <a:r>
              <a:rPr lang="it-IT" dirty="0"/>
              <a:t> in the public list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089025"/>
            <a:ext cx="4111625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Certificate </a:t>
            </a:r>
            <a:r>
              <a:rPr lang="it-IT" dirty="0" err="1"/>
              <a:t>Transparency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874713"/>
            <a:ext cx="8026400" cy="5221287"/>
          </a:xfrm>
        </p:spPr>
        <p:txBody>
          <a:bodyPr>
            <a:normAutofit fontScale="625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Google’s</a:t>
            </a:r>
            <a:r>
              <a:rPr lang="it-IT" dirty="0"/>
              <a:t> </a:t>
            </a:r>
            <a:r>
              <a:rPr lang="it-IT" dirty="0" err="1"/>
              <a:t>initiative</a:t>
            </a:r>
            <a:r>
              <a:rPr lang="it-IT" dirty="0"/>
              <a:t> 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started</a:t>
            </a:r>
            <a:r>
              <a:rPr lang="it-IT" dirty="0"/>
              <a:t> 2013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/>
              <a:t>First </a:t>
            </a:r>
            <a:r>
              <a:rPr lang="it-IT" dirty="0" err="1"/>
              <a:t>stated</a:t>
            </a:r>
            <a:r>
              <a:rPr lang="it-IT" dirty="0"/>
              <a:t> in </a:t>
            </a:r>
            <a:r>
              <a:rPr lang="it-IT" dirty="0" err="1"/>
              <a:t>experimental</a:t>
            </a:r>
            <a:r>
              <a:rPr lang="it-IT" dirty="0"/>
              <a:t> RFC 6962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July</a:t>
            </a:r>
            <a:r>
              <a:rPr lang="it-IT" dirty="0"/>
              <a:t> 2013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Endorsed</a:t>
            </a:r>
            <a:r>
              <a:rPr lang="it-IT" dirty="0"/>
              <a:t> and </a:t>
            </a:r>
            <a:r>
              <a:rPr lang="it-IT" dirty="0" err="1"/>
              <a:t>supported</a:t>
            </a:r>
            <a:r>
              <a:rPr lang="it-IT" dirty="0"/>
              <a:t> by IETF WG «trans»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Goal: </a:t>
            </a:r>
            <a:r>
              <a:rPr lang="it-IT" dirty="0" err="1"/>
              <a:t>standardize</a:t>
            </a:r>
            <a:r>
              <a:rPr lang="it-IT" dirty="0"/>
              <a:t> CT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RFC 6962bis </a:t>
            </a:r>
            <a:r>
              <a:rPr lang="it-IT" dirty="0" err="1"/>
              <a:t>released</a:t>
            </a:r>
            <a:r>
              <a:rPr lang="it-IT" dirty="0"/>
              <a:t> in </a:t>
            </a:r>
            <a:r>
              <a:rPr lang="it-IT" dirty="0" err="1"/>
              <a:t>December</a:t>
            </a:r>
            <a:r>
              <a:rPr lang="it-IT" dirty="0"/>
              <a:t> 2014</a:t>
            </a:r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Integrated</a:t>
            </a:r>
            <a:r>
              <a:rPr lang="it-IT" dirty="0"/>
              <a:t> in major browsers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Chrome</a:t>
            </a:r>
            <a:r>
              <a:rPr lang="it-IT" dirty="0"/>
              <a:t> 1+, IE7+, </a:t>
            </a:r>
            <a:r>
              <a:rPr lang="it-IT" dirty="0" err="1"/>
              <a:t>Firefox</a:t>
            </a:r>
            <a:r>
              <a:rPr lang="it-IT" dirty="0"/>
              <a:t> 3+, Safari 3.2+, Opera 9.5+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Although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yet</a:t>
            </a:r>
            <a:r>
              <a:rPr lang="it-IT" dirty="0"/>
              <a:t>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by </a:t>
            </a:r>
            <a:r>
              <a:rPr lang="it-IT" dirty="0" err="1"/>
              <a:t>all</a:t>
            </a:r>
            <a:r>
              <a:rPr lang="it-IT" dirty="0"/>
              <a:t> web </a:t>
            </a:r>
            <a:r>
              <a:rPr lang="it-IT" dirty="0" err="1"/>
              <a:t>sites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Supported</a:t>
            </a:r>
            <a:r>
              <a:rPr lang="it-IT" dirty="0"/>
              <a:t> by major </a:t>
            </a:r>
            <a:r>
              <a:rPr lang="it-IT" dirty="0" err="1"/>
              <a:t>sites</a:t>
            </a:r>
            <a:endParaRPr lang="it-IT" dirty="0"/>
          </a:p>
          <a:p>
            <a:pPr lvl="1">
              <a:buFont typeface="Wingdings" charset="2"/>
              <a:buChar char="è"/>
              <a:defRPr/>
            </a:pPr>
            <a:r>
              <a:rPr lang="it-IT" dirty="0" err="1"/>
              <a:t>Paypal</a:t>
            </a:r>
            <a:r>
              <a:rPr lang="it-IT" dirty="0"/>
              <a:t>, </a:t>
            </a:r>
            <a:r>
              <a:rPr lang="it-IT" dirty="0" err="1"/>
              <a:t>CertSign</a:t>
            </a:r>
            <a:r>
              <a:rPr lang="it-IT" dirty="0"/>
              <a:t>, </a:t>
            </a:r>
            <a:r>
              <a:rPr lang="it-IT" dirty="0" err="1"/>
              <a:t>etc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/>
              <a:t>Multiple </a:t>
            </a:r>
            <a:r>
              <a:rPr lang="it-IT" dirty="0" err="1"/>
              <a:t>pilot</a:t>
            </a:r>
            <a:r>
              <a:rPr lang="it-IT" dirty="0"/>
              <a:t> logs</a:t>
            </a:r>
          </a:p>
          <a:p>
            <a:pPr lvl="1">
              <a:buFont typeface="Wingdings" charset="2"/>
              <a:buChar char="è"/>
              <a:defRPr/>
            </a:pPr>
            <a:r>
              <a:rPr lang="it-IT" dirty="0"/>
              <a:t>Google, </a:t>
            </a:r>
            <a:r>
              <a:rPr lang="it-IT" dirty="0" err="1"/>
              <a:t>Cloudflare</a:t>
            </a:r>
            <a:r>
              <a:rPr lang="it-IT" dirty="0"/>
              <a:t>, </a:t>
            </a:r>
            <a:r>
              <a:rPr lang="it-IT" dirty="0" err="1"/>
              <a:t>DigiCert</a:t>
            </a:r>
            <a:r>
              <a:rPr lang="it-IT" dirty="0"/>
              <a:t>, </a:t>
            </a:r>
            <a:r>
              <a:rPr lang="it-IT" dirty="0" err="1"/>
              <a:t>etc</a:t>
            </a:r>
            <a:endParaRPr lang="it-IT" dirty="0"/>
          </a:p>
          <a:p>
            <a:pPr lvl="1">
              <a:buFont typeface="Wingdings" charset="2"/>
              <a:buChar char="è"/>
              <a:defRPr/>
            </a:pPr>
            <a:r>
              <a:rPr lang="it-IT" dirty="0">
                <a:hlinkClick r:id="rId2"/>
              </a:rPr>
              <a:t>https://certificate.transparency.dev/logs/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/>
              <a:t>https://crt.sh/</a:t>
            </a:r>
            <a:endParaRPr lang="it-IT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CT: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works</a:t>
            </a:r>
            <a:r>
              <a:rPr lang="it-IT" dirty="0"/>
              <a:t>?</a:t>
            </a:r>
          </a:p>
        </p:txBody>
      </p:sp>
      <p:sp>
        <p:nvSpPr>
          <p:cNvPr id="24579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/>
              <a:t>Uses Merkle trees!</a:t>
            </a:r>
          </a:p>
          <a:p>
            <a:pPr lvl="1"/>
            <a:r>
              <a:rPr lang="it-IT" altLang="it-IT"/>
              <a:t>Very scalable, log(n) verification complexity</a:t>
            </a:r>
          </a:p>
          <a:p>
            <a:r>
              <a:rPr lang="it-IT" altLang="it-IT"/>
              <a:t>A special type (sometimes called chron tree)</a:t>
            </a:r>
          </a:p>
          <a:p>
            <a:pPr lvl="1"/>
            <a:r>
              <a:rPr lang="it-IT" altLang="it-IT"/>
              <a:t>«append only» Merkle tree</a:t>
            </a:r>
          </a:p>
          <a:p>
            <a:pPr lvl="1"/>
            <a:r>
              <a:rPr lang="it-IT" altLang="it-IT"/>
              <a:t>Timestamped entries</a:t>
            </a:r>
          </a:p>
          <a:p>
            <a:pPr lvl="2"/>
            <a:r>
              <a:rPr lang="it-IT" altLang="it-IT"/>
              <a:t>Cannot retroactively insert a certificate </a:t>
            </a:r>
          </a:p>
        </p:txBody>
      </p:sp>
      <p:sp>
        <p:nvSpPr>
          <p:cNvPr id="24580" name="CasellaDiTesto 3"/>
          <p:cNvSpPr txBox="1">
            <a:spLocks noChangeArrowheads="1"/>
          </p:cNvSpPr>
          <p:nvPr/>
        </p:nvSpPr>
        <p:spPr bwMode="auto">
          <a:xfrm>
            <a:off x="1800225" y="5908675"/>
            <a:ext cx="6954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Following figures: source http://www.certificate-transparency.org/log-proofs-work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CT: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works</a:t>
            </a:r>
            <a:r>
              <a:rPr lang="it-IT" dirty="0"/>
              <a:t>?</a:t>
            </a:r>
          </a:p>
        </p:txBody>
      </p:sp>
      <p:pic>
        <p:nvPicPr>
          <p:cNvPr id="25603" name="Picture 2" descr="https://a147ae24-a-62cb3a1a-s-sites.googlegroups.com/site/certificatetransparency/log-proofs-work/ct_hash_1.png?attachauth=ANoY7crXAiIXIB2jRP-mRzHmx_u58rcZRMNQxTPOlR1aiYpqXKskHchL06TyX5eOy4qNXthNvX4bmT8wkIXwr8pNEsurA8IciG5hlflMda1G6qu4uDcPXgMTAiCFBzdkPv6cB3o-koB7V01ZQ7ZTccCPIMWRhCxNaPJSbl42yaKZ0hAG9Oa8P07xTPTXtGyz4TdmUDMss1GXcDwTUTZeMI2QTOyQQT6rVNGNdFJln6DTIdRIOovgWVeJqfy1TJg1LMfHvwEfIW2N&amp;attredirects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773238"/>
            <a:ext cx="3924300" cy="344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 descr="https://a147ae24-a-62cb3a1a-s-sites.googlegroups.com/site/certificatetransparency/log-proofs-work/ct_hash_2.png?attachauth=ANoY7cr5TO9Lx8G7ERXtSDVLGGXyh9yM1WOrTMDRXcGzwqORnzz1WTxHg64dkH2VMfJtvxlUjkZvEq5lYEJGnT1vpO1FFS1xT4B9wpM-XSH0lkrH8wJqLxpHZb9u-Tds97cXfwP6hEg7IUSbjTw8453OvQkz9AzaPSZiGCoBoXz7mkKc73on4NpoC2URY8uGAsvCEAVTmiQt9YDjqNXdRBvi7n8KOFR8B45Bmq64n302HRv7gHrBTwb7r4jnlold2DnkqMWoCcvu&amp;attredirects=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113" y="1196975"/>
            <a:ext cx="3965575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CasellaDiTesto 3"/>
          <p:cNvSpPr txBox="1">
            <a:spLocks noChangeArrowheads="1"/>
          </p:cNvSpPr>
          <p:nvPr/>
        </p:nvSpPr>
        <p:spPr bwMode="auto">
          <a:xfrm>
            <a:off x="1223963" y="5516563"/>
            <a:ext cx="4060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Every X hours, tree updated (currently X=24h)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Merkle</a:t>
            </a:r>
            <a:r>
              <a:rPr lang="it-IT" dirty="0"/>
              <a:t> </a:t>
            </a:r>
            <a:r>
              <a:rPr lang="it-IT" dirty="0" err="1"/>
              <a:t>Consistency</a:t>
            </a:r>
            <a:r>
              <a:rPr lang="it-IT" dirty="0"/>
              <a:t> </a:t>
            </a:r>
            <a:r>
              <a:rPr lang="it-IT" dirty="0" err="1"/>
              <a:t>proof</a:t>
            </a:r>
            <a:endParaRPr lang="it-IT" dirty="0"/>
          </a:p>
        </p:txBody>
      </p:sp>
      <p:pic>
        <p:nvPicPr>
          <p:cNvPr id="26627" name="Picture 2" descr="http://www.certificate-transparency.org/_/rsrc/1375725222062/log-proofs-work/ct_hash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2138363"/>
            <a:ext cx="8845550" cy="424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CasellaDiTesto 3"/>
          <p:cNvSpPr txBox="1">
            <a:spLocks noChangeArrowheads="1"/>
          </p:cNvSpPr>
          <p:nvPr/>
        </p:nvSpPr>
        <p:spPr bwMode="auto">
          <a:xfrm>
            <a:off x="107950" y="1125538"/>
            <a:ext cx="9126538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itchFamily="34" charset="0"/>
              </a:rPr>
              <a:t>Verify that </a:t>
            </a:r>
            <a:r>
              <a:rPr lang="en-US" altLang="it-IT" sz="2000" b="0">
                <a:latin typeface="Arial Narrow" pitchFamily="34" charset="0"/>
              </a:rPr>
              <a:t>two versions of a log are consistent (i.e., the later includes everything of the earlier).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000" b="0">
                <a:latin typeface="Arial Narrow" pitchFamily="34" charset="0"/>
              </a:rPr>
              <a:t>Consistency proof </a:t>
            </a:r>
            <a:r>
              <a:rPr lang="en-US" altLang="it-IT" sz="2000" b="0"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altLang="it-IT" sz="2000" b="0">
                <a:latin typeface="Arial Narrow" pitchFamily="34" charset="0"/>
              </a:rPr>
              <a:t>no certificates have been modified or back-dated and inserted into the log.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000" b="0">
                <a:latin typeface="Arial Narrow" pitchFamily="34" charset="0"/>
              </a:rPr>
              <a:t>Proof = need only root of the subtrees – includes past “root”</a:t>
            </a:r>
            <a:endParaRPr lang="it-IT" altLang="it-IT" sz="2000" b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Merkle</a:t>
            </a:r>
            <a:r>
              <a:rPr lang="it-IT" dirty="0"/>
              <a:t> Audit </a:t>
            </a:r>
            <a:r>
              <a:rPr lang="it-IT" dirty="0" err="1"/>
              <a:t>Proof</a:t>
            </a:r>
            <a:endParaRPr lang="it-IT" dirty="0"/>
          </a:p>
        </p:txBody>
      </p:sp>
      <p:pic>
        <p:nvPicPr>
          <p:cNvPr id="27651" name="Picture 2" descr="http://www.certificate-transparency.org/_/rsrc/1379430973580/log-proofs-work/ct_hash_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88" y="1093788"/>
            <a:ext cx="4824412" cy="492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287338" y="1125538"/>
            <a:ext cx="3889375" cy="4391025"/>
          </a:xfrm>
        </p:spPr>
        <p:txBody>
          <a:bodyPr>
            <a:normAutofit fontScale="625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Usual</a:t>
            </a:r>
            <a:r>
              <a:rPr lang="it-IT" dirty="0"/>
              <a:t>: via certificate + </a:t>
            </a:r>
            <a:r>
              <a:rPr lang="it-IT" dirty="0" err="1"/>
              <a:t>siblings</a:t>
            </a:r>
            <a:endParaRPr lang="it-IT" dirty="0"/>
          </a:p>
          <a:p>
            <a:pPr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Siblings</a:t>
            </a:r>
            <a:r>
              <a:rPr lang="it-IT" dirty="0"/>
              <a:t> </a:t>
            </a:r>
            <a:r>
              <a:rPr lang="it-IT" dirty="0" err="1"/>
              <a:t>obtained</a:t>
            </a:r>
            <a:r>
              <a:rPr lang="it-IT" dirty="0"/>
              <a:t> from log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Issue</a:t>
            </a:r>
            <a:r>
              <a:rPr lang="it-IT" dirty="0"/>
              <a:t>: online </a:t>
            </a:r>
            <a:r>
              <a:rPr lang="it-IT" dirty="0" err="1"/>
              <a:t>operation</a:t>
            </a:r>
            <a:r>
              <a:rPr lang="it-IT" dirty="0"/>
              <a:t>, </a:t>
            </a:r>
            <a:r>
              <a:rPr lang="it-IT" dirty="0" err="1"/>
              <a:t>visible</a:t>
            </a:r>
            <a:r>
              <a:rPr lang="it-IT" dirty="0"/>
              <a:t> to </a:t>
            </a:r>
            <a:r>
              <a:rPr lang="it-IT" dirty="0" err="1"/>
              <a:t>all</a:t>
            </a:r>
            <a:r>
              <a:rPr lang="it-IT" dirty="0"/>
              <a:t>…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 err="1"/>
              <a:t>Remember</a:t>
            </a:r>
            <a:r>
              <a:rPr lang="it-IT" dirty="0"/>
              <a:t> </a:t>
            </a:r>
            <a:r>
              <a:rPr lang="it-IT" dirty="0" err="1"/>
              <a:t>who</a:t>
            </a:r>
            <a:r>
              <a:rPr lang="it-IT" dirty="0"/>
              <a:t> are the </a:t>
            </a:r>
            <a:r>
              <a:rPr lang="it-IT" dirty="0" err="1"/>
              <a:t>threats</a:t>
            </a:r>
            <a:r>
              <a:rPr lang="it-IT" dirty="0"/>
              <a:t> </a:t>
            </a:r>
            <a:r>
              <a:rPr lang="it-IT" dirty="0" err="1"/>
              <a:t>today</a:t>
            </a:r>
            <a:r>
              <a:rPr lang="it-IT" dirty="0"/>
              <a:t>…</a:t>
            </a:r>
          </a:p>
          <a:p>
            <a:pPr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/>
              <a:t>Alternative: use «</a:t>
            </a:r>
            <a:r>
              <a:rPr lang="it-IT" dirty="0" err="1"/>
              <a:t>gossiping</a:t>
            </a:r>
            <a:r>
              <a:rPr lang="it-IT" dirty="0"/>
              <a:t>» </a:t>
            </a:r>
            <a:r>
              <a:rPr lang="it-IT" dirty="0" err="1"/>
              <a:t>protocols</a:t>
            </a:r>
            <a:endParaRPr lang="it-IT" dirty="0"/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Work in progress @ 2015!</a:t>
            </a:r>
          </a:p>
          <a:p>
            <a:pPr lvl="1">
              <a:buFont typeface="Wingdings" charset="2"/>
              <a:buChar char="ð"/>
              <a:defRPr/>
            </a:pPr>
            <a:r>
              <a:rPr lang="it-IT" dirty="0"/>
              <a:t>No time for (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nice</a:t>
            </a:r>
            <a:r>
              <a:rPr lang="it-IT" dirty="0"/>
              <a:t>) </a:t>
            </a:r>
            <a:r>
              <a:rPr lang="it-IT" dirty="0" err="1"/>
              <a:t>details</a:t>
            </a:r>
            <a:r>
              <a:rPr lang="it-IT" dirty="0"/>
              <a:t>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Certificate </a:t>
            </a:r>
            <a:r>
              <a:rPr lang="it-IT" dirty="0" err="1"/>
              <a:t>Transparency</a:t>
            </a:r>
            <a:r>
              <a:rPr lang="it-IT" dirty="0"/>
              <a:t> in the </a:t>
            </a:r>
            <a:r>
              <a:rPr lang="it-IT" dirty="0" err="1"/>
              <a:t>real</a:t>
            </a:r>
            <a:r>
              <a:rPr lang="it-IT" dirty="0"/>
              <a:t> world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089025"/>
            <a:ext cx="4111625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E3DA0737-BF1E-4995-B4B7-885D36512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15" y="1808820"/>
            <a:ext cx="5346743" cy="4176464"/>
          </a:xfrm>
        </p:spPr>
        <p:txBody>
          <a:bodyPr>
            <a:normAutofit fontScale="62500" lnSpcReduction="20000"/>
          </a:bodyPr>
          <a:lstStyle/>
          <a:p>
            <a:pPr>
              <a:buFont typeface="Wingdings" charset="2"/>
              <a:buChar char="è"/>
              <a:defRPr/>
            </a:pPr>
            <a:r>
              <a:rPr lang="it-IT" dirty="0" err="1"/>
              <a:t>Lauched</a:t>
            </a:r>
            <a:r>
              <a:rPr lang="it-IT" dirty="0"/>
              <a:t> in </a:t>
            </a:r>
            <a:r>
              <a:rPr lang="it-IT" dirty="0" err="1"/>
              <a:t>july</a:t>
            </a:r>
            <a:r>
              <a:rPr lang="it-IT" dirty="0"/>
              <a:t> 2013 by Google</a:t>
            </a:r>
          </a:p>
          <a:p>
            <a:pPr lvl="4"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experimental</a:t>
            </a:r>
            <a:r>
              <a:rPr lang="it-IT" dirty="0"/>
              <a:t> IETF RFC 6962</a:t>
            </a:r>
          </a:p>
          <a:p>
            <a:pPr lvl="1">
              <a:buFont typeface="Wingdings" charset="2"/>
              <a:buChar char="è"/>
              <a:defRPr/>
            </a:pPr>
            <a:r>
              <a:rPr lang="it-IT" dirty="0"/>
              <a:t>IETF WG «trans»</a:t>
            </a:r>
          </a:p>
          <a:p>
            <a:pPr lvl="1">
              <a:buFont typeface="Wingdings" charset="2"/>
              <a:buChar char="è"/>
              <a:defRPr/>
            </a:pPr>
            <a:r>
              <a:rPr lang="it-IT" dirty="0" err="1"/>
              <a:t>Specified</a:t>
            </a:r>
            <a:r>
              <a:rPr lang="it-IT" dirty="0"/>
              <a:t> </a:t>
            </a:r>
            <a:r>
              <a:rPr lang="it-IT" dirty="0" err="1"/>
              <a:t>processes</a:t>
            </a:r>
            <a:r>
              <a:rPr lang="it-IT" dirty="0"/>
              <a:t> and </a:t>
            </a:r>
            <a:r>
              <a:rPr lang="it-IT" dirty="0" err="1"/>
              <a:t>protocols</a:t>
            </a:r>
            <a:endParaRPr lang="it-IT" dirty="0"/>
          </a:p>
          <a:p>
            <a:pPr lvl="4"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Integrated</a:t>
            </a:r>
            <a:r>
              <a:rPr lang="it-IT" dirty="0"/>
              <a:t> in </a:t>
            </a:r>
            <a:r>
              <a:rPr lang="it-IT" dirty="0" err="1"/>
              <a:t>all</a:t>
            </a:r>
            <a:r>
              <a:rPr lang="it-IT" dirty="0"/>
              <a:t> major browsers</a:t>
            </a:r>
          </a:p>
          <a:p>
            <a:pPr lvl="5"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 err="1"/>
              <a:t>Supported</a:t>
            </a:r>
            <a:r>
              <a:rPr lang="it-IT" dirty="0"/>
              <a:t> by major </a:t>
            </a:r>
            <a:r>
              <a:rPr lang="it-IT" dirty="0" err="1"/>
              <a:t>sites</a:t>
            </a:r>
            <a:endParaRPr lang="it-IT" dirty="0"/>
          </a:p>
          <a:p>
            <a:pPr lvl="1">
              <a:buFont typeface="Wingdings" charset="2"/>
              <a:buChar char="è"/>
              <a:defRPr/>
            </a:pPr>
            <a:r>
              <a:rPr lang="it-IT" dirty="0" err="1"/>
              <a:t>Paypal</a:t>
            </a:r>
            <a:r>
              <a:rPr lang="it-IT" dirty="0"/>
              <a:t>, </a:t>
            </a:r>
            <a:r>
              <a:rPr lang="it-IT" dirty="0" err="1"/>
              <a:t>CertSign</a:t>
            </a:r>
            <a:r>
              <a:rPr lang="it-IT" dirty="0"/>
              <a:t>, </a:t>
            </a:r>
            <a:r>
              <a:rPr lang="it-IT" dirty="0" err="1"/>
              <a:t>etc</a:t>
            </a:r>
            <a:endParaRPr lang="it-IT" dirty="0"/>
          </a:p>
          <a:p>
            <a:pPr lvl="4">
              <a:buFont typeface="Wingdings" charset="2"/>
              <a:buChar char="è"/>
              <a:defRPr/>
            </a:pPr>
            <a:endParaRPr lang="it-IT" dirty="0"/>
          </a:p>
          <a:p>
            <a:pPr>
              <a:buFont typeface="Wingdings" charset="2"/>
              <a:buChar char="è"/>
              <a:defRPr/>
            </a:pPr>
            <a:r>
              <a:rPr lang="it-IT" dirty="0"/>
              <a:t>Multiple </a:t>
            </a:r>
            <a:r>
              <a:rPr lang="it-IT" dirty="0" err="1"/>
              <a:t>pilot</a:t>
            </a:r>
            <a:r>
              <a:rPr lang="it-IT" dirty="0"/>
              <a:t> logs</a:t>
            </a:r>
          </a:p>
          <a:p>
            <a:pPr lvl="1">
              <a:buFont typeface="Wingdings" charset="2"/>
              <a:buChar char="è"/>
              <a:defRPr/>
            </a:pPr>
            <a:r>
              <a:rPr lang="it-IT" dirty="0"/>
              <a:t>Google, </a:t>
            </a:r>
            <a:r>
              <a:rPr lang="it-IT" dirty="0" err="1"/>
              <a:t>Cloudflare</a:t>
            </a:r>
            <a:r>
              <a:rPr lang="it-IT" dirty="0"/>
              <a:t>, </a:t>
            </a:r>
            <a:r>
              <a:rPr lang="it-IT" dirty="0" err="1"/>
              <a:t>DigiCert</a:t>
            </a:r>
            <a:r>
              <a:rPr lang="it-IT" dirty="0"/>
              <a:t>, </a:t>
            </a:r>
            <a:r>
              <a:rPr lang="it-IT" dirty="0" err="1"/>
              <a:t>etc</a:t>
            </a:r>
            <a:endParaRPr lang="it-IT" dirty="0"/>
          </a:p>
          <a:p>
            <a:pPr lvl="1">
              <a:buFont typeface="Wingdings" charset="2"/>
              <a:buChar char="è"/>
              <a:defRPr/>
            </a:pPr>
            <a:r>
              <a:rPr lang="it-IT" dirty="0"/>
              <a:t>https://certificate.transparency.dev/logs/</a:t>
            </a:r>
          </a:p>
        </p:txBody>
      </p:sp>
    </p:spTree>
    <p:extLst>
      <p:ext uri="{BB962C8B-B14F-4D97-AF65-F5344CB8AC3E}">
        <p14:creationId xmlns:p14="http://schemas.microsoft.com/office/powerpoint/2010/main" val="236812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696200" cy="649288"/>
          </a:xfrm>
        </p:spPr>
        <p:txBody>
          <a:bodyPr/>
          <a:lstStyle/>
          <a:p>
            <a:pPr>
              <a:defRPr/>
            </a:pPr>
            <a:r>
              <a:rPr lang="it-IT" dirty="0"/>
              <a:t>EV in the </a:t>
            </a:r>
            <a:r>
              <a:rPr lang="it-IT" dirty="0" err="1"/>
              <a:t>real</a:t>
            </a:r>
            <a:r>
              <a:rPr lang="it-IT" dirty="0"/>
              <a:t> world</a:t>
            </a:r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715963"/>
            <a:ext cx="7056438" cy="597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" name="Ovale 3"/>
          <p:cNvSpPr>
            <a:spLocks noChangeArrowheads="1"/>
          </p:cNvSpPr>
          <p:nvPr/>
        </p:nvSpPr>
        <p:spPr bwMode="auto">
          <a:xfrm>
            <a:off x="1871663" y="2492375"/>
            <a:ext cx="1655762" cy="457200"/>
          </a:xfrm>
          <a:prstGeom prst="ellipse">
            <a:avLst/>
          </a:prstGeom>
          <a:noFill/>
          <a:ln w="5715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6" name="Ovale 5"/>
          <p:cNvSpPr>
            <a:spLocks noChangeArrowheads="1"/>
          </p:cNvSpPr>
          <p:nvPr/>
        </p:nvSpPr>
        <p:spPr bwMode="auto">
          <a:xfrm>
            <a:off x="1871663" y="2971800"/>
            <a:ext cx="1979612" cy="457200"/>
          </a:xfrm>
          <a:prstGeom prst="ellipse">
            <a:avLst/>
          </a:prstGeom>
          <a:noFill/>
          <a:ln w="5715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025" y="1773238"/>
            <a:ext cx="4752975" cy="427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CD0CE0-3F95-441B-B331-C8BEBF4E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5425"/>
            <a:ext cx="8062664" cy="649288"/>
          </a:xfrm>
        </p:spPr>
        <p:txBody>
          <a:bodyPr/>
          <a:lstStyle/>
          <a:p>
            <a:r>
              <a:rPr lang="it-IT" dirty="0"/>
              <a:t>Common </a:t>
            </a:r>
            <a:r>
              <a:rPr lang="it-IT" dirty="0" err="1"/>
              <a:t>misconception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/>
              <a:t>Cert</a:t>
            </a:r>
            <a:r>
              <a:rPr lang="it-IT" dirty="0"/>
              <a:t> Trans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a Blockchain?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EA5BB2-8547-4A0C-8FB6-07E64F8A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15" y="1700760"/>
            <a:ext cx="5076705" cy="3888540"/>
          </a:xfrm>
        </p:spPr>
        <p:txBody>
          <a:bodyPr>
            <a:normAutofit fontScale="62500" lnSpcReduction="20000"/>
          </a:bodyPr>
          <a:lstStyle/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definitely</a:t>
            </a:r>
            <a:r>
              <a:rPr lang="it-IT" dirty="0"/>
              <a:t> looks like</a:t>
            </a:r>
          </a:p>
          <a:p>
            <a:pPr lvl="1"/>
            <a:r>
              <a:rPr lang="it-IT" dirty="0" err="1"/>
              <a:t>Identical</a:t>
            </a:r>
            <a:r>
              <a:rPr lang="it-IT" dirty="0"/>
              <a:t> (!) </a:t>
            </a:r>
            <a:r>
              <a:rPr lang="it-IT" dirty="0" err="1"/>
              <a:t>architecture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Bitcoin’s</a:t>
            </a:r>
            <a:r>
              <a:rPr lang="it-IT" dirty="0"/>
              <a:t> </a:t>
            </a:r>
            <a:r>
              <a:rPr lang="it-IT" dirty="0" err="1"/>
              <a:t>ledger</a:t>
            </a:r>
            <a:endParaRPr lang="it-IT" dirty="0"/>
          </a:p>
          <a:p>
            <a:pPr lvl="6"/>
            <a:endParaRPr lang="it-IT" dirty="0"/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be </a:t>
            </a:r>
            <a:r>
              <a:rPr lang="it-IT" dirty="0" err="1"/>
              <a:t>distributed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well</a:t>
            </a:r>
            <a:endParaRPr lang="it-IT" dirty="0"/>
          </a:p>
          <a:p>
            <a:pPr lvl="1"/>
            <a:r>
              <a:rPr lang="it-IT" dirty="0" err="1"/>
              <a:t>Instead</a:t>
            </a:r>
            <a:r>
              <a:rPr lang="it-IT" dirty="0"/>
              <a:t> of </a:t>
            </a:r>
            <a:r>
              <a:rPr lang="it-IT" dirty="0" err="1"/>
              <a:t>different</a:t>
            </a:r>
            <a:r>
              <a:rPr lang="it-IT" dirty="0"/>
              <a:t> logs, make </a:t>
            </a:r>
            <a:r>
              <a:rPr lang="it-IT" dirty="0" err="1"/>
              <a:t>it</a:t>
            </a:r>
            <a:r>
              <a:rPr lang="it-IT" dirty="0"/>
              <a:t> a </a:t>
            </a:r>
            <a:r>
              <a:rPr lang="it-IT" dirty="0" err="1"/>
              <a:t>same</a:t>
            </a:r>
            <a:r>
              <a:rPr lang="it-IT" dirty="0"/>
              <a:t> «consensus» log</a:t>
            </a:r>
          </a:p>
          <a:p>
            <a:pPr lvl="8"/>
            <a:endParaRPr lang="it-IT" dirty="0"/>
          </a:p>
          <a:p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NOT a Blockchain</a:t>
            </a:r>
          </a:p>
          <a:p>
            <a:pPr lvl="1"/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NOT </a:t>
            </a:r>
            <a:r>
              <a:rPr lang="it-IT" dirty="0" err="1"/>
              <a:t>necessarily</a:t>
            </a:r>
            <a:r>
              <a:rPr lang="it-IT" dirty="0"/>
              <a:t> </a:t>
            </a:r>
            <a:r>
              <a:rPr lang="it-IT" dirty="0" err="1"/>
              <a:t>contain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VALID certificates!</a:t>
            </a:r>
          </a:p>
          <a:p>
            <a:pPr lvl="2"/>
            <a:r>
              <a:rPr lang="it-IT" dirty="0" err="1"/>
              <a:t>As</a:t>
            </a:r>
            <a:r>
              <a:rPr lang="it-IT" dirty="0"/>
              <a:t> a Blockchain </a:t>
            </a:r>
            <a:r>
              <a:rPr lang="it-IT" dirty="0" err="1"/>
              <a:t>mandates</a:t>
            </a:r>
            <a:r>
              <a:rPr lang="it-IT" dirty="0"/>
              <a:t>; </a:t>
            </a:r>
            <a:r>
              <a:rPr lang="it-IT" dirty="0" err="1"/>
              <a:t>also</a:t>
            </a:r>
            <a:r>
              <a:rPr lang="it-IT" dirty="0"/>
              <a:t> Google </a:t>
            </a:r>
            <a:r>
              <a:rPr lang="it-IT" dirty="0" err="1"/>
              <a:t>being</a:t>
            </a:r>
            <a:r>
              <a:rPr lang="it-IT" dirty="0"/>
              <a:t> </a:t>
            </a:r>
            <a:r>
              <a:rPr lang="it-IT" dirty="0" err="1"/>
              <a:t>crystal</a:t>
            </a:r>
            <a:r>
              <a:rPr lang="it-IT" dirty="0"/>
              <a:t> clear on </a:t>
            </a:r>
            <a:r>
              <a:rPr lang="it-IT" dirty="0" err="1"/>
              <a:t>this</a:t>
            </a:r>
            <a:r>
              <a:rPr lang="it-IT" dirty="0"/>
              <a:t>!</a:t>
            </a:r>
          </a:p>
          <a:p>
            <a:r>
              <a:rPr lang="it-IT" dirty="0"/>
              <a:t> 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DC2B0B2-F309-4973-B51A-7ACE88639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301" y="4562454"/>
            <a:ext cx="658415" cy="810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253E7641-68D6-4BED-ADA5-C6593A0FD71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06624" y="4804704"/>
            <a:ext cx="974064" cy="385763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350" dirty="0">
                <a:latin typeface="Arial Narrow" pitchFamily="34" charset="0"/>
              </a:rPr>
              <a:t>CERT</a:t>
            </a:r>
            <a:endParaRPr lang="it-IT" altLang="it-IT" sz="1350" baseline="-25000" dirty="0">
              <a:latin typeface="Arial Narrow" pitchFamily="34" charset="0"/>
            </a:endParaRPr>
          </a:p>
        </p:txBody>
      </p:sp>
      <p:sp>
        <p:nvSpPr>
          <p:cNvPr id="7" name="Disco magnetico 6">
            <a:extLst>
              <a:ext uri="{FF2B5EF4-FFF2-40B4-BE49-F238E27FC236}">
                <a16:creationId xmlns:a16="http://schemas.microsoft.com/office/drawing/2014/main" id="{FC903496-5626-4AA4-B720-BAC582FB4E51}"/>
              </a:ext>
            </a:extLst>
          </p:cNvPr>
          <p:cNvSpPr/>
          <p:nvPr/>
        </p:nvSpPr>
        <p:spPr bwMode="auto">
          <a:xfrm>
            <a:off x="5922188" y="1754768"/>
            <a:ext cx="2187243" cy="628038"/>
          </a:xfrm>
          <a:prstGeom prst="flowChartMagneticDisk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2100" b="1" dirty="0"/>
              <a:t>Blockchain</a:t>
            </a:r>
          </a:p>
        </p:txBody>
      </p:sp>
      <p:sp>
        <p:nvSpPr>
          <p:cNvPr id="9" name="Freccia bidirezionale verticale 8">
            <a:extLst>
              <a:ext uri="{FF2B5EF4-FFF2-40B4-BE49-F238E27FC236}">
                <a16:creationId xmlns:a16="http://schemas.microsoft.com/office/drawing/2014/main" id="{55AC598A-1EE9-45A0-B2B0-28A24728CC9F}"/>
              </a:ext>
            </a:extLst>
          </p:cNvPr>
          <p:cNvSpPr/>
          <p:nvPr/>
        </p:nvSpPr>
        <p:spPr bwMode="auto">
          <a:xfrm>
            <a:off x="6942288" y="2465496"/>
            <a:ext cx="276080" cy="2009699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42138B7-7E84-45D4-B50F-4080BFEA6DBB}"/>
              </a:ext>
            </a:extLst>
          </p:cNvPr>
          <p:cNvSpPr txBox="1"/>
          <p:nvPr/>
        </p:nvSpPr>
        <p:spPr>
          <a:xfrm>
            <a:off x="7281700" y="3078447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/>
              <a:t>If</a:t>
            </a:r>
            <a:r>
              <a:rPr lang="it-IT" b="1" dirty="0"/>
              <a:t> </a:t>
            </a:r>
            <a:r>
              <a:rPr lang="it-IT" b="1" dirty="0" err="1"/>
              <a:t>stored</a:t>
            </a:r>
            <a:r>
              <a:rPr lang="it-IT" b="1" dirty="0"/>
              <a:t>, </a:t>
            </a:r>
          </a:p>
          <a:p>
            <a:pPr algn="ctr"/>
            <a:r>
              <a:rPr lang="it-IT" b="1" dirty="0"/>
              <a:t>NOT fake!</a:t>
            </a:r>
          </a:p>
        </p:txBody>
      </p:sp>
    </p:spTree>
    <p:extLst>
      <p:ext uri="{BB962C8B-B14F-4D97-AF65-F5344CB8AC3E}">
        <p14:creationId xmlns:p14="http://schemas.microsoft.com/office/powerpoint/2010/main" val="47054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  <p:bldP spid="9" grpId="0" animBg="1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CD0CE0-3F95-441B-B331-C8BEBF4E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Cert</a:t>
            </a:r>
            <a:r>
              <a:rPr lang="it-IT" dirty="0"/>
              <a:t> Trans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a Blockchain?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EA5BB2-8547-4A0C-8FB6-07E64F8A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15" y="1700760"/>
            <a:ext cx="5076705" cy="3888540"/>
          </a:xfrm>
        </p:spPr>
        <p:txBody>
          <a:bodyPr>
            <a:normAutofit fontScale="62500" lnSpcReduction="20000"/>
          </a:bodyPr>
          <a:lstStyle/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definitely</a:t>
            </a:r>
            <a:r>
              <a:rPr lang="it-IT" dirty="0"/>
              <a:t> looks like</a:t>
            </a:r>
          </a:p>
          <a:p>
            <a:pPr lvl="1"/>
            <a:r>
              <a:rPr lang="it-IT" dirty="0" err="1"/>
              <a:t>Identical</a:t>
            </a:r>
            <a:r>
              <a:rPr lang="it-IT" dirty="0"/>
              <a:t> (!) </a:t>
            </a:r>
            <a:r>
              <a:rPr lang="it-IT" dirty="0" err="1"/>
              <a:t>architecture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Bitcoin’s</a:t>
            </a:r>
            <a:r>
              <a:rPr lang="it-IT" dirty="0"/>
              <a:t> </a:t>
            </a:r>
            <a:r>
              <a:rPr lang="it-IT" dirty="0" err="1"/>
              <a:t>ledger</a:t>
            </a:r>
            <a:endParaRPr lang="it-IT" dirty="0"/>
          </a:p>
          <a:p>
            <a:pPr lvl="6"/>
            <a:endParaRPr lang="it-IT" dirty="0"/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be </a:t>
            </a:r>
            <a:r>
              <a:rPr lang="it-IT" dirty="0" err="1"/>
              <a:t>distributed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well</a:t>
            </a:r>
            <a:endParaRPr lang="it-IT" dirty="0"/>
          </a:p>
          <a:p>
            <a:pPr lvl="1"/>
            <a:r>
              <a:rPr lang="it-IT" dirty="0" err="1"/>
              <a:t>Instead</a:t>
            </a:r>
            <a:r>
              <a:rPr lang="it-IT" dirty="0"/>
              <a:t> of </a:t>
            </a:r>
            <a:r>
              <a:rPr lang="it-IT" dirty="0" err="1"/>
              <a:t>different</a:t>
            </a:r>
            <a:r>
              <a:rPr lang="it-IT" dirty="0"/>
              <a:t> logs, make </a:t>
            </a:r>
            <a:r>
              <a:rPr lang="it-IT" dirty="0" err="1"/>
              <a:t>it</a:t>
            </a:r>
            <a:r>
              <a:rPr lang="it-IT" dirty="0"/>
              <a:t> a </a:t>
            </a:r>
            <a:r>
              <a:rPr lang="it-IT" dirty="0" err="1"/>
              <a:t>same</a:t>
            </a:r>
            <a:r>
              <a:rPr lang="it-IT" dirty="0"/>
              <a:t> «consensus» log</a:t>
            </a:r>
          </a:p>
          <a:p>
            <a:pPr lvl="8"/>
            <a:endParaRPr lang="it-IT" dirty="0"/>
          </a:p>
          <a:p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NOT a Blockchain</a:t>
            </a:r>
          </a:p>
          <a:p>
            <a:pPr lvl="1"/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NOT </a:t>
            </a:r>
            <a:r>
              <a:rPr lang="it-IT" dirty="0" err="1"/>
              <a:t>necessarily</a:t>
            </a:r>
            <a:r>
              <a:rPr lang="it-IT" dirty="0"/>
              <a:t> </a:t>
            </a:r>
            <a:r>
              <a:rPr lang="it-IT" dirty="0" err="1"/>
              <a:t>contain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VALID certificates!</a:t>
            </a:r>
          </a:p>
          <a:p>
            <a:pPr lvl="2"/>
            <a:r>
              <a:rPr lang="it-IT" dirty="0" err="1"/>
              <a:t>As</a:t>
            </a:r>
            <a:r>
              <a:rPr lang="it-IT" dirty="0"/>
              <a:t> a Blockchain </a:t>
            </a:r>
            <a:r>
              <a:rPr lang="it-IT" dirty="0" err="1"/>
              <a:t>mandates</a:t>
            </a:r>
            <a:r>
              <a:rPr lang="it-IT" dirty="0"/>
              <a:t>; </a:t>
            </a:r>
            <a:r>
              <a:rPr lang="it-IT" dirty="0" err="1"/>
              <a:t>also</a:t>
            </a:r>
            <a:r>
              <a:rPr lang="it-IT" dirty="0"/>
              <a:t> Google </a:t>
            </a:r>
            <a:r>
              <a:rPr lang="it-IT" dirty="0" err="1"/>
              <a:t>being</a:t>
            </a:r>
            <a:r>
              <a:rPr lang="it-IT" dirty="0"/>
              <a:t> </a:t>
            </a:r>
            <a:r>
              <a:rPr lang="it-IT" dirty="0" err="1"/>
              <a:t>crystal</a:t>
            </a:r>
            <a:r>
              <a:rPr lang="it-IT" dirty="0"/>
              <a:t> clear on </a:t>
            </a:r>
            <a:r>
              <a:rPr lang="it-IT" dirty="0" err="1"/>
              <a:t>this</a:t>
            </a:r>
            <a:r>
              <a:rPr lang="it-IT" dirty="0"/>
              <a:t>!</a:t>
            </a:r>
          </a:p>
          <a:p>
            <a:r>
              <a:rPr lang="it-IT" dirty="0">
                <a:highlight>
                  <a:srgbClr val="FFFF00"/>
                </a:highlight>
              </a:rPr>
              <a:t>Security </a:t>
            </a:r>
            <a:r>
              <a:rPr lang="it-IT" dirty="0" err="1">
                <a:highlight>
                  <a:srgbClr val="FFFF00"/>
                </a:highlight>
              </a:rPr>
              <a:t>comes</a:t>
            </a:r>
            <a:r>
              <a:rPr lang="it-IT" dirty="0">
                <a:highlight>
                  <a:srgbClr val="FFFF00"/>
                </a:highlight>
              </a:rPr>
              <a:t> from </a:t>
            </a:r>
            <a:r>
              <a:rPr lang="it-IT" dirty="0" err="1">
                <a:highlight>
                  <a:srgbClr val="FFFF00"/>
                </a:highlight>
              </a:rPr>
              <a:t>transparency</a:t>
            </a:r>
            <a:endParaRPr lang="it-IT" dirty="0">
              <a:highlight>
                <a:srgbClr val="FFFF00"/>
              </a:highlight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DC2B0B2-F309-4973-B51A-7ACE88639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301" y="4562454"/>
            <a:ext cx="658415" cy="810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253E7641-68D6-4BED-ADA5-C6593A0FD71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06624" y="4804704"/>
            <a:ext cx="974064" cy="385763"/>
          </a:xfrm>
          <a:prstGeom prst="rightArrow">
            <a:avLst>
              <a:gd name="adj1" fmla="val 68463"/>
              <a:gd name="adj2" fmla="val 50748"/>
            </a:avLst>
          </a:prstGeom>
          <a:solidFill>
            <a:srgbClr val="00FF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350" dirty="0">
                <a:latin typeface="Arial Narrow" pitchFamily="34" charset="0"/>
              </a:rPr>
              <a:t>CERT</a:t>
            </a:r>
            <a:endParaRPr lang="it-IT" altLang="it-IT" sz="1350" baseline="-25000" dirty="0">
              <a:latin typeface="Arial Narrow" pitchFamily="34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D9C0594-D75A-466C-A1A2-327E87958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772" y="2652836"/>
            <a:ext cx="952500" cy="952500"/>
          </a:xfrm>
          <a:prstGeom prst="rect">
            <a:avLst/>
          </a:prstGeom>
        </p:spPr>
      </p:pic>
      <p:sp>
        <p:nvSpPr>
          <p:cNvPr id="7" name="Disco magnetico 6">
            <a:extLst>
              <a:ext uri="{FF2B5EF4-FFF2-40B4-BE49-F238E27FC236}">
                <a16:creationId xmlns:a16="http://schemas.microsoft.com/office/drawing/2014/main" id="{FC903496-5626-4AA4-B720-BAC582FB4E51}"/>
              </a:ext>
            </a:extLst>
          </p:cNvPr>
          <p:cNvSpPr/>
          <p:nvPr/>
        </p:nvSpPr>
        <p:spPr bwMode="auto">
          <a:xfrm>
            <a:off x="5922188" y="1754768"/>
            <a:ext cx="2187243" cy="628038"/>
          </a:xfrm>
          <a:prstGeom prst="flowChartMagneticDisk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r>
              <a:rPr lang="it-IT" sz="1400" b="1" dirty="0"/>
              <a:t>Certificate </a:t>
            </a:r>
            <a:r>
              <a:rPr lang="it-IT" sz="1400" b="1" dirty="0" err="1"/>
              <a:t>Transparency</a:t>
            </a:r>
            <a:r>
              <a:rPr lang="it-IT" sz="1400" b="1" dirty="0"/>
              <a:t> DB</a:t>
            </a:r>
          </a:p>
        </p:txBody>
      </p:sp>
      <p:sp>
        <p:nvSpPr>
          <p:cNvPr id="8" name="Freccia bidirezionale verticale 7">
            <a:extLst>
              <a:ext uri="{FF2B5EF4-FFF2-40B4-BE49-F238E27FC236}">
                <a16:creationId xmlns:a16="http://schemas.microsoft.com/office/drawing/2014/main" id="{5EC0EED9-B02C-4D30-B8E4-5787C5458863}"/>
              </a:ext>
            </a:extLst>
          </p:cNvPr>
          <p:cNvSpPr/>
          <p:nvPr/>
        </p:nvSpPr>
        <p:spPr bwMode="auto">
          <a:xfrm>
            <a:off x="6141773" y="2455009"/>
            <a:ext cx="293472" cy="490880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9" name="Freccia bidirezionale verticale 8">
            <a:extLst>
              <a:ext uri="{FF2B5EF4-FFF2-40B4-BE49-F238E27FC236}">
                <a16:creationId xmlns:a16="http://schemas.microsoft.com/office/drawing/2014/main" id="{55AC598A-1EE9-45A0-B2B0-28A24728CC9F}"/>
              </a:ext>
            </a:extLst>
          </p:cNvPr>
          <p:cNvSpPr/>
          <p:nvPr/>
        </p:nvSpPr>
        <p:spPr bwMode="auto">
          <a:xfrm>
            <a:off x="6924861" y="2465496"/>
            <a:ext cx="293472" cy="2043654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FE231C3-D2BF-425D-AF62-D04AFF366EE2}"/>
              </a:ext>
            </a:extLst>
          </p:cNvPr>
          <p:cNvSpPr txBox="1"/>
          <p:nvPr/>
        </p:nvSpPr>
        <p:spPr>
          <a:xfrm>
            <a:off x="7209168" y="2817462"/>
            <a:ext cx="1532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/>
              <a:t>If</a:t>
            </a:r>
            <a:r>
              <a:rPr lang="it-IT" b="1" dirty="0"/>
              <a:t> </a:t>
            </a:r>
            <a:r>
              <a:rPr lang="it-IT" b="1" u="sng" dirty="0"/>
              <a:t>NOT</a:t>
            </a:r>
            <a:r>
              <a:rPr lang="it-IT" b="1" dirty="0"/>
              <a:t> </a:t>
            </a:r>
            <a:r>
              <a:rPr lang="it-IT" b="1" dirty="0" err="1"/>
              <a:t>stored</a:t>
            </a:r>
            <a:r>
              <a:rPr lang="it-IT" b="1" dirty="0"/>
              <a:t>, </a:t>
            </a:r>
          </a:p>
          <a:p>
            <a:pPr algn="ctr"/>
            <a:r>
              <a:rPr lang="it-IT" b="1" dirty="0" err="1"/>
              <a:t>Then</a:t>
            </a:r>
            <a:r>
              <a:rPr lang="it-IT" b="1" dirty="0"/>
              <a:t> </a:t>
            </a:r>
            <a:r>
              <a:rPr lang="it-IT" b="1" dirty="0" err="1"/>
              <a:t>it</a:t>
            </a:r>
            <a:r>
              <a:rPr lang="it-IT" b="1" dirty="0"/>
              <a:t> IS fake!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1A113DE-CCC8-4B84-9D0D-A1320A64CE2C}"/>
              </a:ext>
            </a:extLst>
          </p:cNvPr>
          <p:cNvSpPr txBox="1"/>
          <p:nvPr/>
        </p:nvSpPr>
        <p:spPr>
          <a:xfrm>
            <a:off x="7126578" y="3492158"/>
            <a:ext cx="18694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>
                <a:solidFill>
                  <a:srgbClr val="FF0000"/>
                </a:solidFill>
              </a:rPr>
              <a:t>But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if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stored</a:t>
            </a:r>
            <a:r>
              <a:rPr lang="it-IT" b="1" dirty="0">
                <a:solidFill>
                  <a:srgbClr val="FF0000"/>
                </a:solidFill>
              </a:rPr>
              <a:t>,</a:t>
            </a:r>
          </a:p>
          <a:p>
            <a:pPr algn="ctr"/>
            <a:r>
              <a:rPr lang="it-IT" b="1" dirty="0" err="1">
                <a:solidFill>
                  <a:srgbClr val="FF0000"/>
                </a:solidFill>
              </a:rPr>
              <a:t>Could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still</a:t>
            </a:r>
            <a:r>
              <a:rPr lang="it-IT" b="1" dirty="0">
                <a:solidFill>
                  <a:srgbClr val="FF0000"/>
                </a:solidFill>
              </a:rPr>
              <a:t> be fake!</a:t>
            </a:r>
          </a:p>
          <a:p>
            <a:pPr algn="ctr"/>
            <a:r>
              <a:rPr lang="it-IT" b="1" dirty="0"/>
              <a:t>Check </a:t>
            </a:r>
            <a:r>
              <a:rPr lang="it-IT" b="1" dirty="0" err="1"/>
              <a:t>revocation</a:t>
            </a:r>
            <a:r>
              <a:rPr lang="it-IT" b="1" dirty="0"/>
              <a:t>!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83C0409-1C01-4139-B29A-0CE42AEBA959}"/>
              </a:ext>
            </a:extLst>
          </p:cNvPr>
          <p:cNvSpPr txBox="1"/>
          <p:nvPr/>
        </p:nvSpPr>
        <p:spPr>
          <a:xfrm>
            <a:off x="5221699" y="3282242"/>
            <a:ext cx="1891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/>
              <a:t>Fake Google </a:t>
            </a:r>
            <a:r>
              <a:rPr lang="it-IT" b="1" dirty="0" err="1"/>
              <a:t>cert</a:t>
            </a:r>
            <a:r>
              <a:rPr lang="it-IT" b="1" dirty="0"/>
              <a:t>? </a:t>
            </a:r>
          </a:p>
          <a:p>
            <a:pPr algn="ctr"/>
            <a:r>
              <a:rPr lang="it-IT" b="1" dirty="0" err="1"/>
              <a:t>Revoke</a:t>
            </a:r>
            <a:r>
              <a:rPr lang="it-IT" b="1" dirty="0"/>
              <a:t> </a:t>
            </a:r>
            <a:r>
              <a:rPr lang="it-IT" b="1" dirty="0" err="1"/>
              <a:t>it!</a:t>
            </a:r>
            <a:endParaRPr lang="it-IT" b="1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4CAA612-A446-461C-AB89-11F9E2B2E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419" y="4165198"/>
            <a:ext cx="781022" cy="1200106"/>
          </a:xfrm>
          <a:prstGeom prst="rect">
            <a:avLst/>
          </a:prstGeom>
        </p:spPr>
      </p:pic>
      <p:sp>
        <p:nvSpPr>
          <p:cNvPr id="18" name="Freccia bidirezionale verticale 17">
            <a:extLst>
              <a:ext uri="{FF2B5EF4-FFF2-40B4-BE49-F238E27FC236}">
                <a16:creationId xmlns:a16="http://schemas.microsoft.com/office/drawing/2014/main" id="{418ABFD4-456F-445B-94A6-FD2C270D4439}"/>
              </a:ext>
            </a:extLst>
          </p:cNvPr>
          <p:cNvSpPr/>
          <p:nvPr/>
        </p:nvSpPr>
        <p:spPr bwMode="auto">
          <a:xfrm rot="18022020">
            <a:off x="6446512" y="4526193"/>
            <a:ext cx="313430" cy="430234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9" name="Freccia bidirezionale verticale 18">
            <a:extLst>
              <a:ext uri="{FF2B5EF4-FFF2-40B4-BE49-F238E27FC236}">
                <a16:creationId xmlns:a16="http://schemas.microsoft.com/office/drawing/2014/main" id="{6C437116-DB19-472A-97CE-E5E413F728F5}"/>
              </a:ext>
            </a:extLst>
          </p:cNvPr>
          <p:cNvSpPr/>
          <p:nvPr/>
        </p:nvSpPr>
        <p:spPr bwMode="auto">
          <a:xfrm>
            <a:off x="6047264" y="3845325"/>
            <a:ext cx="291134" cy="501803"/>
          </a:xfrm>
          <a:prstGeom prst="up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836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  <p:bldP spid="14" grpId="0"/>
      <p:bldP spid="15" grpId="0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e2e49e49a64067dddf0e6e717b5acb7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90f2ad5abd88b031f011f513786a11c1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9B74B5-BC31-43E4-B8F0-93FCE58AFF20}"/>
</file>

<file path=customXml/itemProps2.xml><?xml version="1.0" encoding="utf-8"?>
<ds:datastoreItem xmlns:ds="http://schemas.openxmlformats.org/officeDocument/2006/customXml" ds:itemID="{501F28C6-35DF-4090-8CC5-29849483EEA5}"/>
</file>

<file path=customXml/itemProps3.xml><?xml version="1.0" encoding="utf-8"?>
<ds:datastoreItem xmlns:ds="http://schemas.openxmlformats.org/officeDocument/2006/customXml" ds:itemID="{27246EF3-5C76-4334-BA71-493549E97542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116</TotalTime>
  <Pages>22</Pages>
  <Words>2079</Words>
  <Application>Microsoft Office PowerPoint</Application>
  <PresentationFormat>Presentazione su schermo (4:3)</PresentationFormat>
  <Paragraphs>459</Paragraphs>
  <Slides>31</Slides>
  <Notes>13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40" baseType="lpstr">
      <vt:lpstr>Arial</vt:lpstr>
      <vt:lpstr>Arial Narrow</vt:lpstr>
      <vt:lpstr>Book Antiqua</vt:lpstr>
      <vt:lpstr>Bookman Old Style</vt:lpstr>
      <vt:lpstr>Comic Sans MS</vt:lpstr>
      <vt:lpstr>Times New Roman</vt:lpstr>
      <vt:lpstr>Wingdings</vt:lpstr>
      <vt:lpstr>214templ</vt:lpstr>
      <vt:lpstr>Microsoft ClipArt Gallery</vt:lpstr>
      <vt:lpstr>Presentazione standard di PowerPoint</vt:lpstr>
      <vt:lpstr>Presentazione standard di PowerPoint</vt:lpstr>
      <vt:lpstr>Web security pillar:  Certificate Authorities ARE trusted!</vt:lpstr>
      <vt:lpstr>Fact: trusted CA assumption at stake </vt:lpstr>
      <vt:lpstr>A serious problem</vt:lpstr>
      <vt:lpstr>How to cope with malicious CAs? Idea: gigantic worldwide DB which anyone can check! </vt:lpstr>
      <vt:lpstr>Presentazione standard di PowerPoint</vt:lpstr>
      <vt:lpstr>How to secure a file (when you don’t have a large secure storage available)</vt:lpstr>
      <vt:lpstr>What about «chunked» messages?</vt:lpstr>
      <vt:lpstr>What about «partial» verification?</vt:lpstr>
      <vt:lpstr>Per-chunk signatures?</vt:lpstr>
      <vt:lpstr>Per-chunk signatures?</vt:lpstr>
      <vt:lpstr>You can have them both!  Merkle’s trees (1979)</vt:lpstr>
      <vt:lpstr>Single CERT verification: fast with “siblings”!</vt:lpstr>
      <vt:lpstr>Single CERT verification: fast with “siblings”!</vt:lpstr>
      <vt:lpstr>Extending merkle’s trees w. time</vt:lpstr>
      <vt:lpstr>Merkle trees and blockchains</vt:lpstr>
      <vt:lpstr>Merkle Trees: Applications</vt:lpstr>
      <vt:lpstr>Presentazione standard di PowerPoint</vt:lpstr>
      <vt:lpstr>How to cope with malicious CAs? Idea: gigantic worldwide DB which anyone can check! </vt:lpstr>
      <vt:lpstr>Why certificate transparency?</vt:lpstr>
      <vt:lpstr>Certificate Transparency in a nutshell</vt:lpstr>
      <vt:lpstr>Certificate Transparency</vt:lpstr>
      <vt:lpstr>CT: how it works?</vt:lpstr>
      <vt:lpstr>CT: how it works?</vt:lpstr>
      <vt:lpstr>Merkle Consistency proof</vt:lpstr>
      <vt:lpstr>Merkle Audit Proof</vt:lpstr>
      <vt:lpstr>Certificate Transparency in the real world</vt:lpstr>
      <vt:lpstr>EV in the real world</vt:lpstr>
      <vt:lpstr>Common misconception:  Cert Trans is a Blockchain?</vt:lpstr>
      <vt:lpstr>Cert Trans  is a Blockchain?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giuseppe bianchi</cp:lastModifiedBy>
  <cp:revision>639</cp:revision>
  <cp:lastPrinted>1998-04-09T13:49:28Z</cp:lastPrinted>
  <dcterms:created xsi:type="dcterms:W3CDTF">1996-09-11T22:41:56Z</dcterms:created>
  <dcterms:modified xsi:type="dcterms:W3CDTF">2025-11-11T12:45:19Z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