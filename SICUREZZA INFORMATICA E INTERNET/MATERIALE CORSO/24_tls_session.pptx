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3"/>
  </p:sldMasterIdLst>
  <p:notesMasterIdLst>
    <p:notesMasterId r:id="rId20"/>
  </p:notesMasterIdLst>
  <p:handoutMasterIdLst>
    <p:handoutMasterId r:id="rId21"/>
  </p:handoutMasterIdLst>
  <p:sldIdLst>
    <p:sldId id="634" r:id="rId4"/>
    <p:sldId id="667" r:id="rId5"/>
    <p:sldId id="671" r:id="rId6"/>
    <p:sldId id="688" r:id="rId7"/>
    <p:sldId id="672" r:id="rId8"/>
    <p:sldId id="673" r:id="rId9"/>
    <p:sldId id="679" r:id="rId10"/>
    <p:sldId id="680" r:id="rId11"/>
    <p:sldId id="681" r:id="rId12"/>
    <p:sldId id="682" r:id="rId13"/>
    <p:sldId id="683" r:id="rId14"/>
    <p:sldId id="684" r:id="rId15"/>
    <p:sldId id="686" r:id="rId16"/>
    <p:sldId id="687" r:id="rId17"/>
    <p:sldId id="689" r:id="rId18"/>
    <p:sldId id="678" r:id="rId19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FF"/>
    <a:srgbClr val="3333CC"/>
    <a:srgbClr val="008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9122" autoAdjust="0"/>
  </p:normalViewPr>
  <p:slideViewPr>
    <p:cSldViewPr>
      <p:cViewPr varScale="1">
        <p:scale>
          <a:sx n="98" d="100"/>
          <a:sy n="98" d="100"/>
        </p:scale>
        <p:origin x="1974" y="96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1446" y="-84"/>
      </p:cViewPr>
      <p:guideLst>
        <p:guide orient="horz" pos="3023"/>
        <p:guide pos="2304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FA39A62-8821-BF56-959D-45CC88BE2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925" y="8799513"/>
            <a:ext cx="684213" cy="444500"/>
          </a:xfrm>
          <a:prstGeom prst="rect">
            <a:avLst/>
          </a:prstGeom>
          <a:noFill/>
          <a:ln>
            <a:noFill/>
          </a:ln>
        </p:spPr>
        <p:txBody>
          <a:bodyPr wrap="none" lIns="95227" tIns="46777" rIns="95227" bIns="46777">
            <a:spAutoFit/>
          </a:bodyPr>
          <a:lstStyle>
            <a:lvl1pPr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defRPr/>
            </a:pPr>
            <a:fld id="{AD2E152E-AB90-46CF-B1B2-D24EF90D3385}" type="slidenum">
              <a:rPr lang="en-US" altLang="it-IT" sz="2500" smtClean="0">
                <a:latin typeface="Book Antiqua" panose="02040602050305030304" pitchFamily="18" charset="0"/>
              </a:rPr>
              <a:pPr>
                <a:defRPr/>
              </a:pPr>
              <a:t>‹N›</a:t>
            </a:fld>
            <a:endParaRPr lang="en-US" altLang="it-IT" sz="2500">
              <a:latin typeface="Book Antiqua" panose="0204060205030503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1E4B6DC-3E1E-F992-B841-E43FE9DFE219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3138" cy="3587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F999998-6C2E-9870-F9B5-10BC0F919AA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egnaposto immagine diapositiva 1">
            <a:extLst>
              <a:ext uri="{FF2B5EF4-FFF2-40B4-BE49-F238E27FC236}">
                <a16:creationId xmlns:a16="http://schemas.microsoft.com/office/drawing/2014/main" id="{0650810F-5E30-2E0D-8F99-89EBD63B2D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Segnaposto note 2">
            <a:extLst>
              <a:ext uri="{FF2B5EF4-FFF2-40B4-BE49-F238E27FC236}">
                <a16:creationId xmlns:a16="http://schemas.microsoft.com/office/drawing/2014/main" id="{0C402F1E-11B2-8137-0C89-849386B48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egnaposto immagine diapositiva 1">
            <a:extLst>
              <a:ext uri="{FF2B5EF4-FFF2-40B4-BE49-F238E27FC236}">
                <a16:creationId xmlns:a16="http://schemas.microsoft.com/office/drawing/2014/main" id="{E19738D7-90FD-D6F6-91C3-57C72F861E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Segnaposto note 2">
            <a:extLst>
              <a:ext uri="{FF2B5EF4-FFF2-40B4-BE49-F238E27FC236}">
                <a16:creationId xmlns:a16="http://schemas.microsoft.com/office/drawing/2014/main" id="{C88429AD-68FE-8285-E272-E9C4CB555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egnaposto immagine diapositiva 1">
            <a:extLst>
              <a:ext uri="{FF2B5EF4-FFF2-40B4-BE49-F238E27FC236}">
                <a16:creationId xmlns:a16="http://schemas.microsoft.com/office/drawing/2014/main" id="{E295FC65-B36B-977E-52B1-892D47DBD4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Segnaposto note 2">
            <a:extLst>
              <a:ext uri="{FF2B5EF4-FFF2-40B4-BE49-F238E27FC236}">
                <a16:creationId xmlns:a16="http://schemas.microsoft.com/office/drawing/2014/main" id="{F211B2EA-896B-66CC-E2F1-B13EDE68F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egnaposto immagine diapositiva 1">
            <a:extLst>
              <a:ext uri="{FF2B5EF4-FFF2-40B4-BE49-F238E27FC236}">
                <a16:creationId xmlns:a16="http://schemas.microsoft.com/office/drawing/2014/main" id="{ED505F6C-941E-04FF-5BDE-14DB3274A5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Segnaposto note 2">
            <a:extLst>
              <a:ext uri="{FF2B5EF4-FFF2-40B4-BE49-F238E27FC236}">
                <a16:creationId xmlns:a16="http://schemas.microsoft.com/office/drawing/2014/main" id="{DE5A50DC-6F73-4895-5B2F-1F0BB3AEC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egnaposto immagine diapositiva 1">
            <a:extLst>
              <a:ext uri="{FF2B5EF4-FFF2-40B4-BE49-F238E27FC236}">
                <a16:creationId xmlns:a16="http://schemas.microsoft.com/office/drawing/2014/main" id="{DFEF2716-9742-972C-BE43-0CCB3354FD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Segnaposto note 2">
            <a:extLst>
              <a:ext uri="{FF2B5EF4-FFF2-40B4-BE49-F238E27FC236}">
                <a16:creationId xmlns:a16="http://schemas.microsoft.com/office/drawing/2014/main" id="{BEE800A3-9660-8317-B513-6444AF0E8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egnaposto immagine diapositiva 1">
            <a:extLst>
              <a:ext uri="{FF2B5EF4-FFF2-40B4-BE49-F238E27FC236}">
                <a16:creationId xmlns:a16="http://schemas.microsoft.com/office/drawing/2014/main" id="{D55294D9-5CE2-C578-01A1-36B61317E0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Segnaposto note 2">
            <a:extLst>
              <a:ext uri="{FF2B5EF4-FFF2-40B4-BE49-F238E27FC236}">
                <a16:creationId xmlns:a16="http://schemas.microsoft.com/office/drawing/2014/main" id="{70E71CD7-8442-B50B-CA20-63D05D144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egnaposto immagine diapositiva 1">
            <a:extLst>
              <a:ext uri="{FF2B5EF4-FFF2-40B4-BE49-F238E27FC236}">
                <a16:creationId xmlns:a16="http://schemas.microsoft.com/office/drawing/2014/main" id="{E28CA818-325A-A572-2540-EED33C2ACE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Segnaposto note 2">
            <a:extLst>
              <a:ext uri="{FF2B5EF4-FFF2-40B4-BE49-F238E27FC236}">
                <a16:creationId xmlns:a16="http://schemas.microsoft.com/office/drawing/2014/main" id="{672AEB66-17C7-6F94-8CB6-23532CE73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egnaposto immagine diapositiva 1">
            <a:extLst>
              <a:ext uri="{FF2B5EF4-FFF2-40B4-BE49-F238E27FC236}">
                <a16:creationId xmlns:a16="http://schemas.microsoft.com/office/drawing/2014/main" id="{3BA4B16D-AE67-D85F-D805-3400D04E57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Segnaposto note 2">
            <a:extLst>
              <a:ext uri="{FF2B5EF4-FFF2-40B4-BE49-F238E27FC236}">
                <a16:creationId xmlns:a16="http://schemas.microsoft.com/office/drawing/2014/main" id="{FDE0AD8A-F33D-E370-AF5C-80F2D8B63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38036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528079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26214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59088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39303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1492203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611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43675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785443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83587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88964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225425"/>
            <a:ext cx="7696200" cy="649288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206537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AF28734E-F7A7-B147-3850-B221C53753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2906133-AF1A-D522-6A84-0D0A1F20C8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4C685D3B-A89C-C794-3495-A63C72F59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it-IT">
                <a:latin typeface="Arial" charset="0"/>
              </a:rPr>
              <a:t>Giuseppe Bianchi </a:t>
            </a:r>
          </a:p>
        </p:txBody>
      </p:sp>
      <p:sp>
        <p:nvSpPr>
          <p:cNvPr id="1029" name="Line 6">
            <a:extLst>
              <a:ext uri="{FF2B5EF4-FFF2-40B4-BE49-F238E27FC236}">
                <a16:creationId xmlns:a16="http://schemas.microsoft.com/office/drawing/2014/main" id="{873D6731-D1FA-3EC4-F520-4B17FD6F5B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>
            <a:extLst>
              <a:ext uri="{FF2B5EF4-FFF2-40B4-BE49-F238E27FC236}">
                <a16:creationId xmlns:a16="http://schemas.microsoft.com/office/drawing/2014/main" id="{7218BC5A-04DC-DC8B-DA4A-C67A274C8A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>
            <a:extLst>
              <a:ext uri="{FF2B5EF4-FFF2-40B4-BE49-F238E27FC236}">
                <a16:creationId xmlns:a16="http://schemas.microsoft.com/office/drawing/2014/main" id="{650F2868-2325-E815-349A-74334837F1C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>
            <a:extLst>
              <a:ext uri="{FF2B5EF4-FFF2-40B4-BE49-F238E27FC236}">
                <a16:creationId xmlns:a16="http://schemas.microsoft.com/office/drawing/2014/main" id="{67F6420B-FEB4-5068-5431-96668E99B7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442" name="Rectangle 2">
            <a:extLst>
              <a:ext uri="{FF2B5EF4-FFF2-40B4-BE49-F238E27FC236}">
                <a16:creationId xmlns:a16="http://schemas.microsoft.com/office/drawing/2014/main" id="{4230A8CD-9BAD-0D47-7880-D5C9483F07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/>
              <a:t>TLS connection management</a:t>
            </a:r>
            <a:br>
              <a:rPr lang="it-IT"/>
            </a:br>
            <a:r>
              <a:rPr lang="it-IT"/>
              <a:t>&amp; application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306" name="Rectangle 2">
            <a:extLst>
              <a:ext uri="{FF2B5EF4-FFF2-40B4-BE49-F238E27FC236}">
                <a16:creationId xmlns:a16="http://schemas.microsoft.com/office/drawing/2014/main" id="{353D49BE-4789-5AE3-A372-770AE22D5D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Alert Protocol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368C8F4-03BC-9A91-5F03-E3C542449B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25538"/>
            <a:ext cx="8062913" cy="313213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000"/>
              <a:t>TLS defines special messages to convey “alert” information between the involved fields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000"/>
              <a:t>Alert Protocol messages encapsulated into TLS Records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/>
              <a:t>And accordingly encrypted/authenticated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000"/>
              <a:t>Alert Protocol format (2 bytes):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/>
              <a:t>First byte: Alert Level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/>
              <a:t>warning(1), fatal(02)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/>
              <a:t>Second Byte: Alert Description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/>
              <a:t>23 possible alerts</a:t>
            </a:r>
          </a:p>
          <a:p>
            <a:pPr lvl="2" eaLnBrk="1" hangingPunct="1">
              <a:lnSpc>
                <a:spcPct val="80000"/>
              </a:lnSpc>
            </a:pPr>
            <a:endParaRPr lang="it-IT" altLang="it-IT" sz="1800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D085A28-D41C-A094-FCA9-98440F969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8275" y="5319713"/>
            <a:ext cx="1009650" cy="647700"/>
          </a:xfrm>
          <a:prstGeom prst="rect">
            <a:avLst/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Content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type=0x15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474E63F-63DE-482E-D0EB-E14EEDF8E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6338" y="5319713"/>
            <a:ext cx="1009650" cy="647700"/>
          </a:xfrm>
          <a:prstGeom prst="rect">
            <a:avLst/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Major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version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37C68CEC-EF01-A53A-E1F4-E1CB1C585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988" y="5319713"/>
            <a:ext cx="1009650" cy="647700"/>
          </a:xfrm>
          <a:prstGeom prst="rect">
            <a:avLst/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Minor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version</a:t>
            </a:r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E11EE35-1ACB-481E-8665-3CB700EC7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463" y="5319713"/>
            <a:ext cx="2017712" cy="647700"/>
          </a:xfrm>
          <a:prstGeom prst="rect">
            <a:avLst/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Length of fragment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0x0002</a:t>
            </a:r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A5935947-98B2-654F-DEA9-86C557490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175" y="5319713"/>
            <a:ext cx="828675" cy="647700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payload</a:t>
            </a:r>
          </a:p>
        </p:txBody>
      </p:sp>
      <p:sp>
        <p:nvSpPr>
          <p:cNvPr id="6153" name="Line 9">
            <a:extLst>
              <a:ext uri="{FF2B5EF4-FFF2-40B4-BE49-F238E27FC236}">
                <a16:creationId xmlns:a16="http://schemas.microsoft.com/office/drawing/2014/main" id="{5CE97A73-4378-29DA-57F2-83338A3B051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32475" y="4797425"/>
            <a:ext cx="647700" cy="522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54" name="Line 11">
            <a:extLst>
              <a:ext uri="{FF2B5EF4-FFF2-40B4-BE49-F238E27FC236}">
                <a16:creationId xmlns:a16="http://schemas.microsoft.com/office/drawing/2014/main" id="{50993844-59A8-8983-8475-406B18DF7C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08850" y="4797425"/>
            <a:ext cx="539750" cy="522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55" name="Text Box 12">
            <a:extLst>
              <a:ext uri="{FF2B5EF4-FFF2-40B4-BE49-F238E27FC236}">
                <a16:creationId xmlns:a16="http://schemas.microsoft.com/office/drawing/2014/main" id="{FD567FEF-648E-2A8B-ED93-C8CD7188F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0675" y="5959475"/>
            <a:ext cx="241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TLS Record Header</a:t>
            </a:r>
          </a:p>
        </p:txBody>
      </p:sp>
      <p:sp>
        <p:nvSpPr>
          <p:cNvPr id="6156" name="Line 13">
            <a:extLst>
              <a:ext uri="{FF2B5EF4-FFF2-40B4-BE49-F238E27FC236}">
                <a16:creationId xmlns:a16="http://schemas.microsoft.com/office/drawing/2014/main" id="{AE09956B-39E0-5570-5A65-8ED5B96322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4708525"/>
            <a:ext cx="433388" cy="7191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57" name="Text Box 14">
            <a:extLst>
              <a:ext uri="{FF2B5EF4-FFF2-40B4-BE49-F238E27FC236}">
                <a16:creationId xmlns:a16="http://schemas.microsoft.com/office/drawing/2014/main" id="{8413F3B1-9AA2-CC90-EB64-3A776B8F5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322763"/>
            <a:ext cx="12906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Alert protocol</a:t>
            </a:r>
          </a:p>
        </p:txBody>
      </p:sp>
      <p:sp>
        <p:nvSpPr>
          <p:cNvPr id="6158" name="Rectangle 15">
            <a:extLst>
              <a:ext uri="{FF2B5EF4-FFF2-40B4-BE49-F238E27FC236}">
                <a16:creationId xmlns:a16="http://schemas.microsoft.com/office/drawing/2014/main" id="{4C33D9AD-AA94-4B83-CA0A-2B655A45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4149725"/>
            <a:ext cx="1009650" cy="647700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Alert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level</a:t>
            </a:r>
          </a:p>
        </p:txBody>
      </p:sp>
      <p:sp>
        <p:nvSpPr>
          <p:cNvPr id="6159" name="Rectangle 16">
            <a:extLst>
              <a:ext uri="{FF2B5EF4-FFF2-40B4-BE49-F238E27FC236}">
                <a16:creationId xmlns:a16="http://schemas.microsoft.com/office/drawing/2014/main" id="{69ACA7FF-F84B-7530-1FA1-95B4AE165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8950" y="4149725"/>
            <a:ext cx="1009650" cy="647700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Alert</a:t>
            </a:r>
            <a:br>
              <a:rPr lang="it-IT" altLang="it-IT" sz="1800">
                <a:latin typeface="Arial Narrow" panose="020B0606020202030204" pitchFamily="34" charset="0"/>
              </a:rPr>
            </a:br>
            <a:r>
              <a:rPr lang="it-IT" altLang="it-IT" sz="1800">
                <a:latin typeface="Arial Narrow" panose="020B0606020202030204" pitchFamily="34" charset="0"/>
              </a:rPr>
              <a:t>description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402" name="Rectangle 2">
            <a:extLst>
              <a:ext uri="{FF2B5EF4-FFF2-40B4-BE49-F238E27FC236}">
                <a16:creationId xmlns:a16="http://schemas.microsoft.com/office/drawing/2014/main" id="{52867237-8F25-C6A7-1241-E99368DF02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80963"/>
            <a:ext cx="7696200" cy="649287"/>
          </a:xfrm>
        </p:spPr>
        <p:txBody>
          <a:bodyPr/>
          <a:lstStyle/>
          <a:p>
            <a:pPr eaLnBrk="1" hangingPunct="1">
              <a:defRPr/>
            </a:pPr>
            <a:r>
              <a:rPr lang="it-IT"/>
              <a:t>Sample alerts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F28A16A-DD1E-73A5-E21C-52FAD9EAA8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7338" y="1052513"/>
            <a:ext cx="8569325" cy="46450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it-IT" sz="1800"/>
              <a:t>unexpected_message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1800"/>
              <a:t>Inappropriate message received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600"/>
              <a:t>Fatal - should never be observed in communication between proper implementations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it-IT" sz="1800"/>
              <a:t>bad_record_mac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1800"/>
              <a:t>Record is received with an incorrect MAC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600"/>
              <a:t>Fatal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it-IT" sz="1800"/>
              <a:t>record_overflow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1800"/>
              <a:t>Record length exceeds 2</a:t>
            </a:r>
            <a:r>
              <a:rPr lang="en-US" altLang="it-IT" sz="1800" baseline="30000"/>
              <a:t>14</a:t>
            </a:r>
            <a:r>
              <a:rPr lang="en-US" altLang="it-IT" sz="1800"/>
              <a:t>+2048 bytes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600"/>
              <a:t>Fatal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it-IT" sz="1800"/>
              <a:t>handshake_failure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1800"/>
              <a:t>Unable to negotiate an acceptable set of security parameters given the options available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600"/>
              <a:t>Fatal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it-IT" sz="1800"/>
              <a:t> bad_certificate, unsupported_certificate, certificate_revoked, certificate_expired, certificate_unknown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1800"/>
              <a:t>Various problems with a certificate (corrupted, signatures did not verify, unsupported, revoked, expired, other unspecified issues which render it unacceptable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600"/>
              <a:t>Warning or Fatal, depends on the implementation</a:t>
            </a:r>
          </a:p>
          <a:p>
            <a:pPr lvl="2" eaLnBrk="1" hangingPunct="1">
              <a:lnSpc>
                <a:spcPct val="80000"/>
              </a:lnSpc>
            </a:pPr>
            <a:endParaRPr lang="it-IT" altLang="it-IT" sz="1600"/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F919A34B-88B4-3267-0D3C-5D69FDE9D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657225"/>
            <a:ext cx="5240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rgbClr val="FF3300"/>
                </a:solidFill>
                <a:latin typeface="Arial Narrow" panose="020B0606020202030204" pitchFamily="34" charset="0"/>
              </a:rPr>
              <a:t>See RFC2246 for all alerts and detailed description</a:t>
            </a:r>
            <a:r>
              <a:rPr lang="it-IT" altLang="it-IT" sz="1800" b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8197" name="Text Box 5">
            <a:extLst>
              <a:ext uri="{FF2B5EF4-FFF2-40B4-BE49-F238E27FC236}">
                <a16:creationId xmlns:a16="http://schemas.microsoft.com/office/drawing/2014/main" id="{AEF1C61F-B851-969F-FC4B-00E9B1EAF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5768975"/>
            <a:ext cx="8875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If fatal, terminate and do not allow resumption with same security parameters (clear all!)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570" name="Rectangle 2">
            <a:extLst>
              <a:ext uri="{FF2B5EF4-FFF2-40B4-BE49-F238E27FC236}">
                <a16:creationId xmlns:a16="http://schemas.microsoft.com/office/drawing/2014/main" id="{E27BD0A1-724B-38C1-FDA3-8D8BBB657E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25425"/>
            <a:ext cx="8426450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err="1"/>
              <a:t>Remark</a:t>
            </a:r>
            <a:r>
              <a:rPr lang="it-IT" dirty="0"/>
              <a:t>: TLS do NOT </a:t>
            </a:r>
            <a:r>
              <a:rPr lang="it-IT" dirty="0" err="1"/>
              <a:t>protect</a:t>
            </a:r>
            <a:r>
              <a:rPr lang="it-IT" dirty="0"/>
              <a:t> TCP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501F934-97CC-88E3-97CC-98BB98C6A8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800"/>
              <a:t>Open to DoS attacks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800"/>
              <a:t>Anyone can kill a TCP connection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400"/>
              <a:t>Just spoof a RST… </a:t>
            </a:r>
          </a:p>
          <a:p>
            <a:pPr eaLnBrk="1" hangingPunct="1">
              <a:lnSpc>
                <a:spcPct val="80000"/>
              </a:lnSpc>
            </a:pPr>
            <a:endParaRPr lang="it-IT" altLang="it-IT" sz="2800"/>
          </a:p>
          <a:p>
            <a:pPr eaLnBrk="1" hangingPunct="1">
              <a:lnSpc>
                <a:spcPct val="80000"/>
              </a:lnSpc>
            </a:pPr>
            <a:r>
              <a:rPr lang="it-IT" altLang="it-IT" sz="2800"/>
              <a:t>How to protect non SSL/TLS-aware applications?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stunnel = TCP over TLS over TCP (!!!)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www.stunnel.org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Use as LAST resort…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TCP over TCP tunnels: performance impairment!!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Conflicting congestion control loops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/>
              <a:t>Use DTLS tunnels, instead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426" name="Rectangle 2">
            <a:extLst>
              <a:ext uri="{FF2B5EF4-FFF2-40B4-BE49-F238E27FC236}">
                <a16:creationId xmlns:a16="http://schemas.microsoft.com/office/drawing/2014/main" id="{CDED1008-F77F-DB13-751E-74AB5D8FCF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25425"/>
            <a:ext cx="8353425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/>
              <a:t>Truncation attack</a:t>
            </a:r>
          </a:p>
        </p:txBody>
      </p:sp>
      <p:grpSp>
        <p:nvGrpSpPr>
          <p:cNvPr id="12291" name="Group 7">
            <a:extLst>
              <a:ext uri="{FF2B5EF4-FFF2-40B4-BE49-F238E27FC236}">
                <a16:creationId xmlns:a16="http://schemas.microsoft.com/office/drawing/2014/main" id="{A3D3B6EF-7259-BE31-D4C1-F7CF5479A97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87450" y="1557338"/>
            <a:ext cx="1081088" cy="1116012"/>
            <a:chOff x="1032" y="2710"/>
            <a:chExt cx="1060" cy="1081"/>
          </a:xfrm>
        </p:grpSpPr>
        <p:grpSp>
          <p:nvGrpSpPr>
            <p:cNvPr id="12301" name="Group 8">
              <a:extLst>
                <a:ext uri="{FF2B5EF4-FFF2-40B4-BE49-F238E27FC236}">
                  <a16:creationId xmlns:a16="http://schemas.microsoft.com/office/drawing/2014/main" id="{A6122900-9FFA-0906-102B-64ED8B27E33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72" y="2710"/>
              <a:ext cx="820" cy="874"/>
              <a:chOff x="1272" y="2710"/>
              <a:chExt cx="820" cy="874"/>
            </a:xfrm>
          </p:grpSpPr>
          <p:sp>
            <p:nvSpPr>
              <p:cNvPr id="12311" name="Freeform 9">
                <a:extLst>
                  <a:ext uri="{FF2B5EF4-FFF2-40B4-BE49-F238E27FC236}">
                    <a16:creationId xmlns:a16="http://schemas.microsoft.com/office/drawing/2014/main" id="{477C8DB6-75A6-17C3-A301-EF47ED25DC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09" y="3272"/>
                <a:ext cx="283" cy="312"/>
              </a:xfrm>
              <a:custGeom>
                <a:avLst/>
                <a:gdLst>
                  <a:gd name="T0" fmla="*/ 0 w 283"/>
                  <a:gd name="T1" fmla="*/ 311 h 312"/>
                  <a:gd name="T2" fmla="*/ 0 w 283"/>
                  <a:gd name="T3" fmla="*/ 168 h 312"/>
                  <a:gd name="T4" fmla="*/ 282 w 283"/>
                  <a:gd name="T5" fmla="*/ 0 h 312"/>
                  <a:gd name="T6" fmla="*/ 282 w 283"/>
                  <a:gd name="T7" fmla="*/ 141 h 312"/>
                  <a:gd name="T8" fmla="*/ 0 w 283"/>
                  <a:gd name="T9" fmla="*/ 311 h 3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3"/>
                  <a:gd name="T16" fmla="*/ 0 h 312"/>
                  <a:gd name="T17" fmla="*/ 283 w 283"/>
                  <a:gd name="T18" fmla="*/ 312 h 3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3" h="312">
                    <a:moveTo>
                      <a:pt x="0" y="311"/>
                    </a:moveTo>
                    <a:lnTo>
                      <a:pt x="0" y="168"/>
                    </a:lnTo>
                    <a:lnTo>
                      <a:pt x="282" y="0"/>
                    </a:lnTo>
                    <a:lnTo>
                      <a:pt x="282" y="141"/>
                    </a:lnTo>
                    <a:lnTo>
                      <a:pt x="0" y="311"/>
                    </a:lnTo>
                  </a:path>
                </a:pathLst>
              </a:custGeom>
              <a:solidFill>
                <a:srgbClr val="DADADA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12" name="Freeform 10">
                <a:extLst>
                  <a:ext uri="{FF2B5EF4-FFF2-40B4-BE49-F238E27FC236}">
                    <a16:creationId xmlns:a16="http://schemas.microsoft.com/office/drawing/2014/main" id="{61F3DB63-ACB1-9096-BCE5-322B4314F6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72" y="3159"/>
                <a:ext cx="820" cy="282"/>
              </a:xfrm>
              <a:custGeom>
                <a:avLst/>
                <a:gdLst>
                  <a:gd name="T0" fmla="*/ 537 w 820"/>
                  <a:gd name="T1" fmla="*/ 281 h 282"/>
                  <a:gd name="T2" fmla="*/ 0 w 820"/>
                  <a:gd name="T3" fmla="*/ 141 h 282"/>
                  <a:gd name="T4" fmla="*/ 297 w 820"/>
                  <a:gd name="T5" fmla="*/ 0 h 282"/>
                  <a:gd name="T6" fmla="*/ 819 w 820"/>
                  <a:gd name="T7" fmla="*/ 113 h 282"/>
                  <a:gd name="T8" fmla="*/ 537 w 820"/>
                  <a:gd name="T9" fmla="*/ 281 h 2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20"/>
                  <a:gd name="T16" fmla="*/ 0 h 282"/>
                  <a:gd name="T17" fmla="*/ 820 w 820"/>
                  <a:gd name="T18" fmla="*/ 282 h 28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20" h="282">
                    <a:moveTo>
                      <a:pt x="537" y="281"/>
                    </a:moveTo>
                    <a:lnTo>
                      <a:pt x="0" y="141"/>
                    </a:lnTo>
                    <a:lnTo>
                      <a:pt x="297" y="0"/>
                    </a:lnTo>
                    <a:lnTo>
                      <a:pt x="819" y="113"/>
                    </a:lnTo>
                    <a:lnTo>
                      <a:pt x="537" y="281"/>
                    </a:lnTo>
                  </a:path>
                </a:pathLst>
              </a:custGeom>
              <a:solidFill>
                <a:srgbClr val="DADADA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13" name="Freeform 11">
                <a:extLst>
                  <a:ext uri="{FF2B5EF4-FFF2-40B4-BE49-F238E27FC236}">
                    <a16:creationId xmlns:a16="http://schemas.microsoft.com/office/drawing/2014/main" id="{36682F0F-A0C4-676D-1EC1-4D449E179D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72" y="3301"/>
                <a:ext cx="538" cy="283"/>
              </a:xfrm>
              <a:custGeom>
                <a:avLst/>
                <a:gdLst>
                  <a:gd name="T0" fmla="*/ 0 w 538"/>
                  <a:gd name="T1" fmla="*/ 0 h 283"/>
                  <a:gd name="T2" fmla="*/ 0 w 538"/>
                  <a:gd name="T3" fmla="*/ 147 h 283"/>
                  <a:gd name="T4" fmla="*/ 537 w 538"/>
                  <a:gd name="T5" fmla="*/ 282 h 283"/>
                  <a:gd name="T6" fmla="*/ 537 w 538"/>
                  <a:gd name="T7" fmla="*/ 142 h 283"/>
                  <a:gd name="T8" fmla="*/ 0 w 538"/>
                  <a:gd name="T9" fmla="*/ 0 h 2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38"/>
                  <a:gd name="T16" fmla="*/ 0 h 283"/>
                  <a:gd name="T17" fmla="*/ 538 w 538"/>
                  <a:gd name="T18" fmla="*/ 283 h 2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38" h="283">
                    <a:moveTo>
                      <a:pt x="0" y="0"/>
                    </a:moveTo>
                    <a:lnTo>
                      <a:pt x="0" y="147"/>
                    </a:lnTo>
                    <a:lnTo>
                      <a:pt x="537" y="282"/>
                    </a:lnTo>
                    <a:lnTo>
                      <a:pt x="537" y="14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14" name="Freeform 12">
                <a:extLst>
                  <a:ext uri="{FF2B5EF4-FFF2-40B4-BE49-F238E27FC236}">
                    <a16:creationId xmlns:a16="http://schemas.microsoft.com/office/drawing/2014/main" id="{15CA1F11-E439-1727-A271-D379828909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307" y="3351"/>
                <a:ext cx="108" cy="66"/>
              </a:xfrm>
              <a:custGeom>
                <a:avLst/>
                <a:gdLst>
                  <a:gd name="T0" fmla="*/ 107 w 108"/>
                  <a:gd name="T1" fmla="*/ 65 h 66"/>
                  <a:gd name="T2" fmla="*/ 0 w 108"/>
                  <a:gd name="T3" fmla="*/ 36 h 66"/>
                  <a:gd name="T4" fmla="*/ 0 w 108"/>
                  <a:gd name="T5" fmla="*/ 0 h 66"/>
                  <a:gd name="T6" fmla="*/ 107 w 108"/>
                  <a:gd name="T7" fmla="*/ 30 h 66"/>
                  <a:gd name="T8" fmla="*/ 107 w 108"/>
                  <a:gd name="T9" fmla="*/ 65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8"/>
                  <a:gd name="T16" fmla="*/ 0 h 66"/>
                  <a:gd name="T17" fmla="*/ 108 w 108"/>
                  <a:gd name="T18" fmla="*/ 66 h 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8" h="66">
                    <a:moveTo>
                      <a:pt x="107" y="65"/>
                    </a:moveTo>
                    <a:lnTo>
                      <a:pt x="0" y="36"/>
                    </a:lnTo>
                    <a:lnTo>
                      <a:pt x="0" y="0"/>
                    </a:lnTo>
                    <a:lnTo>
                      <a:pt x="107" y="30"/>
                    </a:lnTo>
                    <a:lnTo>
                      <a:pt x="107" y="65"/>
                    </a:lnTo>
                  </a:path>
                </a:pathLst>
              </a:custGeom>
              <a:solidFill>
                <a:srgbClr val="CECECE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15" name="Freeform 13">
                <a:extLst>
                  <a:ext uri="{FF2B5EF4-FFF2-40B4-BE49-F238E27FC236}">
                    <a16:creationId xmlns:a16="http://schemas.microsoft.com/office/drawing/2014/main" id="{7EEF0E84-55E8-3292-8293-B0E773291C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53" y="3405"/>
                <a:ext cx="212" cy="140"/>
              </a:xfrm>
              <a:custGeom>
                <a:avLst/>
                <a:gdLst>
                  <a:gd name="T0" fmla="*/ 0 w 212"/>
                  <a:gd name="T1" fmla="*/ 0 h 140"/>
                  <a:gd name="T2" fmla="*/ 211 w 212"/>
                  <a:gd name="T3" fmla="*/ 56 h 140"/>
                  <a:gd name="T4" fmla="*/ 211 w 212"/>
                  <a:gd name="T5" fmla="*/ 139 h 140"/>
                  <a:gd name="T6" fmla="*/ 0 w 212"/>
                  <a:gd name="T7" fmla="*/ 87 h 140"/>
                  <a:gd name="T8" fmla="*/ 0 w 212"/>
                  <a:gd name="T9" fmla="*/ 0 h 1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2"/>
                  <a:gd name="T16" fmla="*/ 0 h 140"/>
                  <a:gd name="T17" fmla="*/ 212 w 212"/>
                  <a:gd name="T18" fmla="*/ 140 h 1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2" h="140">
                    <a:moveTo>
                      <a:pt x="0" y="0"/>
                    </a:moveTo>
                    <a:lnTo>
                      <a:pt x="211" y="56"/>
                    </a:lnTo>
                    <a:lnTo>
                      <a:pt x="211" y="139"/>
                    </a:lnTo>
                    <a:lnTo>
                      <a:pt x="0" y="87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16" name="Line 14">
                <a:extLst>
                  <a:ext uri="{FF2B5EF4-FFF2-40B4-BE49-F238E27FC236}">
                    <a16:creationId xmlns:a16="http://schemas.microsoft.com/office/drawing/2014/main" id="{640998AE-9954-C954-F36D-5CE192F1F35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55" y="3451"/>
                <a:ext cx="205" cy="5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12317" name="Freeform 15">
                <a:extLst>
                  <a:ext uri="{FF2B5EF4-FFF2-40B4-BE49-F238E27FC236}">
                    <a16:creationId xmlns:a16="http://schemas.microsoft.com/office/drawing/2014/main" id="{403AF131-042C-934D-E8A2-732D130E83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614" y="3483"/>
                <a:ext cx="76" cy="34"/>
              </a:xfrm>
              <a:custGeom>
                <a:avLst/>
                <a:gdLst>
                  <a:gd name="T0" fmla="*/ 0 w 76"/>
                  <a:gd name="T1" fmla="*/ 0 h 34"/>
                  <a:gd name="T2" fmla="*/ 0 w 76"/>
                  <a:gd name="T3" fmla="*/ 10 h 34"/>
                  <a:gd name="T4" fmla="*/ 75 w 76"/>
                  <a:gd name="T5" fmla="*/ 33 h 34"/>
                  <a:gd name="T6" fmla="*/ 75 w 76"/>
                  <a:gd name="T7" fmla="*/ 19 h 34"/>
                  <a:gd name="T8" fmla="*/ 0 w 76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"/>
                  <a:gd name="T16" fmla="*/ 0 h 34"/>
                  <a:gd name="T17" fmla="*/ 76 w 76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" h="34">
                    <a:moveTo>
                      <a:pt x="0" y="0"/>
                    </a:moveTo>
                    <a:lnTo>
                      <a:pt x="0" y="10"/>
                    </a:lnTo>
                    <a:lnTo>
                      <a:pt x="75" y="33"/>
                    </a:lnTo>
                    <a:lnTo>
                      <a:pt x="75" y="19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18" name="Freeform 16">
                <a:extLst>
                  <a:ext uri="{FF2B5EF4-FFF2-40B4-BE49-F238E27FC236}">
                    <a16:creationId xmlns:a16="http://schemas.microsoft.com/office/drawing/2014/main" id="{4C296C63-5A9B-BF17-7FE4-3CB5010BCA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711" y="3508"/>
                <a:ext cx="24" cy="22"/>
              </a:xfrm>
              <a:custGeom>
                <a:avLst/>
                <a:gdLst>
                  <a:gd name="T0" fmla="*/ 0 w 24"/>
                  <a:gd name="T1" fmla="*/ 0 h 22"/>
                  <a:gd name="T2" fmla="*/ 0 w 24"/>
                  <a:gd name="T3" fmla="*/ 10 h 22"/>
                  <a:gd name="T4" fmla="*/ 23 w 24"/>
                  <a:gd name="T5" fmla="*/ 21 h 22"/>
                  <a:gd name="T6" fmla="*/ 23 w 24"/>
                  <a:gd name="T7" fmla="*/ 8 h 22"/>
                  <a:gd name="T8" fmla="*/ 0 w 24"/>
                  <a:gd name="T9" fmla="*/ 0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22"/>
                  <a:gd name="T17" fmla="*/ 24 w 24"/>
                  <a:gd name="T18" fmla="*/ 22 h 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22">
                    <a:moveTo>
                      <a:pt x="0" y="0"/>
                    </a:moveTo>
                    <a:lnTo>
                      <a:pt x="0" y="10"/>
                    </a:lnTo>
                    <a:lnTo>
                      <a:pt x="23" y="21"/>
                    </a:lnTo>
                    <a:lnTo>
                      <a:pt x="23" y="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19" name="Freeform 17">
                <a:extLst>
                  <a:ext uri="{FF2B5EF4-FFF2-40B4-BE49-F238E27FC236}">
                    <a16:creationId xmlns:a16="http://schemas.microsoft.com/office/drawing/2014/main" id="{969B7914-2BC5-0358-1C84-D937C700CE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614" y="3437"/>
                <a:ext cx="76" cy="32"/>
              </a:xfrm>
              <a:custGeom>
                <a:avLst/>
                <a:gdLst>
                  <a:gd name="T0" fmla="*/ 0 w 76"/>
                  <a:gd name="T1" fmla="*/ 0 h 32"/>
                  <a:gd name="T2" fmla="*/ 0 w 76"/>
                  <a:gd name="T3" fmla="*/ 12 h 32"/>
                  <a:gd name="T4" fmla="*/ 75 w 76"/>
                  <a:gd name="T5" fmla="*/ 31 h 32"/>
                  <a:gd name="T6" fmla="*/ 75 w 76"/>
                  <a:gd name="T7" fmla="*/ 21 h 32"/>
                  <a:gd name="T8" fmla="*/ 0 w 76"/>
                  <a:gd name="T9" fmla="*/ 0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"/>
                  <a:gd name="T16" fmla="*/ 0 h 32"/>
                  <a:gd name="T17" fmla="*/ 76 w 76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" h="32">
                    <a:moveTo>
                      <a:pt x="0" y="0"/>
                    </a:moveTo>
                    <a:lnTo>
                      <a:pt x="0" y="12"/>
                    </a:lnTo>
                    <a:lnTo>
                      <a:pt x="75" y="31"/>
                    </a:lnTo>
                    <a:lnTo>
                      <a:pt x="75" y="2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20" name="Freeform 18">
                <a:extLst>
                  <a:ext uri="{FF2B5EF4-FFF2-40B4-BE49-F238E27FC236}">
                    <a16:creationId xmlns:a16="http://schemas.microsoft.com/office/drawing/2014/main" id="{4010BAAF-5FCF-EDF9-EBFE-54F31C3515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711" y="3463"/>
                <a:ext cx="24" cy="20"/>
              </a:xfrm>
              <a:custGeom>
                <a:avLst/>
                <a:gdLst>
                  <a:gd name="T0" fmla="*/ 0 w 24"/>
                  <a:gd name="T1" fmla="*/ 0 h 20"/>
                  <a:gd name="T2" fmla="*/ 0 w 24"/>
                  <a:gd name="T3" fmla="*/ 10 h 20"/>
                  <a:gd name="T4" fmla="*/ 23 w 24"/>
                  <a:gd name="T5" fmla="*/ 19 h 20"/>
                  <a:gd name="T6" fmla="*/ 23 w 24"/>
                  <a:gd name="T7" fmla="*/ 8 h 20"/>
                  <a:gd name="T8" fmla="*/ 0 w 24"/>
                  <a:gd name="T9" fmla="*/ 0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20"/>
                  <a:gd name="T17" fmla="*/ 24 w 24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20">
                    <a:moveTo>
                      <a:pt x="0" y="0"/>
                    </a:moveTo>
                    <a:lnTo>
                      <a:pt x="0" y="10"/>
                    </a:lnTo>
                    <a:lnTo>
                      <a:pt x="23" y="19"/>
                    </a:lnTo>
                    <a:lnTo>
                      <a:pt x="23" y="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21" name="Freeform 19">
                <a:extLst>
                  <a:ext uri="{FF2B5EF4-FFF2-40B4-BE49-F238E27FC236}">
                    <a16:creationId xmlns:a16="http://schemas.microsoft.com/office/drawing/2014/main" id="{F9A520C9-4A63-1307-2A1B-E70C6A8282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65" y="2710"/>
                <a:ext cx="495" cy="482"/>
              </a:xfrm>
              <a:custGeom>
                <a:avLst/>
                <a:gdLst>
                  <a:gd name="T0" fmla="*/ 406 w 495"/>
                  <a:gd name="T1" fmla="*/ 481 h 482"/>
                  <a:gd name="T2" fmla="*/ 494 w 495"/>
                  <a:gd name="T3" fmla="*/ 374 h 482"/>
                  <a:gd name="T4" fmla="*/ 494 w 495"/>
                  <a:gd name="T5" fmla="*/ 83 h 482"/>
                  <a:gd name="T6" fmla="*/ 128 w 495"/>
                  <a:gd name="T7" fmla="*/ 0 h 482"/>
                  <a:gd name="T8" fmla="*/ 0 w 495"/>
                  <a:gd name="T9" fmla="*/ 35 h 482"/>
                  <a:gd name="T10" fmla="*/ 406 w 495"/>
                  <a:gd name="T11" fmla="*/ 481 h 48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95"/>
                  <a:gd name="T19" fmla="*/ 0 h 482"/>
                  <a:gd name="T20" fmla="*/ 495 w 495"/>
                  <a:gd name="T21" fmla="*/ 482 h 48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95" h="482">
                    <a:moveTo>
                      <a:pt x="406" y="481"/>
                    </a:moveTo>
                    <a:lnTo>
                      <a:pt x="494" y="374"/>
                    </a:lnTo>
                    <a:lnTo>
                      <a:pt x="494" y="83"/>
                    </a:lnTo>
                    <a:lnTo>
                      <a:pt x="128" y="0"/>
                    </a:lnTo>
                    <a:lnTo>
                      <a:pt x="0" y="35"/>
                    </a:lnTo>
                    <a:lnTo>
                      <a:pt x="406" y="481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22" name="Freeform 20">
                <a:extLst>
                  <a:ext uri="{FF2B5EF4-FFF2-40B4-BE49-F238E27FC236}">
                    <a16:creationId xmlns:a16="http://schemas.microsoft.com/office/drawing/2014/main" id="{9ACB9B93-0029-AF14-888E-F2D7A7660A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65" y="2710"/>
                <a:ext cx="495" cy="482"/>
              </a:xfrm>
              <a:custGeom>
                <a:avLst/>
                <a:gdLst>
                  <a:gd name="T0" fmla="*/ 406 w 495"/>
                  <a:gd name="T1" fmla="*/ 481 h 482"/>
                  <a:gd name="T2" fmla="*/ 494 w 495"/>
                  <a:gd name="T3" fmla="*/ 374 h 482"/>
                  <a:gd name="T4" fmla="*/ 494 w 495"/>
                  <a:gd name="T5" fmla="*/ 83 h 482"/>
                  <a:gd name="T6" fmla="*/ 128 w 495"/>
                  <a:gd name="T7" fmla="*/ 0 h 482"/>
                  <a:gd name="T8" fmla="*/ 0 w 495"/>
                  <a:gd name="T9" fmla="*/ 35 h 4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5"/>
                  <a:gd name="T16" fmla="*/ 0 h 482"/>
                  <a:gd name="T17" fmla="*/ 495 w 495"/>
                  <a:gd name="T18" fmla="*/ 482 h 48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5" h="482">
                    <a:moveTo>
                      <a:pt x="406" y="481"/>
                    </a:moveTo>
                    <a:lnTo>
                      <a:pt x="494" y="374"/>
                    </a:lnTo>
                    <a:lnTo>
                      <a:pt x="494" y="83"/>
                    </a:lnTo>
                    <a:lnTo>
                      <a:pt x="128" y="0"/>
                    </a:lnTo>
                    <a:lnTo>
                      <a:pt x="0" y="35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23" name="Freeform 21">
                <a:extLst>
                  <a:ext uri="{FF2B5EF4-FFF2-40B4-BE49-F238E27FC236}">
                    <a16:creationId xmlns:a16="http://schemas.microsoft.com/office/drawing/2014/main" id="{F074B2B1-5D8C-8419-7930-EEA416F34A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08" y="2835"/>
                <a:ext cx="161" cy="531"/>
              </a:xfrm>
              <a:custGeom>
                <a:avLst/>
                <a:gdLst>
                  <a:gd name="T0" fmla="*/ 0 w 161"/>
                  <a:gd name="T1" fmla="*/ 530 h 531"/>
                  <a:gd name="T2" fmla="*/ 0 w 161"/>
                  <a:gd name="T3" fmla="*/ 85 h 531"/>
                  <a:gd name="T4" fmla="*/ 160 w 161"/>
                  <a:gd name="T5" fmla="*/ 0 h 531"/>
                  <a:gd name="T6" fmla="*/ 160 w 161"/>
                  <a:gd name="T7" fmla="*/ 427 h 531"/>
                  <a:gd name="T8" fmla="*/ 0 w 161"/>
                  <a:gd name="T9" fmla="*/ 530 h 5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1"/>
                  <a:gd name="T16" fmla="*/ 0 h 531"/>
                  <a:gd name="T17" fmla="*/ 161 w 161"/>
                  <a:gd name="T18" fmla="*/ 531 h 5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1" h="531">
                    <a:moveTo>
                      <a:pt x="0" y="530"/>
                    </a:moveTo>
                    <a:lnTo>
                      <a:pt x="0" y="85"/>
                    </a:lnTo>
                    <a:lnTo>
                      <a:pt x="160" y="0"/>
                    </a:lnTo>
                    <a:lnTo>
                      <a:pt x="160" y="427"/>
                    </a:lnTo>
                    <a:lnTo>
                      <a:pt x="0" y="530"/>
                    </a:lnTo>
                  </a:path>
                </a:pathLst>
              </a:custGeom>
              <a:solidFill>
                <a:srgbClr val="DADADA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24" name="Freeform 22">
                <a:extLst>
                  <a:ext uri="{FF2B5EF4-FFF2-40B4-BE49-F238E27FC236}">
                    <a16:creationId xmlns:a16="http://schemas.microsoft.com/office/drawing/2014/main" id="{EDA38D47-80F1-F824-79FA-BB47136E4C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303" y="2725"/>
                <a:ext cx="666" cy="198"/>
              </a:xfrm>
              <a:custGeom>
                <a:avLst/>
                <a:gdLst>
                  <a:gd name="T0" fmla="*/ 504 w 666"/>
                  <a:gd name="T1" fmla="*/ 197 h 198"/>
                  <a:gd name="T2" fmla="*/ 0 w 666"/>
                  <a:gd name="T3" fmla="*/ 76 h 198"/>
                  <a:gd name="T4" fmla="*/ 186 w 666"/>
                  <a:gd name="T5" fmla="*/ 0 h 198"/>
                  <a:gd name="T6" fmla="*/ 665 w 666"/>
                  <a:gd name="T7" fmla="*/ 110 h 198"/>
                  <a:gd name="T8" fmla="*/ 504 w 666"/>
                  <a:gd name="T9" fmla="*/ 197 h 1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6"/>
                  <a:gd name="T16" fmla="*/ 0 h 198"/>
                  <a:gd name="T17" fmla="*/ 666 w 666"/>
                  <a:gd name="T18" fmla="*/ 198 h 1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6" h="198">
                    <a:moveTo>
                      <a:pt x="504" y="197"/>
                    </a:moveTo>
                    <a:lnTo>
                      <a:pt x="0" y="76"/>
                    </a:lnTo>
                    <a:lnTo>
                      <a:pt x="186" y="0"/>
                    </a:lnTo>
                    <a:lnTo>
                      <a:pt x="665" y="110"/>
                    </a:lnTo>
                    <a:lnTo>
                      <a:pt x="504" y="197"/>
                    </a:lnTo>
                  </a:path>
                </a:pathLst>
              </a:custGeom>
              <a:solidFill>
                <a:srgbClr val="FFF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25" name="Freeform 23">
                <a:extLst>
                  <a:ext uri="{FF2B5EF4-FFF2-40B4-BE49-F238E27FC236}">
                    <a16:creationId xmlns:a16="http://schemas.microsoft.com/office/drawing/2014/main" id="{6396F548-CB47-2160-0A07-7DA1E92EA1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402" y="3261"/>
                <a:ext cx="354" cy="109"/>
              </a:xfrm>
              <a:custGeom>
                <a:avLst/>
                <a:gdLst>
                  <a:gd name="T0" fmla="*/ 0 w 354"/>
                  <a:gd name="T1" fmla="*/ 0 h 109"/>
                  <a:gd name="T2" fmla="*/ 0 w 354"/>
                  <a:gd name="T3" fmla="*/ 19 h 109"/>
                  <a:gd name="T4" fmla="*/ 323 w 354"/>
                  <a:gd name="T5" fmla="*/ 108 h 109"/>
                  <a:gd name="T6" fmla="*/ 353 w 354"/>
                  <a:gd name="T7" fmla="*/ 94 h 109"/>
                  <a:gd name="T8" fmla="*/ 0 w 354"/>
                  <a:gd name="T9" fmla="*/ 0 h 1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109"/>
                  <a:gd name="T17" fmla="*/ 354 w 354"/>
                  <a:gd name="T18" fmla="*/ 109 h 10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109">
                    <a:moveTo>
                      <a:pt x="0" y="0"/>
                    </a:moveTo>
                    <a:lnTo>
                      <a:pt x="0" y="19"/>
                    </a:lnTo>
                    <a:lnTo>
                      <a:pt x="323" y="108"/>
                    </a:lnTo>
                    <a:lnTo>
                      <a:pt x="353" y="9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EC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26" name="Freeform 24">
                <a:extLst>
                  <a:ext uri="{FF2B5EF4-FFF2-40B4-BE49-F238E27FC236}">
                    <a16:creationId xmlns:a16="http://schemas.microsoft.com/office/drawing/2014/main" id="{B12A4426-FC40-E806-742D-DE3D6610F8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402" y="3261"/>
                <a:ext cx="354" cy="109"/>
              </a:xfrm>
              <a:custGeom>
                <a:avLst/>
                <a:gdLst>
                  <a:gd name="T0" fmla="*/ 0 w 354"/>
                  <a:gd name="T1" fmla="*/ 0 h 109"/>
                  <a:gd name="T2" fmla="*/ 0 w 354"/>
                  <a:gd name="T3" fmla="*/ 19 h 109"/>
                  <a:gd name="T4" fmla="*/ 323 w 354"/>
                  <a:gd name="T5" fmla="*/ 108 h 109"/>
                  <a:gd name="T6" fmla="*/ 353 w 354"/>
                  <a:gd name="T7" fmla="*/ 94 h 10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4"/>
                  <a:gd name="T13" fmla="*/ 0 h 109"/>
                  <a:gd name="T14" fmla="*/ 354 w 354"/>
                  <a:gd name="T15" fmla="*/ 109 h 10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4" h="109">
                    <a:moveTo>
                      <a:pt x="0" y="0"/>
                    </a:moveTo>
                    <a:lnTo>
                      <a:pt x="0" y="19"/>
                    </a:lnTo>
                    <a:lnTo>
                      <a:pt x="323" y="108"/>
                    </a:lnTo>
                    <a:lnTo>
                      <a:pt x="353" y="94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27" name="Freeform 25">
                <a:extLst>
                  <a:ext uri="{FF2B5EF4-FFF2-40B4-BE49-F238E27FC236}">
                    <a16:creationId xmlns:a16="http://schemas.microsoft.com/office/drawing/2014/main" id="{C150B7F6-9BD4-954A-AA87-D612F737D9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303" y="2800"/>
                <a:ext cx="506" cy="566"/>
              </a:xfrm>
              <a:custGeom>
                <a:avLst/>
                <a:gdLst>
                  <a:gd name="T0" fmla="*/ 505 w 506"/>
                  <a:gd name="T1" fmla="*/ 565 h 566"/>
                  <a:gd name="T2" fmla="*/ 505 w 506"/>
                  <a:gd name="T3" fmla="*/ 120 h 566"/>
                  <a:gd name="T4" fmla="*/ 0 w 506"/>
                  <a:gd name="T5" fmla="*/ 0 h 566"/>
                  <a:gd name="T6" fmla="*/ 0 w 506"/>
                  <a:gd name="T7" fmla="*/ 435 h 566"/>
                  <a:gd name="T8" fmla="*/ 505 w 506"/>
                  <a:gd name="T9" fmla="*/ 565 h 5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06"/>
                  <a:gd name="T16" fmla="*/ 0 h 566"/>
                  <a:gd name="T17" fmla="*/ 506 w 506"/>
                  <a:gd name="T18" fmla="*/ 566 h 5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06" h="566">
                    <a:moveTo>
                      <a:pt x="505" y="565"/>
                    </a:moveTo>
                    <a:lnTo>
                      <a:pt x="505" y="120"/>
                    </a:lnTo>
                    <a:lnTo>
                      <a:pt x="0" y="0"/>
                    </a:lnTo>
                    <a:lnTo>
                      <a:pt x="0" y="435"/>
                    </a:lnTo>
                    <a:lnTo>
                      <a:pt x="505" y="565"/>
                    </a:lnTo>
                  </a:path>
                </a:pathLst>
              </a:custGeom>
              <a:solidFill>
                <a:srgbClr val="FFF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28" name="Freeform 26">
                <a:extLst>
                  <a:ext uri="{FF2B5EF4-FFF2-40B4-BE49-F238E27FC236}">
                    <a16:creationId xmlns:a16="http://schemas.microsoft.com/office/drawing/2014/main" id="{FF29969A-598F-8984-64E2-6ED5EFF567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367" y="2865"/>
                <a:ext cx="368" cy="415"/>
              </a:xfrm>
              <a:custGeom>
                <a:avLst/>
                <a:gdLst>
                  <a:gd name="T0" fmla="*/ 367 w 368"/>
                  <a:gd name="T1" fmla="*/ 414 h 415"/>
                  <a:gd name="T2" fmla="*/ 367 w 368"/>
                  <a:gd name="T3" fmla="*/ 88 h 415"/>
                  <a:gd name="T4" fmla="*/ 0 w 368"/>
                  <a:gd name="T5" fmla="*/ 0 h 415"/>
                  <a:gd name="T6" fmla="*/ 0 w 368"/>
                  <a:gd name="T7" fmla="*/ 318 h 415"/>
                  <a:gd name="T8" fmla="*/ 367 w 368"/>
                  <a:gd name="T9" fmla="*/ 414 h 4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8"/>
                  <a:gd name="T16" fmla="*/ 0 h 415"/>
                  <a:gd name="T17" fmla="*/ 368 w 368"/>
                  <a:gd name="T18" fmla="*/ 415 h 4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8" h="415">
                    <a:moveTo>
                      <a:pt x="367" y="414"/>
                    </a:moveTo>
                    <a:lnTo>
                      <a:pt x="367" y="88"/>
                    </a:lnTo>
                    <a:lnTo>
                      <a:pt x="0" y="0"/>
                    </a:lnTo>
                    <a:lnTo>
                      <a:pt x="0" y="318"/>
                    </a:lnTo>
                    <a:lnTo>
                      <a:pt x="367" y="414"/>
                    </a:lnTo>
                  </a:path>
                </a:pathLst>
              </a:custGeom>
              <a:solidFill>
                <a:srgbClr val="CECECE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29" name="Freeform 27">
                <a:extLst>
                  <a:ext uri="{FF2B5EF4-FFF2-40B4-BE49-F238E27FC236}">
                    <a16:creationId xmlns:a16="http://schemas.microsoft.com/office/drawing/2014/main" id="{62E957CC-459B-DD37-526B-465C181E5A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396" y="2894"/>
                <a:ext cx="326" cy="350"/>
              </a:xfrm>
              <a:custGeom>
                <a:avLst/>
                <a:gdLst>
                  <a:gd name="T0" fmla="*/ 325 w 326"/>
                  <a:gd name="T1" fmla="*/ 349 h 350"/>
                  <a:gd name="T2" fmla="*/ 325 w 326"/>
                  <a:gd name="T3" fmla="*/ 74 h 350"/>
                  <a:gd name="T4" fmla="*/ 0 w 326"/>
                  <a:gd name="T5" fmla="*/ 0 h 350"/>
                  <a:gd name="T6" fmla="*/ 0 w 326"/>
                  <a:gd name="T7" fmla="*/ 269 h 350"/>
                  <a:gd name="T8" fmla="*/ 325 w 326"/>
                  <a:gd name="T9" fmla="*/ 349 h 3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6"/>
                  <a:gd name="T16" fmla="*/ 0 h 350"/>
                  <a:gd name="T17" fmla="*/ 326 w 326"/>
                  <a:gd name="T18" fmla="*/ 350 h 3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6" h="350">
                    <a:moveTo>
                      <a:pt x="325" y="349"/>
                    </a:moveTo>
                    <a:lnTo>
                      <a:pt x="325" y="74"/>
                    </a:lnTo>
                    <a:lnTo>
                      <a:pt x="0" y="0"/>
                    </a:lnTo>
                    <a:lnTo>
                      <a:pt x="0" y="269"/>
                    </a:lnTo>
                    <a:lnTo>
                      <a:pt x="325" y="349"/>
                    </a:lnTo>
                  </a:path>
                </a:pathLst>
              </a:custGeom>
              <a:solidFill>
                <a:srgbClr val="618FFD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30" name="Rectangle 28">
                <a:extLst>
                  <a:ext uri="{FF2B5EF4-FFF2-40B4-BE49-F238E27FC236}">
                    <a16:creationId xmlns:a16="http://schemas.microsoft.com/office/drawing/2014/main" id="{FB0D6D02-DF35-9D47-73CA-50EA70C37E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441" y="2944"/>
                <a:ext cx="35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2302" name="Group 29">
              <a:extLst>
                <a:ext uri="{FF2B5EF4-FFF2-40B4-BE49-F238E27FC236}">
                  <a16:creationId xmlns:a16="http://schemas.microsoft.com/office/drawing/2014/main" id="{F72FF8BD-BAAC-6A46-5537-E2853359C97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2" y="3457"/>
              <a:ext cx="785" cy="334"/>
              <a:chOff x="1032" y="3457"/>
              <a:chExt cx="785" cy="334"/>
            </a:xfrm>
          </p:grpSpPr>
          <p:sp>
            <p:nvSpPr>
              <p:cNvPr id="12303" name="Freeform 30">
                <a:extLst>
                  <a:ext uri="{FF2B5EF4-FFF2-40B4-BE49-F238E27FC236}">
                    <a16:creationId xmlns:a16="http://schemas.microsoft.com/office/drawing/2014/main" id="{E7294F95-9C15-7DED-0C56-C99CF6FF80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2" y="3586"/>
                <a:ext cx="785" cy="205"/>
              </a:xfrm>
              <a:custGeom>
                <a:avLst/>
                <a:gdLst>
                  <a:gd name="T0" fmla="*/ 0 w 785"/>
                  <a:gd name="T1" fmla="*/ 0 h 205"/>
                  <a:gd name="T2" fmla="*/ 0 w 785"/>
                  <a:gd name="T3" fmla="*/ 23 h 205"/>
                  <a:gd name="T4" fmla="*/ 638 w 785"/>
                  <a:gd name="T5" fmla="*/ 204 h 205"/>
                  <a:gd name="T6" fmla="*/ 784 w 785"/>
                  <a:gd name="T7" fmla="*/ 97 h 205"/>
                  <a:gd name="T8" fmla="*/ 784 w 785"/>
                  <a:gd name="T9" fmla="*/ 29 h 205"/>
                  <a:gd name="T10" fmla="*/ 0 w 785"/>
                  <a:gd name="T11" fmla="*/ 0 h 20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85"/>
                  <a:gd name="T19" fmla="*/ 0 h 205"/>
                  <a:gd name="T20" fmla="*/ 785 w 785"/>
                  <a:gd name="T21" fmla="*/ 205 h 20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85" h="205">
                    <a:moveTo>
                      <a:pt x="0" y="0"/>
                    </a:moveTo>
                    <a:lnTo>
                      <a:pt x="0" y="23"/>
                    </a:lnTo>
                    <a:lnTo>
                      <a:pt x="638" y="204"/>
                    </a:lnTo>
                    <a:lnTo>
                      <a:pt x="784" y="97"/>
                    </a:lnTo>
                    <a:lnTo>
                      <a:pt x="784" y="29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04" name="Freeform 31">
                <a:extLst>
                  <a:ext uri="{FF2B5EF4-FFF2-40B4-BE49-F238E27FC236}">
                    <a16:creationId xmlns:a16="http://schemas.microsoft.com/office/drawing/2014/main" id="{284BC2B5-9EE9-18FE-A978-19F633C071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2" y="3586"/>
                <a:ext cx="785" cy="205"/>
              </a:xfrm>
              <a:custGeom>
                <a:avLst/>
                <a:gdLst>
                  <a:gd name="T0" fmla="*/ 0 w 785"/>
                  <a:gd name="T1" fmla="*/ 0 h 205"/>
                  <a:gd name="T2" fmla="*/ 0 w 785"/>
                  <a:gd name="T3" fmla="*/ 23 h 205"/>
                  <a:gd name="T4" fmla="*/ 638 w 785"/>
                  <a:gd name="T5" fmla="*/ 204 h 205"/>
                  <a:gd name="T6" fmla="*/ 784 w 785"/>
                  <a:gd name="T7" fmla="*/ 97 h 205"/>
                  <a:gd name="T8" fmla="*/ 784 w 785"/>
                  <a:gd name="T9" fmla="*/ 29 h 2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5"/>
                  <a:gd name="T16" fmla="*/ 0 h 205"/>
                  <a:gd name="T17" fmla="*/ 785 w 785"/>
                  <a:gd name="T18" fmla="*/ 205 h 2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5" h="205">
                    <a:moveTo>
                      <a:pt x="0" y="0"/>
                    </a:moveTo>
                    <a:lnTo>
                      <a:pt x="0" y="23"/>
                    </a:lnTo>
                    <a:lnTo>
                      <a:pt x="638" y="204"/>
                    </a:lnTo>
                    <a:lnTo>
                      <a:pt x="784" y="97"/>
                    </a:lnTo>
                    <a:lnTo>
                      <a:pt x="784" y="29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05" name="Freeform 32">
                <a:extLst>
                  <a:ext uri="{FF2B5EF4-FFF2-40B4-BE49-F238E27FC236}">
                    <a16:creationId xmlns:a16="http://schemas.microsoft.com/office/drawing/2014/main" id="{10AAA34E-BE05-5202-CEEE-CBD8FBBF4A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2" y="3457"/>
                <a:ext cx="785" cy="307"/>
              </a:xfrm>
              <a:custGeom>
                <a:avLst/>
                <a:gdLst>
                  <a:gd name="T0" fmla="*/ 173 w 785"/>
                  <a:gd name="T1" fmla="*/ 0 h 307"/>
                  <a:gd name="T2" fmla="*/ 784 w 785"/>
                  <a:gd name="T3" fmla="*/ 156 h 307"/>
                  <a:gd name="T4" fmla="*/ 633 w 785"/>
                  <a:gd name="T5" fmla="*/ 306 h 307"/>
                  <a:gd name="T6" fmla="*/ 0 w 785"/>
                  <a:gd name="T7" fmla="*/ 128 h 307"/>
                  <a:gd name="T8" fmla="*/ 173 w 785"/>
                  <a:gd name="T9" fmla="*/ 0 h 3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5"/>
                  <a:gd name="T16" fmla="*/ 0 h 307"/>
                  <a:gd name="T17" fmla="*/ 785 w 785"/>
                  <a:gd name="T18" fmla="*/ 307 h 30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5" h="307">
                    <a:moveTo>
                      <a:pt x="173" y="0"/>
                    </a:moveTo>
                    <a:lnTo>
                      <a:pt x="784" y="156"/>
                    </a:lnTo>
                    <a:lnTo>
                      <a:pt x="633" y="306"/>
                    </a:lnTo>
                    <a:lnTo>
                      <a:pt x="0" y="128"/>
                    </a:lnTo>
                    <a:lnTo>
                      <a:pt x="173" y="0"/>
                    </a:lnTo>
                  </a:path>
                </a:pathLst>
              </a:custGeom>
              <a:solidFill>
                <a:srgbClr val="FFF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06" name="Freeform 33">
                <a:extLst>
                  <a:ext uri="{FF2B5EF4-FFF2-40B4-BE49-F238E27FC236}">
                    <a16:creationId xmlns:a16="http://schemas.microsoft.com/office/drawing/2014/main" id="{65BD076B-D2DE-7801-F959-4C4E78AD04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194" y="3472"/>
                <a:ext cx="475" cy="139"/>
              </a:xfrm>
              <a:custGeom>
                <a:avLst/>
                <a:gdLst>
                  <a:gd name="T0" fmla="*/ 20 w 475"/>
                  <a:gd name="T1" fmla="*/ 0 h 139"/>
                  <a:gd name="T2" fmla="*/ 0 w 475"/>
                  <a:gd name="T3" fmla="*/ 14 h 139"/>
                  <a:gd name="T4" fmla="*/ 458 w 475"/>
                  <a:gd name="T5" fmla="*/ 138 h 139"/>
                  <a:gd name="T6" fmla="*/ 474 w 475"/>
                  <a:gd name="T7" fmla="*/ 123 h 139"/>
                  <a:gd name="T8" fmla="*/ 20 w 4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75"/>
                  <a:gd name="T16" fmla="*/ 0 h 139"/>
                  <a:gd name="T17" fmla="*/ 475 w 4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75" h="139">
                    <a:moveTo>
                      <a:pt x="20" y="0"/>
                    </a:moveTo>
                    <a:lnTo>
                      <a:pt x="0" y="14"/>
                    </a:lnTo>
                    <a:lnTo>
                      <a:pt x="458" y="138"/>
                    </a:lnTo>
                    <a:lnTo>
                      <a:pt x="474" y="123"/>
                    </a:lnTo>
                    <a:lnTo>
                      <a:pt x="20" y="0"/>
                    </a:lnTo>
                  </a:path>
                </a:pathLst>
              </a:custGeom>
              <a:solidFill>
                <a:srgbClr val="CEC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07" name="Freeform 34">
                <a:extLst>
                  <a:ext uri="{FF2B5EF4-FFF2-40B4-BE49-F238E27FC236}">
                    <a16:creationId xmlns:a16="http://schemas.microsoft.com/office/drawing/2014/main" id="{AFAF1F5B-DCFE-DA42-C7F8-6927B7BCE3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92" y="3503"/>
                <a:ext cx="462" cy="168"/>
              </a:xfrm>
              <a:custGeom>
                <a:avLst/>
                <a:gdLst>
                  <a:gd name="T0" fmla="*/ 87 w 462"/>
                  <a:gd name="T1" fmla="*/ 0 h 168"/>
                  <a:gd name="T2" fmla="*/ 0 w 462"/>
                  <a:gd name="T3" fmla="*/ 62 h 168"/>
                  <a:gd name="T4" fmla="*/ 29 w 462"/>
                  <a:gd name="T5" fmla="*/ 69 h 168"/>
                  <a:gd name="T6" fmla="*/ 46 w 462"/>
                  <a:gd name="T7" fmla="*/ 59 h 168"/>
                  <a:gd name="T8" fmla="*/ 66 w 462"/>
                  <a:gd name="T9" fmla="*/ 64 h 168"/>
                  <a:gd name="T10" fmla="*/ 51 w 462"/>
                  <a:gd name="T11" fmla="*/ 76 h 168"/>
                  <a:gd name="T12" fmla="*/ 331 w 462"/>
                  <a:gd name="T13" fmla="*/ 153 h 168"/>
                  <a:gd name="T14" fmla="*/ 345 w 462"/>
                  <a:gd name="T15" fmla="*/ 141 h 168"/>
                  <a:gd name="T16" fmla="*/ 371 w 462"/>
                  <a:gd name="T17" fmla="*/ 148 h 168"/>
                  <a:gd name="T18" fmla="*/ 356 w 462"/>
                  <a:gd name="T19" fmla="*/ 160 h 168"/>
                  <a:gd name="T20" fmla="*/ 380 w 462"/>
                  <a:gd name="T21" fmla="*/ 167 h 168"/>
                  <a:gd name="T22" fmla="*/ 461 w 462"/>
                  <a:gd name="T23" fmla="*/ 96 h 168"/>
                  <a:gd name="T24" fmla="*/ 87 w 462"/>
                  <a:gd name="T25" fmla="*/ 0 h 16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462"/>
                  <a:gd name="T40" fmla="*/ 0 h 168"/>
                  <a:gd name="T41" fmla="*/ 462 w 462"/>
                  <a:gd name="T42" fmla="*/ 168 h 16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462" h="168">
                    <a:moveTo>
                      <a:pt x="87" y="0"/>
                    </a:moveTo>
                    <a:lnTo>
                      <a:pt x="0" y="62"/>
                    </a:lnTo>
                    <a:lnTo>
                      <a:pt x="29" y="69"/>
                    </a:lnTo>
                    <a:lnTo>
                      <a:pt x="46" y="59"/>
                    </a:lnTo>
                    <a:lnTo>
                      <a:pt x="66" y="64"/>
                    </a:lnTo>
                    <a:lnTo>
                      <a:pt x="51" y="76"/>
                    </a:lnTo>
                    <a:lnTo>
                      <a:pt x="331" y="153"/>
                    </a:lnTo>
                    <a:lnTo>
                      <a:pt x="345" y="141"/>
                    </a:lnTo>
                    <a:lnTo>
                      <a:pt x="371" y="148"/>
                    </a:lnTo>
                    <a:lnTo>
                      <a:pt x="356" y="160"/>
                    </a:lnTo>
                    <a:lnTo>
                      <a:pt x="380" y="167"/>
                    </a:lnTo>
                    <a:lnTo>
                      <a:pt x="461" y="96"/>
                    </a:lnTo>
                    <a:lnTo>
                      <a:pt x="87" y="0"/>
                    </a:lnTo>
                  </a:path>
                </a:pathLst>
              </a:custGeom>
              <a:solidFill>
                <a:srgbClr val="CEC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08" name="Freeform 35">
                <a:extLst>
                  <a:ext uri="{FF2B5EF4-FFF2-40B4-BE49-F238E27FC236}">
                    <a16:creationId xmlns:a16="http://schemas.microsoft.com/office/drawing/2014/main" id="{39611D58-7045-6574-6D5F-8FF56496E1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42" y="3606"/>
                <a:ext cx="98" cy="43"/>
              </a:xfrm>
              <a:custGeom>
                <a:avLst/>
                <a:gdLst>
                  <a:gd name="T0" fmla="*/ 33 w 98"/>
                  <a:gd name="T1" fmla="*/ 0 h 43"/>
                  <a:gd name="T2" fmla="*/ 97 w 98"/>
                  <a:gd name="T3" fmla="*/ 14 h 43"/>
                  <a:gd name="T4" fmla="*/ 66 w 98"/>
                  <a:gd name="T5" fmla="*/ 42 h 43"/>
                  <a:gd name="T6" fmla="*/ 0 w 98"/>
                  <a:gd name="T7" fmla="*/ 24 h 43"/>
                  <a:gd name="T8" fmla="*/ 33 w 98"/>
                  <a:gd name="T9" fmla="*/ 0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8"/>
                  <a:gd name="T16" fmla="*/ 0 h 43"/>
                  <a:gd name="T17" fmla="*/ 98 w 98"/>
                  <a:gd name="T18" fmla="*/ 43 h 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8" h="43">
                    <a:moveTo>
                      <a:pt x="33" y="0"/>
                    </a:moveTo>
                    <a:lnTo>
                      <a:pt x="97" y="14"/>
                    </a:lnTo>
                    <a:lnTo>
                      <a:pt x="66" y="42"/>
                    </a:lnTo>
                    <a:lnTo>
                      <a:pt x="0" y="24"/>
                    </a:lnTo>
                    <a:lnTo>
                      <a:pt x="33" y="0"/>
                    </a:lnTo>
                  </a:path>
                </a:pathLst>
              </a:custGeom>
              <a:solidFill>
                <a:srgbClr val="CEC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09" name="Freeform 36">
                <a:extLst>
                  <a:ext uri="{FF2B5EF4-FFF2-40B4-BE49-F238E27FC236}">
                    <a16:creationId xmlns:a16="http://schemas.microsoft.com/office/drawing/2014/main" id="{F3FCE1F3-2363-42FA-0BF8-70B2AC811D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493" y="3656"/>
                <a:ext cx="83" cy="38"/>
              </a:xfrm>
              <a:custGeom>
                <a:avLst/>
                <a:gdLst>
                  <a:gd name="T0" fmla="*/ 15 w 83"/>
                  <a:gd name="T1" fmla="*/ 4 h 38"/>
                  <a:gd name="T2" fmla="*/ 35 w 83"/>
                  <a:gd name="T3" fmla="*/ 9 h 38"/>
                  <a:gd name="T4" fmla="*/ 48 w 83"/>
                  <a:gd name="T5" fmla="*/ 0 h 38"/>
                  <a:gd name="T6" fmla="*/ 70 w 83"/>
                  <a:gd name="T7" fmla="*/ 6 h 38"/>
                  <a:gd name="T8" fmla="*/ 59 w 83"/>
                  <a:gd name="T9" fmla="*/ 17 h 38"/>
                  <a:gd name="T10" fmla="*/ 82 w 83"/>
                  <a:gd name="T11" fmla="*/ 23 h 38"/>
                  <a:gd name="T12" fmla="*/ 66 w 83"/>
                  <a:gd name="T13" fmla="*/ 37 h 38"/>
                  <a:gd name="T14" fmla="*/ 0 w 83"/>
                  <a:gd name="T15" fmla="*/ 19 h 38"/>
                  <a:gd name="T16" fmla="*/ 15 w 83"/>
                  <a:gd name="T17" fmla="*/ 4 h 3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3"/>
                  <a:gd name="T28" fmla="*/ 0 h 38"/>
                  <a:gd name="T29" fmla="*/ 83 w 83"/>
                  <a:gd name="T30" fmla="*/ 38 h 3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3" h="38">
                    <a:moveTo>
                      <a:pt x="15" y="4"/>
                    </a:moveTo>
                    <a:lnTo>
                      <a:pt x="35" y="9"/>
                    </a:lnTo>
                    <a:lnTo>
                      <a:pt x="48" y="0"/>
                    </a:lnTo>
                    <a:lnTo>
                      <a:pt x="70" y="6"/>
                    </a:lnTo>
                    <a:lnTo>
                      <a:pt x="59" y="17"/>
                    </a:lnTo>
                    <a:lnTo>
                      <a:pt x="82" y="23"/>
                    </a:lnTo>
                    <a:lnTo>
                      <a:pt x="66" y="37"/>
                    </a:lnTo>
                    <a:lnTo>
                      <a:pt x="0" y="19"/>
                    </a:lnTo>
                    <a:lnTo>
                      <a:pt x="15" y="4"/>
                    </a:lnTo>
                  </a:path>
                </a:pathLst>
              </a:custGeom>
              <a:solidFill>
                <a:srgbClr val="CEC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10" name="Freeform 37">
                <a:extLst>
                  <a:ext uri="{FF2B5EF4-FFF2-40B4-BE49-F238E27FC236}">
                    <a16:creationId xmlns:a16="http://schemas.microsoft.com/office/drawing/2014/main" id="{63411924-8A7A-E94D-0E30-BBB0058A72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82" y="3632"/>
                <a:ext cx="162" cy="97"/>
              </a:xfrm>
              <a:custGeom>
                <a:avLst/>
                <a:gdLst>
                  <a:gd name="T0" fmla="*/ 83 w 162"/>
                  <a:gd name="T1" fmla="*/ 0 h 97"/>
                  <a:gd name="T2" fmla="*/ 161 w 162"/>
                  <a:gd name="T3" fmla="*/ 20 h 97"/>
                  <a:gd name="T4" fmla="*/ 79 w 162"/>
                  <a:gd name="T5" fmla="*/ 96 h 97"/>
                  <a:gd name="T6" fmla="*/ 0 w 162"/>
                  <a:gd name="T7" fmla="*/ 70 h 97"/>
                  <a:gd name="T8" fmla="*/ 83 w 162"/>
                  <a:gd name="T9" fmla="*/ 0 h 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2"/>
                  <a:gd name="T16" fmla="*/ 0 h 97"/>
                  <a:gd name="T17" fmla="*/ 162 w 162"/>
                  <a:gd name="T18" fmla="*/ 97 h 9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2" h="97">
                    <a:moveTo>
                      <a:pt x="83" y="0"/>
                    </a:moveTo>
                    <a:lnTo>
                      <a:pt x="161" y="20"/>
                    </a:lnTo>
                    <a:lnTo>
                      <a:pt x="79" y="96"/>
                    </a:lnTo>
                    <a:lnTo>
                      <a:pt x="0" y="70"/>
                    </a:lnTo>
                    <a:lnTo>
                      <a:pt x="83" y="0"/>
                    </a:lnTo>
                  </a:path>
                </a:pathLst>
              </a:custGeom>
              <a:solidFill>
                <a:srgbClr val="CEC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</p:grpSp>
      <p:graphicFrame>
        <p:nvGraphicFramePr>
          <p:cNvPr id="12292" name="Object 38">
            <a:extLst>
              <a:ext uri="{FF2B5EF4-FFF2-40B4-BE49-F238E27FC236}">
                <a16:creationId xmlns:a16="http://schemas.microsoft.com/office/drawing/2014/main" id="{5B6F0544-792C-9BCC-C2C0-34D5CB62F5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8938" y="1125538"/>
          <a:ext cx="917575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3" imgW="1927225" imgH="3382963" progId="MS_ClipArt_Gallery.2">
                  <p:embed/>
                </p:oleObj>
              </mc:Choice>
              <mc:Fallback>
                <p:oleObj name="ClipArt" r:id="rId3" imgW="1927225" imgH="3382963" progId="MS_ClipArt_Gallery.2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8938" y="1125538"/>
                        <a:ext cx="917575" cy="165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Rectangle 39">
            <a:extLst>
              <a:ext uri="{FF2B5EF4-FFF2-40B4-BE49-F238E27FC236}">
                <a16:creationId xmlns:a16="http://schemas.microsoft.com/office/drawing/2014/main" id="{C680BA61-67BD-0E51-3AD1-33B7C62EF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2060575"/>
            <a:ext cx="973138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TCP</a:t>
            </a:r>
          </a:p>
        </p:txBody>
      </p:sp>
      <p:sp>
        <p:nvSpPr>
          <p:cNvPr id="12294" name="Rectangle 40">
            <a:extLst>
              <a:ext uri="{FF2B5EF4-FFF2-40B4-BE49-F238E27FC236}">
                <a16:creationId xmlns:a16="http://schemas.microsoft.com/office/drawing/2014/main" id="{5ABD2F15-8C84-FECB-83FF-5270071B2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2060575"/>
            <a:ext cx="1511300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TLS</a:t>
            </a:r>
          </a:p>
        </p:txBody>
      </p:sp>
      <p:pic>
        <p:nvPicPr>
          <p:cNvPr id="6151" name="Picture 41">
            <a:extLst>
              <a:ext uri="{FF2B5EF4-FFF2-40B4-BE49-F238E27FC236}">
                <a16:creationId xmlns:a16="http://schemas.microsoft.com/office/drawing/2014/main" id="{E6D07C9F-0B83-6223-9EFB-FE0616DE8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950" y="3321050"/>
            <a:ext cx="1154113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2" name="Rectangle 42">
            <a:extLst>
              <a:ext uri="{FF2B5EF4-FFF2-40B4-BE49-F238E27FC236}">
                <a16:creationId xmlns:a16="http://schemas.microsoft.com/office/drawing/2014/main" id="{94F3BD7D-BAA9-3232-B5BA-CAADF16F5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573463"/>
            <a:ext cx="973138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TCP FIN</a:t>
            </a:r>
          </a:p>
        </p:txBody>
      </p:sp>
      <p:sp>
        <p:nvSpPr>
          <p:cNvPr id="12297" name="Line 43">
            <a:extLst>
              <a:ext uri="{FF2B5EF4-FFF2-40B4-BE49-F238E27FC236}">
                <a16:creationId xmlns:a16="http://schemas.microsoft.com/office/drawing/2014/main" id="{A66CA4A9-44F5-E765-CEB2-BCAE268410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9363" y="2276475"/>
            <a:ext cx="539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2298" name="Line 44">
            <a:extLst>
              <a:ext uri="{FF2B5EF4-FFF2-40B4-BE49-F238E27FC236}">
                <a16:creationId xmlns:a16="http://schemas.microsoft.com/office/drawing/2014/main" id="{71916979-735D-4BD1-FC3F-F6714D5873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2475" y="2276475"/>
            <a:ext cx="539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55" name="Freeform 45">
            <a:extLst>
              <a:ext uri="{FF2B5EF4-FFF2-40B4-BE49-F238E27FC236}">
                <a16:creationId xmlns:a16="http://schemas.microsoft.com/office/drawing/2014/main" id="{E9E72F49-FC57-0ADC-2AC3-1A308D7DFAB1}"/>
              </a:ext>
            </a:extLst>
          </p:cNvPr>
          <p:cNvSpPr>
            <a:spLocks/>
          </p:cNvSpPr>
          <p:nvPr/>
        </p:nvSpPr>
        <p:spPr bwMode="auto">
          <a:xfrm>
            <a:off x="4319588" y="2708275"/>
            <a:ext cx="2197100" cy="1116013"/>
          </a:xfrm>
          <a:custGeom>
            <a:avLst/>
            <a:gdLst>
              <a:gd name="T0" fmla="*/ 0 w 1384"/>
              <a:gd name="T1" fmla="*/ 2147483646 h 703"/>
              <a:gd name="T2" fmla="*/ 2147483646 w 1384"/>
              <a:gd name="T3" fmla="*/ 2147483646 h 703"/>
              <a:gd name="T4" fmla="*/ 2147483646 w 1384"/>
              <a:gd name="T5" fmla="*/ 2147483646 h 703"/>
              <a:gd name="T6" fmla="*/ 2147483646 w 1384"/>
              <a:gd name="T7" fmla="*/ 2147483646 h 703"/>
              <a:gd name="T8" fmla="*/ 2147483646 w 1384"/>
              <a:gd name="T9" fmla="*/ 2147483646 h 703"/>
              <a:gd name="T10" fmla="*/ 2147483646 w 1384"/>
              <a:gd name="T11" fmla="*/ 0 h 7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84"/>
              <a:gd name="T19" fmla="*/ 0 h 703"/>
              <a:gd name="T20" fmla="*/ 1384 w 1384"/>
              <a:gd name="T21" fmla="*/ 703 h 7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84" h="703">
                <a:moveTo>
                  <a:pt x="0" y="703"/>
                </a:moveTo>
                <a:cubicBezTo>
                  <a:pt x="113" y="686"/>
                  <a:pt x="227" y="670"/>
                  <a:pt x="318" y="613"/>
                </a:cubicBezTo>
                <a:cubicBezTo>
                  <a:pt x="409" y="556"/>
                  <a:pt x="469" y="416"/>
                  <a:pt x="545" y="363"/>
                </a:cubicBezTo>
                <a:cubicBezTo>
                  <a:pt x="621" y="310"/>
                  <a:pt x="665" y="310"/>
                  <a:pt x="771" y="295"/>
                </a:cubicBezTo>
                <a:cubicBezTo>
                  <a:pt x="877" y="280"/>
                  <a:pt x="1078" y="322"/>
                  <a:pt x="1180" y="273"/>
                </a:cubicBezTo>
                <a:cubicBezTo>
                  <a:pt x="1282" y="224"/>
                  <a:pt x="1333" y="112"/>
                  <a:pt x="1384" y="0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56" name="Text Box 46">
            <a:extLst>
              <a:ext uri="{FF2B5EF4-FFF2-40B4-BE49-F238E27FC236}">
                <a16:creationId xmlns:a16="http://schemas.microsoft.com/office/drawing/2014/main" id="{3EBF6638-BE2E-C350-8D58-E6DFCBF51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827588"/>
            <a:ext cx="90614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An attacker may end connection at any time by sending a TCP FIN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Part of the intended information exchange is lost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0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How can Server and Client distinguish this from a transaction that “normally” completes?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450" name="Rectangle 2">
            <a:extLst>
              <a:ext uri="{FF2B5EF4-FFF2-40B4-BE49-F238E27FC236}">
                <a16:creationId xmlns:a16="http://schemas.microsoft.com/office/drawing/2014/main" id="{D7BCBA5F-1FCC-AA6F-2350-ECE5355F88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Solution: Close Notify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00B5177-6114-1289-33B4-C7190C8268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9925" y="3046413"/>
            <a:ext cx="7696200" cy="23050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/>
              <a:t>Issued by any party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400"/>
              <a:t>Close Notify = Alert (warning level)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400"/>
              <a:t>Half-close semantics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/>
              <a:t>Informs that no more data will be transmitted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/>
              <a:t>A connection that ends abruptly without a Close Notify may be a truncation attack</a:t>
            </a:r>
          </a:p>
        </p:txBody>
      </p:sp>
      <p:grpSp>
        <p:nvGrpSpPr>
          <p:cNvPr id="14340" name="Group 4">
            <a:extLst>
              <a:ext uri="{FF2B5EF4-FFF2-40B4-BE49-F238E27FC236}">
                <a16:creationId xmlns:a16="http://schemas.microsoft.com/office/drawing/2014/main" id="{613206CF-3F3C-863F-4C88-C5A082C08D6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66838" y="1736725"/>
            <a:ext cx="1081087" cy="1116013"/>
            <a:chOff x="1032" y="2710"/>
            <a:chExt cx="1060" cy="1081"/>
          </a:xfrm>
        </p:grpSpPr>
        <p:grpSp>
          <p:nvGrpSpPr>
            <p:cNvPr id="14346" name="Group 5">
              <a:extLst>
                <a:ext uri="{FF2B5EF4-FFF2-40B4-BE49-F238E27FC236}">
                  <a16:creationId xmlns:a16="http://schemas.microsoft.com/office/drawing/2014/main" id="{F2BA7A1A-1E77-DF0C-3C0F-B50F13BCC1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72" y="2710"/>
              <a:ext cx="820" cy="874"/>
              <a:chOff x="1272" y="2710"/>
              <a:chExt cx="820" cy="874"/>
            </a:xfrm>
          </p:grpSpPr>
          <p:sp>
            <p:nvSpPr>
              <p:cNvPr id="14356" name="Freeform 6">
                <a:extLst>
                  <a:ext uri="{FF2B5EF4-FFF2-40B4-BE49-F238E27FC236}">
                    <a16:creationId xmlns:a16="http://schemas.microsoft.com/office/drawing/2014/main" id="{668658DD-975F-C291-CD9C-DC0289A700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09" y="3272"/>
                <a:ext cx="283" cy="312"/>
              </a:xfrm>
              <a:custGeom>
                <a:avLst/>
                <a:gdLst>
                  <a:gd name="T0" fmla="*/ 0 w 283"/>
                  <a:gd name="T1" fmla="*/ 311 h 312"/>
                  <a:gd name="T2" fmla="*/ 0 w 283"/>
                  <a:gd name="T3" fmla="*/ 168 h 312"/>
                  <a:gd name="T4" fmla="*/ 282 w 283"/>
                  <a:gd name="T5" fmla="*/ 0 h 312"/>
                  <a:gd name="T6" fmla="*/ 282 w 283"/>
                  <a:gd name="T7" fmla="*/ 141 h 312"/>
                  <a:gd name="T8" fmla="*/ 0 w 283"/>
                  <a:gd name="T9" fmla="*/ 311 h 3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3"/>
                  <a:gd name="T16" fmla="*/ 0 h 312"/>
                  <a:gd name="T17" fmla="*/ 283 w 283"/>
                  <a:gd name="T18" fmla="*/ 312 h 3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3" h="312">
                    <a:moveTo>
                      <a:pt x="0" y="311"/>
                    </a:moveTo>
                    <a:lnTo>
                      <a:pt x="0" y="168"/>
                    </a:lnTo>
                    <a:lnTo>
                      <a:pt x="282" y="0"/>
                    </a:lnTo>
                    <a:lnTo>
                      <a:pt x="282" y="141"/>
                    </a:lnTo>
                    <a:lnTo>
                      <a:pt x="0" y="311"/>
                    </a:lnTo>
                  </a:path>
                </a:pathLst>
              </a:custGeom>
              <a:solidFill>
                <a:srgbClr val="DADADA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57" name="Freeform 7">
                <a:extLst>
                  <a:ext uri="{FF2B5EF4-FFF2-40B4-BE49-F238E27FC236}">
                    <a16:creationId xmlns:a16="http://schemas.microsoft.com/office/drawing/2014/main" id="{738925E1-EEA9-6E7E-B92B-E7A88F2765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72" y="3159"/>
                <a:ext cx="820" cy="282"/>
              </a:xfrm>
              <a:custGeom>
                <a:avLst/>
                <a:gdLst>
                  <a:gd name="T0" fmla="*/ 537 w 820"/>
                  <a:gd name="T1" fmla="*/ 281 h 282"/>
                  <a:gd name="T2" fmla="*/ 0 w 820"/>
                  <a:gd name="T3" fmla="*/ 141 h 282"/>
                  <a:gd name="T4" fmla="*/ 297 w 820"/>
                  <a:gd name="T5" fmla="*/ 0 h 282"/>
                  <a:gd name="T6" fmla="*/ 819 w 820"/>
                  <a:gd name="T7" fmla="*/ 113 h 282"/>
                  <a:gd name="T8" fmla="*/ 537 w 820"/>
                  <a:gd name="T9" fmla="*/ 281 h 2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20"/>
                  <a:gd name="T16" fmla="*/ 0 h 282"/>
                  <a:gd name="T17" fmla="*/ 820 w 820"/>
                  <a:gd name="T18" fmla="*/ 282 h 28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20" h="282">
                    <a:moveTo>
                      <a:pt x="537" y="281"/>
                    </a:moveTo>
                    <a:lnTo>
                      <a:pt x="0" y="141"/>
                    </a:lnTo>
                    <a:lnTo>
                      <a:pt x="297" y="0"/>
                    </a:lnTo>
                    <a:lnTo>
                      <a:pt x="819" y="113"/>
                    </a:lnTo>
                    <a:lnTo>
                      <a:pt x="537" y="281"/>
                    </a:lnTo>
                  </a:path>
                </a:pathLst>
              </a:custGeom>
              <a:solidFill>
                <a:srgbClr val="DADADA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58" name="Freeform 8">
                <a:extLst>
                  <a:ext uri="{FF2B5EF4-FFF2-40B4-BE49-F238E27FC236}">
                    <a16:creationId xmlns:a16="http://schemas.microsoft.com/office/drawing/2014/main" id="{9B890E05-3C5D-CAD0-AF1C-C8CD53FAA7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72" y="3301"/>
                <a:ext cx="538" cy="283"/>
              </a:xfrm>
              <a:custGeom>
                <a:avLst/>
                <a:gdLst>
                  <a:gd name="T0" fmla="*/ 0 w 538"/>
                  <a:gd name="T1" fmla="*/ 0 h 283"/>
                  <a:gd name="T2" fmla="*/ 0 w 538"/>
                  <a:gd name="T3" fmla="*/ 147 h 283"/>
                  <a:gd name="T4" fmla="*/ 537 w 538"/>
                  <a:gd name="T5" fmla="*/ 282 h 283"/>
                  <a:gd name="T6" fmla="*/ 537 w 538"/>
                  <a:gd name="T7" fmla="*/ 142 h 283"/>
                  <a:gd name="T8" fmla="*/ 0 w 538"/>
                  <a:gd name="T9" fmla="*/ 0 h 2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38"/>
                  <a:gd name="T16" fmla="*/ 0 h 283"/>
                  <a:gd name="T17" fmla="*/ 538 w 538"/>
                  <a:gd name="T18" fmla="*/ 283 h 2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38" h="283">
                    <a:moveTo>
                      <a:pt x="0" y="0"/>
                    </a:moveTo>
                    <a:lnTo>
                      <a:pt x="0" y="147"/>
                    </a:lnTo>
                    <a:lnTo>
                      <a:pt x="537" y="282"/>
                    </a:lnTo>
                    <a:lnTo>
                      <a:pt x="537" y="14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59" name="Freeform 9">
                <a:extLst>
                  <a:ext uri="{FF2B5EF4-FFF2-40B4-BE49-F238E27FC236}">
                    <a16:creationId xmlns:a16="http://schemas.microsoft.com/office/drawing/2014/main" id="{9337472C-79F0-E7DE-D45E-00450BF9EB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307" y="3351"/>
                <a:ext cx="108" cy="66"/>
              </a:xfrm>
              <a:custGeom>
                <a:avLst/>
                <a:gdLst>
                  <a:gd name="T0" fmla="*/ 107 w 108"/>
                  <a:gd name="T1" fmla="*/ 65 h 66"/>
                  <a:gd name="T2" fmla="*/ 0 w 108"/>
                  <a:gd name="T3" fmla="*/ 36 h 66"/>
                  <a:gd name="T4" fmla="*/ 0 w 108"/>
                  <a:gd name="T5" fmla="*/ 0 h 66"/>
                  <a:gd name="T6" fmla="*/ 107 w 108"/>
                  <a:gd name="T7" fmla="*/ 30 h 66"/>
                  <a:gd name="T8" fmla="*/ 107 w 108"/>
                  <a:gd name="T9" fmla="*/ 65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8"/>
                  <a:gd name="T16" fmla="*/ 0 h 66"/>
                  <a:gd name="T17" fmla="*/ 108 w 108"/>
                  <a:gd name="T18" fmla="*/ 66 h 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8" h="66">
                    <a:moveTo>
                      <a:pt x="107" y="65"/>
                    </a:moveTo>
                    <a:lnTo>
                      <a:pt x="0" y="36"/>
                    </a:lnTo>
                    <a:lnTo>
                      <a:pt x="0" y="0"/>
                    </a:lnTo>
                    <a:lnTo>
                      <a:pt x="107" y="30"/>
                    </a:lnTo>
                    <a:lnTo>
                      <a:pt x="107" y="65"/>
                    </a:lnTo>
                  </a:path>
                </a:pathLst>
              </a:custGeom>
              <a:solidFill>
                <a:srgbClr val="CECECE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60" name="Freeform 10">
                <a:extLst>
                  <a:ext uri="{FF2B5EF4-FFF2-40B4-BE49-F238E27FC236}">
                    <a16:creationId xmlns:a16="http://schemas.microsoft.com/office/drawing/2014/main" id="{00EA783D-CAC1-CFCA-2F90-87044F0D55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53" y="3405"/>
                <a:ext cx="212" cy="140"/>
              </a:xfrm>
              <a:custGeom>
                <a:avLst/>
                <a:gdLst>
                  <a:gd name="T0" fmla="*/ 0 w 212"/>
                  <a:gd name="T1" fmla="*/ 0 h 140"/>
                  <a:gd name="T2" fmla="*/ 211 w 212"/>
                  <a:gd name="T3" fmla="*/ 56 h 140"/>
                  <a:gd name="T4" fmla="*/ 211 w 212"/>
                  <a:gd name="T5" fmla="*/ 139 h 140"/>
                  <a:gd name="T6" fmla="*/ 0 w 212"/>
                  <a:gd name="T7" fmla="*/ 87 h 140"/>
                  <a:gd name="T8" fmla="*/ 0 w 212"/>
                  <a:gd name="T9" fmla="*/ 0 h 1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2"/>
                  <a:gd name="T16" fmla="*/ 0 h 140"/>
                  <a:gd name="T17" fmla="*/ 212 w 212"/>
                  <a:gd name="T18" fmla="*/ 140 h 1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2" h="140">
                    <a:moveTo>
                      <a:pt x="0" y="0"/>
                    </a:moveTo>
                    <a:lnTo>
                      <a:pt x="211" y="56"/>
                    </a:lnTo>
                    <a:lnTo>
                      <a:pt x="211" y="139"/>
                    </a:lnTo>
                    <a:lnTo>
                      <a:pt x="0" y="87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61" name="Line 11">
                <a:extLst>
                  <a:ext uri="{FF2B5EF4-FFF2-40B4-BE49-F238E27FC236}">
                    <a16:creationId xmlns:a16="http://schemas.microsoft.com/office/drawing/2014/main" id="{FC7B5D22-D6D5-1F84-7B14-1164108C86C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55" y="3451"/>
                <a:ext cx="205" cy="5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14362" name="Freeform 12">
                <a:extLst>
                  <a:ext uri="{FF2B5EF4-FFF2-40B4-BE49-F238E27FC236}">
                    <a16:creationId xmlns:a16="http://schemas.microsoft.com/office/drawing/2014/main" id="{3EB167A0-3B09-A95B-0994-3F5C4438E4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614" y="3483"/>
                <a:ext cx="76" cy="34"/>
              </a:xfrm>
              <a:custGeom>
                <a:avLst/>
                <a:gdLst>
                  <a:gd name="T0" fmla="*/ 0 w 76"/>
                  <a:gd name="T1" fmla="*/ 0 h 34"/>
                  <a:gd name="T2" fmla="*/ 0 w 76"/>
                  <a:gd name="T3" fmla="*/ 10 h 34"/>
                  <a:gd name="T4" fmla="*/ 75 w 76"/>
                  <a:gd name="T5" fmla="*/ 33 h 34"/>
                  <a:gd name="T6" fmla="*/ 75 w 76"/>
                  <a:gd name="T7" fmla="*/ 19 h 34"/>
                  <a:gd name="T8" fmla="*/ 0 w 76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"/>
                  <a:gd name="T16" fmla="*/ 0 h 34"/>
                  <a:gd name="T17" fmla="*/ 76 w 76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" h="34">
                    <a:moveTo>
                      <a:pt x="0" y="0"/>
                    </a:moveTo>
                    <a:lnTo>
                      <a:pt x="0" y="10"/>
                    </a:lnTo>
                    <a:lnTo>
                      <a:pt x="75" y="33"/>
                    </a:lnTo>
                    <a:lnTo>
                      <a:pt x="75" y="19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63" name="Freeform 13">
                <a:extLst>
                  <a:ext uri="{FF2B5EF4-FFF2-40B4-BE49-F238E27FC236}">
                    <a16:creationId xmlns:a16="http://schemas.microsoft.com/office/drawing/2014/main" id="{1DF6F59D-5075-0F7A-4572-7AEAE7F83D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711" y="3508"/>
                <a:ext cx="24" cy="22"/>
              </a:xfrm>
              <a:custGeom>
                <a:avLst/>
                <a:gdLst>
                  <a:gd name="T0" fmla="*/ 0 w 24"/>
                  <a:gd name="T1" fmla="*/ 0 h 22"/>
                  <a:gd name="T2" fmla="*/ 0 w 24"/>
                  <a:gd name="T3" fmla="*/ 10 h 22"/>
                  <a:gd name="T4" fmla="*/ 23 w 24"/>
                  <a:gd name="T5" fmla="*/ 21 h 22"/>
                  <a:gd name="T6" fmla="*/ 23 w 24"/>
                  <a:gd name="T7" fmla="*/ 8 h 22"/>
                  <a:gd name="T8" fmla="*/ 0 w 24"/>
                  <a:gd name="T9" fmla="*/ 0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22"/>
                  <a:gd name="T17" fmla="*/ 24 w 24"/>
                  <a:gd name="T18" fmla="*/ 22 h 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22">
                    <a:moveTo>
                      <a:pt x="0" y="0"/>
                    </a:moveTo>
                    <a:lnTo>
                      <a:pt x="0" y="10"/>
                    </a:lnTo>
                    <a:lnTo>
                      <a:pt x="23" y="21"/>
                    </a:lnTo>
                    <a:lnTo>
                      <a:pt x="23" y="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64" name="Freeform 14">
                <a:extLst>
                  <a:ext uri="{FF2B5EF4-FFF2-40B4-BE49-F238E27FC236}">
                    <a16:creationId xmlns:a16="http://schemas.microsoft.com/office/drawing/2014/main" id="{375B1BA9-7FA6-4EC2-D5D6-97EDF19E61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614" y="3437"/>
                <a:ext cx="76" cy="32"/>
              </a:xfrm>
              <a:custGeom>
                <a:avLst/>
                <a:gdLst>
                  <a:gd name="T0" fmla="*/ 0 w 76"/>
                  <a:gd name="T1" fmla="*/ 0 h 32"/>
                  <a:gd name="T2" fmla="*/ 0 w 76"/>
                  <a:gd name="T3" fmla="*/ 12 h 32"/>
                  <a:gd name="T4" fmla="*/ 75 w 76"/>
                  <a:gd name="T5" fmla="*/ 31 h 32"/>
                  <a:gd name="T6" fmla="*/ 75 w 76"/>
                  <a:gd name="T7" fmla="*/ 21 h 32"/>
                  <a:gd name="T8" fmla="*/ 0 w 76"/>
                  <a:gd name="T9" fmla="*/ 0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"/>
                  <a:gd name="T16" fmla="*/ 0 h 32"/>
                  <a:gd name="T17" fmla="*/ 76 w 76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" h="32">
                    <a:moveTo>
                      <a:pt x="0" y="0"/>
                    </a:moveTo>
                    <a:lnTo>
                      <a:pt x="0" y="12"/>
                    </a:lnTo>
                    <a:lnTo>
                      <a:pt x="75" y="31"/>
                    </a:lnTo>
                    <a:lnTo>
                      <a:pt x="75" y="2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65" name="Freeform 15">
                <a:extLst>
                  <a:ext uri="{FF2B5EF4-FFF2-40B4-BE49-F238E27FC236}">
                    <a16:creationId xmlns:a16="http://schemas.microsoft.com/office/drawing/2014/main" id="{DF2973B9-0D9F-1B69-CD2F-9D2FC0BD91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711" y="3463"/>
                <a:ext cx="24" cy="20"/>
              </a:xfrm>
              <a:custGeom>
                <a:avLst/>
                <a:gdLst>
                  <a:gd name="T0" fmla="*/ 0 w 24"/>
                  <a:gd name="T1" fmla="*/ 0 h 20"/>
                  <a:gd name="T2" fmla="*/ 0 w 24"/>
                  <a:gd name="T3" fmla="*/ 10 h 20"/>
                  <a:gd name="T4" fmla="*/ 23 w 24"/>
                  <a:gd name="T5" fmla="*/ 19 h 20"/>
                  <a:gd name="T6" fmla="*/ 23 w 24"/>
                  <a:gd name="T7" fmla="*/ 8 h 20"/>
                  <a:gd name="T8" fmla="*/ 0 w 24"/>
                  <a:gd name="T9" fmla="*/ 0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20"/>
                  <a:gd name="T17" fmla="*/ 24 w 24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20">
                    <a:moveTo>
                      <a:pt x="0" y="0"/>
                    </a:moveTo>
                    <a:lnTo>
                      <a:pt x="0" y="10"/>
                    </a:lnTo>
                    <a:lnTo>
                      <a:pt x="23" y="19"/>
                    </a:lnTo>
                    <a:lnTo>
                      <a:pt x="23" y="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66" name="Freeform 16">
                <a:extLst>
                  <a:ext uri="{FF2B5EF4-FFF2-40B4-BE49-F238E27FC236}">
                    <a16:creationId xmlns:a16="http://schemas.microsoft.com/office/drawing/2014/main" id="{D5DA593C-A0C6-7C19-36CD-77FD14239F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65" y="2710"/>
                <a:ext cx="495" cy="482"/>
              </a:xfrm>
              <a:custGeom>
                <a:avLst/>
                <a:gdLst>
                  <a:gd name="T0" fmla="*/ 406 w 495"/>
                  <a:gd name="T1" fmla="*/ 481 h 482"/>
                  <a:gd name="T2" fmla="*/ 494 w 495"/>
                  <a:gd name="T3" fmla="*/ 374 h 482"/>
                  <a:gd name="T4" fmla="*/ 494 w 495"/>
                  <a:gd name="T5" fmla="*/ 83 h 482"/>
                  <a:gd name="T6" fmla="*/ 128 w 495"/>
                  <a:gd name="T7" fmla="*/ 0 h 482"/>
                  <a:gd name="T8" fmla="*/ 0 w 495"/>
                  <a:gd name="T9" fmla="*/ 35 h 482"/>
                  <a:gd name="T10" fmla="*/ 406 w 495"/>
                  <a:gd name="T11" fmla="*/ 481 h 48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95"/>
                  <a:gd name="T19" fmla="*/ 0 h 482"/>
                  <a:gd name="T20" fmla="*/ 495 w 495"/>
                  <a:gd name="T21" fmla="*/ 482 h 48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95" h="482">
                    <a:moveTo>
                      <a:pt x="406" y="481"/>
                    </a:moveTo>
                    <a:lnTo>
                      <a:pt x="494" y="374"/>
                    </a:lnTo>
                    <a:lnTo>
                      <a:pt x="494" y="83"/>
                    </a:lnTo>
                    <a:lnTo>
                      <a:pt x="128" y="0"/>
                    </a:lnTo>
                    <a:lnTo>
                      <a:pt x="0" y="35"/>
                    </a:lnTo>
                    <a:lnTo>
                      <a:pt x="406" y="481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67" name="Freeform 17">
                <a:extLst>
                  <a:ext uri="{FF2B5EF4-FFF2-40B4-BE49-F238E27FC236}">
                    <a16:creationId xmlns:a16="http://schemas.microsoft.com/office/drawing/2014/main" id="{13983934-5979-977A-A30A-74A9E47B86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65" y="2710"/>
                <a:ext cx="495" cy="482"/>
              </a:xfrm>
              <a:custGeom>
                <a:avLst/>
                <a:gdLst>
                  <a:gd name="T0" fmla="*/ 406 w 495"/>
                  <a:gd name="T1" fmla="*/ 481 h 482"/>
                  <a:gd name="T2" fmla="*/ 494 w 495"/>
                  <a:gd name="T3" fmla="*/ 374 h 482"/>
                  <a:gd name="T4" fmla="*/ 494 w 495"/>
                  <a:gd name="T5" fmla="*/ 83 h 482"/>
                  <a:gd name="T6" fmla="*/ 128 w 495"/>
                  <a:gd name="T7" fmla="*/ 0 h 482"/>
                  <a:gd name="T8" fmla="*/ 0 w 495"/>
                  <a:gd name="T9" fmla="*/ 35 h 4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5"/>
                  <a:gd name="T16" fmla="*/ 0 h 482"/>
                  <a:gd name="T17" fmla="*/ 495 w 495"/>
                  <a:gd name="T18" fmla="*/ 482 h 48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5" h="482">
                    <a:moveTo>
                      <a:pt x="406" y="481"/>
                    </a:moveTo>
                    <a:lnTo>
                      <a:pt x="494" y="374"/>
                    </a:lnTo>
                    <a:lnTo>
                      <a:pt x="494" y="83"/>
                    </a:lnTo>
                    <a:lnTo>
                      <a:pt x="128" y="0"/>
                    </a:lnTo>
                    <a:lnTo>
                      <a:pt x="0" y="35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68" name="Freeform 18">
                <a:extLst>
                  <a:ext uri="{FF2B5EF4-FFF2-40B4-BE49-F238E27FC236}">
                    <a16:creationId xmlns:a16="http://schemas.microsoft.com/office/drawing/2014/main" id="{479B6E0B-3A8B-6A2F-8B54-B35EF1CB28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08" y="2835"/>
                <a:ext cx="161" cy="531"/>
              </a:xfrm>
              <a:custGeom>
                <a:avLst/>
                <a:gdLst>
                  <a:gd name="T0" fmla="*/ 0 w 161"/>
                  <a:gd name="T1" fmla="*/ 530 h 531"/>
                  <a:gd name="T2" fmla="*/ 0 w 161"/>
                  <a:gd name="T3" fmla="*/ 85 h 531"/>
                  <a:gd name="T4" fmla="*/ 160 w 161"/>
                  <a:gd name="T5" fmla="*/ 0 h 531"/>
                  <a:gd name="T6" fmla="*/ 160 w 161"/>
                  <a:gd name="T7" fmla="*/ 427 h 531"/>
                  <a:gd name="T8" fmla="*/ 0 w 161"/>
                  <a:gd name="T9" fmla="*/ 530 h 5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1"/>
                  <a:gd name="T16" fmla="*/ 0 h 531"/>
                  <a:gd name="T17" fmla="*/ 161 w 161"/>
                  <a:gd name="T18" fmla="*/ 531 h 5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1" h="531">
                    <a:moveTo>
                      <a:pt x="0" y="530"/>
                    </a:moveTo>
                    <a:lnTo>
                      <a:pt x="0" y="85"/>
                    </a:lnTo>
                    <a:lnTo>
                      <a:pt x="160" y="0"/>
                    </a:lnTo>
                    <a:lnTo>
                      <a:pt x="160" y="427"/>
                    </a:lnTo>
                    <a:lnTo>
                      <a:pt x="0" y="530"/>
                    </a:lnTo>
                  </a:path>
                </a:pathLst>
              </a:custGeom>
              <a:solidFill>
                <a:srgbClr val="DADADA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69" name="Freeform 19">
                <a:extLst>
                  <a:ext uri="{FF2B5EF4-FFF2-40B4-BE49-F238E27FC236}">
                    <a16:creationId xmlns:a16="http://schemas.microsoft.com/office/drawing/2014/main" id="{A0572687-E8E0-089F-D6E3-7AE35AA03E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303" y="2725"/>
                <a:ext cx="666" cy="198"/>
              </a:xfrm>
              <a:custGeom>
                <a:avLst/>
                <a:gdLst>
                  <a:gd name="T0" fmla="*/ 504 w 666"/>
                  <a:gd name="T1" fmla="*/ 197 h 198"/>
                  <a:gd name="T2" fmla="*/ 0 w 666"/>
                  <a:gd name="T3" fmla="*/ 76 h 198"/>
                  <a:gd name="T4" fmla="*/ 186 w 666"/>
                  <a:gd name="T5" fmla="*/ 0 h 198"/>
                  <a:gd name="T6" fmla="*/ 665 w 666"/>
                  <a:gd name="T7" fmla="*/ 110 h 198"/>
                  <a:gd name="T8" fmla="*/ 504 w 666"/>
                  <a:gd name="T9" fmla="*/ 197 h 1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6"/>
                  <a:gd name="T16" fmla="*/ 0 h 198"/>
                  <a:gd name="T17" fmla="*/ 666 w 666"/>
                  <a:gd name="T18" fmla="*/ 198 h 1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6" h="198">
                    <a:moveTo>
                      <a:pt x="504" y="197"/>
                    </a:moveTo>
                    <a:lnTo>
                      <a:pt x="0" y="76"/>
                    </a:lnTo>
                    <a:lnTo>
                      <a:pt x="186" y="0"/>
                    </a:lnTo>
                    <a:lnTo>
                      <a:pt x="665" y="110"/>
                    </a:lnTo>
                    <a:lnTo>
                      <a:pt x="504" y="197"/>
                    </a:lnTo>
                  </a:path>
                </a:pathLst>
              </a:custGeom>
              <a:solidFill>
                <a:srgbClr val="FFF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70" name="Freeform 20">
                <a:extLst>
                  <a:ext uri="{FF2B5EF4-FFF2-40B4-BE49-F238E27FC236}">
                    <a16:creationId xmlns:a16="http://schemas.microsoft.com/office/drawing/2014/main" id="{3BAD8041-A132-4703-5D61-CEDFB40479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402" y="3261"/>
                <a:ext cx="354" cy="109"/>
              </a:xfrm>
              <a:custGeom>
                <a:avLst/>
                <a:gdLst>
                  <a:gd name="T0" fmla="*/ 0 w 354"/>
                  <a:gd name="T1" fmla="*/ 0 h 109"/>
                  <a:gd name="T2" fmla="*/ 0 w 354"/>
                  <a:gd name="T3" fmla="*/ 19 h 109"/>
                  <a:gd name="T4" fmla="*/ 323 w 354"/>
                  <a:gd name="T5" fmla="*/ 108 h 109"/>
                  <a:gd name="T6" fmla="*/ 353 w 354"/>
                  <a:gd name="T7" fmla="*/ 94 h 109"/>
                  <a:gd name="T8" fmla="*/ 0 w 354"/>
                  <a:gd name="T9" fmla="*/ 0 h 1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109"/>
                  <a:gd name="T17" fmla="*/ 354 w 354"/>
                  <a:gd name="T18" fmla="*/ 109 h 10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109">
                    <a:moveTo>
                      <a:pt x="0" y="0"/>
                    </a:moveTo>
                    <a:lnTo>
                      <a:pt x="0" y="19"/>
                    </a:lnTo>
                    <a:lnTo>
                      <a:pt x="323" y="108"/>
                    </a:lnTo>
                    <a:lnTo>
                      <a:pt x="353" y="9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EC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71" name="Freeform 21">
                <a:extLst>
                  <a:ext uri="{FF2B5EF4-FFF2-40B4-BE49-F238E27FC236}">
                    <a16:creationId xmlns:a16="http://schemas.microsoft.com/office/drawing/2014/main" id="{07B81282-F5D4-514B-53CE-890AA51A3D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402" y="3261"/>
                <a:ext cx="354" cy="109"/>
              </a:xfrm>
              <a:custGeom>
                <a:avLst/>
                <a:gdLst>
                  <a:gd name="T0" fmla="*/ 0 w 354"/>
                  <a:gd name="T1" fmla="*/ 0 h 109"/>
                  <a:gd name="T2" fmla="*/ 0 w 354"/>
                  <a:gd name="T3" fmla="*/ 19 h 109"/>
                  <a:gd name="T4" fmla="*/ 323 w 354"/>
                  <a:gd name="T5" fmla="*/ 108 h 109"/>
                  <a:gd name="T6" fmla="*/ 353 w 354"/>
                  <a:gd name="T7" fmla="*/ 94 h 10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4"/>
                  <a:gd name="T13" fmla="*/ 0 h 109"/>
                  <a:gd name="T14" fmla="*/ 354 w 354"/>
                  <a:gd name="T15" fmla="*/ 109 h 10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4" h="109">
                    <a:moveTo>
                      <a:pt x="0" y="0"/>
                    </a:moveTo>
                    <a:lnTo>
                      <a:pt x="0" y="19"/>
                    </a:lnTo>
                    <a:lnTo>
                      <a:pt x="323" y="108"/>
                    </a:lnTo>
                    <a:lnTo>
                      <a:pt x="353" y="94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72" name="Freeform 22">
                <a:extLst>
                  <a:ext uri="{FF2B5EF4-FFF2-40B4-BE49-F238E27FC236}">
                    <a16:creationId xmlns:a16="http://schemas.microsoft.com/office/drawing/2014/main" id="{3BEEAED6-F125-84E9-73CB-5F51EC07F4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303" y="2800"/>
                <a:ext cx="506" cy="566"/>
              </a:xfrm>
              <a:custGeom>
                <a:avLst/>
                <a:gdLst>
                  <a:gd name="T0" fmla="*/ 505 w 506"/>
                  <a:gd name="T1" fmla="*/ 565 h 566"/>
                  <a:gd name="T2" fmla="*/ 505 w 506"/>
                  <a:gd name="T3" fmla="*/ 120 h 566"/>
                  <a:gd name="T4" fmla="*/ 0 w 506"/>
                  <a:gd name="T5" fmla="*/ 0 h 566"/>
                  <a:gd name="T6" fmla="*/ 0 w 506"/>
                  <a:gd name="T7" fmla="*/ 435 h 566"/>
                  <a:gd name="T8" fmla="*/ 505 w 506"/>
                  <a:gd name="T9" fmla="*/ 565 h 5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06"/>
                  <a:gd name="T16" fmla="*/ 0 h 566"/>
                  <a:gd name="T17" fmla="*/ 506 w 506"/>
                  <a:gd name="T18" fmla="*/ 566 h 5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06" h="566">
                    <a:moveTo>
                      <a:pt x="505" y="565"/>
                    </a:moveTo>
                    <a:lnTo>
                      <a:pt x="505" y="120"/>
                    </a:lnTo>
                    <a:lnTo>
                      <a:pt x="0" y="0"/>
                    </a:lnTo>
                    <a:lnTo>
                      <a:pt x="0" y="435"/>
                    </a:lnTo>
                    <a:lnTo>
                      <a:pt x="505" y="565"/>
                    </a:lnTo>
                  </a:path>
                </a:pathLst>
              </a:custGeom>
              <a:solidFill>
                <a:srgbClr val="FFF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73" name="Freeform 23">
                <a:extLst>
                  <a:ext uri="{FF2B5EF4-FFF2-40B4-BE49-F238E27FC236}">
                    <a16:creationId xmlns:a16="http://schemas.microsoft.com/office/drawing/2014/main" id="{E8E43998-5C1F-34B7-9FFC-8260F55C65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367" y="2865"/>
                <a:ext cx="368" cy="415"/>
              </a:xfrm>
              <a:custGeom>
                <a:avLst/>
                <a:gdLst>
                  <a:gd name="T0" fmla="*/ 367 w 368"/>
                  <a:gd name="T1" fmla="*/ 414 h 415"/>
                  <a:gd name="T2" fmla="*/ 367 w 368"/>
                  <a:gd name="T3" fmla="*/ 88 h 415"/>
                  <a:gd name="T4" fmla="*/ 0 w 368"/>
                  <a:gd name="T5" fmla="*/ 0 h 415"/>
                  <a:gd name="T6" fmla="*/ 0 w 368"/>
                  <a:gd name="T7" fmla="*/ 318 h 415"/>
                  <a:gd name="T8" fmla="*/ 367 w 368"/>
                  <a:gd name="T9" fmla="*/ 414 h 4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8"/>
                  <a:gd name="T16" fmla="*/ 0 h 415"/>
                  <a:gd name="T17" fmla="*/ 368 w 368"/>
                  <a:gd name="T18" fmla="*/ 415 h 4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8" h="415">
                    <a:moveTo>
                      <a:pt x="367" y="414"/>
                    </a:moveTo>
                    <a:lnTo>
                      <a:pt x="367" y="88"/>
                    </a:lnTo>
                    <a:lnTo>
                      <a:pt x="0" y="0"/>
                    </a:lnTo>
                    <a:lnTo>
                      <a:pt x="0" y="318"/>
                    </a:lnTo>
                    <a:lnTo>
                      <a:pt x="367" y="414"/>
                    </a:lnTo>
                  </a:path>
                </a:pathLst>
              </a:custGeom>
              <a:solidFill>
                <a:srgbClr val="CECECE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74" name="Freeform 24">
                <a:extLst>
                  <a:ext uri="{FF2B5EF4-FFF2-40B4-BE49-F238E27FC236}">
                    <a16:creationId xmlns:a16="http://schemas.microsoft.com/office/drawing/2014/main" id="{2E9F1B0D-6319-0254-5301-7DC8D8AF55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396" y="2894"/>
                <a:ext cx="326" cy="350"/>
              </a:xfrm>
              <a:custGeom>
                <a:avLst/>
                <a:gdLst>
                  <a:gd name="T0" fmla="*/ 325 w 326"/>
                  <a:gd name="T1" fmla="*/ 349 h 350"/>
                  <a:gd name="T2" fmla="*/ 325 w 326"/>
                  <a:gd name="T3" fmla="*/ 74 h 350"/>
                  <a:gd name="T4" fmla="*/ 0 w 326"/>
                  <a:gd name="T5" fmla="*/ 0 h 350"/>
                  <a:gd name="T6" fmla="*/ 0 w 326"/>
                  <a:gd name="T7" fmla="*/ 269 h 350"/>
                  <a:gd name="T8" fmla="*/ 325 w 326"/>
                  <a:gd name="T9" fmla="*/ 349 h 3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6"/>
                  <a:gd name="T16" fmla="*/ 0 h 350"/>
                  <a:gd name="T17" fmla="*/ 326 w 326"/>
                  <a:gd name="T18" fmla="*/ 350 h 3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6" h="350">
                    <a:moveTo>
                      <a:pt x="325" y="349"/>
                    </a:moveTo>
                    <a:lnTo>
                      <a:pt x="325" y="74"/>
                    </a:lnTo>
                    <a:lnTo>
                      <a:pt x="0" y="0"/>
                    </a:lnTo>
                    <a:lnTo>
                      <a:pt x="0" y="269"/>
                    </a:lnTo>
                    <a:lnTo>
                      <a:pt x="325" y="349"/>
                    </a:lnTo>
                  </a:path>
                </a:pathLst>
              </a:custGeom>
              <a:solidFill>
                <a:srgbClr val="618FFD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75" name="Rectangle 25">
                <a:extLst>
                  <a:ext uri="{FF2B5EF4-FFF2-40B4-BE49-F238E27FC236}">
                    <a16:creationId xmlns:a16="http://schemas.microsoft.com/office/drawing/2014/main" id="{37760C6F-5ADD-1FAB-3995-C487400DA5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441" y="2944"/>
                <a:ext cx="35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anose="020506040505050202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it-IT" altLang="it-IT" sz="1800" b="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4347" name="Group 26">
              <a:extLst>
                <a:ext uri="{FF2B5EF4-FFF2-40B4-BE49-F238E27FC236}">
                  <a16:creationId xmlns:a16="http://schemas.microsoft.com/office/drawing/2014/main" id="{F0B3F2A1-518E-5A36-3064-1A6E14CB54D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2" y="3457"/>
              <a:ext cx="785" cy="334"/>
              <a:chOff x="1032" y="3457"/>
              <a:chExt cx="785" cy="334"/>
            </a:xfrm>
          </p:grpSpPr>
          <p:sp>
            <p:nvSpPr>
              <p:cNvPr id="14348" name="Freeform 27">
                <a:extLst>
                  <a:ext uri="{FF2B5EF4-FFF2-40B4-BE49-F238E27FC236}">
                    <a16:creationId xmlns:a16="http://schemas.microsoft.com/office/drawing/2014/main" id="{A20F5311-D643-6771-F726-A686121DFA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2" y="3586"/>
                <a:ext cx="785" cy="205"/>
              </a:xfrm>
              <a:custGeom>
                <a:avLst/>
                <a:gdLst>
                  <a:gd name="T0" fmla="*/ 0 w 785"/>
                  <a:gd name="T1" fmla="*/ 0 h 205"/>
                  <a:gd name="T2" fmla="*/ 0 w 785"/>
                  <a:gd name="T3" fmla="*/ 23 h 205"/>
                  <a:gd name="T4" fmla="*/ 638 w 785"/>
                  <a:gd name="T5" fmla="*/ 204 h 205"/>
                  <a:gd name="T6" fmla="*/ 784 w 785"/>
                  <a:gd name="T7" fmla="*/ 97 h 205"/>
                  <a:gd name="T8" fmla="*/ 784 w 785"/>
                  <a:gd name="T9" fmla="*/ 29 h 205"/>
                  <a:gd name="T10" fmla="*/ 0 w 785"/>
                  <a:gd name="T11" fmla="*/ 0 h 20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85"/>
                  <a:gd name="T19" fmla="*/ 0 h 205"/>
                  <a:gd name="T20" fmla="*/ 785 w 785"/>
                  <a:gd name="T21" fmla="*/ 205 h 20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85" h="205">
                    <a:moveTo>
                      <a:pt x="0" y="0"/>
                    </a:moveTo>
                    <a:lnTo>
                      <a:pt x="0" y="23"/>
                    </a:lnTo>
                    <a:lnTo>
                      <a:pt x="638" y="204"/>
                    </a:lnTo>
                    <a:lnTo>
                      <a:pt x="784" y="97"/>
                    </a:lnTo>
                    <a:lnTo>
                      <a:pt x="784" y="29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49" name="Freeform 28">
                <a:extLst>
                  <a:ext uri="{FF2B5EF4-FFF2-40B4-BE49-F238E27FC236}">
                    <a16:creationId xmlns:a16="http://schemas.microsoft.com/office/drawing/2014/main" id="{303DBC8B-F808-9B62-852A-BEC3BE9C12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2" y="3586"/>
                <a:ext cx="785" cy="205"/>
              </a:xfrm>
              <a:custGeom>
                <a:avLst/>
                <a:gdLst>
                  <a:gd name="T0" fmla="*/ 0 w 785"/>
                  <a:gd name="T1" fmla="*/ 0 h 205"/>
                  <a:gd name="T2" fmla="*/ 0 w 785"/>
                  <a:gd name="T3" fmla="*/ 23 h 205"/>
                  <a:gd name="T4" fmla="*/ 638 w 785"/>
                  <a:gd name="T5" fmla="*/ 204 h 205"/>
                  <a:gd name="T6" fmla="*/ 784 w 785"/>
                  <a:gd name="T7" fmla="*/ 97 h 205"/>
                  <a:gd name="T8" fmla="*/ 784 w 785"/>
                  <a:gd name="T9" fmla="*/ 29 h 2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5"/>
                  <a:gd name="T16" fmla="*/ 0 h 205"/>
                  <a:gd name="T17" fmla="*/ 785 w 785"/>
                  <a:gd name="T18" fmla="*/ 205 h 2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5" h="205">
                    <a:moveTo>
                      <a:pt x="0" y="0"/>
                    </a:moveTo>
                    <a:lnTo>
                      <a:pt x="0" y="23"/>
                    </a:lnTo>
                    <a:lnTo>
                      <a:pt x="638" y="204"/>
                    </a:lnTo>
                    <a:lnTo>
                      <a:pt x="784" y="97"/>
                    </a:lnTo>
                    <a:lnTo>
                      <a:pt x="784" y="29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50" name="Freeform 29">
                <a:extLst>
                  <a:ext uri="{FF2B5EF4-FFF2-40B4-BE49-F238E27FC236}">
                    <a16:creationId xmlns:a16="http://schemas.microsoft.com/office/drawing/2014/main" id="{39D199C7-C894-A98E-7223-21564877EF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2" y="3457"/>
                <a:ext cx="785" cy="307"/>
              </a:xfrm>
              <a:custGeom>
                <a:avLst/>
                <a:gdLst>
                  <a:gd name="T0" fmla="*/ 173 w 785"/>
                  <a:gd name="T1" fmla="*/ 0 h 307"/>
                  <a:gd name="T2" fmla="*/ 784 w 785"/>
                  <a:gd name="T3" fmla="*/ 156 h 307"/>
                  <a:gd name="T4" fmla="*/ 633 w 785"/>
                  <a:gd name="T5" fmla="*/ 306 h 307"/>
                  <a:gd name="T6" fmla="*/ 0 w 785"/>
                  <a:gd name="T7" fmla="*/ 128 h 307"/>
                  <a:gd name="T8" fmla="*/ 173 w 785"/>
                  <a:gd name="T9" fmla="*/ 0 h 3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5"/>
                  <a:gd name="T16" fmla="*/ 0 h 307"/>
                  <a:gd name="T17" fmla="*/ 785 w 785"/>
                  <a:gd name="T18" fmla="*/ 307 h 30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5" h="307">
                    <a:moveTo>
                      <a:pt x="173" y="0"/>
                    </a:moveTo>
                    <a:lnTo>
                      <a:pt x="784" y="156"/>
                    </a:lnTo>
                    <a:lnTo>
                      <a:pt x="633" y="306"/>
                    </a:lnTo>
                    <a:lnTo>
                      <a:pt x="0" y="128"/>
                    </a:lnTo>
                    <a:lnTo>
                      <a:pt x="173" y="0"/>
                    </a:lnTo>
                  </a:path>
                </a:pathLst>
              </a:custGeom>
              <a:solidFill>
                <a:srgbClr val="FFF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51" name="Freeform 30">
                <a:extLst>
                  <a:ext uri="{FF2B5EF4-FFF2-40B4-BE49-F238E27FC236}">
                    <a16:creationId xmlns:a16="http://schemas.microsoft.com/office/drawing/2014/main" id="{DFA5E9DC-DECF-461C-6AD4-C0B41F354B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194" y="3472"/>
                <a:ext cx="475" cy="139"/>
              </a:xfrm>
              <a:custGeom>
                <a:avLst/>
                <a:gdLst>
                  <a:gd name="T0" fmla="*/ 20 w 475"/>
                  <a:gd name="T1" fmla="*/ 0 h 139"/>
                  <a:gd name="T2" fmla="*/ 0 w 475"/>
                  <a:gd name="T3" fmla="*/ 14 h 139"/>
                  <a:gd name="T4" fmla="*/ 458 w 475"/>
                  <a:gd name="T5" fmla="*/ 138 h 139"/>
                  <a:gd name="T6" fmla="*/ 474 w 475"/>
                  <a:gd name="T7" fmla="*/ 123 h 139"/>
                  <a:gd name="T8" fmla="*/ 20 w 4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75"/>
                  <a:gd name="T16" fmla="*/ 0 h 139"/>
                  <a:gd name="T17" fmla="*/ 475 w 4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75" h="139">
                    <a:moveTo>
                      <a:pt x="20" y="0"/>
                    </a:moveTo>
                    <a:lnTo>
                      <a:pt x="0" y="14"/>
                    </a:lnTo>
                    <a:lnTo>
                      <a:pt x="458" y="138"/>
                    </a:lnTo>
                    <a:lnTo>
                      <a:pt x="474" y="123"/>
                    </a:lnTo>
                    <a:lnTo>
                      <a:pt x="20" y="0"/>
                    </a:lnTo>
                  </a:path>
                </a:pathLst>
              </a:custGeom>
              <a:solidFill>
                <a:srgbClr val="CEC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52" name="Freeform 31">
                <a:extLst>
                  <a:ext uri="{FF2B5EF4-FFF2-40B4-BE49-F238E27FC236}">
                    <a16:creationId xmlns:a16="http://schemas.microsoft.com/office/drawing/2014/main" id="{88C2CC9F-4213-C35D-16D4-02D01DC355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92" y="3503"/>
                <a:ext cx="462" cy="168"/>
              </a:xfrm>
              <a:custGeom>
                <a:avLst/>
                <a:gdLst>
                  <a:gd name="T0" fmla="*/ 87 w 462"/>
                  <a:gd name="T1" fmla="*/ 0 h 168"/>
                  <a:gd name="T2" fmla="*/ 0 w 462"/>
                  <a:gd name="T3" fmla="*/ 62 h 168"/>
                  <a:gd name="T4" fmla="*/ 29 w 462"/>
                  <a:gd name="T5" fmla="*/ 69 h 168"/>
                  <a:gd name="T6" fmla="*/ 46 w 462"/>
                  <a:gd name="T7" fmla="*/ 59 h 168"/>
                  <a:gd name="T8" fmla="*/ 66 w 462"/>
                  <a:gd name="T9" fmla="*/ 64 h 168"/>
                  <a:gd name="T10" fmla="*/ 51 w 462"/>
                  <a:gd name="T11" fmla="*/ 76 h 168"/>
                  <a:gd name="T12" fmla="*/ 331 w 462"/>
                  <a:gd name="T13" fmla="*/ 153 h 168"/>
                  <a:gd name="T14" fmla="*/ 345 w 462"/>
                  <a:gd name="T15" fmla="*/ 141 h 168"/>
                  <a:gd name="T16" fmla="*/ 371 w 462"/>
                  <a:gd name="T17" fmla="*/ 148 h 168"/>
                  <a:gd name="T18" fmla="*/ 356 w 462"/>
                  <a:gd name="T19" fmla="*/ 160 h 168"/>
                  <a:gd name="T20" fmla="*/ 380 w 462"/>
                  <a:gd name="T21" fmla="*/ 167 h 168"/>
                  <a:gd name="T22" fmla="*/ 461 w 462"/>
                  <a:gd name="T23" fmla="*/ 96 h 168"/>
                  <a:gd name="T24" fmla="*/ 87 w 462"/>
                  <a:gd name="T25" fmla="*/ 0 h 16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462"/>
                  <a:gd name="T40" fmla="*/ 0 h 168"/>
                  <a:gd name="T41" fmla="*/ 462 w 462"/>
                  <a:gd name="T42" fmla="*/ 168 h 16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462" h="168">
                    <a:moveTo>
                      <a:pt x="87" y="0"/>
                    </a:moveTo>
                    <a:lnTo>
                      <a:pt x="0" y="62"/>
                    </a:lnTo>
                    <a:lnTo>
                      <a:pt x="29" y="69"/>
                    </a:lnTo>
                    <a:lnTo>
                      <a:pt x="46" y="59"/>
                    </a:lnTo>
                    <a:lnTo>
                      <a:pt x="66" y="64"/>
                    </a:lnTo>
                    <a:lnTo>
                      <a:pt x="51" y="76"/>
                    </a:lnTo>
                    <a:lnTo>
                      <a:pt x="331" y="153"/>
                    </a:lnTo>
                    <a:lnTo>
                      <a:pt x="345" y="141"/>
                    </a:lnTo>
                    <a:lnTo>
                      <a:pt x="371" y="148"/>
                    </a:lnTo>
                    <a:lnTo>
                      <a:pt x="356" y="160"/>
                    </a:lnTo>
                    <a:lnTo>
                      <a:pt x="380" y="167"/>
                    </a:lnTo>
                    <a:lnTo>
                      <a:pt x="461" y="96"/>
                    </a:lnTo>
                    <a:lnTo>
                      <a:pt x="87" y="0"/>
                    </a:lnTo>
                  </a:path>
                </a:pathLst>
              </a:custGeom>
              <a:solidFill>
                <a:srgbClr val="CEC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53" name="Freeform 32">
                <a:extLst>
                  <a:ext uri="{FF2B5EF4-FFF2-40B4-BE49-F238E27FC236}">
                    <a16:creationId xmlns:a16="http://schemas.microsoft.com/office/drawing/2014/main" id="{CD7F0DD0-B643-833F-7682-3FB498ABD0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42" y="3606"/>
                <a:ext cx="98" cy="43"/>
              </a:xfrm>
              <a:custGeom>
                <a:avLst/>
                <a:gdLst>
                  <a:gd name="T0" fmla="*/ 33 w 98"/>
                  <a:gd name="T1" fmla="*/ 0 h 43"/>
                  <a:gd name="T2" fmla="*/ 97 w 98"/>
                  <a:gd name="T3" fmla="*/ 14 h 43"/>
                  <a:gd name="T4" fmla="*/ 66 w 98"/>
                  <a:gd name="T5" fmla="*/ 42 h 43"/>
                  <a:gd name="T6" fmla="*/ 0 w 98"/>
                  <a:gd name="T7" fmla="*/ 24 h 43"/>
                  <a:gd name="T8" fmla="*/ 33 w 98"/>
                  <a:gd name="T9" fmla="*/ 0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8"/>
                  <a:gd name="T16" fmla="*/ 0 h 43"/>
                  <a:gd name="T17" fmla="*/ 98 w 98"/>
                  <a:gd name="T18" fmla="*/ 43 h 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8" h="43">
                    <a:moveTo>
                      <a:pt x="33" y="0"/>
                    </a:moveTo>
                    <a:lnTo>
                      <a:pt x="97" y="14"/>
                    </a:lnTo>
                    <a:lnTo>
                      <a:pt x="66" y="42"/>
                    </a:lnTo>
                    <a:lnTo>
                      <a:pt x="0" y="24"/>
                    </a:lnTo>
                    <a:lnTo>
                      <a:pt x="33" y="0"/>
                    </a:lnTo>
                  </a:path>
                </a:pathLst>
              </a:custGeom>
              <a:solidFill>
                <a:srgbClr val="CEC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54" name="Freeform 33">
                <a:extLst>
                  <a:ext uri="{FF2B5EF4-FFF2-40B4-BE49-F238E27FC236}">
                    <a16:creationId xmlns:a16="http://schemas.microsoft.com/office/drawing/2014/main" id="{39576475-B0E4-07FF-5D92-01893AC96E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493" y="3656"/>
                <a:ext cx="83" cy="38"/>
              </a:xfrm>
              <a:custGeom>
                <a:avLst/>
                <a:gdLst>
                  <a:gd name="T0" fmla="*/ 15 w 83"/>
                  <a:gd name="T1" fmla="*/ 4 h 38"/>
                  <a:gd name="T2" fmla="*/ 35 w 83"/>
                  <a:gd name="T3" fmla="*/ 9 h 38"/>
                  <a:gd name="T4" fmla="*/ 48 w 83"/>
                  <a:gd name="T5" fmla="*/ 0 h 38"/>
                  <a:gd name="T6" fmla="*/ 70 w 83"/>
                  <a:gd name="T7" fmla="*/ 6 h 38"/>
                  <a:gd name="T8" fmla="*/ 59 w 83"/>
                  <a:gd name="T9" fmla="*/ 17 h 38"/>
                  <a:gd name="T10" fmla="*/ 82 w 83"/>
                  <a:gd name="T11" fmla="*/ 23 h 38"/>
                  <a:gd name="T12" fmla="*/ 66 w 83"/>
                  <a:gd name="T13" fmla="*/ 37 h 38"/>
                  <a:gd name="T14" fmla="*/ 0 w 83"/>
                  <a:gd name="T15" fmla="*/ 19 h 38"/>
                  <a:gd name="T16" fmla="*/ 15 w 83"/>
                  <a:gd name="T17" fmla="*/ 4 h 3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3"/>
                  <a:gd name="T28" fmla="*/ 0 h 38"/>
                  <a:gd name="T29" fmla="*/ 83 w 83"/>
                  <a:gd name="T30" fmla="*/ 38 h 3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3" h="38">
                    <a:moveTo>
                      <a:pt x="15" y="4"/>
                    </a:moveTo>
                    <a:lnTo>
                      <a:pt x="35" y="9"/>
                    </a:lnTo>
                    <a:lnTo>
                      <a:pt x="48" y="0"/>
                    </a:lnTo>
                    <a:lnTo>
                      <a:pt x="70" y="6"/>
                    </a:lnTo>
                    <a:lnTo>
                      <a:pt x="59" y="17"/>
                    </a:lnTo>
                    <a:lnTo>
                      <a:pt x="82" y="23"/>
                    </a:lnTo>
                    <a:lnTo>
                      <a:pt x="66" y="37"/>
                    </a:lnTo>
                    <a:lnTo>
                      <a:pt x="0" y="19"/>
                    </a:lnTo>
                    <a:lnTo>
                      <a:pt x="15" y="4"/>
                    </a:lnTo>
                  </a:path>
                </a:pathLst>
              </a:custGeom>
              <a:solidFill>
                <a:srgbClr val="CEC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355" name="Freeform 34">
                <a:extLst>
                  <a:ext uri="{FF2B5EF4-FFF2-40B4-BE49-F238E27FC236}">
                    <a16:creationId xmlns:a16="http://schemas.microsoft.com/office/drawing/2014/main" id="{8134CBAD-D4B4-64F7-434A-E1626A01C7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82" y="3632"/>
                <a:ext cx="162" cy="97"/>
              </a:xfrm>
              <a:custGeom>
                <a:avLst/>
                <a:gdLst>
                  <a:gd name="T0" fmla="*/ 83 w 162"/>
                  <a:gd name="T1" fmla="*/ 0 h 97"/>
                  <a:gd name="T2" fmla="*/ 161 w 162"/>
                  <a:gd name="T3" fmla="*/ 20 h 97"/>
                  <a:gd name="T4" fmla="*/ 79 w 162"/>
                  <a:gd name="T5" fmla="*/ 96 h 97"/>
                  <a:gd name="T6" fmla="*/ 0 w 162"/>
                  <a:gd name="T7" fmla="*/ 70 h 97"/>
                  <a:gd name="T8" fmla="*/ 83 w 162"/>
                  <a:gd name="T9" fmla="*/ 0 h 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2"/>
                  <a:gd name="T16" fmla="*/ 0 h 97"/>
                  <a:gd name="T17" fmla="*/ 162 w 162"/>
                  <a:gd name="T18" fmla="*/ 97 h 9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2" h="97">
                    <a:moveTo>
                      <a:pt x="83" y="0"/>
                    </a:moveTo>
                    <a:lnTo>
                      <a:pt x="161" y="20"/>
                    </a:lnTo>
                    <a:lnTo>
                      <a:pt x="79" y="96"/>
                    </a:lnTo>
                    <a:lnTo>
                      <a:pt x="0" y="70"/>
                    </a:lnTo>
                    <a:lnTo>
                      <a:pt x="83" y="0"/>
                    </a:lnTo>
                  </a:path>
                </a:pathLst>
              </a:custGeom>
              <a:solidFill>
                <a:srgbClr val="CEC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</p:grpSp>
      <p:graphicFrame>
        <p:nvGraphicFramePr>
          <p:cNvPr id="14341" name="Object 35">
            <a:extLst>
              <a:ext uri="{FF2B5EF4-FFF2-40B4-BE49-F238E27FC236}">
                <a16:creationId xmlns:a16="http://schemas.microsoft.com/office/drawing/2014/main" id="{AB10B18E-BC41-A85E-E456-FB8EDCBBCA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8325" y="1304925"/>
          <a:ext cx="917575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3" imgW="1927225" imgH="3382963" progId="MS_ClipArt_Gallery.2">
                  <p:embed/>
                </p:oleObj>
              </mc:Choice>
              <mc:Fallback>
                <p:oleObj name="ClipArt" r:id="rId3" imgW="1927225" imgH="3382963" progId="MS_ClipArt_Gallery.2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8325" y="1304925"/>
                        <a:ext cx="917575" cy="165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AutoShape 42">
            <a:extLst>
              <a:ext uri="{FF2B5EF4-FFF2-40B4-BE49-F238E27FC236}">
                <a16:creationId xmlns:a16="http://schemas.microsoft.com/office/drawing/2014/main" id="{C7C6500F-0DE2-4115-18A2-112AB716A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363" y="2097088"/>
            <a:ext cx="4140200" cy="360362"/>
          </a:xfrm>
          <a:prstGeom prst="rightArrow">
            <a:avLst>
              <a:gd name="adj1" fmla="val 68463"/>
              <a:gd name="adj2" fmla="val 89572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Close Notify</a:t>
            </a:r>
          </a:p>
        </p:txBody>
      </p:sp>
      <p:sp>
        <p:nvSpPr>
          <p:cNvPr id="7175" name="AutoShape 43">
            <a:extLst>
              <a:ext uri="{FF2B5EF4-FFF2-40B4-BE49-F238E27FC236}">
                <a16:creationId xmlns:a16="http://schemas.microsoft.com/office/drawing/2014/main" id="{E2A0FE4E-3377-DA0A-A1B2-D8DEA7CA6D7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519363" y="2563813"/>
            <a:ext cx="4140200" cy="360362"/>
          </a:xfrm>
          <a:prstGeom prst="rightArrow">
            <a:avLst>
              <a:gd name="adj1" fmla="val 68463"/>
              <a:gd name="adj2" fmla="val 89572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Close Notify</a:t>
            </a:r>
          </a:p>
        </p:txBody>
      </p:sp>
      <p:sp>
        <p:nvSpPr>
          <p:cNvPr id="14344" name="AutoShape 44">
            <a:extLst>
              <a:ext uri="{FF2B5EF4-FFF2-40B4-BE49-F238E27FC236}">
                <a16:creationId xmlns:a16="http://schemas.microsoft.com/office/drawing/2014/main" id="{128E860E-0765-F6E3-1E12-1B8A95AC9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1376363"/>
            <a:ext cx="4140200" cy="504825"/>
          </a:xfrm>
          <a:prstGeom prst="leftRightArrow">
            <a:avLst>
              <a:gd name="adj1" fmla="val 79870"/>
              <a:gd name="adj2" fmla="val 120399"/>
            </a:avLst>
          </a:prstGeom>
          <a:solidFill>
            <a:srgbClr val="FF00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Application Data</a:t>
            </a:r>
          </a:p>
        </p:txBody>
      </p:sp>
      <p:sp>
        <p:nvSpPr>
          <p:cNvPr id="7177" name="Text Box 45">
            <a:extLst>
              <a:ext uri="{FF2B5EF4-FFF2-40B4-BE49-F238E27FC236}">
                <a16:creationId xmlns:a16="http://schemas.microsoft.com/office/drawing/2014/main" id="{DCC9CE73-6203-5CD3-AFEA-01925043F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13" y="5799138"/>
            <a:ext cx="7424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i="1">
                <a:solidFill>
                  <a:srgbClr val="FF3300"/>
                </a:solidFill>
                <a:latin typeface="Arial Narrow" panose="020B0606020202030204" pitchFamily="34" charset="0"/>
              </a:rPr>
              <a:t>A remark: note the weakness of TLS against TCP DOS attacks in general!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/>
      <p:bldP spid="7174" grpId="0" animBg="1"/>
      <p:bldP spid="7175" grpId="0" animBg="1"/>
      <p:bldP spid="717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148C97-FA18-0032-B4F3-61B5E6AC6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Renegotiation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C30533A-E43F-B335-E5CC-D3290C84B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2590800"/>
          </a:xfrm>
        </p:spPr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en-US" dirty="0"/>
              <a:t>Renegotiation (re-handshake)</a:t>
            </a:r>
          </a:p>
          <a:p>
            <a:pPr lvl="1">
              <a:defRPr/>
            </a:pPr>
            <a:r>
              <a:rPr lang="en-US" dirty="0"/>
              <a:t>Not “limited to” rekeying; more than session resumption</a:t>
            </a:r>
          </a:p>
          <a:p>
            <a:pPr>
              <a:defRPr/>
            </a:pPr>
            <a:r>
              <a:rPr lang="en-US" dirty="0"/>
              <a:t>New full handshake (optionally) permitted. </a:t>
            </a:r>
          </a:p>
          <a:p>
            <a:pPr lvl="1">
              <a:defRPr/>
            </a:pPr>
            <a:r>
              <a:rPr lang="en-US" dirty="0"/>
              <a:t>Encrypted via previously established </a:t>
            </a:r>
            <a:r>
              <a:rPr lang="en-US" dirty="0" err="1"/>
              <a:t>ciphersuite</a:t>
            </a:r>
            <a:endParaRPr lang="en-US" dirty="0"/>
          </a:p>
          <a:p>
            <a:pPr>
              <a:defRPr/>
            </a:pPr>
            <a:r>
              <a:rPr lang="en-US" dirty="0"/>
              <a:t> Purpose:</a:t>
            </a:r>
          </a:p>
          <a:p>
            <a:pPr lvl="2">
              <a:defRPr/>
            </a:pPr>
            <a:r>
              <a:rPr lang="en-US" dirty="0"/>
              <a:t>Increase the security level (e.g. move to higher security cipher)</a:t>
            </a:r>
          </a:p>
          <a:p>
            <a:pPr lvl="2">
              <a:defRPr/>
            </a:pPr>
            <a:r>
              <a:rPr lang="en-US" dirty="0"/>
              <a:t>Authenticate Client</a:t>
            </a:r>
          </a:p>
          <a:p>
            <a:pPr lvl="2">
              <a:defRPr/>
            </a:pPr>
            <a:r>
              <a:rPr lang="en-US" dirty="0"/>
              <a:t>Anything else you may need</a:t>
            </a:r>
          </a:p>
          <a:p>
            <a:pPr>
              <a:defRPr/>
            </a:pPr>
            <a:r>
              <a:rPr lang="en-US" dirty="0"/>
              <a:t>Renegotiation generates a NEW session ID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16388" name="Line 4">
            <a:extLst>
              <a:ext uri="{FF2B5EF4-FFF2-40B4-BE49-F238E27FC236}">
                <a16:creationId xmlns:a16="http://schemas.microsoft.com/office/drawing/2014/main" id="{EE02825B-E564-5736-4F1A-9B994AC0710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088" y="4868863"/>
            <a:ext cx="81375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197" name="AutoShape 6">
            <a:extLst>
              <a:ext uri="{FF2B5EF4-FFF2-40B4-BE49-F238E27FC236}">
                <a16:creationId xmlns:a16="http://schemas.microsoft.com/office/drawing/2014/main" id="{ED09C08C-464B-C852-A2D5-B84DFDC6A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148138"/>
            <a:ext cx="1871662" cy="720725"/>
          </a:xfrm>
          <a:prstGeom prst="upArrow">
            <a:avLst>
              <a:gd name="adj1" fmla="val 77102"/>
              <a:gd name="adj2" fmla="val 25111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8198" name="Text Box 7">
            <a:extLst>
              <a:ext uri="{FF2B5EF4-FFF2-40B4-BE49-F238E27FC236}">
                <a16:creationId xmlns:a16="http://schemas.microsoft.com/office/drawing/2014/main" id="{EAFCF583-D392-45E8-484C-E9D1B1C1C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3519488"/>
            <a:ext cx="1165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Initial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handshake</a:t>
            </a:r>
          </a:p>
        </p:txBody>
      </p:sp>
      <p:sp>
        <p:nvSpPr>
          <p:cNvPr id="8199" name="Text Box 8">
            <a:extLst>
              <a:ext uri="{FF2B5EF4-FFF2-40B4-BE49-F238E27FC236}">
                <a16:creationId xmlns:a16="http://schemas.microsoft.com/office/drawing/2014/main" id="{B885BDA8-272B-0187-C594-086B69C14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338" y="4216400"/>
            <a:ext cx="14208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>
                <a:latin typeface="Arial Narrow" panose="020B0606020202030204" pitchFamily="34" charset="0"/>
              </a:rPr>
              <a:t>Includes auth &amp;</a:t>
            </a:r>
            <a:br>
              <a:rPr lang="it-IT" altLang="it-IT" sz="1600">
                <a:latin typeface="Arial Narrow" panose="020B0606020202030204" pitchFamily="34" charset="0"/>
              </a:rPr>
            </a:br>
            <a:r>
              <a:rPr lang="it-IT" altLang="it-IT" sz="1600">
                <a:latin typeface="Arial Narrow" panose="020B0606020202030204" pitchFamily="34" charset="0"/>
              </a:rPr>
              <a:t>cert verification</a:t>
            </a:r>
          </a:p>
        </p:txBody>
      </p:sp>
      <p:sp>
        <p:nvSpPr>
          <p:cNvPr id="8200" name="Rectangle 9">
            <a:extLst>
              <a:ext uri="{FF2B5EF4-FFF2-40B4-BE49-F238E27FC236}">
                <a16:creationId xmlns:a16="http://schemas.microsoft.com/office/drawing/2014/main" id="{2FE795AE-B17D-6045-8313-B40D9B63B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850" y="4508500"/>
            <a:ext cx="3673475" cy="3603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Encrypted App data		</a:t>
            </a:r>
          </a:p>
        </p:txBody>
      </p:sp>
      <p:sp>
        <p:nvSpPr>
          <p:cNvPr id="8201" name="Text Box 12">
            <a:extLst>
              <a:ext uri="{FF2B5EF4-FFF2-40B4-BE49-F238E27FC236}">
                <a16:creationId xmlns:a16="http://schemas.microsoft.com/office/drawing/2014/main" id="{CA42CADD-CA04-0A72-509C-542E4C82B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100" y="3500438"/>
            <a:ext cx="13843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renegotiation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handshake</a:t>
            </a:r>
          </a:p>
        </p:txBody>
      </p:sp>
      <p:sp>
        <p:nvSpPr>
          <p:cNvPr id="8202" name="AutoShape 13">
            <a:extLst>
              <a:ext uri="{FF2B5EF4-FFF2-40B4-BE49-F238E27FC236}">
                <a16:creationId xmlns:a16="http://schemas.microsoft.com/office/drawing/2014/main" id="{CD287320-31B0-6399-554C-173068594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4221163"/>
            <a:ext cx="1781175" cy="647700"/>
          </a:xfrm>
          <a:prstGeom prst="upArrow">
            <a:avLst>
              <a:gd name="adj1" fmla="val 50000"/>
              <a:gd name="adj2" fmla="val 33333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8203" name="Rectangle 14">
            <a:extLst>
              <a:ext uri="{FF2B5EF4-FFF2-40B4-BE49-F238E27FC236}">
                <a16:creationId xmlns:a16="http://schemas.microsoft.com/office/drawing/2014/main" id="{E4ED13E5-E47A-F360-7B52-C2E9A0EB7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508500"/>
            <a:ext cx="2520950" cy="3603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New cipher, new key</a:t>
            </a:r>
          </a:p>
        </p:txBody>
      </p:sp>
      <p:sp>
        <p:nvSpPr>
          <p:cNvPr id="8204" name="AutoShape 16">
            <a:extLst>
              <a:ext uri="{FF2B5EF4-FFF2-40B4-BE49-F238E27FC236}">
                <a16:creationId xmlns:a16="http://schemas.microsoft.com/office/drawing/2014/main" id="{E322CFBF-F5D1-AB42-839E-4B5403AFE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941888"/>
            <a:ext cx="5113337" cy="574675"/>
          </a:xfrm>
          <a:prstGeom prst="leftRightArrow">
            <a:avLst>
              <a:gd name="adj1" fmla="val 60704"/>
              <a:gd name="adj2" fmla="val 60184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TLS SESSION</a:t>
            </a:r>
          </a:p>
        </p:txBody>
      </p:sp>
      <p:sp>
        <p:nvSpPr>
          <p:cNvPr id="8205" name="AutoShape 16">
            <a:extLst>
              <a:ext uri="{FF2B5EF4-FFF2-40B4-BE49-F238E27FC236}">
                <a16:creationId xmlns:a16="http://schemas.microsoft.com/office/drawing/2014/main" id="{CD7C2F52-3A50-5BC1-3B95-59577E5EF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4941888"/>
            <a:ext cx="2987675" cy="574675"/>
          </a:xfrm>
          <a:prstGeom prst="leftRightArrow">
            <a:avLst>
              <a:gd name="adj1" fmla="val 60704"/>
              <a:gd name="adj2" fmla="val 60172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NEW TLS SESSION</a:t>
            </a:r>
          </a:p>
        </p:txBody>
      </p:sp>
      <p:sp>
        <p:nvSpPr>
          <p:cNvPr id="8206" name="CasellaDiTesto 14">
            <a:extLst>
              <a:ext uri="{FF2B5EF4-FFF2-40B4-BE49-F238E27FC236}">
                <a16:creationId xmlns:a16="http://schemas.microsoft.com/office/drawing/2014/main" id="{240057B0-3E5C-7F44-2F7C-98E344FA5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661025"/>
            <a:ext cx="78470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Important: besides the fact that it is encrypted, renegotiation handshake otherwise </a:t>
            </a:r>
            <a:b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</a:b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NOT distinguishable from initial handshake (session = 0) – can this fact be (ab)used?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197" grpId="0" animBg="1"/>
      <p:bldP spid="8198" grpId="0"/>
      <p:bldP spid="8199" grpId="0"/>
      <p:bldP spid="8200" grpId="0" animBg="1"/>
      <p:bldP spid="8201" grpId="0"/>
      <p:bldP spid="8202" grpId="0" animBg="1"/>
      <p:bldP spid="8203" grpId="0" animBg="1"/>
      <p:bldP spid="8204" grpId="0" animBg="1"/>
      <p:bldP spid="8205" grpId="0" animBg="1"/>
      <p:bldP spid="820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B5656A-94CC-D8EF-2DBD-9F1E3905E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</a:t>
            </a:r>
            <a:r>
              <a:rPr lang="it-IT" dirty="0" err="1"/>
              <a:t>application</a:t>
            </a:r>
            <a:r>
              <a:rPr lang="it-IT" dirty="0"/>
              <a:t> data?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A8807BA-7CD7-B488-7F03-03B7E4033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/>
              <a:t>Renegotiation, when required, takes precedence over application data</a:t>
            </a:r>
          </a:p>
          <a:p>
            <a:pPr lvl="1">
              <a:defRPr/>
            </a:pPr>
            <a:r>
              <a:rPr lang="en-US" dirty="0"/>
              <a:t>If applicable, server will buffer application data until renegotiation completed, then proceed on NEW TLS session</a:t>
            </a:r>
          </a:p>
          <a:p>
            <a:pPr>
              <a:defRPr/>
            </a:pPr>
            <a:r>
              <a:rPr lang="en-US" dirty="0"/>
              <a:t>… renegotiation can be in the middle of an application layer transaction…</a:t>
            </a:r>
          </a:p>
          <a:p>
            <a:pPr lvl="1">
              <a:defRPr/>
            </a:pPr>
            <a:r>
              <a:rPr lang="en-US" dirty="0"/>
              <a:t>Can we exploit this???</a:t>
            </a:r>
          </a:p>
          <a:p>
            <a:pPr>
              <a:defRPr/>
            </a:pPr>
            <a:endParaRPr lang="it-IT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704A0F-F536-311D-8BA8-AB93062E3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Renegotiation</a:t>
            </a:r>
            <a:r>
              <a:rPr lang="it-IT" dirty="0"/>
              <a:t> </a:t>
            </a:r>
            <a:r>
              <a:rPr lang="it-IT" dirty="0" err="1"/>
              <a:t>attack</a:t>
            </a:r>
            <a:br>
              <a:rPr lang="it-IT" dirty="0"/>
            </a:br>
            <a:r>
              <a:rPr lang="it-IT" sz="2400" dirty="0"/>
              <a:t>(</a:t>
            </a:r>
            <a:r>
              <a:rPr lang="it-IT" sz="2400" dirty="0" err="1"/>
              <a:t>plaintext</a:t>
            </a:r>
            <a:r>
              <a:rPr lang="it-IT" sz="2400" dirty="0"/>
              <a:t> </a:t>
            </a:r>
            <a:r>
              <a:rPr lang="it-IT" sz="2400" dirty="0" err="1"/>
              <a:t>injection</a:t>
            </a:r>
            <a:r>
              <a:rPr lang="it-IT" sz="2400" dirty="0"/>
              <a:t> </a:t>
            </a:r>
            <a:r>
              <a:rPr lang="it-IT" sz="2400" dirty="0" err="1"/>
              <a:t>attack</a:t>
            </a:r>
            <a:r>
              <a:rPr lang="it-IT" sz="2400" dirty="0"/>
              <a:t>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E603CE-9ECA-D253-BBE1-AC3736054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8278813" cy="540067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 err="1"/>
              <a:t>Discovered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Marsh</a:t>
            </a:r>
            <a:r>
              <a:rPr lang="it-IT" dirty="0"/>
              <a:t> Ray (</a:t>
            </a:r>
            <a:r>
              <a:rPr lang="it-IT" dirty="0" err="1"/>
              <a:t>PhoneFactor</a:t>
            </a:r>
            <a:r>
              <a:rPr lang="it-IT" dirty="0"/>
              <a:t> inc.)</a:t>
            </a:r>
          </a:p>
          <a:p>
            <a:pPr lvl="1">
              <a:defRPr/>
            </a:pPr>
            <a:r>
              <a:rPr lang="it-IT" dirty="0" err="1"/>
              <a:t>Aug-sep</a:t>
            </a:r>
            <a:r>
              <a:rPr lang="it-IT" dirty="0"/>
              <a:t> 2009; made public on </a:t>
            </a:r>
            <a:r>
              <a:rPr lang="it-IT" dirty="0" err="1"/>
              <a:t>begin</a:t>
            </a:r>
            <a:r>
              <a:rPr lang="it-IT" dirty="0"/>
              <a:t> of </a:t>
            </a:r>
            <a:r>
              <a:rPr lang="it-IT" dirty="0" err="1"/>
              <a:t>nov</a:t>
            </a:r>
            <a:r>
              <a:rPr lang="it-IT" dirty="0"/>
              <a:t> 2009</a:t>
            </a:r>
          </a:p>
          <a:p>
            <a:pPr lvl="1">
              <a:defRPr/>
            </a:pPr>
            <a:r>
              <a:rPr lang="it-IT" dirty="0" err="1"/>
              <a:t>Limited</a:t>
            </a:r>
            <a:r>
              <a:rPr lang="it-IT" dirty="0"/>
              <a:t> </a:t>
            </a:r>
            <a:r>
              <a:rPr lang="it-IT" dirty="0" err="1"/>
              <a:t>effectiveness…</a:t>
            </a:r>
            <a:r>
              <a:rPr lang="it-IT" dirty="0"/>
              <a:t> </a:t>
            </a:r>
            <a:r>
              <a:rPr lang="it-IT" dirty="0" err="1"/>
              <a:t>but</a:t>
            </a:r>
            <a:endParaRPr lang="it-IT" dirty="0"/>
          </a:p>
          <a:p>
            <a:pPr>
              <a:defRPr/>
            </a:pPr>
            <a:r>
              <a:rPr lang="it-IT" dirty="0" err="1"/>
              <a:t>Turned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it-IT" dirty="0" err="1"/>
              <a:t>practical</a:t>
            </a:r>
            <a:r>
              <a:rPr lang="it-IT" dirty="0"/>
              <a:t> </a:t>
            </a:r>
            <a:r>
              <a:rPr lang="it-IT" dirty="0" err="1"/>
              <a:t>credential</a:t>
            </a:r>
            <a:r>
              <a:rPr lang="it-IT" dirty="0"/>
              <a:t> </a:t>
            </a:r>
            <a:r>
              <a:rPr lang="it-IT" dirty="0" err="1"/>
              <a:t>stealing</a:t>
            </a:r>
            <a:r>
              <a:rPr lang="it-IT" dirty="0"/>
              <a:t> </a:t>
            </a:r>
            <a:r>
              <a:rPr lang="it-IT" dirty="0" err="1"/>
              <a:t>attack</a:t>
            </a:r>
            <a:r>
              <a:rPr lang="it-IT" dirty="0"/>
              <a:t> </a:t>
            </a:r>
            <a:r>
              <a:rPr lang="it-IT" dirty="0" err="1"/>
              <a:t>against</a:t>
            </a:r>
            <a:r>
              <a:rPr lang="it-IT" dirty="0"/>
              <a:t> </a:t>
            </a:r>
            <a:r>
              <a:rPr lang="it-IT" dirty="0" err="1"/>
              <a:t>twitter</a:t>
            </a:r>
            <a:r>
              <a:rPr lang="it-IT" dirty="0"/>
              <a:t> </a:t>
            </a:r>
            <a:r>
              <a:rPr lang="it-IT" dirty="0" err="1"/>
              <a:t>users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Anil</a:t>
            </a:r>
            <a:r>
              <a:rPr lang="it-IT" dirty="0"/>
              <a:t> </a:t>
            </a:r>
            <a:r>
              <a:rPr lang="it-IT" dirty="0" err="1"/>
              <a:t>Kurmus</a:t>
            </a:r>
            <a:r>
              <a:rPr lang="it-IT" dirty="0"/>
              <a:t> (ETH </a:t>
            </a:r>
            <a:r>
              <a:rPr lang="it-IT" dirty="0" err="1"/>
              <a:t>student</a:t>
            </a:r>
            <a:r>
              <a:rPr lang="it-IT" dirty="0"/>
              <a:t>)</a:t>
            </a:r>
          </a:p>
          <a:p>
            <a:pPr lvl="1">
              <a:defRPr/>
            </a:pPr>
            <a:r>
              <a:rPr lang="it-IT" dirty="0" err="1"/>
              <a:t>Mid</a:t>
            </a:r>
            <a:r>
              <a:rPr lang="it-IT" dirty="0"/>
              <a:t> </a:t>
            </a:r>
            <a:r>
              <a:rPr lang="it-IT" dirty="0" err="1"/>
              <a:t>november</a:t>
            </a:r>
            <a:r>
              <a:rPr lang="it-IT" dirty="0"/>
              <a:t> 2009</a:t>
            </a:r>
          </a:p>
          <a:p>
            <a:pPr lvl="1">
              <a:defRPr/>
            </a:pPr>
            <a:r>
              <a:rPr lang="it-IT" dirty="0" err="1"/>
              <a:t>Twitter</a:t>
            </a:r>
            <a:r>
              <a:rPr lang="it-IT" dirty="0"/>
              <a:t> </a:t>
            </a:r>
            <a:r>
              <a:rPr lang="it-IT" dirty="0" err="1"/>
              <a:t>fixed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immediately</a:t>
            </a:r>
            <a:r>
              <a:rPr lang="it-IT" dirty="0"/>
              <a:t> (</a:t>
            </a: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disallowing</a:t>
            </a:r>
            <a:r>
              <a:rPr lang="it-IT" dirty="0"/>
              <a:t> </a:t>
            </a:r>
            <a:r>
              <a:rPr lang="it-IT" dirty="0" err="1"/>
              <a:t>renegotiation</a:t>
            </a:r>
            <a:r>
              <a:rPr lang="it-IT" dirty="0"/>
              <a:t>)</a:t>
            </a:r>
          </a:p>
          <a:p>
            <a:pPr lvl="1">
              <a:defRPr/>
            </a:pPr>
            <a:r>
              <a:rPr lang="it-IT" dirty="0" err="1"/>
              <a:t>Ingenious</a:t>
            </a:r>
            <a:r>
              <a:rPr lang="it-IT" dirty="0"/>
              <a:t> </a:t>
            </a:r>
            <a:r>
              <a:rPr lang="it-IT" dirty="0" err="1"/>
              <a:t>application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attack</a:t>
            </a:r>
            <a:r>
              <a:rPr lang="it-IT" dirty="0"/>
              <a:t> </a:t>
            </a:r>
            <a:r>
              <a:rPr lang="it-IT" dirty="0" err="1"/>
              <a:t>may</a:t>
            </a:r>
            <a:r>
              <a:rPr lang="it-IT" dirty="0"/>
              <a:t> </a:t>
            </a:r>
            <a:r>
              <a:rPr lang="it-IT" dirty="0" err="1"/>
              <a:t>apply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cases</a:t>
            </a:r>
            <a:r>
              <a:rPr lang="it-IT" dirty="0"/>
              <a:t>/</a:t>
            </a:r>
            <a:r>
              <a:rPr lang="it-IT" dirty="0" err="1"/>
              <a:t>scenarios</a:t>
            </a:r>
            <a:endParaRPr lang="it-IT" dirty="0"/>
          </a:p>
          <a:p>
            <a:pPr>
              <a:defRPr/>
            </a:pPr>
            <a:r>
              <a:rPr lang="it-IT" dirty="0" err="1"/>
              <a:t>Came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shock for TLS standard bodies</a:t>
            </a:r>
          </a:p>
          <a:p>
            <a:pPr lvl="1">
              <a:defRPr/>
            </a:pPr>
            <a:r>
              <a:rPr lang="it-IT" dirty="0"/>
              <a:t>Take-home golden rule: in security KEEP </a:t>
            </a:r>
            <a:r>
              <a:rPr lang="it-IT" dirty="0" err="1"/>
              <a:t>things</a:t>
            </a:r>
            <a:r>
              <a:rPr lang="it-IT" dirty="0"/>
              <a:t> SIMPLE!!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1B8238-3EDA-D85D-EDA1-025500F8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works</a:t>
            </a:r>
            <a:endParaRPr lang="it-IT" dirty="0"/>
          </a:p>
        </p:txBody>
      </p:sp>
      <p:sp>
        <p:nvSpPr>
          <p:cNvPr id="19459" name="Rettangolo 3">
            <a:extLst>
              <a:ext uri="{FF2B5EF4-FFF2-40B4-BE49-F238E27FC236}">
                <a16:creationId xmlns:a16="http://schemas.microsoft.com/office/drawing/2014/main" id="{58AB5B50-79FD-7339-02DE-BC6F134AE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1557338"/>
            <a:ext cx="1008063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Attacker</a:t>
            </a:r>
          </a:p>
        </p:txBody>
      </p:sp>
      <p:sp>
        <p:nvSpPr>
          <p:cNvPr id="19460" name="Rettangolo 4">
            <a:extLst>
              <a:ext uri="{FF2B5EF4-FFF2-40B4-BE49-F238E27FC236}">
                <a16:creationId xmlns:a16="http://schemas.microsoft.com/office/drawing/2014/main" id="{2833720A-2BCB-5B8B-4033-753189B9D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1557338"/>
            <a:ext cx="1008063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Server</a:t>
            </a:r>
          </a:p>
        </p:txBody>
      </p:sp>
      <p:sp>
        <p:nvSpPr>
          <p:cNvPr id="19461" name="Rettangolo 5">
            <a:extLst>
              <a:ext uri="{FF2B5EF4-FFF2-40B4-BE49-F238E27FC236}">
                <a16:creationId xmlns:a16="http://schemas.microsoft.com/office/drawing/2014/main" id="{0A166DF4-7D37-56A6-7518-518F9CF75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213100"/>
            <a:ext cx="1008063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Client</a:t>
            </a:r>
          </a:p>
        </p:txBody>
      </p:sp>
      <p:sp>
        <p:nvSpPr>
          <p:cNvPr id="19462" name="Freccia bidirezionale orizzontale 6">
            <a:extLst>
              <a:ext uri="{FF2B5EF4-FFF2-40B4-BE49-F238E27FC236}">
                <a16:creationId xmlns:a16="http://schemas.microsoft.com/office/drawing/2014/main" id="{5E770C8B-D31A-7CAB-8235-69D9CC7FC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1628775"/>
            <a:ext cx="2376487" cy="720725"/>
          </a:xfrm>
          <a:prstGeom prst="leftRightArrow">
            <a:avLst>
              <a:gd name="adj1" fmla="val 50000"/>
              <a:gd name="adj2" fmla="val 49964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TLS handshake</a:t>
            </a:r>
          </a:p>
        </p:txBody>
      </p:sp>
      <p:sp>
        <p:nvSpPr>
          <p:cNvPr id="19463" name="Freccia bidirezionale orizzontale 7">
            <a:extLst>
              <a:ext uri="{FF2B5EF4-FFF2-40B4-BE49-F238E27FC236}">
                <a16:creationId xmlns:a16="http://schemas.microsoft.com/office/drawing/2014/main" id="{0B0B1958-C9FF-2AEA-82F9-32D8296E0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2420938"/>
            <a:ext cx="2376487" cy="720725"/>
          </a:xfrm>
          <a:prstGeom prst="leftRightArrow">
            <a:avLst>
              <a:gd name="adj1" fmla="val 50000"/>
              <a:gd name="adj2" fmla="val 49964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App data (encrypted)</a:t>
            </a:r>
          </a:p>
        </p:txBody>
      </p:sp>
      <p:cxnSp>
        <p:nvCxnSpPr>
          <p:cNvPr id="19464" name="Connettore 1 9">
            <a:extLst>
              <a:ext uri="{FF2B5EF4-FFF2-40B4-BE49-F238E27FC236}">
                <a16:creationId xmlns:a16="http://schemas.microsoft.com/office/drawing/2014/main" id="{92A9A616-5E07-A3C7-5E5A-E7EAF1497D1D}"/>
              </a:ext>
            </a:extLst>
          </p:cNvPr>
          <p:cNvCxnSpPr>
            <a:cxnSpLocks noChangeShapeType="1"/>
            <a:stCxn id="19459" idx="2"/>
          </p:cNvCxnSpPr>
          <p:nvPr/>
        </p:nvCxnSpPr>
        <p:spPr bwMode="auto">
          <a:xfrm rot="5400000">
            <a:off x="2124075" y="3860801"/>
            <a:ext cx="3311525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5" name="Connettore 1 10">
            <a:extLst>
              <a:ext uri="{FF2B5EF4-FFF2-40B4-BE49-F238E27FC236}">
                <a16:creationId xmlns:a16="http://schemas.microsoft.com/office/drawing/2014/main" id="{80E0D784-855C-81E1-3498-B5155F4E012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221287" y="3860801"/>
            <a:ext cx="3311525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66" name="Freccia bidirezionale orizzontale 11">
            <a:extLst>
              <a:ext uri="{FF2B5EF4-FFF2-40B4-BE49-F238E27FC236}">
                <a16:creationId xmlns:a16="http://schemas.microsoft.com/office/drawing/2014/main" id="{38ACC21B-CB5E-7C32-0471-185AD325A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213100"/>
            <a:ext cx="5400675" cy="720725"/>
          </a:xfrm>
          <a:prstGeom prst="leftRightArrow">
            <a:avLst>
              <a:gd name="adj1" fmla="val 50000"/>
              <a:gd name="adj2" fmla="val 49956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TLS handshake</a:t>
            </a:r>
          </a:p>
        </p:txBody>
      </p:sp>
      <p:sp>
        <p:nvSpPr>
          <p:cNvPr id="19467" name="Freccia bidirezionale orizzontale 12">
            <a:extLst>
              <a:ext uri="{FF2B5EF4-FFF2-40B4-BE49-F238E27FC236}">
                <a16:creationId xmlns:a16="http://schemas.microsoft.com/office/drawing/2014/main" id="{F8E7529D-C13A-08C0-A6D2-05A6492E0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3644900"/>
            <a:ext cx="1728788" cy="720725"/>
          </a:xfrm>
          <a:prstGeom prst="leftRightArrow">
            <a:avLst>
              <a:gd name="adj1" fmla="val 50000"/>
              <a:gd name="adj2" fmla="val 49972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Buffered data</a:t>
            </a:r>
          </a:p>
        </p:txBody>
      </p:sp>
      <p:sp>
        <p:nvSpPr>
          <p:cNvPr id="19468" name="Freccia bidirezionale orizzontale 13">
            <a:extLst>
              <a:ext uri="{FF2B5EF4-FFF2-40B4-BE49-F238E27FC236}">
                <a16:creationId xmlns:a16="http://schemas.microsoft.com/office/drawing/2014/main" id="{7C402C64-5A16-0D34-927D-1991493E8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788" y="4221163"/>
            <a:ext cx="5481637" cy="720725"/>
          </a:xfrm>
          <a:prstGeom prst="leftRightArrow">
            <a:avLst>
              <a:gd name="adj1" fmla="val 50000"/>
              <a:gd name="adj2" fmla="val 49965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App data (encrypted)</a:t>
            </a:r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C45C3626-3F48-4C20-3790-0920359FA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628775"/>
            <a:ext cx="1727200" cy="979488"/>
          </a:xfrm>
          <a:prstGeom prst="wedgeRectCallout">
            <a:avLst>
              <a:gd name="adj1" fmla="val 22556"/>
              <a:gd name="adj2" fmla="val 110843"/>
            </a:avLst>
          </a:prstGeom>
          <a:solidFill>
            <a:srgbClr val="FFCC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>
                <a:latin typeface="Arial Narrow" panose="020B0606020202030204" pitchFamily="34" charset="0"/>
              </a:rPr>
              <a:t>New TLS session: unable to distinguish from renegotiation! </a:t>
            </a:r>
            <a:endParaRPr lang="en-US" altLang="it-IT" sz="1600" b="0">
              <a:latin typeface="Arial Narrow" panose="020B0606020202030204" pitchFamily="34" charset="0"/>
            </a:endParaRPr>
          </a:p>
        </p:txBody>
      </p:sp>
      <p:sp>
        <p:nvSpPr>
          <p:cNvPr id="16" name="AutoShape 7">
            <a:extLst>
              <a:ext uri="{FF2B5EF4-FFF2-40B4-BE49-F238E27FC236}">
                <a16:creationId xmlns:a16="http://schemas.microsoft.com/office/drawing/2014/main" id="{8A00870A-F9D8-EA2C-4178-E26A60566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420938"/>
            <a:ext cx="1728787" cy="314325"/>
          </a:xfrm>
          <a:prstGeom prst="wedgeRectCallout">
            <a:avLst>
              <a:gd name="adj1" fmla="val 39458"/>
              <a:gd name="adj2" fmla="val 231597"/>
            </a:avLst>
          </a:prstGeom>
          <a:solidFill>
            <a:srgbClr val="FFCC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>
                <a:latin typeface="Arial Narrow" panose="020B0606020202030204" pitchFamily="34" charset="0"/>
              </a:rPr>
              <a:t>MITM</a:t>
            </a:r>
            <a:endParaRPr lang="en-US" altLang="it-IT" sz="1600" b="0">
              <a:latin typeface="Arial Narrow" panose="020B0606020202030204" pitchFamily="34" charset="0"/>
            </a:endParaRP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8FC4F000-531D-47CD-325D-AA8D11C16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5192713"/>
            <a:ext cx="1728787" cy="757237"/>
          </a:xfrm>
          <a:prstGeom prst="wedgeRectCallout">
            <a:avLst>
              <a:gd name="adj1" fmla="val 43130"/>
              <a:gd name="adj2" fmla="val -104176"/>
            </a:avLst>
          </a:prstGeom>
          <a:solidFill>
            <a:srgbClr val="FFCC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>
                <a:latin typeface="Arial Narrow" panose="020B0606020202030204" pitchFamily="34" charset="0"/>
              </a:rPr>
              <a:t>Attacker unable to read or tamper anything here</a:t>
            </a:r>
            <a:endParaRPr lang="en-US" altLang="it-IT" sz="1600" b="0">
              <a:latin typeface="Arial Narrow" panose="020B0606020202030204" pitchFamily="34" charset="0"/>
            </a:endParaRPr>
          </a:p>
        </p:txBody>
      </p:sp>
      <p:sp>
        <p:nvSpPr>
          <p:cNvPr id="18" name="AutoShape 7">
            <a:extLst>
              <a:ext uri="{FF2B5EF4-FFF2-40B4-BE49-F238E27FC236}">
                <a16:creationId xmlns:a16="http://schemas.microsoft.com/office/drawing/2014/main" id="{7F41186B-45A7-BDCB-227E-33CA48CDD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5300663"/>
            <a:ext cx="1727200" cy="979487"/>
          </a:xfrm>
          <a:prstGeom prst="wedgeRectCallout">
            <a:avLst>
              <a:gd name="adj1" fmla="val 31375"/>
              <a:gd name="adj2" fmla="val -162954"/>
            </a:avLst>
          </a:prstGeom>
          <a:solidFill>
            <a:srgbClr val="FFCC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>
                <a:latin typeface="Arial Narrow" panose="020B0606020202030204" pitchFamily="34" charset="0"/>
              </a:rPr>
              <a:t>But attacker able to inject plaintext as it if were generated by Client!!!</a:t>
            </a:r>
            <a:endParaRPr lang="en-US" altLang="it-IT" sz="1600" b="0">
              <a:latin typeface="Arial Narrow" panose="020B0606020202030204" pitchFamily="34" charset="0"/>
            </a:endParaRPr>
          </a:p>
        </p:txBody>
      </p:sp>
      <p:sp>
        <p:nvSpPr>
          <p:cNvPr id="19" name="AutoShape 7">
            <a:extLst>
              <a:ext uri="{FF2B5EF4-FFF2-40B4-BE49-F238E27FC236}">
                <a16:creationId xmlns:a16="http://schemas.microsoft.com/office/drawing/2014/main" id="{623B3406-309B-4261-F234-98E3A3D6D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2349500"/>
            <a:ext cx="1727200" cy="977900"/>
          </a:xfrm>
          <a:prstGeom prst="wedgeRectCallout">
            <a:avLst>
              <a:gd name="adj1" fmla="val -75917"/>
              <a:gd name="adj2" fmla="val 71912"/>
            </a:avLst>
          </a:prstGeom>
          <a:solidFill>
            <a:srgbClr val="FFCC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>
                <a:latin typeface="Arial Narrow" panose="020B0606020202030204" pitchFamily="34" charset="0"/>
              </a:rPr>
              <a:t>Renegotiation: unable to distinguish from new session!</a:t>
            </a:r>
            <a:endParaRPr lang="en-US" altLang="it-IT" sz="1600" b="0">
              <a:latin typeface="Arial Narrow" panose="020B0606020202030204" pitchFamily="34" charset="0"/>
            </a:endParaRPr>
          </a:p>
        </p:txBody>
      </p:sp>
      <p:sp>
        <p:nvSpPr>
          <p:cNvPr id="19474" name="Freccia bidirezionale orizzontale 7">
            <a:extLst>
              <a:ext uri="{FF2B5EF4-FFF2-40B4-BE49-F238E27FC236}">
                <a16:creationId xmlns:a16="http://schemas.microsoft.com/office/drawing/2014/main" id="{8DF843EE-26A2-156B-E4E4-975EC2D9B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3213100"/>
            <a:ext cx="2016125" cy="720725"/>
          </a:xfrm>
          <a:prstGeom prst="leftRightArrow">
            <a:avLst>
              <a:gd name="adj1" fmla="val 50000"/>
              <a:gd name="adj2" fmla="val 49964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(encrypted)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7769BE-6495-35FA-9157-06991C0AB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works</a:t>
            </a:r>
            <a:r>
              <a:rPr lang="it-IT" dirty="0"/>
              <a:t> / bis</a:t>
            </a:r>
          </a:p>
        </p:txBody>
      </p:sp>
      <p:sp>
        <p:nvSpPr>
          <p:cNvPr id="12291" name="Rettangolo 4">
            <a:extLst>
              <a:ext uri="{FF2B5EF4-FFF2-40B4-BE49-F238E27FC236}">
                <a16:creationId xmlns:a16="http://schemas.microsoft.com/office/drawing/2014/main" id="{028F96BB-8774-08C2-D728-738801E8C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1557338"/>
            <a:ext cx="1008063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Server</a:t>
            </a:r>
          </a:p>
        </p:txBody>
      </p:sp>
      <p:sp>
        <p:nvSpPr>
          <p:cNvPr id="12292" name="Rettangolo 5">
            <a:extLst>
              <a:ext uri="{FF2B5EF4-FFF2-40B4-BE49-F238E27FC236}">
                <a16:creationId xmlns:a16="http://schemas.microsoft.com/office/drawing/2014/main" id="{FF2C5553-2459-0099-8CF5-603C2105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557338"/>
            <a:ext cx="1008063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Client</a:t>
            </a:r>
          </a:p>
        </p:txBody>
      </p:sp>
      <p:sp>
        <p:nvSpPr>
          <p:cNvPr id="12293" name="Freccia bidirezionale orizzontale 6">
            <a:extLst>
              <a:ext uri="{FF2B5EF4-FFF2-40B4-BE49-F238E27FC236}">
                <a16:creationId xmlns:a16="http://schemas.microsoft.com/office/drawing/2014/main" id="{EB2392B9-E6B5-3903-25F4-E9E29EE3B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2205038"/>
            <a:ext cx="2376487" cy="719137"/>
          </a:xfrm>
          <a:prstGeom prst="leftRightArrow">
            <a:avLst>
              <a:gd name="adj1" fmla="val 50000"/>
              <a:gd name="adj2" fmla="val 50074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TLS handshake</a:t>
            </a:r>
          </a:p>
        </p:txBody>
      </p:sp>
      <p:sp>
        <p:nvSpPr>
          <p:cNvPr id="12294" name="Freccia bidirezionale orizzontale 7">
            <a:extLst>
              <a:ext uri="{FF2B5EF4-FFF2-40B4-BE49-F238E27FC236}">
                <a16:creationId xmlns:a16="http://schemas.microsoft.com/office/drawing/2014/main" id="{FDA3E2E1-BD19-FFE8-3DD6-D48E9F9A8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3141663"/>
            <a:ext cx="2376487" cy="719137"/>
          </a:xfrm>
          <a:prstGeom prst="leftRightArrow">
            <a:avLst>
              <a:gd name="adj1" fmla="val 50000"/>
              <a:gd name="adj2" fmla="val 50074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App data (encrypted)</a:t>
            </a:r>
          </a:p>
        </p:txBody>
      </p:sp>
      <p:cxnSp>
        <p:nvCxnSpPr>
          <p:cNvPr id="20487" name="Connettore 1 10">
            <a:extLst>
              <a:ext uri="{FF2B5EF4-FFF2-40B4-BE49-F238E27FC236}">
                <a16:creationId xmlns:a16="http://schemas.microsoft.com/office/drawing/2014/main" id="{6456891F-4A09-A49D-3AC1-84FF700C9E3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221287" y="3860801"/>
            <a:ext cx="3311525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6" name="Freccia bidirezionale orizzontale 11">
            <a:extLst>
              <a:ext uri="{FF2B5EF4-FFF2-40B4-BE49-F238E27FC236}">
                <a16:creationId xmlns:a16="http://schemas.microsoft.com/office/drawing/2014/main" id="{53AC7DFE-BD21-7620-DD80-855540DB5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933825"/>
            <a:ext cx="5400675" cy="719138"/>
          </a:xfrm>
          <a:prstGeom prst="leftRightArrow">
            <a:avLst>
              <a:gd name="adj1" fmla="val 50000"/>
              <a:gd name="adj2" fmla="val 50066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TLS handshake</a:t>
            </a:r>
          </a:p>
        </p:txBody>
      </p:sp>
      <p:sp>
        <p:nvSpPr>
          <p:cNvPr id="12297" name="Freccia bidirezionale orizzontale 12">
            <a:extLst>
              <a:ext uri="{FF2B5EF4-FFF2-40B4-BE49-F238E27FC236}">
                <a16:creationId xmlns:a16="http://schemas.microsoft.com/office/drawing/2014/main" id="{610CCB15-6E58-8B8B-05E1-3D8B2B9BA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4365625"/>
            <a:ext cx="1728788" cy="719138"/>
          </a:xfrm>
          <a:prstGeom prst="leftRightArrow">
            <a:avLst>
              <a:gd name="adj1" fmla="val 50000"/>
              <a:gd name="adj2" fmla="val 50083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Buffered data</a:t>
            </a:r>
          </a:p>
        </p:txBody>
      </p:sp>
      <p:sp>
        <p:nvSpPr>
          <p:cNvPr id="12298" name="Freccia bidirezionale orizzontale 13">
            <a:extLst>
              <a:ext uri="{FF2B5EF4-FFF2-40B4-BE49-F238E27FC236}">
                <a16:creationId xmlns:a16="http://schemas.microsoft.com/office/drawing/2014/main" id="{85BD6E10-35AE-304D-89A1-DE0088E6B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788" y="4941888"/>
            <a:ext cx="5481637" cy="719137"/>
          </a:xfrm>
          <a:prstGeom prst="leftRightArrow">
            <a:avLst>
              <a:gd name="adj1" fmla="val 50000"/>
              <a:gd name="adj2" fmla="val 50076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App data (encrypted)</a:t>
            </a:r>
          </a:p>
        </p:txBody>
      </p:sp>
      <p:sp>
        <p:nvSpPr>
          <p:cNvPr id="12299" name="Freccia bidirezionale orizzontale 18">
            <a:extLst>
              <a:ext uri="{FF2B5EF4-FFF2-40B4-BE49-F238E27FC236}">
                <a16:creationId xmlns:a16="http://schemas.microsoft.com/office/drawing/2014/main" id="{239AC54F-D0BF-3ED7-3E79-445367A33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628775"/>
            <a:ext cx="1800225" cy="720725"/>
          </a:xfrm>
          <a:prstGeom prst="leftRightArrow">
            <a:avLst>
              <a:gd name="adj1" fmla="val 50000"/>
              <a:gd name="adj2" fmla="val 49956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0492" name="Figura a mano libera 19">
            <a:extLst>
              <a:ext uri="{FF2B5EF4-FFF2-40B4-BE49-F238E27FC236}">
                <a16:creationId xmlns:a16="http://schemas.microsoft.com/office/drawing/2014/main" id="{C4740296-15B3-78F3-C595-433B231A808F}"/>
              </a:ext>
            </a:extLst>
          </p:cNvPr>
          <p:cNvSpPr>
            <a:spLocks/>
          </p:cNvSpPr>
          <p:nvPr/>
        </p:nvSpPr>
        <p:spPr bwMode="auto">
          <a:xfrm>
            <a:off x="2681288" y="1450975"/>
            <a:ext cx="1314450" cy="1041400"/>
          </a:xfrm>
          <a:custGeom>
            <a:avLst/>
            <a:gdLst>
              <a:gd name="T0" fmla="*/ 49886 w 1315289"/>
              <a:gd name="T1" fmla="*/ 990600 h 1041400"/>
              <a:gd name="T2" fmla="*/ 62506 w 1315289"/>
              <a:gd name="T3" fmla="*/ 901700 h 1041400"/>
              <a:gd name="T4" fmla="*/ 62506 w 1315289"/>
              <a:gd name="T5" fmla="*/ 787400 h 1041400"/>
              <a:gd name="T6" fmla="*/ 24646 w 1315289"/>
              <a:gd name="T7" fmla="*/ 762000 h 1041400"/>
              <a:gd name="T8" fmla="*/ 24646 w 1315289"/>
              <a:gd name="T9" fmla="*/ 673100 h 1041400"/>
              <a:gd name="T10" fmla="*/ 62506 w 1315289"/>
              <a:gd name="T11" fmla="*/ 647700 h 1041400"/>
              <a:gd name="T12" fmla="*/ 100366 w 1315289"/>
              <a:gd name="T13" fmla="*/ 571500 h 1041400"/>
              <a:gd name="T14" fmla="*/ 75126 w 1315289"/>
              <a:gd name="T15" fmla="*/ 533400 h 1041400"/>
              <a:gd name="T16" fmla="*/ 24646 w 1315289"/>
              <a:gd name="T17" fmla="*/ 508000 h 1041400"/>
              <a:gd name="T18" fmla="*/ 12026 w 1315289"/>
              <a:gd name="T19" fmla="*/ 469900 h 1041400"/>
              <a:gd name="T20" fmla="*/ 87746 w 1315289"/>
              <a:gd name="T21" fmla="*/ 393700 h 1041400"/>
              <a:gd name="T22" fmla="*/ 125603 w 1315289"/>
              <a:gd name="T23" fmla="*/ 381000 h 1041400"/>
              <a:gd name="T24" fmla="*/ 100366 w 1315289"/>
              <a:gd name="T25" fmla="*/ 279400 h 1041400"/>
              <a:gd name="T26" fmla="*/ 49886 w 1315289"/>
              <a:gd name="T27" fmla="*/ 203200 h 1041400"/>
              <a:gd name="T28" fmla="*/ 75126 w 1315289"/>
              <a:gd name="T29" fmla="*/ 165100 h 1041400"/>
              <a:gd name="T30" fmla="*/ 188697 w 1315289"/>
              <a:gd name="T31" fmla="*/ 101600 h 1041400"/>
              <a:gd name="T32" fmla="*/ 239175 w 1315289"/>
              <a:gd name="T33" fmla="*/ 88900 h 1041400"/>
              <a:gd name="T34" fmla="*/ 327510 w 1315289"/>
              <a:gd name="T35" fmla="*/ 50800 h 1041400"/>
              <a:gd name="T36" fmla="*/ 365367 w 1315289"/>
              <a:gd name="T37" fmla="*/ 25400 h 1041400"/>
              <a:gd name="T38" fmla="*/ 567275 w 1315289"/>
              <a:gd name="T39" fmla="*/ 0 h 1041400"/>
              <a:gd name="T40" fmla="*/ 781801 w 1315289"/>
              <a:gd name="T41" fmla="*/ 12700 h 1041400"/>
              <a:gd name="T42" fmla="*/ 819658 w 1315289"/>
              <a:gd name="T43" fmla="*/ 25400 h 1041400"/>
              <a:gd name="T44" fmla="*/ 907993 w 1315289"/>
              <a:gd name="T45" fmla="*/ 76200 h 1041400"/>
              <a:gd name="T46" fmla="*/ 996328 w 1315289"/>
              <a:gd name="T47" fmla="*/ 177800 h 1041400"/>
              <a:gd name="T48" fmla="*/ 1034185 w 1315289"/>
              <a:gd name="T49" fmla="*/ 228600 h 1041400"/>
              <a:gd name="T50" fmla="*/ 1072044 w 1315289"/>
              <a:gd name="T51" fmla="*/ 254000 h 1041400"/>
              <a:gd name="T52" fmla="*/ 1135140 w 1315289"/>
              <a:gd name="T53" fmla="*/ 317500 h 1041400"/>
              <a:gd name="T54" fmla="*/ 1185616 w 1315289"/>
              <a:gd name="T55" fmla="*/ 355600 h 1041400"/>
              <a:gd name="T56" fmla="*/ 1223476 w 1315289"/>
              <a:gd name="T57" fmla="*/ 406400 h 1041400"/>
              <a:gd name="T58" fmla="*/ 1273951 w 1315289"/>
              <a:gd name="T59" fmla="*/ 457200 h 1041400"/>
              <a:gd name="T60" fmla="*/ 1273951 w 1315289"/>
              <a:gd name="T61" fmla="*/ 698500 h 1041400"/>
              <a:gd name="T62" fmla="*/ 1236094 w 1315289"/>
              <a:gd name="T63" fmla="*/ 736600 h 1041400"/>
              <a:gd name="T64" fmla="*/ 1185616 w 1315289"/>
              <a:gd name="T65" fmla="*/ 838200 h 1041400"/>
              <a:gd name="T66" fmla="*/ 1021566 w 1315289"/>
              <a:gd name="T67" fmla="*/ 965200 h 1041400"/>
              <a:gd name="T68" fmla="*/ 933232 w 1315289"/>
              <a:gd name="T69" fmla="*/ 990600 h 1041400"/>
              <a:gd name="T70" fmla="*/ 731324 w 1315289"/>
              <a:gd name="T71" fmla="*/ 1041400 h 1041400"/>
              <a:gd name="T72" fmla="*/ 390606 w 1315289"/>
              <a:gd name="T73" fmla="*/ 1003300 h 1041400"/>
              <a:gd name="T74" fmla="*/ 340129 w 1315289"/>
              <a:gd name="T75" fmla="*/ 990600 h 1041400"/>
              <a:gd name="T76" fmla="*/ 302271 w 1315289"/>
              <a:gd name="T77" fmla="*/ 965200 h 1041400"/>
              <a:gd name="T78" fmla="*/ 112985 w 1315289"/>
              <a:gd name="T79" fmla="*/ 965200 h 1041400"/>
              <a:gd name="T80" fmla="*/ 62506 w 1315289"/>
              <a:gd name="T81" fmla="*/ 977900 h 1041400"/>
              <a:gd name="T82" fmla="*/ 49886 w 1315289"/>
              <a:gd name="T83" fmla="*/ 990600 h 1041400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315289"/>
              <a:gd name="T127" fmla="*/ 0 h 1041400"/>
              <a:gd name="T128" fmla="*/ 1315289 w 1315289"/>
              <a:gd name="T129" fmla="*/ 1041400 h 1041400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315289" h="1041400">
                <a:moveTo>
                  <a:pt x="50206" y="990600"/>
                </a:moveTo>
                <a:cubicBezTo>
                  <a:pt x="50206" y="977900"/>
                  <a:pt x="57035" y="931053"/>
                  <a:pt x="62906" y="901700"/>
                </a:cubicBezTo>
                <a:cubicBezTo>
                  <a:pt x="73367" y="849394"/>
                  <a:pt x="97776" y="857141"/>
                  <a:pt x="62906" y="787400"/>
                </a:cubicBezTo>
                <a:cubicBezTo>
                  <a:pt x="56080" y="773748"/>
                  <a:pt x="37506" y="770467"/>
                  <a:pt x="24806" y="762000"/>
                </a:cubicBezTo>
                <a:cubicBezTo>
                  <a:pt x="13381" y="727726"/>
                  <a:pt x="0" y="710309"/>
                  <a:pt x="24806" y="673100"/>
                </a:cubicBezTo>
                <a:cubicBezTo>
                  <a:pt x="33273" y="660400"/>
                  <a:pt x="50206" y="656167"/>
                  <a:pt x="62906" y="647700"/>
                </a:cubicBezTo>
                <a:cubicBezTo>
                  <a:pt x="71751" y="634432"/>
                  <a:pt x="104511" y="592532"/>
                  <a:pt x="101006" y="571500"/>
                </a:cubicBezTo>
                <a:cubicBezTo>
                  <a:pt x="98497" y="556444"/>
                  <a:pt x="87332" y="543171"/>
                  <a:pt x="75606" y="533400"/>
                </a:cubicBezTo>
                <a:cubicBezTo>
                  <a:pt x="61062" y="521280"/>
                  <a:pt x="41739" y="516467"/>
                  <a:pt x="24806" y="508000"/>
                </a:cubicBezTo>
                <a:cubicBezTo>
                  <a:pt x="20573" y="495300"/>
                  <a:pt x="8428" y="482772"/>
                  <a:pt x="12106" y="469900"/>
                </a:cubicBezTo>
                <a:cubicBezTo>
                  <a:pt x="20941" y="438977"/>
                  <a:pt x="60301" y="407702"/>
                  <a:pt x="88306" y="393700"/>
                </a:cubicBezTo>
                <a:cubicBezTo>
                  <a:pt x="100280" y="387713"/>
                  <a:pt x="113706" y="385233"/>
                  <a:pt x="126406" y="381000"/>
                </a:cubicBezTo>
                <a:cubicBezTo>
                  <a:pt x="117939" y="347133"/>
                  <a:pt x="114757" y="311486"/>
                  <a:pt x="101006" y="279400"/>
                </a:cubicBezTo>
                <a:cubicBezTo>
                  <a:pt x="88981" y="251341"/>
                  <a:pt x="50206" y="203200"/>
                  <a:pt x="50206" y="203200"/>
                </a:cubicBezTo>
                <a:cubicBezTo>
                  <a:pt x="58673" y="190500"/>
                  <a:pt x="64119" y="175151"/>
                  <a:pt x="75606" y="165100"/>
                </a:cubicBezTo>
                <a:cubicBezTo>
                  <a:pt x="119710" y="126509"/>
                  <a:pt x="141805" y="115343"/>
                  <a:pt x="189906" y="101600"/>
                </a:cubicBezTo>
                <a:cubicBezTo>
                  <a:pt x="206689" y="96805"/>
                  <a:pt x="223773" y="93133"/>
                  <a:pt x="240706" y="88900"/>
                </a:cubicBezTo>
                <a:cubicBezTo>
                  <a:pt x="336358" y="25132"/>
                  <a:pt x="214792" y="100006"/>
                  <a:pt x="329606" y="50800"/>
                </a:cubicBezTo>
                <a:cubicBezTo>
                  <a:pt x="343635" y="44787"/>
                  <a:pt x="352770" y="28544"/>
                  <a:pt x="367706" y="25400"/>
                </a:cubicBezTo>
                <a:cubicBezTo>
                  <a:pt x="434502" y="11338"/>
                  <a:pt x="570906" y="0"/>
                  <a:pt x="570906" y="0"/>
                </a:cubicBezTo>
                <a:cubicBezTo>
                  <a:pt x="642873" y="4233"/>
                  <a:pt x="715073" y="5527"/>
                  <a:pt x="786806" y="12700"/>
                </a:cubicBezTo>
                <a:cubicBezTo>
                  <a:pt x="800127" y="14032"/>
                  <a:pt x="812601" y="20127"/>
                  <a:pt x="824906" y="25400"/>
                </a:cubicBezTo>
                <a:cubicBezTo>
                  <a:pt x="870022" y="44736"/>
                  <a:pt x="875542" y="50691"/>
                  <a:pt x="913806" y="76200"/>
                </a:cubicBezTo>
                <a:cubicBezTo>
                  <a:pt x="968438" y="158148"/>
                  <a:pt x="903649" y="66361"/>
                  <a:pt x="1002706" y="177800"/>
                </a:cubicBezTo>
                <a:cubicBezTo>
                  <a:pt x="1016768" y="193620"/>
                  <a:pt x="1025839" y="213633"/>
                  <a:pt x="1040806" y="228600"/>
                </a:cubicBezTo>
                <a:cubicBezTo>
                  <a:pt x="1051599" y="239393"/>
                  <a:pt x="1067419" y="243949"/>
                  <a:pt x="1078906" y="254000"/>
                </a:cubicBezTo>
                <a:cubicBezTo>
                  <a:pt x="1101434" y="273712"/>
                  <a:pt x="1120033" y="297613"/>
                  <a:pt x="1142406" y="317500"/>
                </a:cubicBezTo>
                <a:cubicBezTo>
                  <a:pt x="1158226" y="331562"/>
                  <a:pt x="1178239" y="340633"/>
                  <a:pt x="1193206" y="355600"/>
                </a:cubicBezTo>
                <a:cubicBezTo>
                  <a:pt x="1208173" y="370567"/>
                  <a:pt x="1217368" y="390470"/>
                  <a:pt x="1231306" y="406400"/>
                </a:cubicBezTo>
                <a:cubicBezTo>
                  <a:pt x="1247075" y="424422"/>
                  <a:pt x="1265173" y="440267"/>
                  <a:pt x="1282106" y="457200"/>
                </a:cubicBezTo>
                <a:cubicBezTo>
                  <a:pt x="1312391" y="548056"/>
                  <a:pt x="1315289" y="540882"/>
                  <a:pt x="1282106" y="698500"/>
                </a:cubicBezTo>
                <a:cubicBezTo>
                  <a:pt x="1278406" y="716075"/>
                  <a:pt x="1256706" y="723900"/>
                  <a:pt x="1244006" y="736600"/>
                </a:cubicBezTo>
                <a:cubicBezTo>
                  <a:pt x="1228380" y="783479"/>
                  <a:pt x="1229196" y="790213"/>
                  <a:pt x="1193206" y="838200"/>
                </a:cubicBezTo>
                <a:cubicBezTo>
                  <a:pt x="1161507" y="880466"/>
                  <a:pt x="1046276" y="959143"/>
                  <a:pt x="1028106" y="965200"/>
                </a:cubicBezTo>
                <a:cubicBezTo>
                  <a:pt x="900063" y="1007881"/>
                  <a:pt x="1098674" y="942760"/>
                  <a:pt x="939206" y="990600"/>
                </a:cubicBezTo>
                <a:cubicBezTo>
                  <a:pt x="782998" y="1037463"/>
                  <a:pt x="952230" y="998155"/>
                  <a:pt x="736006" y="1041400"/>
                </a:cubicBezTo>
                <a:cubicBezTo>
                  <a:pt x="643876" y="1034313"/>
                  <a:pt x="481655" y="1025437"/>
                  <a:pt x="393106" y="1003300"/>
                </a:cubicBezTo>
                <a:lnTo>
                  <a:pt x="342306" y="990600"/>
                </a:lnTo>
                <a:cubicBezTo>
                  <a:pt x="329606" y="982133"/>
                  <a:pt x="317858" y="972026"/>
                  <a:pt x="304206" y="965200"/>
                </a:cubicBezTo>
                <a:cubicBezTo>
                  <a:pt x="242449" y="934321"/>
                  <a:pt x="185381" y="959227"/>
                  <a:pt x="113706" y="965200"/>
                </a:cubicBezTo>
                <a:cubicBezTo>
                  <a:pt x="94123" y="1023950"/>
                  <a:pt x="114489" y="1003692"/>
                  <a:pt x="62906" y="977900"/>
                </a:cubicBezTo>
                <a:cubicBezTo>
                  <a:pt x="59120" y="976007"/>
                  <a:pt x="50206" y="1003300"/>
                  <a:pt x="50206" y="9906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2301" name="Rettangolo 3">
            <a:extLst>
              <a:ext uri="{FF2B5EF4-FFF2-40B4-BE49-F238E27FC236}">
                <a16:creationId xmlns:a16="http://schemas.microsoft.com/office/drawing/2014/main" id="{396AE254-BC19-13B1-B538-EBADE2BF5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1557338"/>
            <a:ext cx="1008063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Attacker</a:t>
            </a:r>
          </a:p>
        </p:txBody>
      </p:sp>
      <p:cxnSp>
        <p:nvCxnSpPr>
          <p:cNvPr id="12302" name="Connettore 1 9">
            <a:extLst>
              <a:ext uri="{FF2B5EF4-FFF2-40B4-BE49-F238E27FC236}">
                <a16:creationId xmlns:a16="http://schemas.microsoft.com/office/drawing/2014/main" id="{C96CCBDD-1F4C-D59B-3B69-1738AEED6DC0}"/>
              </a:ext>
            </a:extLst>
          </p:cNvPr>
          <p:cNvCxnSpPr>
            <a:cxnSpLocks noChangeShapeType="1"/>
            <a:stCxn id="12301" idx="2"/>
          </p:cNvCxnSpPr>
          <p:nvPr/>
        </p:nvCxnSpPr>
        <p:spPr bwMode="auto">
          <a:xfrm rot="5400000">
            <a:off x="2124075" y="3860801"/>
            <a:ext cx="3311525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5" name="Figura a mano libera 20">
            <a:extLst>
              <a:ext uri="{FF2B5EF4-FFF2-40B4-BE49-F238E27FC236}">
                <a16:creationId xmlns:a16="http://schemas.microsoft.com/office/drawing/2014/main" id="{9D0765A8-66CE-2324-B006-D3CE5F0DE8BC}"/>
              </a:ext>
            </a:extLst>
          </p:cNvPr>
          <p:cNvSpPr>
            <a:spLocks/>
          </p:cNvSpPr>
          <p:nvPr/>
        </p:nvSpPr>
        <p:spPr bwMode="auto">
          <a:xfrm>
            <a:off x="1258888" y="3756025"/>
            <a:ext cx="1728787" cy="1041400"/>
          </a:xfrm>
          <a:custGeom>
            <a:avLst/>
            <a:gdLst>
              <a:gd name="T0" fmla="*/ 1015184 w 1315289"/>
              <a:gd name="T1" fmla="*/ 990600 h 1041400"/>
              <a:gd name="T2" fmla="*/ 1271972 w 1315289"/>
              <a:gd name="T3" fmla="*/ 901700 h 1041400"/>
              <a:gd name="T4" fmla="*/ 1271972 w 1315289"/>
              <a:gd name="T5" fmla="*/ 787400 h 1041400"/>
              <a:gd name="T6" fmla="*/ 501575 w 1315289"/>
              <a:gd name="T7" fmla="*/ 762000 h 1041400"/>
              <a:gd name="T8" fmla="*/ 501575 w 1315289"/>
              <a:gd name="T9" fmla="*/ 673100 h 1041400"/>
              <a:gd name="T10" fmla="*/ 1271972 w 1315289"/>
              <a:gd name="T11" fmla="*/ 647700 h 1041400"/>
              <a:gd name="T12" fmla="*/ 2042378 w 1315289"/>
              <a:gd name="T13" fmla="*/ 571500 h 1041400"/>
              <a:gd name="T14" fmla="*/ 1528766 w 1315289"/>
              <a:gd name="T15" fmla="*/ 533400 h 1041400"/>
              <a:gd name="T16" fmla="*/ 501575 w 1315289"/>
              <a:gd name="T17" fmla="*/ 508000 h 1041400"/>
              <a:gd name="T18" fmla="*/ 244785 w 1315289"/>
              <a:gd name="T19" fmla="*/ 469900 h 1041400"/>
              <a:gd name="T20" fmla="*/ 1785569 w 1315289"/>
              <a:gd name="T21" fmla="*/ 393700 h 1041400"/>
              <a:gd name="T22" fmla="*/ 2555963 w 1315289"/>
              <a:gd name="T23" fmla="*/ 381000 h 1041400"/>
              <a:gd name="T24" fmla="*/ 2042378 w 1315289"/>
              <a:gd name="T25" fmla="*/ 279400 h 1041400"/>
              <a:gd name="T26" fmla="*/ 1015184 w 1315289"/>
              <a:gd name="T27" fmla="*/ 203200 h 1041400"/>
              <a:gd name="T28" fmla="*/ 1528766 w 1315289"/>
              <a:gd name="T29" fmla="*/ 165100 h 1041400"/>
              <a:gd name="T30" fmla="*/ 3839928 w 1315289"/>
              <a:gd name="T31" fmla="*/ 101600 h 1041400"/>
              <a:gd name="T32" fmla="*/ 4867131 w 1315289"/>
              <a:gd name="T33" fmla="*/ 88900 h 1041400"/>
              <a:gd name="T34" fmla="*/ 6664713 w 1315289"/>
              <a:gd name="T35" fmla="*/ 50800 h 1041400"/>
              <a:gd name="T36" fmla="*/ 7435100 w 1315289"/>
              <a:gd name="T37" fmla="*/ 25400 h 1041400"/>
              <a:gd name="T38" fmla="*/ 11543841 w 1315289"/>
              <a:gd name="T39" fmla="*/ 0 h 1041400"/>
              <a:gd name="T40" fmla="*/ 15909382 w 1315289"/>
              <a:gd name="T41" fmla="*/ 12700 h 1041400"/>
              <a:gd name="T42" fmla="*/ 16679773 w 1315289"/>
              <a:gd name="T43" fmla="*/ 25400 h 1041400"/>
              <a:gd name="T44" fmla="*/ 18477352 w 1315289"/>
              <a:gd name="T45" fmla="*/ 76200 h 1041400"/>
              <a:gd name="T46" fmla="*/ 20274943 w 1315289"/>
              <a:gd name="T47" fmla="*/ 177800 h 1041400"/>
              <a:gd name="T48" fmla="*/ 21045329 w 1315289"/>
              <a:gd name="T49" fmla="*/ 228600 h 1041400"/>
              <a:gd name="T50" fmla="*/ 21815704 w 1315289"/>
              <a:gd name="T51" fmla="*/ 254000 h 1041400"/>
              <a:gd name="T52" fmla="*/ 23099688 w 1315289"/>
              <a:gd name="T53" fmla="*/ 317500 h 1041400"/>
              <a:gd name="T54" fmla="*/ 24126879 w 1315289"/>
              <a:gd name="T55" fmla="*/ 355600 h 1041400"/>
              <a:gd name="T56" fmla="*/ 24897265 w 1315289"/>
              <a:gd name="T57" fmla="*/ 406400 h 1041400"/>
              <a:gd name="T58" fmla="*/ 25924458 w 1315289"/>
              <a:gd name="T59" fmla="*/ 457200 h 1041400"/>
              <a:gd name="T60" fmla="*/ 25924458 w 1315289"/>
              <a:gd name="T61" fmla="*/ 698500 h 1041400"/>
              <a:gd name="T62" fmla="*/ 25154072 w 1315289"/>
              <a:gd name="T63" fmla="*/ 736600 h 1041400"/>
              <a:gd name="T64" fmla="*/ 24126879 w 1315289"/>
              <a:gd name="T65" fmla="*/ 838200 h 1041400"/>
              <a:gd name="T66" fmla="*/ 20788510 w 1315289"/>
              <a:gd name="T67" fmla="*/ 965200 h 1041400"/>
              <a:gd name="T68" fmla="*/ 18990933 w 1315289"/>
              <a:gd name="T69" fmla="*/ 990600 h 1041400"/>
              <a:gd name="T70" fmla="*/ 14882203 w 1315289"/>
              <a:gd name="T71" fmla="*/ 1041400 h 1041400"/>
              <a:gd name="T72" fmla="*/ 7948672 w 1315289"/>
              <a:gd name="T73" fmla="*/ 1003300 h 1041400"/>
              <a:gd name="T74" fmla="*/ 6921502 w 1315289"/>
              <a:gd name="T75" fmla="*/ 990600 h 1041400"/>
              <a:gd name="T76" fmla="*/ 6151116 w 1315289"/>
              <a:gd name="T77" fmla="*/ 965200 h 1041400"/>
              <a:gd name="T78" fmla="*/ 2299156 w 1315289"/>
              <a:gd name="T79" fmla="*/ 965200 h 1041400"/>
              <a:gd name="T80" fmla="*/ 1271972 w 1315289"/>
              <a:gd name="T81" fmla="*/ 977900 h 1041400"/>
              <a:gd name="T82" fmla="*/ 1015184 w 1315289"/>
              <a:gd name="T83" fmla="*/ 990600 h 1041400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315289"/>
              <a:gd name="T127" fmla="*/ 0 h 1041400"/>
              <a:gd name="T128" fmla="*/ 1315289 w 1315289"/>
              <a:gd name="T129" fmla="*/ 1041400 h 1041400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315289" h="1041400">
                <a:moveTo>
                  <a:pt x="50206" y="990600"/>
                </a:moveTo>
                <a:cubicBezTo>
                  <a:pt x="50206" y="977900"/>
                  <a:pt x="57035" y="931053"/>
                  <a:pt x="62906" y="901700"/>
                </a:cubicBezTo>
                <a:cubicBezTo>
                  <a:pt x="73367" y="849394"/>
                  <a:pt x="97776" y="857141"/>
                  <a:pt x="62906" y="787400"/>
                </a:cubicBezTo>
                <a:cubicBezTo>
                  <a:pt x="56080" y="773748"/>
                  <a:pt x="37506" y="770467"/>
                  <a:pt x="24806" y="762000"/>
                </a:cubicBezTo>
                <a:cubicBezTo>
                  <a:pt x="13381" y="727726"/>
                  <a:pt x="0" y="710309"/>
                  <a:pt x="24806" y="673100"/>
                </a:cubicBezTo>
                <a:cubicBezTo>
                  <a:pt x="33273" y="660400"/>
                  <a:pt x="50206" y="656167"/>
                  <a:pt x="62906" y="647700"/>
                </a:cubicBezTo>
                <a:cubicBezTo>
                  <a:pt x="71751" y="634432"/>
                  <a:pt x="104511" y="592532"/>
                  <a:pt x="101006" y="571500"/>
                </a:cubicBezTo>
                <a:cubicBezTo>
                  <a:pt x="98497" y="556444"/>
                  <a:pt x="87332" y="543171"/>
                  <a:pt x="75606" y="533400"/>
                </a:cubicBezTo>
                <a:cubicBezTo>
                  <a:pt x="61062" y="521280"/>
                  <a:pt x="41739" y="516467"/>
                  <a:pt x="24806" y="508000"/>
                </a:cubicBezTo>
                <a:cubicBezTo>
                  <a:pt x="20573" y="495300"/>
                  <a:pt x="8428" y="482772"/>
                  <a:pt x="12106" y="469900"/>
                </a:cubicBezTo>
                <a:cubicBezTo>
                  <a:pt x="20941" y="438977"/>
                  <a:pt x="60301" y="407702"/>
                  <a:pt x="88306" y="393700"/>
                </a:cubicBezTo>
                <a:cubicBezTo>
                  <a:pt x="100280" y="387713"/>
                  <a:pt x="113706" y="385233"/>
                  <a:pt x="126406" y="381000"/>
                </a:cubicBezTo>
                <a:cubicBezTo>
                  <a:pt x="117939" y="347133"/>
                  <a:pt x="114757" y="311486"/>
                  <a:pt x="101006" y="279400"/>
                </a:cubicBezTo>
                <a:cubicBezTo>
                  <a:pt x="88981" y="251341"/>
                  <a:pt x="50206" y="203200"/>
                  <a:pt x="50206" y="203200"/>
                </a:cubicBezTo>
                <a:cubicBezTo>
                  <a:pt x="58673" y="190500"/>
                  <a:pt x="64119" y="175151"/>
                  <a:pt x="75606" y="165100"/>
                </a:cubicBezTo>
                <a:cubicBezTo>
                  <a:pt x="119710" y="126509"/>
                  <a:pt x="141805" y="115343"/>
                  <a:pt x="189906" y="101600"/>
                </a:cubicBezTo>
                <a:cubicBezTo>
                  <a:pt x="206689" y="96805"/>
                  <a:pt x="223773" y="93133"/>
                  <a:pt x="240706" y="88900"/>
                </a:cubicBezTo>
                <a:cubicBezTo>
                  <a:pt x="336358" y="25132"/>
                  <a:pt x="214792" y="100006"/>
                  <a:pt x="329606" y="50800"/>
                </a:cubicBezTo>
                <a:cubicBezTo>
                  <a:pt x="343635" y="44787"/>
                  <a:pt x="352770" y="28544"/>
                  <a:pt x="367706" y="25400"/>
                </a:cubicBezTo>
                <a:cubicBezTo>
                  <a:pt x="434502" y="11338"/>
                  <a:pt x="570906" y="0"/>
                  <a:pt x="570906" y="0"/>
                </a:cubicBezTo>
                <a:cubicBezTo>
                  <a:pt x="642873" y="4233"/>
                  <a:pt x="715073" y="5527"/>
                  <a:pt x="786806" y="12700"/>
                </a:cubicBezTo>
                <a:cubicBezTo>
                  <a:pt x="800127" y="14032"/>
                  <a:pt x="812601" y="20127"/>
                  <a:pt x="824906" y="25400"/>
                </a:cubicBezTo>
                <a:cubicBezTo>
                  <a:pt x="870022" y="44736"/>
                  <a:pt x="875542" y="50691"/>
                  <a:pt x="913806" y="76200"/>
                </a:cubicBezTo>
                <a:cubicBezTo>
                  <a:pt x="968438" y="158148"/>
                  <a:pt x="903649" y="66361"/>
                  <a:pt x="1002706" y="177800"/>
                </a:cubicBezTo>
                <a:cubicBezTo>
                  <a:pt x="1016768" y="193620"/>
                  <a:pt x="1025839" y="213633"/>
                  <a:pt x="1040806" y="228600"/>
                </a:cubicBezTo>
                <a:cubicBezTo>
                  <a:pt x="1051599" y="239393"/>
                  <a:pt x="1067419" y="243949"/>
                  <a:pt x="1078906" y="254000"/>
                </a:cubicBezTo>
                <a:cubicBezTo>
                  <a:pt x="1101434" y="273712"/>
                  <a:pt x="1120033" y="297613"/>
                  <a:pt x="1142406" y="317500"/>
                </a:cubicBezTo>
                <a:cubicBezTo>
                  <a:pt x="1158226" y="331562"/>
                  <a:pt x="1178239" y="340633"/>
                  <a:pt x="1193206" y="355600"/>
                </a:cubicBezTo>
                <a:cubicBezTo>
                  <a:pt x="1208173" y="370567"/>
                  <a:pt x="1217368" y="390470"/>
                  <a:pt x="1231306" y="406400"/>
                </a:cubicBezTo>
                <a:cubicBezTo>
                  <a:pt x="1247075" y="424422"/>
                  <a:pt x="1265173" y="440267"/>
                  <a:pt x="1282106" y="457200"/>
                </a:cubicBezTo>
                <a:cubicBezTo>
                  <a:pt x="1312391" y="548056"/>
                  <a:pt x="1315289" y="540882"/>
                  <a:pt x="1282106" y="698500"/>
                </a:cubicBezTo>
                <a:cubicBezTo>
                  <a:pt x="1278406" y="716075"/>
                  <a:pt x="1256706" y="723900"/>
                  <a:pt x="1244006" y="736600"/>
                </a:cubicBezTo>
                <a:cubicBezTo>
                  <a:pt x="1228380" y="783479"/>
                  <a:pt x="1229196" y="790213"/>
                  <a:pt x="1193206" y="838200"/>
                </a:cubicBezTo>
                <a:cubicBezTo>
                  <a:pt x="1161507" y="880466"/>
                  <a:pt x="1046276" y="959143"/>
                  <a:pt x="1028106" y="965200"/>
                </a:cubicBezTo>
                <a:cubicBezTo>
                  <a:pt x="900063" y="1007881"/>
                  <a:pt x="1098674" y="942760"/>
                  <a:pt x="939206" y="990600"/>
                </a:cubicBezTo>
                <a:cubicBezTo>
                  <a:pt x="782998" y="1037463"/>
                  <a:pt x="952230" y="998155"/>
                  <a:pt x="736006" y="1041400"/>
                </a:cubicBezTo>
                <a:cubicBezTo>
                  <a:pt x="643876" y="1034313"/>
                  <a:pt x="481655" y="1025437"/>
                  <a:pt x="393106" y="1003300"/>
                </a:cubicBezTo>
                <a:lnTo>
                  <a:pt x="342306" y="990600"/>
                </a:lnTo>
                <a:cubicBezTo>
                  <a:pt x="329606" y="982133"/>
                  <a:pt x="317858" y="972026"/>
                  <a:pt x="304206" y="965200"/>
                </a:cubicBezTo>
                <a:cubicBezTo>
                  <a:pt x="242449" y="934321"/>
                  <a:pt x="185381" y="959227"/>
                  <a:pt x="113706" y="965200"/>
                </a:cubicBezTo>
                <a:cubicBezTo>
                  <a:pt x="94123" y="1023950"/>
                  <a:pt x="114489" y="1003692"/>
                  <a:pt x="62906" y="977900"/>
                </a:cubicBezTo>
                <a:cubicBezTo>
                  <a:pt x="59120" y="976007"/>
                  <a:pt x="50206" y="1003300"/>
                  <a:pt x="50206" y="9906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it-IT"/>
          </a:p>
        </p:txBody>
      </p:sp>
      <p:cxnSp>
        <p:nvCxnSpPr>
          <p:cNvPr id="12304" name="Connettore 2 22">
            <a:extLst>
              <a:ext uri="{FF2B5EF4-FFF2-40B4-BE49-F238E27FC236}">
                <a16:creationId xmlns:a16="http://schemas.microsoft.com/office/drawing/2014/main" id="{A65B131D-C933-D378-E017-5341698A7E05}"/>
              </a:ext>
            </a:extLst>
          </p:cNvPr>
          <p:cNvCxnSpPr>
            <a:cxnSpLocks noChangeShapeType="1"/>
            <a:stCxn id="20492" idx="39"/>
            <a:endCxn id="20495" idx="26"/>
          </p:cNvCxnSpPr>
          <p:nvPr/>
        </p:nvCxnSpPr>
        <p:spPr bwMode="auto">
          <a:xfrm flipH="1">
            <a:off x="2760663" y="2416175"/>
            <a:ext cx="33337" cy="16573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05" name="CasellaDiTesto 16">
            <a:extLst>
              <a:ext uri="{FF2B5EF4-FFF2-40B4-BE49-F238E27FC236}">
                <a16:creationId xmlns:a16="http://schemas.microsoft.com/office/drawing/2014/main" id="{CDBD5E07-174F-F691-C058-EDD011C7B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" y="5734050"/>
            <a:ext cx="88995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i="1">
                <a:solidFill>
                  <a:srgbClr val="FF0000"/>
                </a:solidFill>
                <a:latin typeface="Arial Narrow" panose="020B0606020202030204" pitchFamily="34" charset="0"/>
              </a:rPr>
              <a:t>Non trivial details (omitted here): i) how to properly buffer data? Ii) how to precisely trigger renegotiation?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i="1">
                <a:solidFill>
                  <a:srgbClr val="FF0000"/>
                </a:solidFill>
                <a:latin typeface="Arial Narrow" panose="020B0606020202030204" pitchFamily="34" charset="0"/>
              </a:rPr>
              <a:t>Both can be sorted out (indeed, attack was experimentally proved) </a:t>
            </a:r>
          </a:p>
        </p:txBody>
      </p:sp>
      <p:sp>
        <p:nvSpPr>
          <p:cNvPr id="12306" name="Freccia bidirezionale orizzontale 7">
            <a:extLst>
              <a:ext uri="{FF2B5EF4-FFF2-40B4-BE49-F238E27FC236}">
                <a16:creationId xmlns:a16="http://schemas.microsoft.com/office/drawing/2014/main" id="{92FEB2A9-0075-A79D-E2BF-D083EB66E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3933825"/>
            <a:ext cx="2016125" cy="720725"/>
          </a:xfrm>
          <a:prstGeom prst="leftRightArrow">
            <a:avLst>
              <a:gd name="adj1" fmla="val 50000"/>
              <a:gd name="adj2" fmla="val 49964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(encrypted)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nimBg="1"/>
      <p:bldP spid="12292" grpId="0" animBg="1"/>
      <p:bldP spid="12293" grpId="0" animBg="1"/>
      <p:bldP spid="12294" grpId="0" animBg="1"/>
      <p:bldP spid="12296" grpId="0" animBg="1"/>
      <p:bldP spid="12297" grpId="0" animBg="1"/>
      <p:bldP spid="12298" grpId="0" animBg="1"/>
      <p:bldP spid="12299" grpId="0" animBg="1"/>
      <p:bldP spid="12301" grpId="0" animBg="1"/>
      <p:bldP spid="12305" grpId="0"/>
      <p:bldP spid="1230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F5D8AD-C21B-0A3B-4320-10A568A26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What</a:t>
            </a:r>
            <a:r>
              <a:rPr lang="it-IT" dirty="0"/>
              <a:t> can </a:t>
            </a:r>
            <a:r>
              <a:rPr lang="it-IT" dirty="0" err="1"/>
              <a:t>we</a:t>
            </a:r>
            <a:r>
              <a:rPr lang="it-IT" dirty="0"/>
              <a:t> do </a:t>
            </a: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prefix</a:t>
            </a:r>
            <a:r>
              <a:rPr lang="it-IT" dirty="0"/>
              <a:t> data </a:t>
            </a:r>
            <a:r>
              <a:rPr lang="it-IT" dirty="0" err="1"/>
              <a:t>injection</a:t>
            </a:r>
            <a:r>
              <a:rPr lang="it-IT" dirty="0"/>
              <a:t>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6C2AEB-DBD9-B895-18DC-F5AA976F0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7991475" cy="4970462"/>
          </a:xfrm>
        </p:spPr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en-US" dirty="0"/>
              <a:t>Depends on application, of course! Example: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Attacker: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GET /</a:t>
            </a:r>
            <a:r>
              <a:rPr lang="en-US" dirty="0" err="1">
                <a:solidFill>
                  <a:srgbClr val="FF0000"/>
                </a:solidFill>
              </a:rPr>
              <a:t>pizza?toppings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dirty="0" err="1">
                <a:solidFill>
                  <a:srgbClr val="FF0000"/>
                </a:solidFill>
              </a:rPr>
              <a:t>pepperoni;address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dirty="0" err="1">
                <a:solidFill>
                  <a:srgbClr val="FF0000"/>
                </a:solidFill>
              </a:rPr>
              <a:t>attacker_address</a:t>
            </a:r>
            <a:r>
              <a:rPr lang="en-US" dirty="0">
                <a:solidFill>
                  <a:srgbClr val="FF0000"/>
                </a:solidFill>
              </a:rPr>
              <a:t> HTTP/1.1 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X-Ignore-This: (no carriage return)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Victim: </a:t>
            </a:r>
          </a:p>
          <a:p>
            <a:pPr lvl="1">
              <a:defRPr/>
            </a:pPr>
            <a:r>
              <a:rPr lang="en-US" dirty="0"/>
              <a:t>GET /</a:t>
            </a:r>
            <a:r>
              <a:rPr lang="en-US" dirty="0" err="1"/>
              <a:t>pizza?toppings</a:t>
            </a:r>
            <a:r>
              <a:rPr lang="en-US" dirty="0"/>
              <a:t>=</a:t>
            </a:r>
            <a:r>
              <a:rPr lang="en-US" dirty="0" err="1"/>
              <a:t>sausage;address</a:t>
            </a:r>
            <a:r>
              <a:rPr lang="en-US" dirty="0"/>
              <a:t>=</a:t>
            </a:r>
            <a:r>
              <a:rPr lang="en-US" dirty="0" err="1"/>
              <a:t>victim_address</a:t>
            </a:r>
            <a:r>
              <a:rPr lang="en-US" dirty="0"/>
              <a:t> HTTP/1.1</a:t>
            </a:r>
          </a:p>
          <a:p>
            <a:pPr lvl="1">
              <a:defRPr/>
            </a:pPr>
            <a:r>
              <a:rPr lang="en-US" dirty="0"/>
              <a:t>Cookie: </a:t>
            </a:r>
            <a:r>
              <a:rPr lang="en-US" dirty="0" err="1"/>
              <a:t>victim_cookie</a:t>
            </a:r>
            <a:r>
              <a:rPr lang="en-US" dirty="0"/>
              <a:t> 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Result: glued requests: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GET /</a:t>
            </a:r>
            <a:r>
              <a:rPr lang="en-US" dirty="0" err="1">
                <a:solidFill>
                  <a:srgbClr val="FF0000"/>
                </a:solidFill>
              </a:rPr>
              <a:t>pizza?toppings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dirty="0" err="1">
                <a:solidFill>
                  <a:srgbClr val="FF0000"/>
                </a:solidFill>
              </a:rPr>
              <a:t>pepperoni;address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dirty="0" err="1">
                <a:solidFill>
                  <a:srgbClr val="FF0000"/>
                </a:solidFill>
              </a:rPr>
              <a:t>attacker_address</a:t>
            </a:r>
            <a:r>
              <a:rPr lang="en-US" dirty="0">
                <a:solidFill>
                  <a:srgbClr val="FF0000"/>
                </a:solidFill>
              </a:rPr>
              <a:t> HTTP/1.1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X-Ignore-This: GET /</a:t>
            </a:r>
            <a:r>
              <a:rPr lang="en-US" dirty="0" err="1">
                <a:solidFill>
                  <a:srgbClr val="0070C0"/>
                </a:solidFill>
              </a:rPr>
              <a:t>pizza?toppings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dirty="0" err="1">
                <a:solidFill>
                  <a:srgbClr val="0070C0"/>
                </a:solidFill>
              </a:rPr>
              <a:t>sausage;address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dirty="0" err="1">
                <a:solidFill>
                  <a:srgbClr val="0070C0"/>
                </a:solidFill>
              </a:rPr>
              <a:t>victim_address</a:t>
            </a:r>
            <a:r>
              <a:rPr lang="en-US" dirty="0">
                <a:solidFill>
                  <a:srgbClr val="0070C0"/>
                </a:solidFill>
              </a:rPr>
              <a:t> HTTP/1.1</a:t>
            </a:r>
          </a:p>
          <a:p>
            <a:pPr lvl="1">
              <a:defRPr/>
            </a:pPr>
            <a:r>
              <a:rPr lang="en-US" dirty="0"/>
              <a:t> Cookie: </a:t>
            </a:r>
            <a:r>
              <a:rPr lang="en-US" dirty="0" err="1"/>
              <a:t>victim_cookie</a:t>
            </a:r>
            <a:r>
              <a:rPr lang="en-US" dirty="0"/>
              <a:t> 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Server uses victim's account to send a pizza to attacker! </a:t>
            </a:r>
          </a:p>
          <a:p>
            <a:pPr>
              <a:defRPr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6032D1-E797-16AA-888A-AD3CDA944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Nicer</a:t>
            </a:r>
            <a:r>
              <a:rPr lang="it-IT" dirty="0"/>
              <a:t> </a:t>
            </a:r>
            <a:r>
              <a:rPr lang="it-IT" dirty="0" err="1"/>
              <a:t>example</a:t>
            </a:r>
            <a:r>
              <a:rPr lang="it-IT" dirty="0"/>
              <a:t> </a:t>
            </a:r>
            <a:br>
              <a:rPr lang="it-IT" dirty="0"/>
            </a:br>
            <a:r>
              <a:rPr lang="it-IT" sz="2000" dirty="0"/>
              <a:t>(</a:t>
            </a:r>
            <a:r>
              <a:rPr lang="it-IT" sz="2000" dirty="0" err="1"/>
              <a:t>getting</a:t>
            </a:r>
            <a:r>
              <a:rPr lang="it-IT" sz="2000" dirty="0"/>
              <a:t> </a:t>
            </a:r>
            <a:r>
              <a:rPr lang="it-IT" sz="2000" dirty="0" err="1"/>
              <a:t>closer</a:t>
            </a:r>
            <a:r>
              <a:rPr lang="it-IT" sz="2000" dirty="0"/>
              <a:t> </a:t>
            </a:r>
            <a:r>
              <a:rPr lang="it-IT" sz="2000" dirty="0" err="1"/>
              <a:t>to</a:t>
            </a:r>
            <a:r>
              <a:rPr lang="it-IT" sz="2000" dirty="0"/>
              <a:t> </a:t>
            </a:r>
            <a:r>
              <a:rPr lang="it-IT" sz="2000" dirty="0" err="1"/>
              <a:t>actual</a:t>
            </a:r>
            <a:r>
              <a:rPr lang="it-IT" sz="2000" dirty="0"/>
              <a:t> </a:t>
            </a:r>
            <a:r>
              <a:rPr lang="it-IT" sz="2000" dirty="0" err="1"/>
              <a:t>Kurmus</a:t>
            </a:r>
            <a:r>
              <a:rPr lang="it-IT" sz="2000" dirty="0"/>
              <a:t>’ </a:t>
            </a:r>
            <a:r>
              <a:rPr lang="it-IT" sz="2000" dirty="0" err="1"/>
              <a:t>twitter</a:t>
            </a:r>
            <a:r>
              <a:rPr lang="it-IT" sz="2000" dirty="0"/>
              <a:t> </a:t>
            </a:r>
            <a:r>
              <a:rPr lang="it-IT" sz="2000" dirty="0" err="1"/>
              <a:t>attack</a:t>
            </a:r>
            <a:r>
              <a:rPr lang="it-IT" sz="2000" dirty="0"/>
              <a:t>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C7328B-E9B2-0B53-4221-587868153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Attacker: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POST /forum/send.php HTTP/1.0 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Message = (no carriage return)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Victim: </a:t>
            </a:r>
          </a:p>
          <a:p>
            <a:pPr lvl="1">
              <a:defRPr/>
            </a:pPr>
            <a:r>
              <a:rPr lang="en-US" dirty="0"/>
              <a:t>GET / HTTP/1.1 […]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Result: glued requests: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POST /forum/send.php HTTP/1.0 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Message = </a:t>
            </a:r>
            <a:r>
              <a:rPr lang="en-US" dirty="0"/>
              <a:t>GET / HTTP/1.1 […]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Server discloses information generated by client upon request 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Anil </a:t>
            </a:r>
            <a:r>
              <a:rPr lang="en-US" dirty="0" err="1"/>
              <a:t>Kurmus</a:t>
            </a:r>
            <a:r>
              <a:rPr lang="en-US" dirty="0"/>
              <a:t> attack: conceptually similar</a:t>
            </a:r>
          </a:p>
          <a:p>
            <a:pPr lvl="1">
              <a:defRPr/>
            </a:pPr>
            <a:r>
              <a:rPr lang="en-US" dirty="0"/>
              <a:t>Technicalities related to twitter API</a:t>
            </a:r>
          </a:p>
          <a:p>
            <a:pPr lvl="1">
              <a:defRPr/>
            </a:pPr>
            <a:r>
              <a:rPr lang="en-US" dirty="0"/>
              <a:t>Result (real world!): server posts a tweet (!) including the client credentials (base64 coded user/pass)!!!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31EB10-61D5-7F6F-7147-8F139C139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Preventing</a:t>
            </a:r>
            <a:r>
              <a:rPr lang="it-IT" dirty="0"/>
              <a:t> TLS </a:t>
            </a:r>
            <a:r>
              <a:rPr lang="it-IT" dirty="0" err="1"/>
              <a:t>reneg</a:t>
            </a:r>
            <a:r>
              <a:rPr lang="it-IT" dirty="0"/>
              <a:t> </a:t>
            </a:r>
            <a:r>
              <a:rPr lang="it-IT" dirty="0" err="1"/>
              <a:t>attack</a:t>
            </a:r>
            <a:endParaRPr lang="it-IT" dirty="0"/>
          </a:p>
        </p:txBody>
      </p:sp>
      <p:sp>
        <p:nvSpPr>
          <p:cNvPr id="14339" name="Segnaposto contenuto 2">
            <a:extLst>
              <a:ext uri="{FF2B5EF4-FFF2-40B4-BE49-F238E27FC236}">
                <a16:creationId xmlns:a16="http://schemas.microsoft.com/office/drawing/2014/main" id="{43DF0468-258C-ADC5-490E-6CD29D7DD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052513"/>
            <a:ext cx="7696200" cy="540067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/>
              <a:t>Immediate </a:t>
            </a:r>
            <a:r>
              <a:rPr lang="it-IT" dirty="0" err="1"/>
              <a:t>solution</a:t>
            </a:r>
            <a:r>
              <a:rPr lang="it-IT" dirty="0"/>
              <a:t>: </a:t>
            </a:r>
            <a:r>
              <a:rPr lang="it-IT" dirty="0" err="1"/>
              <a:t>disable</a:t>
            </a:r>
            <a:r>
              <a:rPr lang="it-IT" dirty="0"/>
              <a:t> </a:t>
            </a:r>
            <a:r>
              <a:rPr lang="it-IT" dirty="0" err="1"/>
              <a:t>it</a:t>
            </a:r>
            <a:endParaRPr lang="it-IT" dirty="0"/>
          </a:p>
          <a:p>
            <a:pPr lvl="3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Standardization</a:t>
            </a:r>
            <a:r>
              <a:rPr lang="it-IT" dirty="0"/>
              <a:t> patch: </a:t>
            </a:r>
            <a:r>
              <a:rPr lang="it-IT" dirty="0" err="1"/>
              <a:t>renegotiation</a:t>
            </a:r>
            <a:r>
              <a:rPr lang="it-IT" dirty="0"/>
              <a:t> extension</a:t>
            </a:r>
          </a:p>
          <a:p>
            <a:pPr lvl="1">
              <a:defRPr/>
            </a:pPr>
            <a:r>
              <a:rPr lang="it-IT" dirty="0"/>
              <a:t>(</a:t>
            </a:r>
            <a:r>
              <a:rPr lang="it-IT" dirty="0" err="1"/>
              <a:t>urgently</a:t>
            </a:r>
            <a:r>
              <a:rPr lang="it-IT" dirty="0"/>
              <a:t>) </a:t>
            </a:r>
            <a:r>
              <a:rPr lang="it-IT" dirty="0" err="1"/>
              <a:t>standardized</a:t>
            </a:r>
            <a:r>
              <a:rPr lang="it-IT" dirty="0"/>
              <a:t> in RFC 5746</a:t>
            </a:r>
          </a:p>
          <a:p>
            <a:pPr lvl="2">
              <a:defRPr/>
            </a:pPr>
            <a:r>
              <a:rPr lang="it-IT" dirty="0"/>
              <a:t>“TLS </a:t>
            </a:r>
            <a:r>
              <a:rPr lang="it-IT" dirty="0" err="1"/>
              <a:t>renegotiation</a:t>
            </a:r>
            <a:r>
              <a:rPr lang="it-IT" dirty="0"/>
              <a:t> </a:t>
            </a:r>
            <a:r>
              <a:rPr lang="it-IT" dirty="0" err="1"/>
              <a:t>Extension</a:t>
            </a:r>
            <a:r>
              <a:rPr lang="it-IT" dirty="0"/>
              <a:t>”, </a:t>
            </a:r>
            <a:r>
              <a:rPr lang="it-IT" dirty="0" err="1"/>
              <a:t>February</a:t>
            </a:r>
            <a:r>
              <a:rPr lang="it-IT" dirty="0"/>
              <a:t> 2010</a:t>
            </a:r>
          </a:p>
          <a:p>
            <a:pPr lvl="1">
              <a:defRPr/>
            </a:pPr>
            <a:r>
              <a:rPr lang="it-IT" dirty="0"/>
              <a:t>First </a:t>
            </a:r>
            <a:r>
              <a:rPr lang="it-IT" dirty="0" err="1"/>
              <a:t>message</a:t>
            </a:r>
            <a:r>
              <a:rPr lang="it-IT" dirty="0"/>
              <a:t>: </a:t>
            </a:r>
            <a:r>
              <a:rPr lang="it-IT" dirty="0" err="1"/>
              <a:t>Extension</a:t>
            </a:r>
            <a:r>
              <a:rPr lang="it-IT" dirty="0"/>
              <a:t> </a:t>
            </a:r>
            <a:r>
              <a:rPr lang="it-IT" dirty="0" err="1"/>
              <a:t>empty</a:t>
            </a:r>
            <a:endParaRPr lang="it-IT" dirty="0"/>
          </a:p>
          <a:p>
            <a:pPr lvl="1">
              <a:defRPr/>
            </a:pPr>
            <a:r>
              <a:rPr lang="it-IT" dirty="0" err="1"/>
              <a:t>Second</a:t>
            </a:r>
            <a:r>
              <a:rPr lang="it-IT" dirty="0"/>
              <a:t> </a:t>
            </a:r>
            <a:r>
              <a:rPr lang="it-IT" dirty="0" err="1"/>
              <a:t>message</a:t>
            </a:r>
            <a:r>
              <a:rPr lang="it-IT" dirty="0"/>
              <a:t>: </a:t>
            </a:r>
            <a:r>
              <a:rPr lang="it-IT" dirty="0" err="1"/>
              <a:t>Extension</a:t>
            </a:r>
            <a:r>
              <a:rPr lang="it-IT" dirty="0"/>
              <a:t> </a:t>
            </a:r>
            <a:r>
              <a:rPr lang="it-IT" dirty="0" err="1"/>
              <a:t>carries</a:t>
            </a:r>
            <a:r>
              <a:rPr lang="it-IT" dirty="0"/>
              <a:t> </a:t>
            </a:r>
            <a:r>
              <a:rPr lang="it-IT" dirty="0" err="1"/>
              <a:t>previous</a:t>
            </a:r>
            <a:r>
              <a:rPr lang="it-IT" dirty="0"/>
              <a:t> </a:t>
            </a:r>
            <a:r>
              <a:rPr lang="it-IT" dirty="0" err="1"/>
              <a:t>handshake</a:t>
            </a:r>
            <a:r>
              <a:rPr lang="it-IT" dirty="0"/>
              <a:t> </a:t>
            </a:r>
            <a:r>
              <a:rPr lang="it-IT" dirty="0" err="1"/>
              <a:t>verify</a:t>
            </a:r>
            <a:r>
              <a:rPr lang="it-IT" dirty="0"/>
              <a:t> (</a:t>
            </a:r>
            <a:r>
              <a:rPr lang="it-IT" dirty="0" err="1"/>
              <a:t>finished</a:t>
            </a:r>
            <a:r>
              <a:rPr lang="it-IT" dirty="0"/>
              <a:t> </a:t>
            </a:r>
            <a:r>
              <a:rPr lang="it-IT" dirty="0" err="1"/>
              <a:t>msg</a:t>
            </a:r>
            <a:r>
              <a:rPr lang="it-IT" dirty="0"/>
              <a:t>)</a:t>
            </a:r>
          </a:p>
          <a:p>
            <a:pPr lvl="2">
              <a:defRPr/>
            </a:pPr>
            <a:r>
              <a:rPr lang="it-IT" dirty="0" err="1"/>
              <a:t>Now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trivial</a:t>
            </a:r>
            <a:r>
              <a:rPr lang="it-IT" dirty="0"/>
              <a:t> to </a:t>
            </a:r>
            <a:r>
              <a:rPr lang="it-IT" dirty="0" err="1"/>
              <a:t>detect</a:t>
            </a:r>
            <a:r>
              <a:rPr lang="it-IT" dirty="0"/>
              <a:t> </a:t>
            </a:r>
            <a:r>
              <a:rPr lang="it-IT" dirty="0" err="1"/>
              <a:t>attack</a:t>
            </a: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TLSv1.3: </a:t>
            </a:r>
            <a:r>
              <a:rPr lang="it-IT" dirty="0" err="1"/>
              <a:t>forbids</a:t>
            </a:r>
            <a:r>
              <a:rPr lang="it-IT" dirty="0"/>
              <a:t> </a:t>
            </a:r>
            <a:r>
              <a:rPr lang="it-IT" dirty="0" err="1"/>
              <a:t>renegotiation</a:t>
            </a:r>
            <a:r>
              <a:rPr lang="it-IT" dirty="0"/>
              <a:t>!</a:t>
            </a:r>
          </a:p>
          <a:p>
            <a:pPr lvl="1">
              <a:defRPr/>
            </a:pPr>
            <a:r>
              <a:rPr lang="it-IT" dirty="0"/>
              <a:t>«</a:t>
            </a:r>
            <a:r>
              <a:rPr lang="it-IT" dirty="0" err="1"/>
              <a:t>keep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simple</a:t>
            </a:r>
            <a:r>
              <a:rPr lang="it-IT" dirty="0"/>
              <a:t>» rule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442" name="Rectangle 2">
            <a:extLst>
              <a:ext uri="{FF2B5EF4-FFF2-40B4-BE49-F238E27FC236}">
                <a16:creationId xmlns:a16="http://schemas.microsoft.com/office/drawing/2014/main" id="{7732E421-7311-2AE3-599E-63C73D7D4A1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/>
              <a:t>And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DTLS?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618" name="Rectangle 2">
            <a:extLst>
              <a:ext uri="{FF2B5EF4-FFF2-40B4-BE49-F238E27FC236}">
                <a16:creationId xmlns:a16="http://schemas.microsoft.com/office/drawing/2014/main" id="{A80AB307-047F-1C84-6425-715F219E9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/>
              <a:t>DTLS vs TLS at a </a:t>
            </a:r>
            <a:r>
              <a:rPr lang="it-IT" dirty="0" err="1"/>
              <a:t>glance</a:t>
            </a:r>
            <a:endParaRPr lang="it-IT" dirty="0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547DE97-3E80-B299-C16A-E7A309560F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400"/>
              <a:t>RFC 4347 – Datagram TLS – April 2006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TLS over UDP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400"/>
              <a:t>DTLS design goal: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Be as most as possible similar to TLS!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400"/>
              <a:t>DTLS vs TLS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TLS assumes orderly delivery</a:t>
            </a:r>
          </a:p>
          <a:p>
            <a:pPr lvl="3" eaLnBrk="1" hangingPunct="1">
              <a:lnSpc>
                <a:spcPct val="80000"/>
              </a:lnSpc>
            </a:pPr>
            <a:r>
              <a:rPr lang="it-IT" altLang="it-IT" sz="1800"/>
              <a:t>DTLS: Sequence number explicitly added in record header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TLS assumes reliable delivery</a:t>
            </a:r>
          </a:p>
          <a:p>
            <a:pPr lvl="3" eaLnBrk="1" hangingPunct="1">
              <a:lnSpc>
                <a:spcPct val="80000"/>
              </a:lnSpc>
            </a:pPr>
            <a:r>
              <a:rPr lang="it-IT" altLang="it-IT" sz="1800"/>
              <a:t>Timeouts added to manage datagram loss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TLS may generate large fragments up to 16384B</a:t>
            </a:r>
          </a:p>
          <a:p>
            <a:pPr lvl="3" eaLnBrk="1" hangingPunct="1">
              <a:lnSpc>
                <a:spcPct val="80000"/>
              </a:lnSpc>
            </a:pPr>
            <a:r>
              <a:rPr lang="it-IT" altLang="it-IT" sz="1800"/>
              <a:t>DTLS includes fragmentation capabilities to fit into single UDP datagram, and recommends Path MTU discovery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TLS assumes connection oriented protocol</a:t>
            </a:r>
          </a:p>
          <a:p>
            <a:pPr lvl="3" eaLnBrk="1" hangingPunct="1">
              <a:lnSpc>
                <a:spcPct val="80000"/>
              </a:lnSpc>
            </a:pPr>
            <a:r>
              <a:rPr lang="it-IT" altLang="it-IT" sz="1800"/>
              <a:t>DTLS connection = (TLS handshake – TLS closure Alert)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2781951D3CFA64AA3493CD3E6442C76" ma:contentTypeVersion="4" ma:contentTypeDescription="Creare un nuovo documento." ma:contentTypeScope="" ma:versionID="a36c6b2f7fcd373cb8b64cdfd812e698">
  <xsd:schema xmlns:xsd="http://www.w3.org/2001/XMLSchema" xmlns:xs="http://www.w3.org/2001/XMLSchema" xmlns:p="http://schemas.microsoft.com/office/2006/metadata/properties" xmlns:ns2="aae43852-53e9-4813-a3db-c50f0e7934bf" targetNamespace="http://schemas.microsoft.com/office/2006/metadata/properties" ma:root="true" ma:fieldsID="b16886be2dba503720a39a8063f8acf3" ns2:_="">
    <xsd:import namespace="aae43852-53e9-4813-a3db-c50f0e7934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e43852-53e9-4813-a3db-c50f0e7934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C15A40-903C-4138-AAE5-02A3B4AAF6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5AE65D-07F8-486A-853F-CEB00B7884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e43852-53e9-4813-a3db-c50f0e7934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0</TotalTime>
  <Pages>22</Pages>
  <Words>1177</Words>
  <Application>Microsoft Office PowerPoint</Application>
  <PresentationFormat>Presentazione su schermo (4:3)</PresentationFormat>
  <Paragraphs>190</Paragraphs>
  <Slides>16</Slides>
  <Notes>8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4" baseType="lpstr">
      <vt:lpstr>Arial Narrow</vt:lpstr>
      <vt:lpstr>Arial</vt:lpstr>
      <vt:lpstr>Bookman Old Style</vt:lpstr>
      <vt:lpstr>Wingdings</vt:lpstr>
      <vt:lpstr>Times New Roman</vt:lpstr>
      <vt:lpstr>Book Antiqua</vt:lpstr>
      <vt:lpstr>214templ</vt:lpstr>
      <vt:lpstr>Microsoft Clip Gallery</vt:lpstr>
      <vt:lpstr>TLS connection management &amp; application support</vt:lpstr>
      <vt:lpstr>Alert Protocol</vt:lpstr>
      <vt:lpstr>Sample alerts</vt:lpstr>
      <vt:lpstr>Remark: TLS do NOT protect TCP</vt:lpstr>
      <vt:lpstr>Truncation attack</vt:lpstr>
      <vt:lpstr>Solution: Close Notify</vt:lpstr>
      <vt:lpstr>Renegotiation</vt:lpstr>
      <vt:lpstr>What about application data?</vt:lpstr>
      <vt:lpstr>Renegotiation attack (plaintext injection attack)</vt:lpstr>
      <vt:lpstr>How it works</vt:lpstr>
      <vt:lpstr>How it works / bis</vt:lpstr>
      <vt:lpstr>What can we do with prefix data injection?</vt:lpstr>
      <vt:lpstr>Nicer example  (getting closer to actual Kurmus’ twitter attack)</vt:lpstr>
      <vt:lpstr>Preventing TLS reneg attack</vt:lpstr>
      <vt:lpstr>And what about DTLS?</vt:lpstr>
      <vt:lpstr>DTLS vs TLS at a glance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keywords/>
  <dc:description/>
  <cp:lastModifiedBy>Mario Chiappini</cp:lastModifiedBy>
  <cp:revision>552</cp:revision>
  <cp:lastPrinted>1998-04-09T13:49:28Z</cp:lastPrinted>
  <dcterms:created xsi:type="dcterms:W3CDTF">1996-09-11T22:41:56Z</dcterms:created>
  <dcterms:modified xsi:type="dcterms:W3CDTF">2025-11-17T11:38:02Z</dcterms:modified>
</cp:coreProperties>
</file>